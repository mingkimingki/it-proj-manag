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5"/>
  </p:notesMasterIdLst>
  <p:sldIdLst>
    <p:sldId id="256" r:id="rId2"/>
    <p:sldId id="259" r:id="rId3"/>
    <p:sldId id="410" r:id="rId4"/>
    <p:sldId id="411" r:id="rId5"/>
    <p:sldId id="412" r:id="rId6"/>
    <p:sldId id="413" r:id="rId7"/>
    <p:sldId id="414" r:id="rId8"/>
    <p:sldId id="415" r:id="rId9"/>
    <p:sldId id="425" r:id="rId10"/>
    <p:sldId id="416" r:id="rId11"/>
    <p:sldId id="417" r:id="rId12"/>
    <p:sldId id="418" r:id="rId13"/>
    <p:sldId id="433" r:id="rId14"/>
    <p:sldId id="426" r:id="rId15"/>
    <p:sldId id="427" r:id="rId16"/>
    <p:sldId id="428" r:id="rId17"/>
    <p:sldId id="429" r:id="rId18"/>
    <p:sldId id="430" r:id="rId19"/>
    <p:sldId id="431" r:id="rId20"/>
    <p:sldId id="432" r:id="rId21"/>
    <p:sldId id="419" r:id="rId22"/>
    <p:sldId id="420" r:id="rId23"/>
    <p:sldId id="421" r:id="rId24"/>
    <p:sldId id="422" r:id="rId25"/>
    <p:sldId id="423" r:id="rId26"/>
    <p:sldId id="424" r:id="rId27"/>
    <p:sldId id="306" r:id="rId28"/>
    <p:sldId id="434" r:id="rId29"/>
    <p:sldId id="373" r:id="rId30"/>
    <p:sldId id="307" r:id="rId31"/>
    <p:sldId id="362" r:id="rId32"/>
    <p:sldId id="435" r:id="rId33"/>
    <p:sldId id="436" r:id="rId34"/>
    <p:sldId id="437" r:id="rId35"/>
    <p:sldId id="311" r:id="rId36"/>
    <p:sldId id="374" r:id="rId37"/>
    <p:sldId id="312" r:id="rId38"/>
    <p:sldId id="375" r:id="rId39"/>
    <p:sldId id="313" r:id="rId40"/>
    <p:sldId id="378" r:id="rId41"/>
    <p:sldId id="438" r:id="rId42"/>
    <p:sldId id="379" r:id="rId43"/>
    <p:sldId id="380" r:id="rId44"/>
    <p:sldId id="381" r:id="rId45"/>
    <p:sldId id="382" r:id="rId46"/>
    <p:sldId id="383" r:id="rId47"/>
    <p:sldId id="384" r:id="rId48"/>
    <p:sldId id="385" r:id="rId49"/>
    <p:sldId id="397" r:id="rId50"/>
    <p:sldId id="315" r:id="rId51"/>
    <p:sldId id="396" r:id="rId52"/>
    <p:sldId id="317" r:id="rId53"/>
    <p:sldId id="318" r:id="rId54"/>
    <p:sldId id="399" r:id="rId55"/>
    <p:sldId id="319" r:id="rId56"/>
    <p:sldId id="400" r:id="rId57"/>
    <p:sldId id="320" r:id="rId58"/>
    <p:sldId id="401" r:id="rId59"/>
    <p:sldId id="321" r:id="rId60"/>
    <p:sldId id="323" r:id="rId61"/>
    <p:sldId id="324" r:id="rId62"/>
    <p:sldId id="325" r:id="rId63"/>
    <p:sldId id="326" r:id="rId64"/>
    <p:sldId id="444" r:id="rId65"/>
    <p:sldId id="445" r:id="rId66"/>
    <p:sldId id="446" r:id="rId67"/>
    <p:sldId id="447" r:id="rId68"/>
    <p:sldId id="448" r:id="rId69"/>
    <p:sldId id="449" r:id="rId70"/>
    <p:sldId id="328" r:id="rId71"/>
    <p:sldId id="329" r:id="rId72"/>
    <p:sldId id="407" r:id="rId73"/>
    <p:sldId id="330" r:id="rId74"/>
    <p:sldId id="408" r:id="rId75"/>
    <p:sldId id="409" r:id="rId76"/>
    <p:sldId id="331" r:id="rId77"/>
    <p:sldId id="332" r:id="rId78"/>
    <p:sldId id="333" r:id="rId79"/>
    <p:sldId id="335" r:id="rId80"/>
    <p:sldId id="439" r:id="rId81"/>
    <p:sldId id="440" r:id="rId82"/>
    <p:sldId id="339" r:id="rId83"/>
    <p:sldId id="340" r:id="rId84"/>
    <p:sldId id="343" r:id="rId85"/>
    <p:sldId id="346" r:id="rId86"/>
    <p:sldId id="347" r:id="rId87"/>
    <p:sldId id="349" r:id="rId88"/>
    <p:sldId id="354" r:id="rId89"/>
    <p:sldId id="441" r:id="rId90"/>
    <p:sldId id="442" r:id="rId91"/>
    <p:sldId id="386" r:id="rId92"/>
    <p:sldId id="387" r:id="rId93"/>
    <p:sldId id="359" r:id="rId94"/>
    <p:sldId id="360" r:id="rId95"/>
    <p:sldId id="361" r:id="rId96"/>
    <p:sldId id="443" r:id="rId97"/>
    <p:sldId id="327" r:id="rId98"/>
    <p:sldId id="334" r:id="rId99"/>
    <p:sldId id="336" r:id="rId100"/>
    <p:sldId id="337" r:id="rId101"/>
    <p:sldId id="338" r:id="rId102"/>
    <p:sldId id="341" r:id="rId103"/>
    <p:sldId id="342" r:id="rId104"/>
    <p:sldId id="345" r:id="rId105"/>
    <p:sldId id="344" r:id="rId106"/>
    <p:sldId id="348" r:id="rId107"/>
    <p:sldId id="350" r:id="rId108"/>
    <p:sldId id="351" r:id="rId109"/>
    <p:sldId id="352" r:id="rId110"/>
    <p:sldId id="353" r:id="rId111"/>
    <p:sldId id="356" r:id="rId112"/>
    <p:sldId id="357" r:id="rId113"/>
    <p:sldId id="358" r:id="rId1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3447" autoAdjust="0"/>
  </p:normalViewPr>
  <p:slideViewPr>
    <p:cSldViewPr snapToGrid="0" showGuides="1">
      <p:cViewPr varScale="1">
        <p:scale>
          <a:sx n="75" d="100"/>
          <a:sy n="75" d="100"/>
        </p:scale>
        <p:origin x="216" y="5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ha Taufiq Luthfi" userId="781e0746-5eaa-49be-bfa4-11bf7d142bc1" providerId="ADAL" clId="{D87F772B-8F0B-4E40-BAAE-53DCB66B6FE8}"/>
    <pc:docChg chg="undo redo custSel addSld delSld modSld sldOrd">
      <pc:chgData name="Emha Taufiq Luthfi" userId="781e0746-5eaa-49be-bfa4-11bf7d142bc1" providerId="ADAL" clId="{D87F772B-8F0B-4E40-BAAE-53DCB66B6FE8}" dt="2026-10-13T03:30:24.464" v="2422" actId="790"/>
      <pc:docMkLst>
        <pc:docMk/>
      </pc:docMkLst>
      <pc:sldChg chg="modSp mod">
        <pc:chgData name="Emha Taufiq Luthfi" userId="781e0746-5eaa-49be-bfa4-11bf7d142bc1" providerId="ADAL" clId="{D87F772B-8F0B-4E40-BAAE-53DCB66B6FE8}" dt="2026-10-13T03:30:24.464" v="2422" actId="790"/>
        <pc:sldMkLst>
          <pc:docMk/>
          <pc:sldMk cId="0" sldId="256"/>
        </pc:sldMkLst>
        <pc:spChg chg="mod">
          <ac:chgData name="Emha Taufiq Luthfi" userId="781e0746-5eaa-49be-bfa4-11bf7d142bc1" providerId="ADAL" clId="{D87F772B-8F0B-4E40-BAAE-53DCB66B6FE8}" dt="2026-10-13T03:30:24.464" v="2422" actId="790"/>
          <ac:spMkLst>
            <pc:docMk/>
            <pc:sldMk cId="0" sldId="256"/>
            <ac:spMk id="2" creationId="{00000000-0000-0000-0000-000000000000}"/>
          </ac:spMkLst>
        </pc:spChg>
        <pc:spChg chg="mod">
          <ac:chgData name="Emha Taufiq Luthfi" userId="781e0746-5eaa-49be-bfa4-11bf7d142bc1" providerId="ADAL" clId="{D87F772B-8F0B-4E40-BAAE-53DCB66B6FE8}" dt="2026-10-13T03:30:24.464" v="2422" actId="790"/>
          <ac:spMkLst>
            <pc:docMk/>
            <pc:sldMk cId="0" sldId="256"/>
            <ac:spMk id="3" creationId="{00000000-0000-0000-0000-000000000000}"/>
          </ac:spMkLst>
        </pc:spChg>
      </pc:sldChg>
      <pc:sldChg chg="modSp mod">
        <pc:chgData name="Emha Taufiq Luthfi" userId="781e0746-5eaa-49be-bfa4-11bf7d142bc1" providerId="ADAL" clId="{D87F772B-8F0B-4E40-BAAE-53DCB66B6FE8}" dt="2026-10-13T03:30:24.464" v="2422" actId="790"/>
        <pc:sldMkLst>
          <pc:docMk/>
          <pc:sldMk cId="0" sldId="307"/>
        </pc:sldMkLst>
        <pc:spChg chg="mod">
          <ac:chgData name="Emha Taufiq Luthfi" userId="781e0746-5eaa-49be-bfa4-11bf7d142bc1" providerId="ADAL" clId="{D87F772B-8F0B-4E40-BAAE-53DCB66B6FE8}" dt="2026-10-13T03:30:24.464" v="2422" actId="790"/>
          <ac:spMkLst>
            <pc:docMk/>
            <pc:sldMk cId="0" sldId="307"/>
            <ac:spMk id="2" creationId="{00000000-0000-0000-0000-000000000000}"/>
          </ac:spMkLst>
        </pc:spChg>
        <pc:spChg chg="mod">
          <ac:chgData name="Emha Taufiq Luthfi" userId="781e0746-5eaa-49be-bfa4-11bf7d142bc1" providerId="ADAL" clId="{D87F772B-8F0B-4E40-BAAE-53DCB66B6FE8}" dt="2026-10-13T03:30:24.464" v="2422" actId="790"/>
          <ac:spMkLst>
            <pc:docMk/>
            <pc:sldMk cId="0" sldId="307"/>
            <ac:spMk id="6" creationId="{0165865B-DF27-85CA-808B-06F766DB2F85}"/>
          </ac:spMkLst>
        </pc:spChg>
      </pc:sldChg>
      <pc:sldChg chg="modSp mod">
        <pc:chgData name="Emha Taufiq Luthfi" userId="781e0746-5eaa-49be-bfa4-11bf7d142bc1" providerId="ADAL" clId="{D87F772B-8F0B-4E40-BAAE-53DCB66B6FE8}" dt="2026-10-13T03:30:24.464" v="2422" actId="790"/>
        <pc:sldMkLst>
          <pc:docMk/>
          <pc:sldMk cId="0" sldId="308"/>
        </pc:sldMkLst>
        <pc:spChg chg="mod">
          <ac:chgData name="Emha Taufiq Luthfi" userId="781e0746-5eaa-49be-bfa4-11bf7d142bc1" providerId="ADAL" clId="{D87F772B-8F0B-4E40-BAAE-53DCB66B6FE8}" dt="2026-10-13T03:30:24.464" v="2422" actId="790"/>
          <ac:spMkLst>
            <pc:docMk/>
            <pc:sldMk cId="0" sldId="308"/>
            <ac:spMk id="2" creationId="{00000000-0000-0000-0000-000000000000}"/>
          </ac:spMkLst>
        </pc:spChg>
        <pc:spChg chg="mod">
          <ac:chgData name="Emha Taufiq Luthfi" userId="781e0746-5eaa-49be-bfa4-11bf7d142bc1" providerId="ADAL" clId="{D87F772B-8F0B-4E40-BAAE-53DCB66B6FE8}" dt="2026-10-13T03:30:24.464" v="2422" actId="790"/>
          <ac:spMkLst>
            <pc:docMk/>
            <pc:sldMk cId="0" sldId="308"/>
            <ac:spMk id="3" creationId="{00000000-0000-0000-0000-000000000000}"/>
          </ac:spMkLst>
        </pc:spChg>
      </pc:sldChg>
      <pc:sldChg chg="modSp mod">
        <pc:chgData name="Emha Taufiq Luthfi" userId="781e0746-5eaa-49be-bfa4-11bf7d142bc1" providerId="ADAL" clId="{D87F772B-8F0B-4E40-BAAE-53DCB66B6FE8}" dt="2026-10-13T03:30:24.464" v="2422" actId="790"/>
        <pc:sldMkLst>
          <pc:docMk/>
          <pc:sldMk cId="0" sldId="309"/>
        </pc:sldMkLst>
        <pc:spChg chg="mod">
          <ac:chgData name="Emha Taufiq Luthfi" userId="781e0746-5eaa-49be-bfa4-11bf7d142bc1" providerId="ADAL" clId="{D87F772B-8F0B-4E40-BAAE-53DCB66B6FE8}" dt="2026-10-13T03:30:24.464" v="2422" actId="790"/>
          <ac:spMkLst>
            <pc:docMk/>
            <pc:sldMk cId="0" sldId="309"/>
            <ac:spMk id="2" creationId="{00000000-0000-0000-0000-000000000000}"/>
          </ac:spMkLst>
        </pc:spChg>
        <pc:spChg chg="mod">
          <ac:chgData name="Emha Taufiq Luthfi" userId="781e0746-5eaa-49be-bfa4-11bf7d142bc1" providerId="ADAL" clId="{D87F772B-8F0B-4E40-BAAE-53DCB66B6FE8}" dt="2026-10-13T03:30:24.464" v="2422" actId="790"/>
          <ac:spMkLst>
            <pc:docMk/>
            <pc:sldMk cId="0" sldId="309"/>
            <ac:spMk id="3" creationId="{00000000-0000-0000-0000-000000000000}"/>
          </ac:spMkLst>
        </pc:spChg>
      </pc:sldChg>
      <pc:sldChg chg="modSp mod">
        <pc:chgData name="Emha Taufiq Luthfi" userId="781e0746-5eaa-49be-bfa4-11bf7d142bc1" providerId="ADAL" clId="{D87F772B-8F0B-4E40-BAAE-53DCB66B6FE8}" dt="2026-10-13T03:30:24.464" v="2422" actId="790"/>
        <pc:sldMkLst>
          <pc:docMk/>
          <pc:sldMk cId="0" sldId="311"/>
        </pc:sldMkLst>
        <pc:spChg chg="mod">
          <ac:chgData name="Emha Taufiq Luthfi" userId="781e0746-5eaa-49be-bfa4-11bf7d142bc1" providerId="ADAL" clId="{D87F772B-8F0B-4E40-BAAE-53DCB66B6FE8}" dt="2026-10-13T03:30:24.464" v="2422" actId="790"/>
          <ac:spMkLst>
            <pc:docMk/>
            <pc:sldMk cId="0" sldId="311"/>
            <ac:spMk id="2" creationId="{00000000-0000-0000-0000-000000000000}"/>
          </ac:spMkLst>
        </pc:spChg>
        <pc:spChg chg="mod">
          <ac:chgData name="Emha Taufiq Luthfi" userId="781e0746-5eaa-49be-bfa4-11bf7d142bc1" providerId="ADAL" clId="{D87F772B-8F0B-4E40-BAAE-53DCB66B6FE8}" dt="2026-10-13T03:30:24.464" v="2422" actId="790"/>
          <ac:spMkLst>
            <pc:docMk/>
            <pc:sldMk cId="0" sldId="311"/>
            <ac:spMk id="3" creationId="{00000000-0000-0000-0000-000000000000}"/>
          </ac:spMkLst>
        </pc:spChg>
        <pc:spChg chg="mod">
          <ac:chgData name="Emha Taufiq Luthfi" userId="781e0746-5eaa-49be-bfa4-11bf7d142bc1" providerId="ADAL" clId="{D87F772B-8F0B-4E40-BAAE-53DCB66B6FE8}" dt="2026-10-13T03:30:24.464" v="2422" actId="790"/>
          <ac:spMkLst>
            <pc:docMk/>
            <pc:sldMk cId="0" sldId="311"/>
            <ac:spMk id="5" creationId="{DAB64737-C318-761D-14CB-33C375C25797}"/>
          </ac:spMkLst>
        </pc:spChg>
      </pc:sldChg>
      <pc:sldChg chg="modSp mod">
        <pc:chgData name="Emha Taufiq Luthfi" userId="781e0746-5eaa-49be-bfa4-11bf7d142bc1" providerId="ADAL" clId="{D87F772B-8F0B-4E40-BAAE-53DCB66B6FE8}" dt="2026-10-13T03:30:24.464" v="2422" actId="790"/>
        <pc:sldMkLst>
          <pc:docMk/>
          <pc:sldMk cId="0" sldId="312"/>
        </pc:sldMkLst>
        <pc:spChg chg="mod">
          <ac:chgData name="Emha Taufiq Luthfi" userId="781e0746-5eaa-49be-bfa4-11bf7d142bc1" providerId="ADAL" clId="{D87F772B-8F0B-4E40-BAAE-53DCB66B6FE8}" dt="2026-10-13T03:30:24.464" v="2422" actId="790"/>
          <ac:spMkLst>
            <pc:docMk/>
            <pc:sldMk cId="0" sldId="312"/>
            <ac:spMk id="5" creationId="{00000000-0000-0000-0000-000000000000}"/>
          </ac:spMkLst>
        </pc:spChg>
        <pc:graphicFrameChg chg="modGraphic">
          <ac:chgData name="Emha Taufiq Luthfi" userId="781e0746-5eaa-49be-bfa4-11bf7d142bc1" providerId="ADAL" clId="{D87F772B-8F0B-4E40-BAAE-53DCB66B6FE8}" dt="2026-10-13T03:30:24.464" v="2422" actId="790"/>
          <ac:graphicFrameMkLst>
            <pc:docMk/>
            <pc:sldMk cId="0" sldId="312"/>
            <ac:graphicFrameMk id="4" creationId="{00000000-0000-0000-0000-000000000000}"/>
          </ac:graphicFrameMkLst>
        </pc:graphicFrameChg>
      </pc:sldChg>
      <pc:sldChg chg="modSp mod">
        <pc:chgData name="Emha Taufiq Luthfi" userId="781e0746-5eaa-49be-bfa4-11bf7d142bc1" providerId="ADAL" clId="{D87F772B-8F0B-4E40-BAAE-53DCB66B6FE8}" dt="2026-10-13T03:30:24.464" v="2422" actId="790"/>
        <pc:sldMkLst>
          <pc:docMk/>
          <pc:sldMk cId="0" sldId="313"/>
        </pc:sldMkLst>
        <pc:spChg chg="mod">
          <ac:chgData name="Emha Taufiq Luthfi" userId="781e0746-5eaa-49be-bfa4-11bf7d142bc1" providerId="ADAL" clId="{D87F772B-8F0B-4E40-BAAE-53DCB66B6FE8}" dt="2026-10-13T03:30:24.464" v="2422" actId="790"/>
          <ac:spMkLst>
            <pc:docMk/>
            <pc:sldMk cId="0" sldId="313"/>
            <ac:spMk id="2" creationId="{00000000-0000-0000-0000-000000000000}"/>
          </ac:spMkLst>
        </pc:spChg>
        <pc:spChg chg="mod">
          <ac:chgData name="Emha Taufiq Luthfi" userId="781e0746-5eaa-49be-bfa4-11bf7d142bc1" providerId="ADAL" clId="{D87F772B-8F0B-4E40-BAAE-53DCB66B6FE8}" dt="2026-10-13T03:30:24.464" v="2422" actId="790"/>
          <ac:spMkLst>
            <pc:docMk/>
            <pc:sldMk cId="0" sldId="313"/>
            <ac:spMk id="3" creationId="{00000000-0000-0000-0000-000000000000}"/>
          </ac:spMkLst>
        </pc:spChg>
      </pc:sldChg>
      <pc:sldChg chg="modSp mod">
        <pc:chgData name="Emha Taufiq Luthfi" userId="781e0746-5eaa-49be-bfa4-11bf7d142bc1" providerId="ADAL" clId="{D87F772B-8F0B-4E40-BAAE-53DCB66B6FE8}" dt="2026-10-13T03:30:24.464" v="2422" actId="790"/>
        <pc:sldMkLst>
          <pc:docMk/>
          <pc:sldMk cId="2969681262" sldId="314"/>
        </pc:sldMkLst>
        <pc:spChg chg="mod">
          <ac:chgData name="Emha Taufiq Luthfi" userId="781e0746-5eaa-49be-bfa4-11bf7d142bc1" providerId="ADAL" clId="{D87F772B-8F0B-4E40-BAAE-53DCB66B6FE8}" dt="2026-10-13T03:30:24.464" v="2422" actId="790"/>
          <ac:spMkLst>
            <pc:docMk/>
            <pc:sldMk cId="2969681262" sldId="314"/>
            <ac:spMk id="2" creationId="{5FA6F469-13D4-B6AA-89D6-8C79BD9E52DE}"/>
          </ac:spMkLst>
        </pc:spChg>
        <pc:spChg chg="mod">
          <ac:chgData name="Emha Taufiq Luthfi" userId="781e0746-5eaa-49be-bfa4-11bf7d142bc1" providerId="ADAL" clId="{D87F772B-8F0B-4E40-BAAE-53DCB66B6FE8}" dt="2026-10-13T03:30:24.464" v="2422" actId="790"/>
          <ac:spMkLst>
            <pc:docMk/>
            <pc:sldMk cId="2969681262" sldId="314"/>
            <ac:spMk id="3" creationId="{8192E7D0-1465-A6ED-49A0-1388DD4EF120}"/>
          </ac:spMkLst>
        </pc:spChg>
      </pc:sldChg>
      <pc:sldChg chg="modSp mod">
        <pc:chgData name="Emha Taufiq Luthfi" userId="781e0746-5eaa-49be-bfa4-11bf7d142bc1" providerId="ADAL" clId="{D87F772B-8F0B-4E40-BAAE-53DCB66B6FE8}" dt="2026-10-13T03:30:24.464" v="2422" actId="790"/>
        <pc:sldMkLst>
          <pc:docMk/>
          <pc:sldMk cId="220658067" sldId="315"/>
        </pc:sldMkLst>
        <pc:spChg chg="mod">
          <ac:chgData name="Emha Taufiq Luthfi" userId="781e0746-5eaa-49be-bfa4-11bf7d142bc1" providerId="ADAL" clId="{D87F772B-8F0B-4E40-BAAE-53DCB66B6FE8}" dt="2026-10-13T03:30:24.464" v="2422" actId="790"/>
          <ac:spMkLst>
            <pc:docMk/>
            <pc:sldMk cId="220658067" sldId="315"/>
            <ac:spMk id="2" creationId="{7DD9ACF0-2D29-BB1D-6D40-F8542972BD44}"/>
          </ac:spMkLst>
        </pc:spChg>
        <pc:spChg chg="mod">
          <ac:chgData name="Emha Taufiq Luthfi" userId="781e0746-5eaa-49be-bfa4-11bf7d142bc1" providerId="ADAL" clId="{D87F772B-8F0B-4E40-BAAE-53DCB66B6FE8}" dt="2026-10-13T03:30:24.464" v="2422" actId="790"/>
          <ac:spMkLst>
            <pc:docMk/>
            <pc:sldMk cId="220658067" sldId="315"/>
            <ac:spMk id="3" creationId="{43EA76BF-6542-3D14-BC1B-462D60050795}"/>
          </ac:spMkLst>
        </pc:spChg>
      </pc:sldChg>
      <pc:sldChg chg="modSp mod">
        <pc:chgData name="Emha Taufiq Luthfi" userId="781e0746-5eaa-49be-bfa4-11bf7d142bc1" providerId="ADAL" clId="{D87F772B-8F0B-4E40-BAAE-53DCB66B6FE8}" dt="2026-10-13T03:30:24.464" v="2422" actId="790"/>
        <pc:sldMkLst>
          <pc:docMk/>
          <pc:sldMk cId="2198187747" sldId="317"/>
        </pc:sldMkLst>
        <pc:spChg chg="mod">
          <ac:chgData name="Emha Taufiq Luthfi" userId="781e0746-5eaa-49be-bfa4-11bf7d142bc1" providerId="ADAL" clId="{D87F772B-8F0B-4E40-BAAE-53DCB66B6FE8}" dt="2026-10-13T03:30:24.464" v="2422" actId="790"/>
          <ac:spMkLst>
            <pc:docMk/>
            <pc:sldMk cId="2198187747" sldId="317"/>
            <ac:spMk id="2" creationId="{BBA9CDBD-4ED3-F2B0-03C8-456A7203A55F}"/>
          </ac:spMkLst>
        </pc:spChg>
        <pc:spChg chg="mod">
          <ac:chgData name="Emha Taufiq Luthfi" userId="781e0746-5eaa-49be-bfa4-11bf7d142bc1" providerId="ADAL" clId="{D87F772B-8F0B-4E40-BAAE-53DCB66B6FE8}" dt="2026-10-13T03:30:24.464" v="2422" actId="790"/>
          <ac:spMkLst>
            <pc:docMk/>
            <pc:sldMk cId="2198187747" sldId="317"/>
            <ac:spMk id="3" creationId="{536CC0CC-C72D-6F69-7346-828C56D98572}"/>
          </ac:spMkLst>
        </pc:spChg>
      </pc:sldChg>
      <pc:sldChg chg="modSp mod">
        <pc:chgData name="Emha Taufiq Luthfi" userId="781e0746-5eaa-49be-bfa4-11bf7d142bc1" providerId="ADAL" clId="{D87F772B-8F0B-4E40-BAAE-53DCB66B6FE8}" dt="2026-10-13T03:30:24.464" v="2422" actId="790"/>
        <pc:sldMkLst>
          <pc:docMk/>
          <pc:sldMk cId="2244495650" sldId="318"/>
        </pc:sldMkLst>
        <pc:spChg chg="mod">
          <ac:chgData name="Emha Taufiq Luthfi" userId="781e0746-5eaa-49be-bfa4-11bf7d142bc1" providerId="ADAL" clId="{D87F772B-8F0B-4E40-BAAE-53DCB66B6FE8}" dt="2026-10-13T03:30:24.464" v="2422" actId="790"/>
          <ac:spMkLst>
            <pc:docMk/>
            <pc:sldMk cId="2244495650" sldId="318"/>
            <ac:spMk id="2" creationId="{87B80580-B9C1-B8E3-4DDB-C3ACADE0EFEA}"/>
          </ac:spMkLst>
        </pc:spChg>
        <pc:spChg chg="mod">
          <ac:chgData name="Emha Taufiq Luthfi" userId="781e0746-5eaa-49be-bfa4-11bf7d142bc1" providerId="ADAL" clId="{D87F772B-8F0B-4E40-BAAE-53DCB66B6FE8}" dt="2026-10-13T03:30:24.464" v="2422" actId="790"/>
          <ac:spMkLst>
            <pc:docMk/>
            <pc:sldMk cId="2244495650" sldId="318"/>
            <ac:spMk id="3" creationId="{958845B3-B6E6-3BE8-7761-9800EFBF1C06}"/>
          </ac:spMkLst>
        </pc:spChg>
      </pc:sldChg>
      <pc:sldChg chg="modSp mod">
        <pc:chgData name="Emha Taufiq Luthfi" userId="781e0746-5eaa-49be-bfa4-11bf7d142bc1" providerId="ADAL" clId="{D87F772B-8F0B-4E40-BAAE-53DCB66B6FE8}" dt="2026-10-13T03:30:24.464" v="2422" actId="790"/>
        <pc:sldMkLst>
          <pc:docMk/>
          <pc:sldMk cId="1128994155" sldId="319"/>
        </pc:sldMkLst>
        <pc:spChg chg="mod">
          <ac:chgData name="Emha Taufiq Luthfi" userId="781e0746-5eaa-49be-bfa4-11bf7d142bc1" providerId="ADAL" clId="{D87F772B-8F0B-4E40-BAAE-53DCB66B6FE8}" dt="2026-10-13T03:30:24.464" v="2422" actId="790"/>
          <ac:spMkLst>
            <pc:docMk/>
            <pc:sldMk cId="1128994155" sldId="319"/>
            <ac:spMk id="2" creationId="{0E8BFABC-B7FF-2344-D5CD-F80E6EF7D1FE}"/>
          </ac:spMkLst>
        </pc:spChg>
        <pc:spChg chg="mod">
          <ac:chgData name="Emha Taufiq Luthfi" userId="781e0746-5eaa-49be-bfa4-11bf7d142bc1" providerId="ADAL" clId="{D87F772B-8F0B-4E40-BAAE-53DCB66B6FE8}" dt="2026-10-13T03:30:24.464" v="2422" actId="790"/>
          <ac:spMkLst>
            <pc:docMk/>
            <pc:sldMk cId="1128994155" sldId="319"/>
            <ac:spMk id="3" creationId="{82F09644-D83E-28D2-07F3-4A9680DD3744}"/>
          </ac:spMkLst>
        </pc:spChg>
        <pc:spChg chg="mod">
          <ac:chgData name="Emha Taufiq Luthfi" userId="781e0746-5eaa-49be-bfa4-11bf7d142bc1" providerId="ADAL" clId="{D87F772B-8F0B-4E40-BAAE-53DCB66B6FE8}" dt="2026-10-13T03:30:24.464" v="2422" actId="790"/>
          <ac:spMkLst>
            <pc:docMk/>
            <pc:sldMk cId="1128994155" sldId="319"/>
            <ac:spMk id="5" creationId="{B0CC5CA2-3171-8882-DA02-0A494871195E}"/>
          </ac:spMkLst>
        </pc:spChg>
      </pc:sldChg>
      <pc:sldChg chg="modSp mod">
        <pc:chgData name="Emha Taufiq Luthfi" userId="781e0746-5eaa-49be-bfa4-11bf7d142bc1" providerId="ADAL" clId="{D87F772B-8F0B-4E40-BAAE-53DCB66B6FE8}" dt="2026-10-13T03:30:24.464" v="2422" actId="790"/>
        <pc:sldMkLst>
          <pc:docMk/>
          <pc:sldMk cId="4194245220" sldId="320"/>
        </pc:sldMkLst>
        <pc:spChg chg="mod">
          <ac:chgData name="Emha Taufiq Luthfi" userId="781e0746-5eaa-49be-bfa4-11bf7d142bc1" providerId="ADAL" clId="{D87F772B-8F0B-4E40-BAAE-53DCB66B6FE8}" dt="2026-10-13T03:30:24.464" v="2422" actId="790"/>
          <ac:spMkLst>
            <pc:docMk/>
            <pc:sldMk cId="4194245220" sldId="320"/>
            <ac:spMk id="3" creationId="{4A03612F-6CE6-DA49-32F3-F295024AAFAF}"/>
          </ac:spMkLst>
        </pc:spChg>
      </pc:sldChg>
      <pc:sldChg chg="modSp mod">
        <pc:chgData name="Emha Taufiq Luthfi" userId="781e0746-5eaa-49be-bfa4-11bf7d142bc1" providerId="ADAL" clId="{D87F772B-8F0B-4E40-BAAE-53DCB66B6FE8}" dt="2026-10-13T03:30:24.464" v="2422" actId="790"/>
        <pc:sldMkLst>
          <pc:docMk/>
          <pc:sldMk cId="642741322" sldId="321"/>
        </pc:sldMkLst>
        <pc:spChg chg="mod">
          <ac:chgData name="Emha Taufiq Luthfi" userId="781e0746-5eaa-49be-bfa4-11bf7d142bc1" providerId="ADAL" clId="{D87F772B-8F0B-4E40-BAAE-53DCB66B6FE8}" dt="2026-10-13T03:30:24.464" v="2422" actId="790"/>
          <ac:spMkLst>
            <pc:docMk/>
            <pc:sldMk cId="642741322" sldId="321"/>
            <ac:spMk id="3" creationId="{AC9E5D16-C148-4683-4682-5B575DC3B17A}"/>
          </ac:spMkLst>
        </pc:spChg>
      </pc:sldChg>
      <pc:sldChg chg="modSp mod">
        <pc:chgData name="Emha Taufiq Luthfi" userId="781e0746-5eaa-49be-bfa4-11bf7d142bc1" providerId="ADAL" clId="{D87F772B-8F0B-4E40-BAAE-53DCB66B6FE8}" dt="2026-10-13T03:30:24.464" v="2422" actId="790"/>
        <pc:sldMkLst>
          <pc:docMk/>
          <pc:sldMk cId="203246599" sldId="323"/>
        </pc:sldMkLst>
        <pc:spChg chg="mod">
          <ac:chgData name="Emha Taufiq Luthfi" userId="781e0746-5eaa-49be-bfa4-11bf7d142bc1" providerId="ADAL" clId="{D87F772B-8F0B-4E40-BAAE-53DCB66B6FE8}" dt="2026-10-13T03:30:24.464" v="2422" actId="790"/>
          <ac:spMkLst>
            <pc:docMk/>
            <pc:sldMk cId="203246599" sldId="323"/>
            <ac:spMk id="3" creationId="{40FA15DF-0E0C-A7DF-BC1B-182223F7F434}"/>
          </ac:spMkLst>
        </pc:spChg>
      </pc:sldChg>
      <pc:sldChg chg="modSp mod">
        <pc:chgData name="Emha Taufiq Luthfi" userId="781e0746-5eaa-49be-bfa4-11bf7d142bc1" providerId="ADAL" clId="{D87F772B-8F0B-4E40-BAAE-53DCB66B6FE8}" dt="2026-10-13T03:30:24.464" v="2422" actId="790"/>
        <pc:sldMkLst>
          <pc:docMk/>
          <pc:sldMk cId="918513908" sldId="324"/>
        </pc:sldMkLst>
        <pc:spChg chg="mod">
          <ac:chgData name="Emha Taufiq Luthfi" userId="781e0746-5eaa-49be-bfa4-11bf7d142bc1" providerId="ADAL" clId="{D87F772B-8F0B-4E40-BAAE-53DCB66B6FE8}" dt="2026-10-13T03:30:24.464" v="2422" actId="790"/>
          <ac:spMkLst>
            <pc:docMk/>
            <pc:sldMk cId="918513908" sldId="324"/>
            <ac:spMk id="3" creationId="{1482B984-E991-85B3-BF2D-A4DCD425C24F}"/>
          </ac:spMkLst>
        </pc:spChg>
      </pc:sldChg>
      <pc:sldChg chg="modSp mod">
        <pc:chgData name="Emha Taufiq Luthfi" userId="781e0746-5eaa-49be-bfa4-11bf7d142bc1" providerId="ADAL" clId="{D87F772B-8F0B-4E40-BAAE-53DCB66B6FE8}" dt="2026-10-13T03:30:24.464" v="2422" actId="790"/>
        <pc:sldMkLst>
          <pc:docMk/>
          <pc:sldMk cId="740666563" sldId="325"/>
        </pc:sldMkLst>
        <pc:spChg chg="mod">
          <ac:chgData name="Emha Taufiq Luthfi" userId="781e0746-5eaa-49be-bfa4-11bf7d142bc1" providerId="ADAL" clId="{D87F772B-8F0B-4E40-BAAE-53DCB66B6FE8}" dt="2026-10-13T03:30:24.464" v="2422" actId="790"/>
          <ac:spMkLst>
            <pc:docMk/>
            <pc:sldMk cId="740666563" sldId="325"/>
            <ac:spMk id="3" creationId="{AFA6DFAD-179D-A24F-3FB1-B22749EBF530}"/>
          </ac:spMkLst>
        </pc:spChg>
      </pc:sldChg>
      <pc:sldChg chg="modSp mod">
        <pc:chgData name="Emha Taufiq Luthfi" userId="781e0746-5eaa-49be-bfa4-11bf7d142bc1" providerId="ADAL" clId="{D87F772B-8F0B-4E40-BAAE-53DCB66B6FE8}" dt="2026-10-13T03:30:24.464" v="2422" actId="790"/>
        <pc:sldMkLst>
          <pc:docMk/>
          <pc:sldMk cId="45544180" sldId="326"/>
        </pc:sldMkLst>
        <pc:graphicFrameChg chg="modGraphic">
          <ac:chgData name="Emha Taufiq Luthfi" userId="781e0746-5eaa-49be-bfa4-11bf7d142bc1" providerId="ADAL" clId="{D87F772B-8F0B-4E40-BAAE-53DCB66B6FE8}" dt="2026-10-13T03:30:24.464" v="2422" actId="790"/>
          <ac:graphicFrameMkLst>
            <pc:docMk/>
            <pc:sldMk cId="45544180" sldId="326"/>
            <ac:graphicFrameMk id="4" creationId="{3FDD1962-F4D5-E656-EFE6-870D16E07CB6}"/>
          </ac:graphicFrameMkLst>
        </pc:graphicFrameChg>
      </pc:sldChg>
      <pc:sldChg chg="modSp mod">
        <pc:chgData name="Emha Taufiq Luthfi" userId="781e0746-5eaa-49be-bfa4-11bf7d142bc1" providerId="ADAL" clId="{D87F772B-8F0B-4E40-BAAE-53DCB66B6FE8}" dt="2026-10-13T03:30:24.464" v="2422" actId="790"/>
        <pc:sldMkLst>
          <pc:docMk/>
          <pc:sldMk cId="1053603974" sldId="327"/>
        </pc:sldMkLst>
        <pc:spChg chg="mod">
          <ac:chgData name="Emha Taufiq Luthfi" userId="781e0746-5eaa-49be-bfa4-11bf7d142bc1" providerId="ADAL" clId="{D87F772B-8F0B-4E40-BAAE-53DCB66B6FE8}" dt="2026-10-13T03:30:24.464" v="2422" actId="790"/>
          <ac:spMkLst>
            <pc:docMk/>
            <pc:sldMk cId="1053603974" sldId="327"/>
            <ac:spMk id="2" creationId="{077C41FF-6F03-69B5-4B40-AD57051136B2}"/>
          </ac:spMkLst>
        </pc:spChg>
        <pc:graphicFrameChg chg="modGraphic">
          <ac:chgData name="Emha Taufiq Luthfi" userId="781e0746-5eaa-49be-bfa4-11bf7d142bc1" providerId="ADAL" clId="{D87F772B-8F0B-4E40-BAAE-53DCB66B6FE8}" dt="2026-10-13T03:30:24.464" v="2422" actId="790"/>
          <ac:graphicFrameMkLst>
            <pc:docMk/>
            <pc:sldMk cId="1053603974" sldId="327"/>
            <ac:graphicFrameMk id="4" creationId="{EEAC51EF-51C4-FCD5-3E2A-193A050D773B}"/>
          </ac:graphicFrameMkLst>
        </pc:graphicFrameChg>
      </pc:sldChg>
      <pc:sldChg chg="modSp mod">
        <pc:chgData name="Emha Taufiq Luthfi" userId="781e0746-5eaa-49be-bfa4-11bf7d142bc1" providerId="ADAL" clId="{D87F772B-8F0B-4E40-BAAE-53DCB66B6FE8}" dt="2026-10-13T03:30:24.464" v="2422" actId="790"/>
        <pc:sldMkLst>
          <pc:docMk/>
          <pc:sldMk cId="506906087" sldId="328"/>
        </pc:sldMkLst>
        <pc:spChg chg="mod">
          <ac:chgData name="Emha Taufiq Luthfi" userId="781e0746-5eaa-49be-bfa4-11bf7d142bc1" providerId="ADAL" clId="{D87F772B-8F0B-4E40-BAAE-53DCB66B6FE8}" dt="2026-10-13T03:30:24.464" v="2422" actId="790"/>
          <ac:spMkLst>
            <pc:docMk/>
            <pc:sldMk cId="506906087" sldId="328"/>
            <ac:spMk id="2" creationId="{B44E7A2D-E0B3-B8AA-CBAA-89EBE36936FD}"/>
          </ac:spMkLst>
        </pc:spChg>
        <pc:spChg chg="mod">
          <ac:chgData name="Emha Taufiq Luthfi" userId="781e0746-5eaa-49be-bfa4-11bf7d142bc1" providerId="ADAL" clId="{D87F772B-8F0B-4E40-BAAE-53DCB66B6FE8}" dt="2026-10-13T03:30:24.464" v="2422" actId="790"/>
          <ac:spMkLst>
            <pc:docMk/>
            <pc:sldMk cId="506906087" sldId="328"/>
            <ac:spMk id="3" creationId="{FA8C92EB-DDEB-888F-1F84-8E46376FF058}"/>
          </ac:spMkLst>
        </pc:spChg>
        <pc:graphicFrameChg chg="modGraphic">
          <ac:chgData name="Emha Taufiq Luthfi" userId="781e0746-5eaa-49be-bfa4-11bf7d142bc1" providerId="ADAL" clId="{D87F772B-8F0B-4E40-BAAE-53DCB66B6FE8}" dt="2026-10-13T03:30:24.464" v="2422" actId="790"/>
          <ac:graphicFrameMkLst>
            <pc:docMk/>
            <pc:sldMk cId="506906087" sldId="328"/>
            <ac:graphicFrameMk id="6" creationId="{68284CB0-071F-89D3-316B-2C08C89C668D}"/>
          </ac:graphicFrameMkLst>
        </pc:graphicFrameChg>
      </pc:sldChg>
      <pc:sldChg chg="modSp mod">
        <pc:chgData name="Emha Taufiq Luthfi" userId="781e0746-5eaa-49be-bfa4-11bf7d142bc1" providerId="ADAL" clId="{D87F772B-8F0B-4E40-BAAE-53DCB66B6FE8}" dt="2026-10-13T03:30:24.464" v="2422" actId="790"/>
        <pc:sldMkLst>
          <pc:docMk/>
          <pc:sldMk cId="239981878" sldId="329"/>
        </pc:sldMkLst>
        <pc:spChg chg="mod">
          <ac:chgData name="Emha Taufiq Luthfi" userId="781e0746-5eaa-49be-bfa4-11bf7d142bc1" providerId="ADAL" clId="{D87F772B-8F0B-4E40-BAAE-53DCB66B6FE8}" dt="2026-10-13T03:30:24.464" v="2422" actId="790"/>
          <ac:spMkLst>
            <pc:docMk/>
            <pc:sldMk cId="239981878" sldId="329"/>
            <ac:spMk id="2" creationId="{EF86D16C-1303-1866-59DC-84915CD4E19F}"/>
          </ac:spMkLst>
        </pc:spChg>
        <pc:graphicFrameChg chg="modGraphic">
          <ac:chgData name="Emha Taufiq Luthfi" userId="781e0746-5eaa-49be-bfa4-11bf7d142bc1" providerId="ADAL" clId="{D87F772B-8F0B-4E40-BAAE-53DCB66B6FE8}" dt="2026-10-13T03:30:24.464" v="2422" actId="790"/>
          <ac:graphicFrameMkLst>
            <pc:docMk/>
            <pc:sldMk cId="239981878" sldId="329"/>
            <ac:graphicFrameMk id="4" creationId="{6F004A26-79D2-9EAC-8E53-E5C22B8A22E3}"/>
          </ac:graphicFrameMkLst>
        </pc:graphicFrameChg>
      </pc:sldChg>
      <pc:sldChg chg="modSp mod">
        <pc:chgData name="Emha Taufiq Luthfi" userId="781e0746-5eaa-49be-bfa4-11bf7d142bc1" providerId="ADAL" clId="{D87F772B-8F0B-4E40-BAAE-53DCB66B6FE8}" dt="2026-10-13T03:30:24.464" v="2422" actId="790"/>
        <pc:sldMkLst>
          <pc:docMk/>
          <pc:sldMk cId="2253529321" sldId="330"/>
        </pc:sldMkLst>
        <pc:spChg chg="mod">
          <ac:chgData name="Emha Taufiq Luthfi" userId="781e0746-5eaa-49be-bfa4-11bf7d142bc1" providerId="ADAL" clId="{D87F772B-8F0B-4E40-BAAE-53DCB66B6FE8}" dt="2026-10-13T03:30:24.464" v="2422" actId="790"/>
          <ac:spMkLst>
            <pc:docMk/>
            <pc:sldMk cId="2253529321" sldId="330"/>
            <ac:spMk id="2" creationId="{11232BDD-5C80-F960-FECB-9D70DBAF1F7D}"/>
          </ac:spMkLst>
        </pc:spChg>
        <pc:graphicFrameChg chg="modGraphic">
          <ac:chgData name="Emha Taufiq Luthfi" userId="781e0746-5eaa-49be-bfa4-11bf7d142bc1" providerId="ADAL" clId="{D87F772B-8F0B-4E40-BAAE-53DCB66B6FE8}" dt="2026-10-13T03:30:24.464" v="2422" actId="790"/>
          <ac:graphicFrameMkLst>
            <pc:docMk/>
            <pc:sldMk cId="2253529321" sldId="330"/>
            <ac:graphicFrameMk id="6" creationId="{BBD07E6E-E418-3517-A90D-C92E91D30B1C}"/>
          </ac:graphicFrameMkLst>
        </pc:graphicFrameChg>
      </pc:sldChg>
      <pc:sldChg chg="modSp mod">
        <pc:chgData name="Emha Taufiq Luthfi" userId="781e0746-5eaa-49be-bfa4-11bf7d142bc1" providerId="ADAL" clId="{D87F772B-8F0B-4E40-BAAE-53DCB66B6FE8}" dt="2026-10-13T03:30:24.464" v="2422" actId="790"/>
        <pc:sldMkLst>
          <pc:docMk/>
          <pc:sldMk cId="1069184939" sldId="331"/>
        </pc:sldMkLst>
        <pc:spChg chg="mod">
          <ac:chgData name="Emha Taufiq Luthfi" userId="781e0746-5eaa-49be-bfa4-11bf7d142bc1" providerId="ADAL" clId="{D87F772B-8F0B-4E40-BAAE-53DCB66B6FE8}" dt="2026-10-13T03:30:24.464" v="2422" actId="790"/>
          <ac:spMkLst>
            <pc:docMk/>
            <pc:sldMk cId="1069184939" sldId="331"/>
            <ac:spMk id="2" creationId="{E12AF5AB-CF05-A82F-5A80-420DF306755A}"/>
          </ac:spMkLst>
        </pc:spChg>
        <pc:spChg chg="mod">
          <ac:chgData name="Emha Taufiq Luthfi" userId="781e0746-5eaa-49be-bfa4-11bf7d142bc1" providerId="ADAL" clId="{D87F772B-8F0B-4E40-BAAE-53DCB66B6FE8}" dt="2026-10-13T03:30:24.464" v="2422" actId="790"/>
          <ac:spMkLst>
            <pc:docMk/>
            <pc:sldMk cId="1069184939" sldId="331"/>
            <ac:spMk id="3" creationId="{E89D2A52-BF05-AC3D-8214-5CD25DC6C36F}"/>
          </ac:spMkLst>
        </pc:spChg>
      </pc:sldChg>
      <pc:sldChg chg="modSp mod">
        <pc:chgData name="Emha Taufiq Luthfi" userId="781e0746-5eaa-49be-bfa4-11bf7d142bc1" providerId="ADAL" clId="{D87F772B-8F0B-4E40-BAAE-53DCB66B6FE8}" dt="2026-10-13T03:30:24.464" v="2422" actId="790"/>
        <pc:sldMkLst>
          <pc:docMk/>
          <pc:sldMk cId="4213783188" sldId="332"/>
        </pc:sldMkLst>
        <pc:graphicFrameChg chg="modGraphic">
          <ac:chgData name="Emha Taufiq Luthfi" userId="781e0746-5eaa-49be-bfa4-11bf7d142bc1" providerId="ADAL" clId="{D87F772B-8F0B-4E40-BAAE-53DCB66B6FE8}" dt="2026-10-13T03:30:24.464" v="2422" actId="790"/>
          <ac:graphicFrameMkLst>
            <pc:docMk/>
            <pc:sldMk cId="4213783188" sldId="332"/>
            <ac:graphicFrameMk id="4" creationId="{E7A0D2FA-8D35-F10F-E7C8-147D35E5C5E8}"/>
          </ac:graphicFrameMkLst>
        </pc:graphicFrameChg>
      </pc:sldChg>
      <pc:sldChg chg="modSp mod">
        <pc:chgData name="Emha Taufiq Luthfi" userId="781e0746-5eaa-49be-bfa4-11bf7d142bc1" providerId="ADAL" clId="{D87F772B-8F0B-4E40-BAAE-53DCB66B6FE8}" dt="2026-10-13T03:30:24.464" v="2422" actId="790"/>
        <pc:sldMkLst>
          <pc:docMk/>
          <pc:sldMk cId="4291897081" sldId="333"/>
        </pc:sldMkLst>
        <pc:spChg chg="mod">
          <ac:chgData name="Emha Taufiq Luthfi" userId="781e0746-5eaa-49be-bfa4-11bf7d142bc1" providerId="ADAL" clId="{D87F772B-8F0B-4E40-BAAE-53DCB66B6FE8}" dt="2026-10-13T03:30:24.464" v="2422" actId="790"/>
          <ac:spMkLst>
            <pc:docMk/>
            <pc:sldMk cId="4291897081" sldId="333"/>
            <ac:spMk id="7" creationId="{834C2D50-765C-369F-6315-DFAC71F0B4B5}"/>
          </ac:spMkLst>
        </pc:spChg>
        <pc:graphicFrameChg chg="modGraphic">
          <ac:chgData name="Emha Taufiq Luthfi" userId="781e0746-5eaa-49be-bfa4-11bf7d142bc1" providerId="ADAL" clId="{D87F772B-8F0B-4E40-BAAE-53DCB66B6FE8}" dt="2026-10-13T03:30:24.464" v="2422" actId="790"/>
          <ac:graphicFrameMkLst>
            <pc:docMk/>
            <pc:sldMk cId="4291897081" sldId="333"/>
            <ac:graphicFrameMk id="4" creationId="{E570B97F-F1F2-3998-295D-26DB3E430D8B}"/>
          </ac:graphicFrameMkLst>
        </pc:graphicFrameChg>
        <pc:graphicFrameChg chg="modGraphic">
          <ac:chgData name="Emha Taufiq Luthfi" userId="781e0746-5eaa-49be-bfa4-11bf7d142bc1" providerId="ADAL" clId="{D87F772B-8F0B-4E40-BAAE-53DCB66B6FE8}" dt="2026-10-13T03:30:24.464" v="2422" actId="790"/>
          <ac:graphicFrameMkLst>
            <pc:docMk/>
            <pc:sldMk cId="4291897081" sldId="333"/>
            <ac:graphicFrameMk id="5" creationId="{65DB9EB2-6073-5480-56C3-41A626BAE8C8}"/>
          </ac:graphicFrameMkLst>
        </pc:graphicFrameChg>
      </pc:sldChg>
      <pc:sldChg chg="modSp mod">
        <pc:chgData name="Emha Taufiq Luthfi" userId="781e0746-5eaa-49be-bfa4-11bf7d142bc1" providerId="ADAL" clId="{D87F772B-8F0B-4E40-BAAE-53DCB66B6FE8}" dt="2026-10-13T03:30:24.464" v="2422" actId="790"/>
        <pc:sldMkLst>
          <pc:docMk/>
          <pc:sldMk cId="1340352959" sldId="334"/>
        </pc:sldMkLst>
        <pc:spChg chg="mod">
          <ac:chgData name="Emha Taufiq Luthfi" userId="781e0746-5eaa-49be-bfa4-11bf7d142bc1" providerId="ADAL" clId="{D87F772B-8F0B-4E40-BAAE-53DCB66B6FE8}" dt="2026-10-13T03:30:24.464" v="2422" actId="790"/>
          <ac:spMkLst>
            <pc:docMk/>
            <pc:sldMk cId="1340352959" sldId="334"/>
            <ac:spMk id="2" creationId="{CDE14EE5-4B00-3613-D220-8FEFDA9DB8B9}"/>
          </ac:spMkLst>
        </pc:spChg>
        <pc:graphicFrameChg chg="modGraphic">
          <ac:chgData name="Emha Taufiq Luthfi" userId="781e0746-5eaa-49be-bfa4-11bf7d142bc1" providerId="ADAL" clId="{D87F772B-8F0B-4E40-BAAE-53DCB66B6FE8}" dt="2026-10-13T03:30:24.464" v="2422" actId="790"/>
          <ac:graphicFrameMkLst>
            <pc:docMk/>
            <pc:sldMk cId="1340352959" sldId="334"/>
            <ac:graphicFrameMk id="4" creationId="{4377F855-D15C-8502-0820-69710BCA16C6}"/>
          </ac:graphicFrameMkLst>
        </pc:graphicFrameChg>
      </pc:sldChg>
      <pc:sldChg chg="modSp mod">
        <pc:chgData name="Emha Taufiq Luthfi" userId="781e0746-5eaa-49be-bfa4-11bf7d142bc1" providerId="ADAL" clId="{D87F772B-8F0B-4E40-BAAE-53DCB66B6FE8}" dt="2026-10-13T03:30:24.464" v="2422" actId="790"/>
        <pc:sldMkLst>
          <pc:docMk/>
          <pc:sldMk cId="2143412954" sldId="335"/>
        </pc:sldMkLst>
        <pc:spChg chg="mod">
          <ac:chgData name="Emha Taufiq Luthfi" userId="781e0746-5eaa-49be-bfa4-11bf7d142bc1" providerId="ADAL" clId="{D87F772B-8F0B-4E40-BAAE-53DCB66B6FE8}" dt="2026-10-13T03:30:24.464" v="2422" actId="790"/>
          <ac:spMkLst>
            <pc:docMk/>
            <pc:sldMk cId="2143412954" sldId="335"/>
            <ac:spMk id="2" creationId="{B32BC978-779C-A2B1-AA2A-17168DF5A9EA}"/>
          </ac:spMkLst>
        </pc:spChg>
        <pc:spChg chg="mod">
          <ac:chgData name="Emha Taufiq Luthfi" userId="781e0746-5eaa-49be-bfa4-11bf7d142bc1" providerId="ADAL" clId="{D87F772B-8F0B-4E40-BAAE-53DCB66B6FE8}" dt="2026-10-13T03:30:24.464" v="2422" actId="790"/>
          <ac:spMkLst>
            <pc:docMk/>
            <pc:sldMk cId="2143412954" sldId="335"/>
            <ac:spMk id="3" creationId="{8AC6948F-35C5-36A1-9DB4-FC10F837D807}"/>
          </ac:spMkLst>
        </pc:spChg>
      </pc:sldChg>
      <pc:sldChg chg="modSp mod">
        <pc:chgData name="Emha Taufiq Luthfi" userId="781e0746-5eaa-49be-bfa4-11bf7d142bc1" providerId="ADAL" clId="{D87F772B-8F0B-4E40-BAAE-53DCB66B6FE8}" dt="2026-10-13T03:30:24.464" v="2422" actId="790"/>
        <pc:sldMkLst>
          <pc:docMk/>
          <pc:sldMk cId="820122576" sldId="336"/>
        </pc:sldMkLst>
        <pc:spChg chg="mod">
          <ac:chgData name="Emha Taufiq Luthfi" userId="781e0746-5eaa-49be-bfa4-11bf7d142bc1" providerId="ADAL" clId="{D87F772B-8F0B-4E40-BAAE-53DCB66B6FE8}" dt="2026-10-13T03:30:24.464" v="2422" actId="790"/>
          <ac:spMkLst>
            <pc:docMk/>
            <pc:sldMk cId="820122576" sldId="336"/>
            <ac:spMk id="5" creationId="{872536FC-D415-B1C0-DEB4-257857E113A6}"/>
          </ac:spMkLst>
        </pc:spChg>
        <pc:graphicFrameChg chg="modGraphic">
          <ac:chgData name="Emha Taufiq Luthfi" userId="781e0746-5eaa-49be-bfa4-11bf7d142bc1" providerId="ADAL" clId="{D87F772B-8F0B-4E40-BAAE-53DCB66B6FE8}" dt="2026-10-13T03:30:24.464" v="2422" actId="790"/>
          <ac:graphicFrameMkLst>
            <pc:docMk/>
            <pc:sldMk cId="820122576" sldId="336"/>
            <ac:graphicFrameMk id="6" creationId="{2B5849A7-62A6-FA89-620C-197A890A86E6}"/>
          </ac:graphicFrameMkLst>
        </pc:graphicFrameChg>
      </pc:sldChg>
      <pc:sldChg chg="modSp mod">
        <pc:chgData name="Emha Taufiq Luthfi" userId="781e0746-5eaa-49be-bfa4-11bf7d142bc1" providerId="ADAL" clId="{D87F772B-8F0B-4E40-BAAE-53DCB66B6FE8}" dt="2026-10-13T03:30:24.464" v="2422" actId="790"/>
        <pc:sldMkLst>
          <pc:docMk/>
          <pc:sldMk cId="4046296019" sldId="337"/>
        </pc:sldMkLst>
        <pc:spChg chg="mod">
          <ac:chgData name="Emha Taufiq Luthfi" userId="781e0746-5eaa-49be-bfa4-11bf7d142bc1" providerId="ADAL" clId="{D87F772B-8F0B-4E40-BAAE-53DCB66B6FE8}" dt="2026-10-13T03:30:24.464" v="2422" actId="790"/>
          <ac:spMkLst>
            <pc:docMk/>
            <pc:sldMk cId="4046296019" sldId="337"/>
            <ac:spMk id="5" creationId="{D3D630E5-6C34-186C-1414-2F0F34923F6D}"/>
          </ac:spMkLst>
        </pc:spChg>
        <pc:graphicFrameChg chg="modGraphic">
          <ac:chgData name="Emha Taufiq Luthfi" userId="781e0746-5eaa-49be-bfa4-11bf7d142bc1" providerId="ADAL" clId="{D87F772B-8F0B-4E40-BAAE-53DCB66B6FE8}" dt="2026-10-13T03:30:24.464" v="2422" actId="790"/>
          <ac:graphicFrameMkLst>
            <pc:docMk/>
            <pc:sldMk cId="4046296019" sldId="337"/>
            <ac:graphicFrameMk id="6" creationId="{943399EC-9214-9899-5FCD-73120D562C0C}"/>
          </ac:graphicFrameMkLst>
        </pc:graphicFrameChg>
      </pc:sldChg>
      <pc:sldChg chg="modSp mod">
        <pc:chgData name="Emha Taufiq Luthfi" userId="781e0746-5eaa-49be-bfa4-11bf7d142bc1" providerId="ADAL" clId="{D87F772B-8F0B-4E40-BAAE-53DCB66B6FE8}" dt="2026-10-13T03:30:24.464" v="2422" actId="790"/>
        <pc:sldMkLst>
          <pc:docMk/>
          <pc:sldMk cId="3384641605" sldId="338"/>
        </pc:sldMkLst>
        <pc:spChg chg="mod">
          <ac:chgData name="Emha Taufiq Luthfi" userId="781e0746-5eaa-49be-bfa4-11bf7d142bc1" providerId="ADAL" clId="{D87F772B-8F0B-4E40-BAAE-53DCB66B6FE8}" dt="2026-10-13T03:30:24.464" v="2422" actId="790"/>
          <ac:spMkLst>
            <pc:docMk/>
            <pc:sldMk cId="3384641605" sldId="338"/>
            <ac:spMk id="5" creationId="{98719B9A-7DA7-7917-AC65-12D952AC9D0D}"/>
          </ac:spMkLst>
        </pc:spChg>
        <pc:graphicFrameChg chg="modGraphic">
          <ac:chgData name="Emha Taufiq Luthfi" userId="781e0746-5eaa-49be-bfa4-11bf7d142bc1" providerId="ADAL" clId="{D87F772B-8F0B-4E40-BAAE-53DCB66B6FE8}" dt="2026-10-13T03:30:24.464" v="2422" actId="790"/>
          <ac:graphicFrameMkLst>
            <pc:docMk/>
            <pc:sldMk cId="3384641605" sldId="338"/>
            <ac:graphicFrameMk id="6" creationId="{061155CA-7385-DB6F-52F1-E86696D2895A}"/>
          </ac:graphicFrameMkLst>
        </pc:graphicFrameChg>
      </pc:sldChg>
      <pc:sldChg chg="modSp mod">
        <pc:chgData name="Emha Taufiq Luthfi" userId="781e0746-5eaa-49be-bfa4-11bf7d142bc1" providerId="ADAL" clId="{D87F772B-8F0B-4E40-BAAE-53DCB66B6FE8}" dt="2026-10-13T03:30:24.464" v="2422" actId="790"/>
        <pc:sldMkLst>
          <pc:docMk/>
          <pc:sldMk cId="2485795848" sldId="339"/>
        </pc:sldMkLst>
        <pc:spChg chg="mod">
          <ac:chgData name="Emha Taufiq Luthfi" userId="781e0746-5eaa-49be-bfa4-11bf7d142bc1" providerId="ADAL" clId="{D87F772B-8F0B-4E40-BAAE-53DCB66B6FE8}" dt="2026-10-13T03:30:24.464" v="2422" actId="790"/>
          <ac:spMkLst>
            <pc:docMk/>
            <pc:sldMk cId="2485795848" sldId="339"/>
            <ac:spMk id="2" creationId="{E31DB9F7-7778-D681-9632-E2D19B9906B7}"/>
          </ac:spMkLst>
        </pc:spChg>
      </pc:sldChg>
      <pc:sldChg chg="modSp mod">
        <pc:chgData name="Emha Taufiq Luthfi" userId="781e0746-5eaa-49be-bfa4-11bf7d142bc1" providerId="ADAL" clId="{D87F772B-8F0B-4E40-BAAE-53DCB66B6FE8}" dt="2026-10-13T03:30:24.464" v="2422" actId="790"/>
        <pc:sldMkLst>
          <pc:docMk/>
          <pc:sldMk cId="2390864615" sldId="340"/>
        </pc:sldMkLst>
        <pc:spChg chg="mod">
          <ac:chgData name="Emha Taufiq Luthfi" userId="781e0746-5eaa-49be-bfa4-11bf7d142bc1" providerId="ADAL" clId="{D87F772B-8F0B-4E40-BAAE-53DCB66B6FE8}" dt="2026-10-13T03:30:24.464" v="2422" actId="790"/>
          <ac:spMkLst>
            <pc:docMk/>
            <pc:sldMk cId="2390864615" sldId="340"/>
            <ac:spMk id="2" creationId="{18BF4DDD-9277-003C-6064-8DBBCF472978}"/>
          </ac:spMkLst>
        </pc:spChg>
        <pc:graphicFrameChg chg="modGraphic">
          <ac:chgData name="Emha Taufiq Luthfi" userId="781e0746-5eaa-49be-bfa4-11bf7d142bc1" providerId="ADAL" clId="{D87F772B-8F0B-4E40-BAAE-53DCB66B6FE8}" dt="2026-10-13T03:30:24.464" v="2422" actId="790"/>
          <ac:graphicFrameMkLst>
            <pc:docMk/>
            <pc:sldMk cId="2390864615" sldId="340"/>
            <ac:graphicFrameMk id="4" creationId="{CDC655B3-1BE2-8B89-064B-A6A3652EF417}"/>
          </ac:graphicFrameMkLst>
        </pc:graphicFrameChg>
      </pc:sldChg>
      <pc:sldChg chg="modSp mod">
        <pc:chgData name="Emha Taufiq Luthfi" userId="781e0746-5eaa-49be-bfa4-11bf7d142bc1" providerId="ADAL" clId="{D87F772B-8F0B-4E40-BAAE-53DCB66B6FE8}" dt="2026-10-13T03:30:24.464" v="2422" actId="790"/>
        <pc:sldMkLst>
          <pc:docMk/>
          <pc:sldMk cId="232871202" sldId="341"/>
        </pc:sldMkLst>
        <pc:spChg chg="mod">
          <ac:chgData name="Emha Taufiq Luthfi" userId="781e0746-5eaa-49be-bfa4-11bf7d142bc1" providerId="ADAL" clId="{D87F772B-8F0B-4E40-BAAE-53DCB66B6FE8}" dt="2026-10-13T03:30:24.464" v="2422" actId="790"/>
          <ac:spMkLst>
            <pc:docMk/>
            <pc:sldMk cId="232871202" sldId="341"/>
            <ac:spMk id="2" creationId="{08C0B767-B60E-6D9A-9271-F96DCC76E71D}"/>
          </ac:spMkLst>
        </pc:spChg>
        <pc:graphicFrameChg chg="modGraphic">
          <ac:chgData name="Emha Taufiq Luthfi" userId="781e0746-5eaa-49be-bfa4-11bf7d142bc1" providerId="ADAL" clId="{D87F772B-8F0B-4E40-BAAE-53DCB66B6FE8}" dt="2026-10-13T03:30:24.464" v="2422" actId="790"/>
          <ac:graphicFrameMkLst>
            <pc:docMk/>
            <pc:sldMk cId="232871202" sldId="341"/>
            <ac:graphicFrameMk id="4" creationId="{D7B1FC7B-E27F-7C63-95D8-520CAAF2B8C1}"/>
          </ac:graphicFrameMkLst>
        </pc:graphicFrameChg>
      </pc:sldChg>
      <pc:sldChg chg="modSp mod">
        <pc:chgData name="Emha Taufiq Luthfi" userId="781e0746-5eaa-49be-bfa4-11bf7d142bc1" providerId="ADAL" clId="{D87F772B-8F0B-4E40-BAAE-53DCB66B6FE8}" dt="2026-10-13T03:30:24.464" v="2422" actId="790"/>
        <pc:sldMkLst>
          <pc:docMk/>
          <pc:sldMk cId="911398368" sldId="342"/>
        </pc:sldMkLst>
        <pc:spChg chg="mod">
          <ac:chgData name="Emha Taufiq Luthfi" userId="781e0746-5eaa-49be-bfa4-11bf7d142bc1" providerId="ADAL" clId="{D87F772B-8F0B-4E40-BAAE-53DCB66B6FE8}" dt="2026-10-13T03:30:24.464" v="2422" actId="790"/>
          <ac:spMkLst>
            <pc:docMk/>
            <pc:sldMk cId="911398368" sldId="342"/>
            <ac:spMk id="2" creationId="{7C5917C6-F8EC-A8BF-5913-A4F49133720B}"/>
          </ac:spMkLst>
        </pc:spChg>
        <pc:graphicFrameChg chg="modGraphic">
          <ac:chgData name="Emha Taufiq Luthfi" userId="781e0746-5eaa-49be-bfa4-11bf7d142bc1" providerId="ADAL" clId="{D87F772B-8F0B-4E40-BAAE-53DCB66B6FE8}" dt="2026-10-13T03:30:24.464" v="2422" actId="790"/>
          <ac:graphicFrameMkLst>
            <pc:docMk/>
            <pc:sldMk cId="911398368" sldId="342"/>
            <ac:graphicFrameMk id="4" creationId="{59B486F5-89E8-56F7-6D26-B0E9073A3C15}"/>
          </ac:graphicFrameMkLst>
        </pc:graphicFrameChg>
      </pc:sldChg>
      <pc:sldChg chg="modSp mod">
        <pc:chgData name="Emha Taufiq Luthfi" userId="781e0746-5eaa-49be-bfa4-11bf7d142bc1" providerId="ADAL" clId="{D87F772B-8F0B-4E40-BAAE-53DCB66B6FE8}" dt="2026-10-13T03:30:24.464" v="2422" actId="790"/>
        <pc:sldMkLst>
          <pc:docMk/>
          <pc:sldMk cId="76113417" sldId="343"/>
        </pc:sldMkLst>
        <pc:spChg chg="mod">
          <ac:chgData name="Emha Taufiq Luthfi" userId="781e0746-5eaa-49be-bfa4-11bf7d142bc1" providerId="ADAL" clId="{D87F772B-8F0B-4E40-BAAE-53DCB66B6FE8}" dt="2026-10-13T03:30:24.464" v="2422" actId="790"/>
          <ac:spMkLst>
            <pc:docMk/>
            <pc:sldMk cId="76113417" sldId="343"/>
            <ac:spMk id="2" creationId="{CFF09E20-A423-DECA-FD92-8C94DA7A864B}"/>
          </ac:spMkLst>
        </pc:spChg>
        <pc:spChg chg="mod">
          <ac:chgData name="Emha Taufiq Luthfi" userId="781e0746-5eaa-49be-bfa4-11bf7d142bc1" providerId="ADAL" clId="{D87F772B-8F0B-4E40-BAAE-53DCB66B6FE8}" dt="2026-10-13T03:30:24.464" v="2422" actId="790"/>
          <ac:spMkLst>
            <pc:docMk/>
            <pc:sldMk cId="76113417" sldId="343"/>
            <ac:spMk id="3" creationId="{C1A45AE0-C459-FFAD-EC4D-B9717C671ACF}"/>
          </ac:spMkLst>
        </pc:spChg>
      </pc:sldChg>
      <pc:sldChg chg="modSp mod">
        <pc:chgData name="Emha Taufiq Luthfi" userId="781e0746-5eaa-49be-bfa4-11bf7d142bc1" providerId="ADAL" clId="{D87F772B-8F0B-4E40-BAAE-53DCB66B6FE8}" dt="2026-10-13T03:30:24.464" v="2422" actId="790"/>
        <pc:sldMkLst>
          <pc:docMk/>
          <pc:sldMk cId="634682050" sldId="344"/>
        </pc:sldMkLst>
        <pc:graphicFrameChg chg="modGraphic">
          <ac:chgData name="Emha Taufiq Luthfi" userId="781e0746-5eaa-49be-bfa4-11bf7d142bc1" providerId="ADAL" clId="{D87F772B-8F0B-4E40-BAAE-53DCB66B6FE8}" dt="2026-10-13T03:30:24.464" v="2422" actId="790"/>
          <ac:graphicFrameMkLst>
            <pc:docMk/>
            <pc:sldMk cId="634682050" sldId="344"/>
            <ac:graphicFrameMk id="4" creationId="{B1525536-B5D4-0E47-167B-20FED73BEDB1}"/>
          </ac:graphicFrameMkLst>
        </pc:graphicFrameChg>
      </pc:sldChg>
      <pc:sldChg chg="modSp mod">
        <pc:chgData name="Emha Taufiq Luthfi" userId="781e0746-5eaa-49be-bfa4-11bf7d142bc1" providerId="ADAL" clId="{D87F772B-8F0B-4E40-BAAE-53DCB66B6FE8}" dt="2026-10-13T03:30:24.464" v="2422" actId="790"/>
        <pc:sldMkLst>
          <pc:docMk/>
          <pc:sldMk cId="2058851149" sldId="345"/>
        </pc:sldMkLst>
        <pc:graphicFrameChg chg="modGraphic">
          <ac:chgData name="Emha Taufiq Luthfi" userId="781e0746-5eaa-49be-bfa4-11bf7d142bc1" providerId="ADAL" clId="{D87F772B-8F0B-4E40-BAAE-53DCB66B6FE8}" dt="2026-10-13T03:30:24.464" v="2422" actId="790"/>
          <ac:graphicFrameMkLst>
            <pc:docMk/>
            <pc:sldMk cId="2058851149" sldId="345"/>
            <ac:graphicFrameMk id="4" creationId="{E620CE87-F3A4-C930-C86F-F39F956AC3F1}"/>
          </ac:graphicFrameMkLst>
        </pc:graphicFrameChg>
      </pc:sldChg>
      <pc:sldChg chg="modSp mod">
        <pc:chgData name="Emha Taufiq Luthfi" userId="781e0746-5eaa-49be-bfa4-11bf7d142bc1" providerId="ADAL" clId="{D87F772B-8F0B-4E40-BAAE-53DCB66B6FE8}" dt="2026-10-13T03:30:24.464" v="2422" actId="790"/>
        <pc:sldMkLst>
          <pc:docMk/>
          <pc:sldMk cId="3721009058" sldId="346"/>
        </pc:sldMkLst>
        <pc:spChg chg="mod">
          <ac:chgData name="Emha Taufiq Luthfi" userId="781e0746-5eaa-49be-bfa4-11bf7d142bc1" providerId="ADAL" clId="{D87F772B-8F0B-4E40-BAAE-53DCB66B6FE8}" dt="2026-10-13T03:30:24.464" v="2422" actId="790"/>
          <ac:spMkLst>
            <pc:docMk/>
            <pc:sldMk cId="3721009058" sldId="346"/>
            <ac:spMk id="2" creationId="{2BA30EB5-3A00-3806-37EF-98569DE6E6E8}"/>
          </ac:spMkLst>
        </pc:spChg>
        <pc:graphicFrameChg chg="modGraphic">
          <ac:chgData name="Emha Taufiq Luthfi" userId="781e0746-5eaa-49be-bfa4-11bf7d142bc1" providerId="ADAL" clId="{D87F772B-8F0B-4E40-BAAE-53DCB66B6FE8}" dt="2026-10-13T03:30:24.464" v="2422" actId="790"/>
          <ac:graphicFrameMkLst>
            <pc:docMk/>
            <pc:sldMk cId="3721009058" sldId="346"/>
            <ac:graphicFrameMk id="4" creationId="{FB7DB55A-EE74-7513-A873-065FB9E6564E}"/>
          </ac:graphicFrameMkLst>
        </pc:graphicFrameChg>
      </pc:sldChg>
      <pc:sldChg chg="modSp mod">
        <pc:chgData name="Emha Taufiq Luthfi" userId="781e0746-5eaa-49be-bfa4-11bf7d142bc1" providerId="ADAL" clId="{D87F772B-8F0B-4E40-BAAE-53DCB66B6FE8}" dt="2026-10-13T03:30:24.464" v="2422" actId="790"/>
        <pc:sldMkLst>
          <pc:docMk/>
          <pc:sldMk cId="2016448085" sldId="347"/>
        </pc:sldMkLst>
        <pc:spChg chg="mod">
          <ac:chgData name="Emha Taufiq Luthfi" userId="781e0746-5eaa-49be-bfa4-11bf7d142bc1" providerId="ADAL" clId="{D87F772B-8F0B-4E40-BAAE-53DCB66B6FE8}" dt="2026-10-13T03:30:24.464" v="2422" actId="790"/>
          <ac:spMkLst>
            <pc:docMk/>
            <pc:sldMk cId="2016448085" sldId="347"/>
            <ac:spMk id="2" creationId="{C43A5475-8943-5AAB-629E-36BE87D7D256}"/>
          </ac:spMkLst>
        </pc:spChg>
        <pc:spChg chg="mod">
          <ac:chgData name="Emha Taufiq Luthfi" userId="781e0746-5eaa-49be-bfa4-11bf7d142bc1" providerId="ADAL" clId="{D87F772B-8F0B-4E40-BAAE-53DCB66B6FE8}" dt="2026-10-13T03:30:24.464" v="2422" actId="790"/>
          <ac:spMkLst>
            <pc:docMk/>
            <pc:sldMk cId="2016448085" sldId="347"/>
            <ac:spMk id="3" creationId="{8F7396E3-8E46-1939-76E3-D015334BA9B2}"/>
          </ac:spMkLst>
        </pc:spChg>
      </pc:sldChg>
      <pc:sldChg chg="modSp mod">
        <pc:chgData name="Emha Taufiq Luthfi" userId="781e0746-5eaa-49be-bfa4-11bf7d142bc1" providerId="ADAL" clId="{D87F772B-8F0B-4E40-BAAE-53DCB66B6FE8}" dt="2026-10-13T03:30:24.464" v="2422" actId="790"/>
        <pc:sldMkLst>
          <pc:docMk/>
          <pc:sldMk cId="3609170797" sldId="348"/>
        </pc:sldMkLst>
        <pc:spChg chg="mod">
          <ac:chgData name="Emha Taufiq Luthfi" userId="781e0746-5eaa-49be-bfa4-11bf7d142bc1" providerId="ADAL" clId="{D87F772B-8F0B-4E40-BAAE-53DCB66B6FE8}" dt="2026-10-13T03:30:24.464" v="2422" actId="790"/>
          <ac:spMkLst>
            <pc:docMk/>
            <pc:sldMk cId="3609170797" sldId="348"/>
            <ac:spMk id="2" creationId="{1BB3392B-6C25-D3D5-170E-C5C7D1ABC657}"/>
          </ac:spMkLst>
        </pc:spChg>
        <pc:graphicFrameChg chg="modGraphic">
          <ac:chgData name="Emha Taufiq Luthfi" userId="781e0746-5eaa-49be-bfa4-11bf7d142bc1" providerId="ADAL" clId="{D87F772B-8F0B-4E40-BAAE-53DCB66B6FE8}" dt="2026-10-13T03:30:24.464" v="2422" actId="790"/>
          <ac:graphicFrameMkLst>
            <pc:docMk/>
            <pc:sldMk cId="3609170797" sldId="348"/>
            <ac:graphicFrameMk id="5" creationId="{819D5641-A2C2-B2FB-42EE-E4E1D56DE587}"/>
          </ac:graphicFrameMkLst>
        </pc:graphicFrameChg>
      </pc:sldChg>
      <pc:sldChg chg="modSp mod">
        <pc:chgData name="Emha Taufiq Luthfi" userId="781e0746-5eaa-49be-bfa4-11bf7d142bc1" providerId="ADAL" clId="{D87F772B-8F0B-4E40-BAAE-53DCB66B6FE8}" dt="2026-10-13T03:30:24.464" v="2422" actId="790"/>
        <pc:sldMkLst>
          <pc:docMk/>
          <pc:sldMk cId="1050139385" sldId="349"/>
        </pc:sldMkLst>
        <pc:spChg chg="mod">
          <ac:chgData name="Emha Taufiq Luthfi" userId="781e0746-5eaa-49be-bfa4-11bf7d142bc1" providerId="ADAL" clId="{D87F772B-8F0B-4E40-BAAE-53DCB66B6FE8}" dt="2026-10-13T03:30:24.464" v="2422" actId="790"/>
          <ac:spMkLst>
            <pc:docMk/>
            <pc:sldMk cId="1050139385" sldId="349"/>
            <ac:spMk id="2" creationId="{D67C256E-B65E-0364-728C-3DD5CB2A3004}"/>
          </ac:spMkLst>
        </pc:spChg>
        <pc:spChg chg="mod">
          <ac:chgData name="Emha Taufiq Luthfi" userId="781e0746-5eaa-49be-bfa4-11bf7d142bc1" providerId="ADAL" clId="{D87F772B-8F0B-4E40-BAAE-53DCB66B6FE8}" dt="2026-10-13T03:30:24.464" v="2422" actId="790"/>
          <ac:spMkLst>
            <pc:docMk/>
            <pc:sldMk cId="1050139385" sldId="349"/>
            <ac:spMk id="3" creationId="{4F38385B-3243-BEC1-1B1F-210C436C96BA}"/>
          </ac:spMkLst>
        </pc:spChg>
      </pc:sldChg>
      <pc:sldChg chg="modSp mod">
        <pc:chgData name="Emha Taufiq Luthfi" userId="781e0746-5eaa-49be-bfa4-11bf7d142bc1" providerId="ADAL" clId="{D87F772B-8F0B-4E40-BAAE-53DCB66B6FE8}" dt="2026-10-13T03:30:24.464" v="2422" actId="790"/>
        <pc:sldMkLst>
          <pc:docMk/>
          <pc:sldMk cId="3408926750" sldId="350"/>
        </pc:sldMkLst>
        <pc:spChg chg="mod">
          <ac:chgData name="Emha Taufiq Luthfi" userId="781e0746-5eaa-49be-bfa4-11bf7d142bc1" providerId="ADAL" clId="{D87F772B-8F0B-4E40-BAAE-53DCB66B6FE8}" dt="2026-10-13T03:30:24.464" v="2422" actId="790"/>
          <ac:spMkLst>
            <pc:docMk/>
            <pc:sldMk cId="3408926750" sldId="350"/>
            <ac:spMk id="5" creationId="{03B48895-33DF-37B5-E6BA-09ED2DE7F893}"/>
          </ac:spMkLst>
        </pc:spChg>
        <pc:graphicFrameChg chg="modGraphic">
          <ac:chgData name="Emha Taufiq Luthfi" userId="781e0746-5eaa-49be-bfa4-11bf7d142bc1" providerId="ADAL" clId="{D87F772B-8F0B-4E40-BAAE-53DCB66B6FE8}" dt="2026-10-13T03:30:24.464" v="2422" actId="790"/>
          <ac:graphicFrameMkLst>
            <pc:docMk/>
            <pc:sldMk cId="3408926750" sldId="350"/>
            <ac:graphicFrameMk id="6" creationId="{304A2AEE-B812-3BC6-F234-2C97AEAAD765}"/>
          </ac:graphicFrameMkLst>
        </pc:graphicFrameChg>
      </pc:sldChg>
      <pc:sldChg chg="modSp mod">
        <pc:chgData name="Emha Taufiq Luthfi" userId="781e0746-5eaa-49be-bfa4-11bf7d142bc1" providerId="ADAL" clId="{D87F772B-8F0B-4E40-BAAE-53DCB66B6FE8}" dt="2026-10-13T03:30:24.464" v="2422" actId="790"/>
        <pc:sldMkLst>
          <pc:docMk/>
          <pc:sldMk cId="3756964480" sldId="351"/>
        </pc:sldMkLst>
        <pc:spChg chg="mod">
          <ac:chgData name="Emha Taufiq Luthfi" userId="781e0746-5eaa-49be-bfa4-11bf7d142bc1" providerId="ADAL" clId="{D87F772B-8F0B-4E40-BAAE-53DCB66B6FE8}" dt="2026-10-13T03:30:24.464" v="2422" actId="790"/>
          <ac:spMkLst>
            <pc:docMk/>
            <pc:sldMk cId="3756964480" sldId="351"/>
            <ac:spMk id="7" creationId="{55484577-517F-DE58-168D-901F9F48C37A}"/>
          </ac:spMkLst>
        </pc:spChg>
        <pc:graphicFrameChg chg="modGraphic">
          <ac:chgData name="Emha Taufiq Luthfi" userId="781e0746-5eaa-49be-bfa4-11bf7d142bc1" providerId="ADAL" clId="{D87F772B-8F0B-4E40-BAAE-53DCB66B6FE8}" dt="2026-10-13T03:30:24.464" v="2422" actId="790"/>
          <ac:graphicFrameMkLst>
            <pc:docMk/>
            <pc:sldMk cId="3756964480" sldId="351"/>
            <ac:graphicFrameMk id="8" creationId="{DDCB5F41-7B3B-B6C7-25EA-5AAC8750E551}"/>
          </ac:graphicFrameMkLst>
        </pc:graphicFrameChg>
      </pc:sldChg>
      <pc:sldChg chg="modSp mod">
        <pc:chgData name="Emha Taufiq Luthfi" userId="781e0746-5eaa-49be-bfa4-11bf7d142bc1" providerId="ADAL" clId="{D87F772B-8F0B-4E40-BAAE-53DCB66B6FE8}" dt="2026-10-13T03:30:24.464" v="2422" actId="790"/>
        <pc:sldMkLst>
          <pc:docMk/>
          <pc:sldMk cId="3561778957" sldId="352"/>
        </pc:sldMkLst>
        <pc:spChg chg="mod">
          <ac:chgData name="Emha Taufiq Luthfi" userId="781e0746-5eaa-49be-bfa4-11bf7d142bc1" providerId="ADAL" clId="{D87F772B-8F0B-4E40-BAAE-53DCB66B6FE8}" dt="2026-10-13T03:30:24.464" v="2422" actId="790"/>
          <ac:spMkLst>
            <pc:docMk/>
            <pc:sldMk cId="3561778957" sldId="352"/>
            <ac:spMk id="2" creationId="{BFCAAB5E-331F-D80D-8BCE-5F42752181BB}"/>
          </ac:spMkLst>
        </pc:spChg>
        <pc:graphicFrameChg chg="modGraphic">
          <ac:chgData name="Emha Taufiq Luthfi" userId="781e0746-5eaa-49be-bfa4-11bf7d142bc1" providerId="ADAL" clId="{D87F772B-8F0B-4E40-BAAE-53DCB66B6FE8}" dt="2026-10-13T03:30:24.464" v="2422" actId="790"/>
          <ac:graphicFrameMkLst>
            <pc:docMk/>
            <pc:sldMk cId="3561778957" sldId="352"/>
            <ac:graphicFrameMk id="4" creationId="{3213FE3B-8FCA-A6AF-C1DF-078D04667810}"/>
          </ac:graphicFrameMkLst>
        </pc:graphicFrameChg>
      </pc:sldChg>
      <pc:sldChg chg="modSp mod">
        <pc:chgData name="Emha Taufiq Luthfi" userId="781e0746-5eaa-49be-bfa4-11bf7d142bc1" providerId="ADAL" clId="{D87F772B-8F0B-4E40-BAAE-53DCB66B6FE8}" dt="2026-10-13T03:30:24.464" v="2422" actId="790"/>
        <pc:sldMkLst>
          <pc:docMk/>
          <pc:sldMk cId="1405504706" sldId="353"/>
        </pc:sldMkLst>
        <pc:spChg chg="mod">
          <ac:chgData name="Emha Taufiq Luthfi" userId="781e0746-5eaa-49be-bfa4-11bf7d142bc1" providerId="ADAL" clId="{D87F772B-8F0B-4E40-BAAE-53DCB66B6FE8}" dt="2026-10-13T03:30:24.464" v="2422" actId="790"/>
          <ac:spMkLst>
            <pc:docMk/>
            <pc:sldMk cId="1405504706" sldId="353"/>
            <ac:spMk id="2" creationId="{4E1E9407-AE3F-4AD4-F106-E9296E245029}"/>
          </ac:spMkLst>
        </pc:spChg>
        <pc:graphicFrameChg chg="modGraphic">
          <ac:chgData name="Emha Taufiq Luthfi" userId="781e0746-5eaa-49be-bfa4-11bf7d142bc1" providerId="ADAL" clId="{D87F772B-8F0B-4E40-BAAE-53DCB66B6FE8}" dt="2026-10-13T03:30:24.464" v="2422" actId="790"/>
          <ac:graphicFrameMkLst>
            <pc:docMk/>
            <pc:sldMk cId="1405504706" sldId="353"/>
            <ac:graphicFrameMk id="4" creationId="{2197FEE2-7184-E432-EBF9-055AF26EEC00}"/>
          </ac:graphicFrameMkLst>
        </pc:graphicFrameChg>
      </pc:sldChg>
      <pc:sldChg chg="modSp mod">
        <pc:chgData name="Emha Taufiq Luthfi" userId="781e0746-5eaa-49be-bfa4-11bf7d142bc1" providerId="ADAL" clId="{D87F772B-8F0B-4E40-BAAE-53DCB66B6FE8}" dt="2026-10-13T03:30:24.464" v="2422" actId="790"/>
        <pc:sldMkLst>
          <pc:docMk/>
          <pc:sldMk cId="763684988" sldId="354"/>
        </pc:sldMkLst>
        <pc:spChg chg="mod">
          <ac:chgData name="Emha Taufiq Luthfi" userId="781e0746-5eaa-49be-bfa4-11bf7d142bc1" providerId="ADAL" clId="{D87F772B-8F0B-4E40-BAAE-53DCB66B6FE8}" dt="2026-10-13T03:30:24.464" v="2422" actId="790"/>
          <ac:spMkLst>
            <pc:docMk/>
            <pc:sldMk cId="763684988" sldId="354"/>
            <ac:spMk id="2" creationId="{7A59F9FF-FA22-3D16-8D75-208E6CB5D07A}"/>
          </ac:spMkLst>
        </pc:spChg>
        <pc:spChg chg="mod">
          <ac:chgData name="Emha Taufiq Luthfi" userId="781e0746-5eaa-49be-bfa4-11bf7d142bc1" providerId="ADAL" clId="{D87F772B-8F0B-4E40-BAAE-53DCB66B6FE8}" dt="2026-10-13T03:30:24.464" v="2422" actId="790"/>
          <ac:spMkLst>
            <pc:docMk/>
            <pc:sldMk cId="763684988" sldId="354"/>
            <ac:spMk id="3" creationId="{D3D88A3D-3BBA-3A2B-8950-D762CF462369}"/>
          </ac:spMkLst>
        </pc:spChg>
      </pc:sldChg>
      <pc:sldChg chg="modSp mod">
        <pc:chgData name="Emha Taufiq Luthfi" userId="781e0746-5eaa-49be-bfa4-11bf7d142bc1" providerId="ADAL" clId="{D87F772B-8F0B-4E40-BAAE-53DCB66B6FE8}" dt="2026-10-13T03:30:24.464" v="2422" actId="790"/>
        <pc:sldMkLst>
          <pc:docMk/>
          <pc:sldMk cId="1709620036" sldId="356"/>
        </pc:sldMkLst>
        <pc:spChg chg="mod">
          <ac:chgData name="Emha Taufiq Luthfi" userId="781e0746-5eaa-49be-bfa4-11bf7d142bc1" providerId="ADAL" clId="{D87F772B-8F0B-4E40-BAAE-53DCB66B6FE8}" dt="2026-10-13T03:30:24.464" v="2422" actId="790"/>
          <ac:spMkLst>
            <pc:docMk/>
            <pc:sldMk cId="1709620036" sldId="356"/>
            <ac:spMk id="6" creationId="{4168D6A3-70D2-8FAD-3728-AF60FE4B147F}"/>
          </ac:spMkLst>
        </pc:spChg>
        <pc:graphicFrameChg chg="modGraphic">
          <ac:chgData name="Emha Taufiq Luthfi" userId="781e0746-5eaa-49be-bfa4-11bf7d142bc1" providerId="ADAL" clId="{D87F772B-8F0B-4E40-BAAE-53DCB66B6FE8}" dt="2026-10-13T03:30:24.464" v="2422" actId="790"/>
          <ac:graphicFrameMkLst>
            <pc:docMk/>
            <pc:sldMk cId="1709620036" sldId="356"/>
            <ac:graphicFrameMk id="4" creationId="{3F3C9E33-700B-3ED2-4ECC-11FF02C7D880}"/>
          </ac:graphicFrameMkLst>
        </pc:graphicFrameChg>
      </pc:sldChg>
      <pc:sldChg chg="modSp mod">
        <pc:chgData name="Emha Taufiq Luthfi" userId="781e0746-5eaa-49be-bfa4-11bf7d142bc1" providerId="ADAL" clId="{D87F772B-8F0B-4E40-BAAE-53DCB66B6FE8}" dt="2026-10-13T03:30:24.464" v="2422" actId="790"/>
        <pc:sldMkLst>
          <pc:docMk/>
          <pc:sldMk cId="4097096454" sldId="357"/>
        </pc:sldMkLst>
        <pc:spChg chg="mod">
          <ac:chgData name="Emha Taufiq Luthfi" userId="781e0746-5eaa-49be-bfa4-11bf7d142bc1" providerId="ADAL" clId="{D87F772B-8F0B-4E40-BAAE-53DCB66B6FE8}" dt="2026-10-13T03:30:24.464" v="2422" actId="790"/>
          <ac:spMkLst>
            <pc:docMk/>
            <pc:sldMk cId="4097096454" sldId="357"/>
            <ac:spMk id="2" creationId="{4BC82ADA-A221-E1DF-CB66-5FBD7D8727AE}"/>
          </ac:spMkLst>
        </pc:spChg>
        <pc:graphicFrameChg chg="modGraphic">
          <ac:chgData name="Emha Taufiq Luthfi" userId="781e0746-5eaa-49be-bfa4-11bf7d142bc1" providerId="ADAL" clId="{D87F772B-8F0B-4E40-BAAE-53DCB66B6FE8}" dt="2026-10-13T03:30:24.464" v="2422" actId="790"/>
          <ac:graphicFrameMkLst>
            <pc:docMk/>
            <pc:sldMk cId="4097096454" sldId="357"/>
            <ac:graphicFrameMk id="4" creationId="{4A5B6C95-1C31-F0DA-AAD8-AD53939F5205}"/>
          </ac:graphicFrameMkLst>
        </pc:graphicFrameChg>
      </pc:sldChg>
      <pc:sldChg chg="modSp mod">
        <pc:chgData name="Emha Taufiq Luthfi" userId="781e0746-5eaa-49be-bfa4-11bf7d142bc1" providerId="ADAL" clId="{D87F772B-8F0B-4E40-BAAE-53DCB66B6FE8}" dt="2026-10-13T03:30:24.464" v="2422" actId="790"/>
        <pc:sldMkLst>
          <pc:docMk/>
          <pc:sldMk cId="87512483" sldId="358"/>
        </pc:sldMkLst>
        <pc:spChg chg="mod">
          <ac:chgData name="Emha Taufiq Luthfi" userId="781e0746-5eaa-49be-bfa4-11bf7d142bc1" providerId="ADAL" clId="{D87F772B-8F0B-4E40-BAAE-53DCB66B6FE8}" dt="2026-10-13T03:30:24.464" v="2422" actId="790"/>
          <ac:spMkLst>
            <pc:docMk/>
            <pc:sldMk cId="87512483" sldId="358"/>
            <ac:spMk id="2" creationId="{BDD1DF7E-9D9F-88A1-B442-B7230A79C659}"/>
          </ac:spMkLst>
        </pc:spChg>
        <pc:spChg chg="mod">
          <ac:chgData name="Emha Taufiq Luthfi" userId="781e0746-5eaa-49be-bfa4-11bf7d142bc1" providerId="ADAL" clId="{D87F772B-8F0B-4E40-BAAE-53DCB66B6FE8}" dt="2026-10-13T03:30:24.464" v="2422" actId="790"/>
          <ac:spMkLst>
            <pc:docMk/>
            <pc:sldMk cId="87512483" sldId="358"/>
            <ac:spMk id="3" creationId="{AF05866E-BFD8-6C0A-7F02-2E925C9C73B0}"/>
          </ac:spMkLst>
        </pc:spChg>
      </pc:sldChg>
      <pc:sldChg chg="modSp mod">
        <pc:chgData name="Emha Taufiq Luthfi" userId="781e0746-5eaa-49be-bfa4-11bf7d142bc1" providerId="ADAL" clId="{D87F772B-8F0B-4E40-BAAE-53DCB66B6FE8}" dt="2026-10-13T03:30:24.464" v="2422" actId="790"/>
        <pc:sldMkLst>
          <pc:docMk/>
          <pc:sldMk cId="1810215981" sldId="359"/>
        </pc:sldMkLst>
        <pc:spChg chg="mod">
          <ac:chgData name="Emha Taufiq Luthfi" userId="781e0746-5eaa-49be-bfa4-11bf7d142bc1" providerId="ADAL" clId="{D87F772B-8F0B-4E40-BAAE-53DCB66B6FE8}" dt="2026-10-13T03:30:24.464" v="2422" actId="790"/>
          <ac:spMkLst>
            <pc:docMk/>
            <pc:sldMk cId="1810215981" sldId="359"/>
            <ac:spMk id="2" creationId="{EF573F25-755B-9B6D-40FE-1EE47DCCAE41}"/>
          </ac:spMkLst>
        </pc:spChg>
        <pc:spChg chg="mod">
          <ac:chgData name="Emha Taufiq Luthfi" userId="781e0746-5eaa-49be-bfa4-11bf7d142bc1" providerId="ADAL" clId="{D87F772B-8F0B-4E40-BAAE-53DCB66B6FE8}" dt="2026-10-13T03:30:24.464" v="2422" actId="790"/>
          <ac:spMkLst>
            <pc:docMk/>
            <pc:sldMk cId="1810215981" sldId="359"/>
            <ac:spMk id="3" creationId="{78134335-2C91-4978-AD29-D25618DEA8E3}"/>
          </ac:spMkLst>
        </pc:spChg>
      </pc:sldChg>
      <pc:sldChg chg="modSp mod">
        <pc:chgData name="Emha Taufiq Luthfi" userId="781e0746-5eaa-49be-bfa4-11bf7d142bc1" providerId="ADAL" clId="{D87F772B-8F0B-4E40-BAAE-53DCB66B6FE8}" dt="2026-10-13T03:30:24.464" v="2422" actId="790"/>
        <pc:sldMkLst>
          <pc:docMk/>
          <pc:sldMk cId="1127038741" sldId="360"/>
        </pc:sldMkLst>
        <pc:spChg chg="mod">
          <ac:chgData name="Emha Taufiq Luthfi" userId="781e0746-5eaa-49be-bfa4-11bf7d142bc1" providerId="ADAL" clId="{D87F772B-8F0B-4E40-BAAE-53DCB66B6FE8}" dt="2026-10-13T03:30:24.464" v="2422" actId="790"/>
          <ac:spMkLst>
            <pc:docMk/>
            <pc:sldMk cId="1127038741" sldId="360"/>
            <ac:spMk id="2" creationId="{9680A1D3-FC71-BF42-8A0D-EDC0A2F845BC}"/>
          </ac:spMkLst>
        </pc:spChg>
        <pc:spChg chg="mod">
          <ac:chgData name="Emha Taufiq Luthfi" userId="781e0746-5eaa-49be-bfa4-11bf7d142bc1" providerId="ADAL" clId="{D87F772B-8F0B-4E40-BAAE-53DCB66B6FE8}" dt="2026-10-13T03:30:24.464" v="2422" actId="790"/>
          <ac:spMkLst>
            <pc:docMk/>
            <pc:sldMk cId="1127038741" sldId="360"/>
            <ac:spMk id="3" creationId="{1071FEC9-4328-4867-708B-A4355EB02AB7}"/>
          </ac:spMkLst>
        </pc:spChg>
      </pc:sldChg>
      <pc:sldChg chg="modSp mod">
        <pc:chgData name="Emha Taufiq Luthfi" userId="781e0746-5eaa-49be-bfa4-11bf7d142bc1" providerId="ADAL" clId="{D87F772B-8F0B-4E40-BAAE-53DCB66B6FE8}" dt="2026-10-13T03:30:24.464" v="2422" actId="790"/>
        <pc:sldMkLst>
          <pc:docMk/>
          <pc:sldMk cId="1206978242" sldId="361"/>
        </pc:sldMkLst>
        <pc:spChg chg="mod">
          <ac:chgData name="Emha Taufiq Luthfi" userId="781e0746-5eaa-49be-bfa4-11bf7d142bc1" providerId="ADAL" clId="{D87F772B-8F0B-4E40-BAAE-53DCB66B6FE8}" dt="2026-10-13T03:30:24.464" v="2422" actId="790"/>
          <ac:spMkLst>
            <pc:docMk/>
            <pc:sldMk cId="1206978242" sldId="361"/>
            <ac:spMk id="2" creationId="{3F5090E9-EA18-5F68-2BF4-F09E12D86C6D}"/>
          </ac:spMkLst>
        </pc:spChg>
        <pc:spChg chg="mod">
          <ac:chgData name="Emha Taufiq Luthfi" userId="781e0746-5eaa-49be-bfa4-11bf7d142bc1" providerId="ADAL" clId="{D87F772B-8F0B-4E40-BAAE-53DCB66B6FE8}" dt="2026-10-13T03:30:24.464" v="2422" actId="790"/>
          <ac:spMkLst>
            <pc:docMk/>
            <pc:sldMk cId="1206978242" sldId="361"/>
            <ac:spMk id="3" creationId="{7BD27A7C-6AB0-A567-0830-F367368D5937}"/>
          </ac:spMkLst>
        </pc:spChg>
      </pc:sldChg>
      <pc:sldChg chg="modSp mod">
        <pc:chgData name="Emha Taufiq Luthfi" userId="781e0746-5eaa-49be-bfa4-11bf7d142bc1" providerId="ADAL" clId="{D87F772B-8F0B-4E40-BAAE-53DCB66B6FE8}" dt="2026-10-13T03:30:24.464" v="2422" actId="790"/>
        <pc:sldMkLst>
          <pc:docMk/>
          <pc:sldMk cId="2304533739" sldId="362"/>
        </pc:sldMkLst>
        <pc:spChg chg="mod">
          <ac:chgData name="Emha Taufiq Luthfi" userId="781e0746-5eaa-49be-bfa4-11bf7d142bc1" providerId="ADAL" clId="{D87F772B-8F0B-4E40-BAAE-53DCB66B6FE8}" dt="2026-10-13T03:30:24.464" v="2422" actId="790"/>
          <ac:spMkLst>
            <pc:docMk/>
            <pc:sldMk cId="2304533739" sldId="362"/>
            <ac:spMk id="2" creationId="{723BD110-9FBB-05E4-F625-94A91ABB53F5}"/>
          </ac:spMkLst>
        </pc:spChg>
        <pc:spChg chg="mod">
          <ac:chgData name="Emha Taufiq Luthfi" userId="781e0746-5eaa-49be-bfa4-11bf7d142bc1" providerId="ADAL" clId="{D87F772B-8F0B-4E40-BAAE-53DCB66B6FE8}" dt="2026-10-13T03:30:24.464" v="2422" actId="790"/>
          <ac:spMkLst>
            <pc:docMk/>
            <pc:sldMk cId="2304533739" sldId="362"/>
            <ac:spMk id="4" creationId="{1FF84133-4A79-6D5E-9FF4-747FA464917D}"/>
          </ac:spMkLst>
        </pc:spChg>
      </pc:sldChg>
      <pc:sldChg chg="modSp mod">
        <pc:chgData name="Emha Taufiq Luthfi" userId="781e0746-5eaa-49be-bfa4-11bf7d142bc1" providerId="ADAL" clId="{D87F772B-8F0B-4E40-BAAE-53DCB66B6FE8}" dt="2026-10-13T03:30:24.464" v="2422" actId="790"/>
        <pc:sldMkLst>
          <pc:docMk/>
          <pc:sldMk cId="642761436" sldId="363"/>
        </pc:sldMkLst>
        <pc:spChg chg="mod">
          <ac:chgData name="Emha Taufiq Luthfi" userId="781e0746-5eaa-49be-bfa4-11bf7d142bc1" providerId="ADAL" clId="{D87F772B-8F0B-4E40-BAAE-53DCB66B6FE8}" dt="2026-10-13T03:30:24.464" v="2422" actId="790"/>
          <ac:spMkLst>
            <pc:docMk/>
            <pc:sldMk cId="642761436" sldId="363"/>
            <ac:spMk id="2" creationId="{76230429-A934-6D9C-AC95-69C24041CD48}"/>
          </ac:spMkLst>
        </pc:spChg>
        <pc:spChg chg="mod">
          <ac:chgData name="Emha Taufiq Luthfi" userId="781e0746-5eaa-49be-bfa4-11bf7d142bc1" providerId="ADAL" clId="{D87F772B-8F0B-4E40-BAAE-53DCB66B6FE8}" dt="2026-10-13T03:30:24.464" v="2422" actId="790"/>
          <ac:spMkLst>
            <pc:docMk/>
            <pc:sldMk cId="642761436" sldId="363"/>
            <ac:spMk id="4" creationId="{EA4B55F9-1275-A197-135F-C8D6A417BBC8}"/>
          </ac:spMkLst>
        </pc:spChg>
      </pc:sldChg>
      <pc:sldChg chg="modSp mod">
        <pc:chgData name="Emha Taufiq Luthfi" userId="781e0746-5eaa-49be-bfa4-11bf7d142bc1" providerId="ADAL" clId="{D87F772B-8F0B-4E40-BAAE-53DCB66B6FE8}" dt="2026-10-13T03:30:24.464" v="2422" actId="790"/>
        <pc:sldMkLst>
          <pc:docMk/>
          <pc:sldMk cId="2425702221" sldId="364"/>
        </pc:sldMkLst>
        <pc:spChg chg="mod">
          <ac:chgData name="Emha Taufiq Luthfi" userId="781e0746-5eaa-49be-bfa4-11bf7d142bc1" providerId="ADAL" clId="{D87F772B-8F0B-4E40-BAAE-53DCB66B6FE8}" dt="2026-10-13T03:30:24.464" v="2422" actId="790"/>
          <ac:spMkLst>
            <pc:docMk/>
            <pc:sldMk cId="2425702221" sldId="364"/>
            <ac:spMk id="2" creationId="{B15BC49D-D328-986D-B535-407A17DE881C}"/>
          </ac:spMkLst>
        </pc:spChg>
        <pc:spChg chg="mod">
          <ac:chgData name="Emha Taufiq Luthfi" userId="781e0746-5eaa-49be-bfa4-11bf7d142bc1" providerId="ADAL" clId="{D87F772B-8F0B-4E40-BAAE-53DCB66B6FE8}" dt="2026-10-13T03:30:24.464" v="2422" actId="790"/>
          <ac:spMkLst>
            <pc:docMk/>
            <pc:sldMk cId="2425702221" sldId="364"/>
            <ac:spMk id="4" creationId="{42A0E9F4-BE2C-5888-A2F2-677AFF78F4BE}"/>
          </ac:spMkLst>
        </pc:spChg>
      </pc:sldChg>
      <pc:sldChg chg="modSp mod">
        <pc:chgData name="Emha Taufiq Luthfi" userId="781e0746-5eaa-49be-bfa4-11bf7d142bc1" providerId="ADAL" clId="{D87F772B-8F0B-4E40-BAAE-53DCB66B6FE8}" dt="2026-10-13T03:30:24.464" v="2422" actId="790"/>
        <pc:sldMkLst>
          <pc:docMk/>
          <pc:sldMk cId="3600896309" sldId="365"/>
        </pc:sldMkLst>
        <pc:spChg chg="mod">
          <ac:chgData name="Emha Taufiq Luthfi" userId="781e0746-5eaa-49be-bfa4-11bf7d142bc1" providerId="ADAL" clId="{D87F772B-8F0B-4E40-BAAE-53DCB66B6FE8}" dt="2026-10-13T03:30:24.464" v="2422" actId="790"/>
          <ac:spMkLst>
            <pc:docMk/>
            <pc:sldMk cId="3600896309" sldId="365"/>
            <ac:spMk id="2" creationId="{3980AD7E-BE81-C052-2575-E0BDBD3176F8}"/>
          </ac:spMkLst>
        </pc:spChg>
        <pc:spChg chg="mod">
          <ac:chgData name="Emha Taufiq Luthfi" userId="781e0746-5eaa-49be-bfa4-11bf7d142bc1" providerId="ADAL" clId="{D87F772B-8F0B-4E40-BAAE-53DCB66B6FE8}" dt="2026-10-13T03:30:24.464" v="2422" actId="790"/>
          <ac:spMkLst>
            <pc:docMk/>
            <pc:sldMk cId="3600896309" sldId="365"/>
            <ac:spMk id="4" creationId="{1982B0F6-D117-0CE8-178A-1DC9AC79605A}"/>
          </ac:spMkLst>
        </pc:spChg>
      </pc:sldChg>
      <pc:sldChg chg="modSp mod">
        <pc:chgData name="Emha Taufiq Luthfi" userId="781e0746-5eaa-49be-bfa4-11bf7d142bc1" providerId="ADAL" clId="{D87F772B-8F0B-4E40-BAAE-53DCB66B6FE8}" dt="2026-10-13T03:30:24.464" v="2422" actId="790"/>
        <pc:sldMkLst>
          <pc:docMk/>
          <pc:sldMk cId="2953974758" sldId="366"/>
        </pc:sldMkLst>
        <pc:spChg chg="mod">
          <ac:chgData name="Emha Taufiq Luthfi" userId="781e0746-5eaa-49be-bfa4-11bf7d142bc1" providerId="ADAL" clId="{D87F772B-8F0B-4E40-BAAE-53DCB66B6FE8}" dt="2026-10-13T03:30:24.464" v="2422" actId="790"/>
          <ac:spMkLst>
            <pc:docMk/>
            <pc:sldMk cId="2953974758" sldId="366"/>
            <ac:spMk id="2" creationId="{CB4A76CA-8C7D-07CD-D879-D015DEED5AF7}"/>
          </ac:spMkLst>
        </pc:spChg>
        <pc:spChg chg="mod">
          <ac:chgData name="Emha Taufiq Luthfi" userId="781e0746-5eaa-49be-bfa4-11bf7d142bc1" providerId="ADAL" clId="{D87F772B-8F0B-4E40-BAAE-53DCB66B6FE8}" dt="2026-10-13T03:30:24.464" v="2422" actId="790"/>
          <ac:spMkLst>
            <pc:docMk/>
            <pc:sldMk cId="2953974758" sldId="366"/>
            <ac:spMk id="4" creationId="{BD09CD28-ED7C-0144-C705-F6A919A334F4}"/>
          </ac:spMkLst>
        </pc:spChg>
      </pc:sldChg>
      <pc:sldChg chg="modSp mod">
        <pc:chgData name="Emha Taufiq Luthfi" userId="781e0746-5eaa-49be-bfa4-11bf7d142bc1" providerId="ADAL" clId="{D87F772B-8F0B-4E40-BAAE-53DCB66B6FE8}" dt="2026-10-13T03:30:24.464" v="2422" actId="790"/>
        <pc:sldMkLst>
          <pc:docMk/>
          <pc:sldMk cId="2900003175" sldId="367"/>
        </pc:sldMkLst>
        <pc:spChg chg="mod">
          <ac:chgData name="Emha Taufiq Luthfi" userId="781e0746-5eaa-49be-bfa4-11bf7d142bc1" providerId="ADAL" clId="{D87F772B-8F0B-4E40-BAAE-53DCB66B6FE8}" dt="2026-10-13T03:30:24.464" v="2422" actId="790"/>
          <ac:spMkLst>
            <pc:docMk/>
            <pc:sldMk cId="2900003175" sldId="367"/>
            <ac:spMk id="2" creationId="{9F6C71AB-AB97-29EA-97E2-632F488C9781}"/>
          </ac:spMkLst>
        </pc:spChg>
        <pc:spChg chg="mod">
          <ac:chgData name="Emha Taufiq Luthfi" userId="781e0746-5eaa-49be-bfa4-11bf7d142bc1" providerId="ADAL" clId="{D87F772B-8F0B-4E40-BAAE-53DCB66B6FE8}" dt="2026-10-13T03:30:24.464" v="2422" actId="790"/>
          <ac:spMkLst>
            <pc:docMk/>
            <pc:sldMk cId="2900003175" sldId="367"/>
            <ac:spMk id="4" creationId="{4DEFB54F-648F-82D4-FAF6-9EC8AE9CDD38}"/>
          </ac:spMkLst>
        </pc:spChg>
      </pc:sldChg>
      <pc:sldChg chg="modSp mod">
        <pc:chgData name="Emha Taufiq Luthfi" userId="781e0746-5eaa-49be-bfa4-11bf7d142bc1" providerId="ADAL" clId="{D87F772B-8F0B-4E40-BAAE-53DCB66B6FE8}" dt="2026-10-13T03:30:24.464" v="2422" actId="790"/>
        <pc:sldMkLst>
          <pc:docMk/>
          <pc:sldMk cId="2225294998" sldId="368"/>
        </pc:sldMkLst>
        <pc:spChg chg="mod">
          <ac:chgData name="Emha Taufiq Luthfi" userId="781e0746-5eaa-49be-bfa4-11bf7d142bc1" providerId="ADAL" clId="{D87F772B-8F0B-4E40-BAAE-53DCB66B6FE8}" dt="2026-10-13T03:30:24.464" v="2422" actId="790"/>
          <ac:spMkLst>
            <pc:docMk/>
            <pc:sldMk cId="2225294998" sldId="368"/>
            <ac:spMk id="2" creationId="{356B0902-110C-76EE-6F2F-7E5124784B4D}"/>
          </ac:spMkLst>
        </pc:spChg>
        <pc:spChg chg="mod">
          <ac:chgData name="Emha Taufiq Luthfi" userId="781e0746-5eaa-49be-bfa4-11bf7d142bc1" providerId="ADAL" clId="{D87F772B-8F0B-4E40-BAAE-53DCB66B6FE8}" dt="2026-10-13T03:30:24.464" v="2422" actId="790"/>
          <ac:spMkLst>
            <pc:docMk/>
            <pc:sldMk cId="2225294998" sldId="368"/>
            <ac:spMk id="3" creationId="{5C5F033B-56ED-5C27-D137-A92318AF15EE}"/>
          </ac:spMkLst>
        </pc:spChg>
      </pc:sldChg>
      <pc:sldChg chg="modSp mod">
        <pc:chgData name="Emha Taufiq Luthfi" userId="781e0746-5eaa-49be-bfa4-11bf7d142bc1" providerId="ADAL" clId="{D87F772B-8F0B-4E40-BAAE-53DCB66B6FE8}" dt="2026-10-13T03:30:24.464" v="2422" actId="790"/>
        <pc:sldMkLst>
          <pc:docMk/>
          <pc:sldMk cId="3763082145" sldId="369"/>
        </pc:sldMkLst>
        <pc:spChg chg="mod">
          <ac:chgData name="Emha Taufiq Luthfi" userId="781e0746-5eaa-49be-bfa4-11bf7d142bc1" providerId="ADAL" clId="{D87F772B-8F0B-4E40-BAAE-53DCB66B6FE8}" dt="2026-10-13T03:30:24.464" v="2422" actId="790"/>
          <ac:spMkLst>
            <pc:docMk/>
            <pc:sldMk cId="3763082145" sldId="369"/>
            <ac:spMk id="2" creationId="{89E7B05A-4E0B-F8CB-B1AB-03AAEE2C4989}"/>
          </ac:spMkLst>
        </pc:spChg>
        <pc:spChg chg="mod">
          <ac:chgData name="Emha Taufiq Luthfi" userId="781e0746-5eaa-49be-bfa4-11bf7d142bc1" providerId="ADAL" clId="{D87F772B-8F0B-4E40-BAAE-53DCB66B6FE8}" dt="2026-10-13T03:30:24.464" v="2422" actId="790"/>
          <ac:spMkLst>
            <pc:docMk/>
            <pc:sldMk cId="3763082145" sldId="369"/>
            <ac:spMk id="3" creationId="{B720BC0C-9BA9-8D92-15F7-7DAAAA38126D}"/>
          </ac:spMkLst>
        </pc:spChg>
      </pc:sldChg>
      <pc:sldChg chg="modSp mod">
        <pc:chgData name="Emha Taufiq Luthfi" userId="781e0746-5eaa-49be-bfa4-11bf7d142bc1" providerId="ADAL" clId="{D87F772B-8F0B-4E40-BAAE-53DCB66B6FE8}" dt="2026-10-13T03:30:24.464" v="2422" actId="790"/>
        <pc:sldMkLst>
          <pc:docMk/>
          <pc:sldMk cId="3137081932" sldId="370"/>
        </pc:sldMkLst>
        <pc:spChg chg="mod">
          <ac:chgData name="Emha Taufiq Luthfi" userId="781e0746-5eaa-49be-bfa4-11bf7d142bc1" providerId="ADAL" clId="{D87F772B-8F0B-4E40-BAAE-53DCB66B6FE8}" dt="2026-10-13T03:30:24.464" v="2422" actId="790"/>
          <ac:spMkLst>
            <pc:docMk/>
            <pc:sldMk cId="3137081932" sldId="370"/>
            <ac:spMk id="2" creationId="{3AB70251-370B-31FA-DD97-9B17AF2B52E5}"/>
          </ac:spMkLst>
        </pc:spChg>
        <pc:spChg chg="mod">
          <ac:chgData name="Emha Taufiq Luthfi" userId="781e0746-5eaa-49be-bfa4-11bf7d142bc1" providerId="ADAL" clId="{D87F772B-8F0B-4E40-BAAE-53DCB66B6FE8}" dt="2026-10-13T03:30:24.464" v="2422" actId="790"/>
          <ac:spMkLst>
            <pc:docMk/>
            <pc:sldMk cId="3137081932" sldId="370"/>
            <ac:spMk id="3" creationId="{C3D5A5E1-C84A-76FC-9578-703DAE8374B1}"/>
          </ac:spMkLst>
        </pc:spChg>
      </pc:sldChg>
      <pc:sldChg chg="modSp mod">
        <pc:chgData name="Emha Taufiq Luthfi" userId="781e0746-5eaa-49be-bfa4-11bf7d142bc1" providerId="ADAL" clId="{D87F772B-8F0B-4E40-BAAE-53DCB66B6FE8}" dt="2026-10-13T03:30:24.464" v="2422" actId="790"/>
        <pc:sldMkLst>
          <pc:docMk/>
          <pc:sldMk cId="1624680918" sldId="371"/>
        </pc:sldMkLst>
        <pc:spChg chg="mod">
          <ac:chgData name="Emha Taufiq Luthfi" userId="781e0746-5eaa-49be-bfa4-11bf7d142bc1" providerId="ADAL" clId="{D87F772B-8F0B-4E40-BAAE-53DCB66B6FE8}" dt="2026-10-13T03:30:24.464" v="2422" actId="790"/>
          <ac:spMkLst>
            <pc:docMk/>
            <pc:sldMk cId="1624680918" sldId="371"/>
            <ac:spMk id="2" creationId="{F93307AE-16F1-CF00-A440-DFA658D9283A}"/>
          </ac:spMkLst>
        </pc:spChg>
        <pc:spChg chg="mod">
          <ac:chgData name="Emha Taufiq Luthfi" userId="781e0746-5eaa-49be-bfa4-11bf7d142bc1" providerId="ADAL" clId="{D87F772B-8F0B-4E40-BAAE-53DCB66B6FE8}" dt="2026-10-13T03:30:24.464" v="2422" actId="790"/>
          <ac:spMkLst>
            <pc:docMk/>
            <pc:sldMk cId="1624680918" sldId="371"/>
            <ac:spMk id="3" creationId="{D7A2199C-0C39-B32B-220F-2604B65DCA88}"/>
          </ac:spMkLst>
        </pc:spChg>
      </pc:sldChg>
      <pc:sldChg chg="modSp mod">
        <pc:chgData name="Emha Taufiq Luthfi" userId="781e0746-5eaa-49be-bfa4-11bf7d142bc1" providerId="ADAL" clId="{D87F772B-8F0B-4E40-BAAE-53DCB66B6FE8}" dt="2026-10-13T03:30:24.464" v="2422" actId="790"/>
        <pc:sldMkLst>
          <pc:docMk/>
          <pc:sldMk cId="1277187628" sldId="372"/>
        </pc:sldMkLst>
        <pc:spChg chg="mod">
          <ac:chgData name="Emha Taufiq Luthfi" userId="781e0746-5eaa-49be-bfa4-11bf7d142bc1" providerId="ADAL" clId="{D87F772B-8F0B-4E40-BAAE-53DCB66B6FE8}" dt="2026-10-13T03:30:24.464" v="2422" actId="790"/>
          <ac:spMkLst>
            <pc:docMk/>
            <pc:sldMk cId="1277187628" sldId="372"/>
            <ac:spMk id="2" creationId="{CD83FC95-B1BD-03D4-3227-97206DD9D77A}"/>
          </ac:spMkLst>
        </pc:spChg>
        <pc:spChg chg="mod">
          <ac:chgData name="Emha Taufiq Luthfi" userId="781e0746-5eaa-49be-bfa4-11bf7d142bc1" providerId="ADAL" clId="{D87F772B-8F0B-4E40-BAAE-53DCB66B6FE8}" dt="2026-10-13T03:30:24.464" v="2422" actId="790"/>
          <ac:spMkLst>
            <pc:docMk/>
            <pc:sldMk cId="1277187628" sldId="372"/>
            <ac:spMk id="11" creationId="{34C80379-0C59-CB26-BEDF-E40E19DF5AFF}"/>
          </ac:spMkLst>
        </pc:spChg>
      </pc:sldChg>
      <pc:sldChg chg="modSp mod">
        <pc:chgData name="Emha Taufiq Luthfi" userId="781e0746-5eaa-49be-bfa4-11bf7d142bc1" providerId="ADAL" clId="{D87F772B-8F0B-4E40-BAAE-53DCB66B6FE8}" dt="2026-10-13T03:30:24.464" v="2422" actId="790"/>
        <pc:sldMkLst>
          <pc:docMk/>
          <pc:sldMk cId="1406630845" sldId="373"/>
        </pc:sldMkLst>
        <pc:spChg chg="mod">
          <ac:chgData name="Emha Taufiq Luthfi" userId="781e0746-5eaa-49be-bfa4-11bf7d142bc1" providerId="ADAL" clId="{D87F772B-8F0B-4E40-BAAE-53DCB66B6FE8}" dt="2026-10-13T03:30:24.464" v="2422" actId="790"/>
          <ac:spMkLst>
            <pc:docMk/>
            <pc:sldMk cId="1406630845" sldId="373"/>
            <ac:spMk id="2" creationId="{D1AE8D22-B4D9-98D6-EF90-427B7C42230E}"/>
          </ac:spMkLst>
        </pc:spChg>
        <pc:graphicFrameChg chg="modGraphic">
          <ac:chgData name="Emha Taufiq Luthfi" userId="781e0746-5eaa-49be-bfa4-11bf7d142bc1" providerId="ADAL" clId="{D87F772B-8F0B-4E40-BAAE-53DCB66B6FE8}" dt="2026-10-13T03:30:24.464" v="2422" actId="790"/>
          <ac:graphicFrameMkLst>
            <pc:docMk/>
            <pc:sldMk cId="1406630845" sldId="373"/>
            <ac:graphicFrameMk id="4" creationId="{971FE726-F76A-EFBA-4C38-F7164F232419}"/>
          </ac:graphicFrameMkLst>
        </pc:graphicFrameChg>
      </pc:sldChg>
      <pc:sldChg chg="modSp mod">
        <pc:chgData name="Emha Taufiq Luthfi" userId="781e0746-5eaa-49be-bfa4-11bf7d142bc1" providerId="ADAL" clId="{D87F772B-8F0B-4E40-BAAE-53DCB66B6FE8}" dt="2026-10-13T03:30:24.464" v="2422" actId="790"/>
        <pc:sldMkLst>
          <pc:docMk/>
          <pc:sldMk cId="3491354900" sldId="374"/>
        </pc:sldMkLst>
        <pc:spChg chg="mod">
          <ac:chgData name="Emha Taufiq Luthfi" userId="781e0746-5eaa-49be-bfa4-11bf7d142bc1" providerId="ADAL" clId="{D87F772B-8F0B-4E40-BAAE-53DCB66B6FE8}" dt="2026-10-13T03:30:24.464" v="2422" actId="790"/>
          <ac:spMkLst>
            <pc:docMk/>
            <pc:sldMk cId="3491354900" sldId="374"/>
            <ac:spMk id="2" creationId="{E83210A4-C9E6-72BF-F139-CDAAE97F75C7}"/>
          </ac:spMkLst>
        </pc:spChg>
      </pc:sldChg>
      <pc:sldChg chg="modSp mod">
        <pc:chgData name="Emha Taufiq Luthfi" userId="781e0746-5eaa-49be-bfa4-11bf7d142bc1" providerId="ADAL" clId="{D87F772B-8F0B-4E40-BAAE-53DCB66B6FE8}" dt="2026-10-13T03:30:24.464" v="2422" actId="790"/>
        <pc:sldMkLst>
          <pc:docMk/>
          <pc:sldMk cId="478471672" sldId="375"/>
        </pc:sldMkLst>
        <pc:spChg chg="mod">
          <ac:chgData name="Emha Taufiq Luthfi" userId="781e0746-5eaa-49be-bfa4-11bf7d142bc1" providerId="ADAL" clId="{D87F772B-8F0B-4E40-BAAE-53DCB66B6FE8}" dt="2026-10-13T03:30:24.464" v="2422" actId="790"/>
          <ac:spMkLst>
            <pc:docMk/>
            <pc:sldMk cId="478471672" sldId="375"/>
            <ac:spMk id="3" creationId="{9C36092F-2679-DABC-CD5F-8FEA21B4542D}"/>
          </ac:spMkLst>
        </pc:spChg>
        <pc:spChg chg="mod">
          <ac:chgData name="Emha Taufiq Luthfi" userId="781e0746-5eaa-49be-bfa4-11bf7d142bc1" providerId="ADAL" clId="{D87F772B-8F0B-4E40-BAAE-53DCB66B6FE8}" dt="2026-10-13T03:30:24.464" v="2422" actId="790"/>
          <ac:spMkLst>
            <pc:docMk/>
            <pc:sldMk cId="478471672" sldId="375"/>
            <ac:spMk id="5" creationId="{15222528-A929-E38F-A277-F7BD21ED4939}"/>
          </ac:spMkLst>
        </pc:spChg>
      </pc:sldChg>
      <pc:sldChg chg="modSp mod">
        <pc:chgData name="Emha Taufiq Luthfi" userId="781e0746-5eaa-49be-bfa4-11bf7d142bc1" providerId="ADAL" clId="{D87F772B-8F0B-4E40-BAAE-53DCB66B6FE8}" dt="2026-10-13T03:30:24.464" v="2422" actId="790"/>
        <pc:sldMkLst>
          <pc:docMk/>
          <pc:sldMk cId="770149119" sldId="376"/>
        </pc:sldMkLst>
        <pc:spChg chg="mod">
          <ac:chgData name="Emha Taufiq Luthfi" userId="781e0746-5eaa-49be-bfa4-11bf7d142bc1" providerId="ADAL" clId="{D87F772B-8F0B-4E40-BAAE-53DCB66B6FE8}" dt="2026-10-13T03:30:24.464" v="2422" actId="790"/>
          <ac:spMkLst>
            <pc:docMk/>
            <pc:sldMk cId="770149119" sldId="376"/>
            <ac:spMk id="3" creationId="{8CF716E2-39D2-C12B-EDFA-7E298709CBD7}"/>
          </ac:spMkLst>
        </pc:spChg>
        <pc:spChg chg="mod">
          <ac:chgData name="Emha Taufiq Luthfi" userId="781e0746-5eaa-49be-bfa4-11bf7d142bc1" providerId="ADAL" clId="{D87F772B-8F0B-4E40-BAAE-53DCB66B6FE8}" dt="2026-10-13T03:30:24.464" v="2422" actId="790"/>
          <ac:spMkLst>
            <pc:docMk/>
            <pc:sldMk cId="770149119" sldId="376"/>
            <ac:spMk id="5" creationId="{A7F00974-FEC6-E74A-0C73-BAC24024955F}"/>
          </ac:spMkLst>
        </pc:spChg>
      </pc:sldChg>
      <pc:sldChg chg="modSp mod">
        <pc:chgData name="Emha Taufiq Luthfi" userId="781e0746-5eaa-49be-bfa4-11bf7d142bc1" providerId="ADAL" clId="{D87F772B-8F0B-4E40-BAAE-53DCB66B6FE8}" dt="2026-10-13T03:30:24.464" v="2422" actId="790"/>
        <pc:sldMkLst>
          <pc:docMk/>
          <pc:sldMk cId="445226880" sldId="377"/>
        </pc:sldMkLst>
        <pc:spChg chg="mod">
          <ac:chgData name="Emha Taufiq Luthfi" userId="781e0746-5eaa-49be-bfa4-11bf7d142bc1" providerId="ADAL" clId="{D87F772B-8F0B-4E40-BAAE-53DCB66B6FE8}" dt="2026-10-13T03:30:24.464" v="2422" actId="790"/>
          <ac:spMkLst>
            <pc:docMk/>
            <pc:sldMk cId="445226880" sldId="377"/>
            <ac:spMk id="3" creationId="{52DFF6D1-F57F-BF93-AF38-B1F9BBF0DD59}"/>
          </ac:spMkLst>
        </pc:spChg>
        <pc:spChg chg="mod">
          <ac:chgData name="Emha Taufiq Luthfi" userId="781e0746-5eaa-49be-bfa4-11bf7d142bc1" providerId="ADAL" clId="{D87F772B-8F0B-4E40-BAAE-53DCB66B6FE8}" dt="2026-10-13T03:30:24.464" v="2422" actId="790"/>
          <ac:spMkLst>
            <pc:docMk/>
            <pc:sldMk cId="445226880" sldId="377"/>
            <ac:spMk id="5" creationId="{160CA941-E110-ED32-ABEC-1406D3397CD7}"/>
          </ac:spMkLst>
        </pc:spChg>
      </pc:sldChg>
      <pc:sldChg chg="modSp mod">
        <pc:chgData name="Emha Taufiq Luthfi" userId="781e0746-5eaa-49be-bfa4-11bf7d142bc1" providerId="ADAL" clId="{D87F772B-8F0B-4E40-BAAE-53DCB66B6FE8}" dt="2026-10-13T03:30:24.464" v="2422" actId="790"/>
        <pc:sldMkLst>
          <pc:docMk/>
          <pc:sldMk cId="2574910132" sldId="378"/>
        </pc:sldMkLst>
        <pc:spChg chg="mod">
          <ac:chgData name="Emha Taufiq Luthfi" userId="781e0746-5eaa-49be-bfa4-11bf7d142bc1" providerId="ADAL" clId="{D87F772B-8F0B-4E40-BAAE-53DCB66B6FE8}" dt="2026-10-13T03:30:24.464" v="2422" actId="790"/>
          <ac:spMkLst>
            <pc:docMk/>
            <pc:sldMk cId="2574910132" sldId="378"/>
            <ac:spMk id="2" creationId="{A999CF3E-517D-174F-5A9B-70F645DAEC70}"/>
          </ac:spMkLst>
        </pc:spChg>
        <pc:graphicFrameChg chg="modGraphic">
          <ac:chgData name="Emha Taufiq Luthfi" userId="781e0746-5eaa-49be-bfa4-11bf7d142bc1" providerId="ADAL" clId="{D87F772B-8F0B-4E40-BAAE-53DCB66B6FE8}" dt="2026-10-13T03:30:24.464" v="2422" actId="790"/>
          <ac:graphicFrameMkLst>
            <pc:docMk/>
            <pc:sldMk cId="2574910132" sldId="378"/>
            <ac:graphicFrameMk id="4" creationId="{14C3A79C-E4E4-4082-0398-C3A0B4F20E12}"/>
          </ac:graphicFrameMkLst>
        </pc:graphicFrameChg>
      </pc:sldChg>
      <pc:sldChg chg="modSp mod">
        <pc:chgData name="Emha Taufiq Luthfi" userId="781e0746-5eaa-49be-bfa4-11bf7d142bc1" providerId="ADAL" clId="{D87F772B-8F0B-4E40-BAAE-53DCB66B6FE8}" dt="2026-10-13T03:30:24.464" v="2422" actId="790"/>
        <pc:sldMkLst>
          <pc:docMk/>
          <pc:sldMk cId="1595324617" sldId="379"/>
        </pc:sldMkLst>
        <pc:spChg chg="mod">
          <ac:chgData name="Emha Taufiq Luthfi" userId="781e0746-5eaa-49be-bfa4-11bf7d142bc1" providerId="ADAL" clId="{D87F772B-8F0B-4E40-BAAE-53DCB66B6FE8}" dt="2026-10-13T03:30:24.464" v="2422" actId="790"/>
          <ac:spMkLst>
            <pc:docMk/>
            <pc:sldMk cId="1595324617" sldId="379"/>
            <ac:spMk id="2" creationId="{51A0E57B-F649-140D-77C9-2EA54502D87B}"/>
          </ac:spMkLst>
        </pc:spChg>
        <pc:spChg chg="mod">
          <ac:chgData name="Emha Taufiq Luthfi" userId="781e0746-5eaa-49be-bfa4-11bf7d142bc1" providerId="ADAL" clId="{D87F772B-8F0B-4E40-BAAE-53DCB66B6FE8}" dt="2026-10-13T03:30:24.464" v="2422" actId="790"/>
          <ac:spMkLst>
            <pc:docMk/>
            <pc:sldMk cId="1595324617" sldId="379"/>
            <ac:spMk id="6" creationId="{5A3030E0-8CFA-0D38-1E78-91A832CE43BE}"/>
          </ac:spMkLst>
        </pc:spChg>
        <pc:graphicFrameChg chg="modGraphic">
          <ac:chgData name="Emha Taufiq Luthfi" userId="781e0746-5eaa-49be-bfa4-11bf7d142bc1" providerId="ADAL" clId="{D87F772B-8F0B-4E40-BAAE-53DCB66B6FE8}" dt="2026-10-13T03:30:24.464" v="2422" actId="790"/>
          <ac:graphicFrameMkLst>
            <pc:docMk/>
            <pc:sldMk cId="1595324617" sldId="379"/>
            <ac:graphicFrameMk id="4" creationId="{4C418DB3-553B-B8D1-9430-7C1B98BF0A82}"/>
          </ac:graphicFrameMkLst>
        </pc:graphicFrameChg>
      </pc:sldChg>
      <pc:sldChg chg="modSp mod">
        <pc:chgData name="Emha Taufiq Luthfi" userId="781e0746-5eaa-49be-bfa4-11bf7d142bc1" providerId="ADAL" clId="{D87F772B-8F0B-4E40-BAAE-53DCB66B6FE8}" dt="2026-10-13T03:30:24.464" v="2422" actId="790"/>
        <pc:sldMkLst>
          <pc:docMk/>
          <pc:sldMk cId="1022282887" sldId="380"/>
        </pc:sldMkLst>
        <pc:spChg chg="mod">
          <ac:chgData name="Emha Taufiq Luthfi" userId="781e0746-5eaa-49be-bfa4-11bf7d142bc1" providerId="ADAL" clId="{D87F772B-8F0B-4E40-BAAE-53DCB66B6FE8}" dt="2026-10-13T03:30:24.464" v="2422" actId="790"/>
          <ac:spMkLst>
            <pc:docMk/>
            <pc:sldMk cId="1022282887" sldId="380"/>
            <ac:spMk id="2" creationId="{6B17FDB6-5AC0-C141-5902-4FB6875B194C}"/>
          </ac:spMkLst>
        </pc:spChg>
        <pc:spChg chg="mod">
          <ac:chgData name="Emha Taufiq Luthfi" userId="781e0746-5eaa-49be-bfa4-11bf7d142bc1" providerId="ADAL" clId="{D87F772B-8F0B-4E40-BAAE-53DCB66B6FE8}" dt="2026-10-13T03:30:24.464" v="2422" actId="790"/>
          <ac:spMkLst>
            <pc:docMk/>
            <pc:sldMk cId="1022282887" sldId="380"/>
            <ac:spMk id="3" creationId="{0C76659D-2EA2-8184-A3E2-1E8AEEA317DF}"/>
          </ac:spMkLst>
        </pc:spChg>
      </pc:sldChg>
      <pc:sldChg chg="modSp mod">
        <pc:chgData name="Emha Taufiq Luthfi" userId="781e0746-5eaa-49be-bfa4-11bf7d142bc1" providerId="ADAL" clId="{D87F772B-8F0B-4E40-BAAE-53DCB66B6FE8}" dt="2026-10-13T03:30:24.464" v="2422" actId="790"/>
        <pc:sldMkLst>
          <pc:docMk/>
          <pc:sldMk cId="1069418716" sldId="381"/>
        </pc:sldMkLst>
        <pc:spChg chg="mod">
          <ac:chgData name="Emha Taufiq Luthfi" userId="781e0746-5eaa-49be-bfa4-11bf7d142bc1" providerId="ADAL" clId="{D87F772B-8F0B-4E40-BAAE-53DCB66B6FE8}" dt="2026-10-13T03:30:24.464" v="2422" actId="790"/>
          <ac:spMkLst>
            <pc:docMk/>
            <pc:sldMk cId="1069418716" sldId="381"/>
            <ac:spMk id="2" creationId="{8FF3E1FA-DC28-43D4-171B-2648D7EEE1CE}"/>
          </ac:spMkLst>
        </pc:spChg>
        <pc:spChg chg="mod">
          <ac:chgData name="Emha Taufiq Luthfi" userId="781e0746-5eaa-49be-bfa4-11bf7d142bc1" providerId="ADAL" clId="{D87F772B-8F0B-4E40-BAAE-53DCB66B6FE8}" dt="2026-10-13T03:30:24.464" v="2422" actId="790"/>
          <ac:spMkLst>
            <pc:docMk/>
            <pc:sldMk cId="1069418716" sldId="381"/>
            <ac:spMk id="3" creationId="{3F75D902-99DE-C02A-E174-97F88C2859DB}"/>
          </ac:spMkLst>
        </pc:spChg>
        <pc:graphicFrameChg chg="modGraphic">
          <ac:chgData name="Emha Taufiq Luthfi" userId="781e0746-5eaa-49be-bfa4-11bf7d142bc1" providerId="ADAL" clId="{D87F772B-8F0B-4E40-BAAE-53DCB66B6FE8}" dt="2026-10-13T03:30:24.464" v="2422" actId="790"/>
          <ac:graphicFrameMkLst>
            <pc:docMk/>
            <pc:sldMk cId="1069418716" sldId="381"/>
            <ac:graphicFrameMk id="6" creationId="{96CBA2A5-6B29-061B-9E9F-72B06ACF6EBB}"/>
          </ac:graphicFrameMkLst>
        </pc:graphicFrameChg>
      </pc:sldChg>
      <pc:sldChg chg="modSp mod">
        <pc:chgData name="Emha Taufiq Luthfi" userId="781e0746-5eaa-49be-bfa4-11bf7d142bc1" providerId="ADAL" clId="{D87F772B-8F0B-4E40-BAAE-53DCB66B6FE8}" dt="2026-10-13T03:30:24.464" v="2422" actId="790"/>
        <pc:sldMkLst>
          <pc:docMk/>
          <pc:sldMk cId="3530567352" sldId="382"/>
        </pc:sldMkLst>
        <pc:spChg chg="mod">
          <ac:chgData name="Emha Taufiq Luthfi" userId="781e0746-5eaa-49be-bfa4-11bf7d142bc1" providerId="ADAL" clId="{D87F772B-8F0B-4E40-BAAE-53DCB66B6FE8}" dt="2026-10-13T03:30:24.464" v="2422" actId="790"/>
          <ac:spMkLst>
            <pc:docMk/>
            <pc:sldMk cId="3530567352" sldId="382"/>
            <ac:spMk id="2" creationId="{E0C82968-86B5-16D1-8E21-9CDE00FC1079}"/>
          </ac:spMkLst>
        </pc:spChg>
        <pc:spChg chg="mod">
          <ac:chgData name="Emha Taufiq Luthfi" userId="781e0746-5eaa-49be-bfa4-11bf7d142bc1" providerId="ADAL" clId="{D87F772B-8F0B-4E40-BAAE-53DCB66B6FE8}" dt="2026-10-13T03:30:24.464" v="2422" actId="790"/>
          <ac:spMkLst>
            <pc:docMk/>
            <pc:sldMk cId="3530567352" sldId="382"/>
            <ac:spMk id="3" creationId="{8BD2181C-6491-9391-867D-534B3260ACE0}"/>
          </ac:spMkLst>
        </pc:spChg>
        <pc:graphicFrameChg chg="modGraphic">
          <ac:chgData name="Emha Taufiq Luthfi" userId="781e0746-5eaa-49be-bfa4-11bf7d142bc1" providerId="ADAL" clId="{D87F772B-8F0B-4E40-BAAE-53DCB66B6FE8}" dt="2026-10-13T03:30:24.464" v="2422" actId="790"/>
          <ac:graphicFrameMkLst>
            <pc:docMk/>
            <pc:sldMk cId="3530567352" sldId="382"/>
            <ac:graphicFrameMk id="4" creationId="{36FC72A0-1853-E9F5-697C-14BE9CC963BA}"/>
          </ac:graphicFrameMkLst>
        </pc:graphicFrameChg>
      </pc:sldChg>
      <pc:sldChg chg="modSp mod">
        <pc:chgData name="Emha Taufiq Luthfi" userId="781e0746-5eaa-49be-bfa4-11bf7d142bc1" providerId="ADAL" clId="{D87F772B-8F0B-4E40-BAAE-53DCB66B6FE8}" dt="2026-10-13T03:30:24.464" v="2422" actId="790"/>
        <pc:sldMkLst>
          <pc:docMk/>
          <pc:sldMk cId="1563381043" sldId="383"/>
        </pc:sldMkLst>
        <pc:spChg chg="mod">
          <ac:chgData name="Emha Taufiq Luthfi" userId="781e0746-5eaa-49be-bfa4-11bf7d142bc1" providerId="ADAL" clId="{D87F772B-8F0B-4E40-BAAE-53DCB66B6FE8}" dt="2026-10-13T03:30:24.464" v="2422" actId="790"/>
          <ac:spMkLst>
            <pc:docMk/>
            <pc:sldMk cId="1563381043" sldId="383"/>
            <ac:spMk id="2" creationId="{1F63E4A2-8D67-82BF-1735-AC8B36A4FC59}"/>
          </ac:spMkLst>
        </pc:spChg>
        <pc:spChg chg="mod">
          <ac:chgData name="Emha Taufiq Luthfi" userId="781e0746-5eaa-49be-bfa4-11bf7d142bc1" providerId="ADAL" clId="{D87F772B-8F0B-4E40-BAAE-53DCB66B6FE8}" dt="2026-10-13T03:30:24.464" v="2422" actId="790"/>
          <ac:spMkLst>
            <pc:docMk/>
            <pc:sldMk cId="1563381043" sldId="383"/>
            <ac:spMk id="3" creationId="{C1F43AAA-8B78-AC36-0600-8C1120B19371}"/>
          </ac:spMkLst>
        </pc:spChg>
      </pc:sldChg>
      <pc:sldChg chg="modSp mod">
        <pc:chgData name="Emha Taufiq Luthfi" userId="781e0746-5eaa-49be-bfa4-11bf7d142bc1" providerId="ADAL" clId="{D87F772B-8F0B-4E40-BAAE-53DCB66B6FE8}" dt="2026-10-13T03:30:24.464" v="2422" actId="790"/>
        <pc:sldMkLst>
          <pc:docMk/>
          <pc:sldMk cId="227776685" sldId="384"/>
        </pc:sldMkLst>
        <pc:spChg chg="mod">
          <ac:chgData name="Emha Taufiq Luthfi" userId="781e0746-5eaa-49be-bfa4-11bf7d142bc1" providerId="ADAL" clId="{D87F772B-8F0B-4E40-BAAE-53DCB66B6FE8}" dt="2026-10-13T03:30:24.464" v="2422" actId="790"/>
          <ac:spMkLst>
            <pc:docMk/>
            <pc:sldMk cId="227776685" sldId="384"/>
            <ac:spMk id="2" creationId="{80435974-FE8A-E235-F855-E671367E8CAA}"/>
          </ac:spMkLst>
        </pc:spChg>
        <pc:spChg chg="mod">
          <ac:chgData name="Emha Taufiq Luthfi" userId="781e0746-5eaa-49be-bfa4-11bf7d142bc1" providerId="ADAL" clId="{D87F772B-8F0B-4E40-BAAE-53DCB66B6FE8}" dt="2026-10-13T03:30:24.464" v="2422" actId="790"/>
          <ac:spMkLst>
            <pc:docMk/>
            <pc:sldMk cId="227776685" sldId="384"/>
            <ac:spMk id="3" creationId="{3558921B-1ABA-3326-9092-BEC0881070DF}"/>
          </ac:spMkLst>
        </pc:spChg>
      </pc:sldChg>
      <pc:sldChg chg="modSp mod">
        <pc:chgData name="Emha Taufiq Luthfi" userId="781e0746-5eaa-49be-bfa4-11bf7d142bc1" providerId="ADAL" clId="{D87F772B-8F0B-4E40-BAAE-53DCB66B6FE8}" dt="2026-10-13T03:30:24.464" v="2422" actId="790"/>
        <pc:sldMkLst>
          <pc:docMk/>
          <pc:sldMk cId="2537776300" sldId="385"/>
        </pc:sldMkLst>
        <pc:spChg chg="mod">
          <ac:chgData name="Emha Taufiq Luthfi" userId="781e0746-5eaa-49be-bfa4-11bf7d142bc1" providerId="ADAL" clId="{D87F772B-8F0B-4E40-BAAE-53DCB66B6FE8}" dt="2026-10-13T03:30:24.464" v="2422" actId="790"/>
          <ac:spMkLst>
            <pc:docMk/>
            <pc:sldMk cId="2537776300" sldId="385"/>
            <ac:spMk id="2" creationId="{343EEEAA-5A5B-E982-0B16-5B4116D956F7}"/>
          </ac:spMkLst>
        </pc:spChg>
        <pc:spChg chg="mod">
          <ac:chgData name="Emha Taufiq Luthfi" userId="781e0746-5eaa-49be-bfa4-11bf7d142bc1" providerId="ADAL" clId="{D87F772B-8F0B-4E40-BAAE-53DCB66B6FE8}" dt="2026-10-13T03:30:24.464" v="2422" actId="790"/>
          <ac:spMkLst>
            <pc:docMk/>
            <pc:sldMk cId="2537776300" sldId="385"/>
            <ac:spMk id="3" creationId="{A513C101-0D4A-4049-7B4D-50818B6531ED}"/>
          </ac:spMkLst>
        </pc:spChg>
        <pc:graphicFrameChg chg="modGraphic">
          <ac:chgData name="Emha Taufiq Luthfi" userId="781e0746-5eaa-49be-bfa4-11bf7d142bc1" providerId="ADAL" clId="{D87F772B-8F0B-4E40-BAAE-53DCB66B6FE8}" dt="2026-10-13T03:30:24.464" v="2422" actId="790"/>
          <ac:graphicFrameMkLst>
            <pc:docMk/>
            <pc:sldMk cId="2537776300" sldId="385"/>
            <ac:graphicFrameMk id="4" creationId="{DFD500BD-94D5-63D7-C941-AA6E045C7BE9}"/>
          </ac:graphicFrameMkLst>
        </pc:graphicFrameChg>
      </pc:sldChg>
      <pc:sldChg chg="modSp mod">
        <pc:chgData name="Emha Taufiq Luthfi" userId="781e0746-5eaa-49be-bfa4-11bf7d142bc1" providerId="ADAL" clId="{D87F772B-8F0B-4E40-BAAE-53DCB66B6FE8}" dt="2026-10-13T03:30:24.464" v="2422" actId="790"/>
        <pc:sldMkLst>
          <pc:docMk/>
          <pc:sldMk cId="3598235168" sldId="386"/>
        </pc:sldMkLst>
        <pc:spChg chg="mod">
          <ac:chgData name="Emha Taufiq Luthfi" userId="781e0746-5eaa-49be-bfa4-11bf7d142bc1" providerId="ADAL" clId="{D87F772B-8F0B-4E40-BAAE-53DCB66B6FE8}" dt="2026-10-13T03:30:24.464" v="2422" actId="790"/>
          <ac:spMkLst>
            <pc:docMk/>
            <pc:sldMk cId="3598235168" sldId="386"/>
            <ac:spMk id="2" creationId="{34CFC25F-A09D-3FA2-22FB-90F28CB5217D}"/>
          </ac:spMkLst>
        </pc:spChg>
        <pc:spChg chg="mod">
          <ac:chgData name="Emha Taufiq Luthfi" userId="781e0746-5eaa-49be-bfa4-11bf7d142bc1" providerId="ADAL" clId="{D87F772B-8F0B-4E40-BAAE-53DCB66B6FE8}" dt="2026-10-13T03:30:24.464" v="2422" actId="790"/>
          <ac:spMkLst>
            <pc:docMk/>
            <pc:sldMk cId="3598235168" sldId="386"/>
            <ac:spMk id="3" creationId="{B9FBE795-15A3-D1F1-80D5-109CEB23E12A}"/>
          </ac:spMkLst>
        </pc:spChg>
      </pc:sldChg>
      <pc:sldChg chg="modSp mod">
        <pc:chgData name="Emha Taufiq Luthfi" userId="781e0746-5eaa-49be-bfa4-11bf7d142bc1" providerId="ADAL" clId="{D87F772B-8F0B-4E40-BAAE-53DCB66B6FE8}" dt="2026-10-13T03:30:24.464" v="2422" actId="790"/>
        <pc:sldMkLst>
          <pc:docMk/>
          <pc:sldMk cId="2372710843" sldId="387"/>
        </pc:sldMkLst>
        <pc:spChg chg="mod">
          <ac:chgData name="Emha Taufiq Luthfi" userId="781e0746-5eaa-49be-bfa4-11bf7d142bc1" providerId="ADAL" clId="{D87F772B-8F0B-4E40-BAAE-53DCB66B6FE8}" dt="2026-10-13T03:30:24.464" v="2422" actId="790"/>
          <ac:spMkLst>
            <pc:docMk/>
            <pc:sldMk cId="2372710843" sldId="387"/>
            <ac:spMk id="2" creationId="{1702F1B9-1E4F-8AEE-A7A2-33594FFF4909}"/>
          </ac:spMkLst>
        </pc:spChg>
        <pc:spChg chg="mod">
          <ac:chgData name="Emha Taufiq Luthfi" userId="781e0746-5eaa-49be-bfa4-11bf7d142bc1" providerId="ADAL" clId="{D87F772B-8F0B-4E40-BAAE-53DCB66B6FE8}" dt="2026-10-13T03:30:24.464" v="2422" actId="790"/>
          <ac:spMkLst>
            <pc:docMk/>
            <pc:sldMk cId="2372710843" sldId="387"/>
            <ac:spMk id="3" creationId="{8C126BA2-76F8-BD41-E971-149E88D0C1D5}"/>
          </ac:spMkLst>
        </pc:spChg>
      </pc:sldChg>
      <pc:sldChg chg="modSp mod">
        <pc:chgData name="Emha Taufiq Luthfi" userId="781e0746-5eaa-49be-bfa4-11bf7d142bc1" providerId="ADAL" clId="{D87F772B-8F0B-4E40-BAAE-53DCB66B6FE8}" dt="2026-10-13T03:30:24.464" v="2422" actId="790"/>
        <pc:sldMkLst>
          <pc:docMk/>
          <pc:sldMk cId="698152602" sldId="388"/>
        </pc:sldMkLst>
        <pc:spChg chg="mod">
          <ac:chgData name="Emha Taufiq Luthfi" userId="781e0746-5eaa-49be-bfa4-11bf7d142bc1" providerId="ADAL" clId="{D87F772B-8F0B-4E40-BAAE-53DCB66B6FE8}" dt="2026-10-13T03:30:24.464" v="2422" actId="790"/>
          <ac:spMkLst>
            <pc:docMk/>
            <pc:sldMk cId="698152602" sldId="388"/>
            <ac:spMk id="2" creationId="{5DCE70A0-9BB1-A4EC-86BD-EBBB6017B4BD}"/>
          </ac:spMkLst>
        </pc:spChg>
        <pc:spChg chg="mod">
          <ac:chgData name="Emha Taufiq Luthfi" userId="781e0746-5eaa-49be-bfa4-11bf7d142bc1" providerId="ADAL" clId="{D87F772B-8F0B-4E40-BAAE-53DCB66B6FE8}" dt="2026-10-13T03:30:24.464" v="2422" actId="790"/>
          <ac:spMkLst>
            <pc:docMk/>
            <pc:sldMk cId="698152602" sldId="388"/>
            <ac:spMk id="3" creationId="{419291A0-F30A-A650-49AD-9A92AE66E9AD}"/>
          </ac:spMkLst>
        </pc:spChg>
      </pc:sldChg>
      <pc:sldChg chg="modSp mod">
        <pc:chgData name="Emha Taufiq Luthfi" userId="781e0746-5eaa-49be-bfa4-11bf7d142bc1" providerId="ADAL" clId="{D87F772B-8F0B-4E40-BAAE-53DCB66B6FE8}" dt="2026-10-13T03:30:24.464" v="2422" actId="790"/>
        <pc:sldMkLst>
          <pc:docMk/>
          <pc:sldMk cId="4278367201" sldId="389"/>
        </pc:sldMkLst>
        <pc:spChg chg="mod">
          <ac:chgData name="Emha Taufiq Luthfi" userId="781e0746-5eaa-49be-bfa4-11bf7d142bc1" providerId="ADAL" clId="{D87F772B-8F0B-4E40-BAAE-53DCB66B6FE8}" dt="2026-10-13T03:30:24.464" v="2422" actId="790"/>
          <ac:spMkLst>
            <pc:docMk/>
            <pc:sldMk cId="4278367201" sldId="389"/>
            <ac:spMk id="2" creationId="{91A75161-C6DA-F195-0A71-42581FE6CF89}"/>
          </ac:spMkLst>
        </pc:spChg>
        <pc:spChg chg="mod">
          <ac:chgData name="Emha Taufiq Luthfi" userId="781e0746-5eaa-49be-bfa4-11bf7d142bc1" providerId="ADAL" clId="{D87F772B-8F0B-4E40-BAAE-53DCB66B6FE8}" dt="2026-10-13T03:30:24.464" v="2422" actId="790"/>
          <ac:spMkLst>
            <pc:docMk/>
            <pc:sldMk cId="4278367201" sldId="389"/>
            <ac:spMk id="3" creationId="{11269755-3873-EEE6-4A40-D71F29C6800D}"/>
          </ac:spMkLst>
        </pc:spChg>
      </pc:sldChg>
      <pc:sldChg chg="modSp mod">
        <pc:chgData name="Emha Taufiq Luthfi" userId="781e0746-5eaa-49be-bfa4-11bf7d142bc1" providerId="ADAL" clId="{D87F772B-8F0B-4E40-BAAE-53DCB66B6FE8}" dt="2026-10-13T03:30:24.464" v="2422" actId="790"/>
        <pc:sldMkLst>
          <pc:docMk/>
          <pc:sldMk cId="2914304280" sldId="391"/>
        </pc:sldMkLst>
        <pc:spChg chg="mod">
          <ac:chgData name="Emha Taufiq Luthfi" userId="781e0746-5eaa-49be-bfa4-11bf7d142bc1" providerId="ADAL" clId="{D87F772B-8F0B-4E40-BAAE-53DCB66B6FE8}" dt="2026-10-13T03:30:24.464" v="2422" actId="790"/>
          <ac:spMkLst>
            <pc:docMk/>
            <pc:sldMk cId="2914304280" sldId="391"/>
            <ac:spMk id="2" creationId="{417E726B-FFAB-FE1F-A0BA-2F74B370529B}"/>
          </ac:spMkLst>
        </pc:spChg>
        <pc:spChg chg="mod">
          <ac:chgData name="Emha Taufiq Luthfi" userId="781e0746-5eaa-49be-bfa4-11bf7d142bc1" providerId="ADAL" clId="{D87F772B-8F0B-4E40-BAAE-53DCB66B6FE8}" dt="2026-10-13T03:30:24.464" v="2422" actId="790"/>
          <ac:spMkLst>
            <pc:docMk/>
            <pc:sldMk cId="2914304280" sldId="391"/>
            <ac:spMk id="8" creationId="{2A923004-0BAE-4BD2-904D-215DCCF0CB6E}"/>
          </ac:spMkLst>
        </pc:spChg>
        <pc:graphicFrameChg chg="modGraphic">
          <ac:chgData name="Emha Taufiq Luthfi" userId="781e0746-5eaa-49be-bfa4-11bf7d142bc1" providerId="ADAL" clId="{D87F772B-8F0B-4E40-BAAE-53DCB66B6FE8}" dt="2026-10-13T03:30:24.464" v="2422" actId="790"/>
          <ac:graphicFrameMkLst>
            <pc:docMk/>
            <pc:sldMk cId="2914304280" sldId="391"/>
            <ac:graphicFrameMk id="4" creationId="{1CD7E9EF-D9A6-3361-A5D8-30F11D6D2C10}"/>
          </ac:graphicFrameMkLst>
        </pc:graphicFrameChg>
      </pc:sldChg>
      <pc:sldChg chg="modSp mod">
        <pc:chgData name="Emha Taufiq Luthfi" userId="781e0746-5eaa-49be-bfa4-11bf7d142bc1" providerId="ADAL" clId="{D87F772B-8F0B-4E40-BAAE-53DCB66B6FE8}" dt="2026-10-13T03:30:24.464" v="2422" actId="790"/>
        <pc:sldMkLst>
          <pc:docMk/>
          <pc:sldMk cId="2479704786" sldId="392"/>
        </pc:sldMkLst>
        <pc:spChg chg="mod">
          <ac:chgData name="Emha Taufiq Luthfi" userId="781e0746-5eaa-49be-bfa4-11bf7d142bc1" providerId="ADAL" clId="{D87F772B-8F0B-4E40-BAAE-53DCB66B6FE8}" dt="2026-10-13T03:30:24.464" v="2422" actId="790"/>
          <ac:spMkLst>
            <pc:docMk/>
            <pc:sldMk cId="2479704786" sldId="392"/>
            <ac:spMk id="2" creationId="{58FAF449-24BF-57A3-C57E-B7E4AF9DE215}"/>
          </ac:spMkLst>
        </pc:spChg>
        <pc:spChg chg="mod">
          <ac:chgData name="Emha Taufiq Luthfi" userId="781e0746-5eaa-49be-bfa4-11bf7d142bc1" providerId="ADAL" clId="{D87F772B-8F0B-4E40-BAAE-53DCB66B6FE8}" dt="2026-10-13T03:30:24.464" v="2422" actId="790"/>
          <ac:spMkLst>
            <pc:docMk/>
            <pc:sldMk cId="2479704786" sldId="392"/>
            <ac:spMk id="3" creationId="{AFAE904C-CD78-B1CC-FABB-76C2E1695323}"/>
          </ac:spMkLst>
        </pc:spChg>
        <pc:graphicFrameChg chg="modGraphic">
          <ac:chgData name="Emha Taufiq Luthfi" userId="781e0746-5eaa-49be-bfa4-11bf7d142bc1" providerId="ADAL" clId="{D87F772B-8F0B-4E40-BAAE-53DCB66B6FE8}" dt="2026-10-13T03:30:24.464" v="2422" actId="790"/>
          <ac:graphicFrameMkLst>
            <pc:docMk/>
            <pc:sldMk cId="2479704786" sldId="392"/>
            <ac:graphicFrameMk id="8" creationId="{A0673A92-1FAD-46BC-C37B-CD27E5F140C6}"/>
          </ac:graphicFrameMkLst>
        </pc:graphicFrameChg>
      </pc:sldChg>
      <pc:sldChg chg="modSp mod">
        <pc:chgData name="Emha Taufiq Luthfi" userId="781e0746-5eaa-49be-bfa4-11bf7d142bc1" providerId="ADAL" clId="{D87F772B-8F0B-4E40-BAAE-53DCB66B6FE8}" dt="2026-10-13T03:30:24.464" v="2422" actId="790"/>
        <pc:sldMkLst>
          <pc:docMk/>
          <pc:sldMk cId="1719341140" sldId="394"/>
        </pc:sldMkLst>
        <pc:spChg chg="mod">
          <ac:chgData name="Emha Taufiq Luthfi" userId="781e0746-5eaa-49be-bfa4-11bf7d142bc1" providerId="ADAL" clId="{D87F772B-8F0B-4E40-BAAE-53DCB66B6FE8}" dt="2026-10-13T03:30:24.464" v="2422" actId="790"/>
          <ac:spMkLst>
            <pc:docMk/>
            <pc:sldMk cId="1719341140" sldId="394"/>
            <ac:spMk id="2" creationId="{3BBABDA2-2BBA-61C7-8DE9-72CDB4A49D23}"/>
          </ac:spMkLst>
        </pc:spChg>
        <pc:spChg chg="mod">
          <ac:chgData name="Emha Taufiq Luthfi" userId="781e0746-5eaa-49be-bfa4-11bf7d142bc1" providerId="ADAL" clId="{D87F772B-8F0B-4E40-BAAE-53DCB66B6FE8}" dt="2026-10-13T03:30:24.464" v="2422" actId="790"/>
          <ac:spMkLst>
            <pc:docMk/>
            <pc:sldMk cId="1719341140" sldId="394"/>
            <ac:spMk id="3" creationId="{49251E7C-CF66-8B31-29F9-1D747EBCE4DF}"/>
          </ac:spMkLst>
        </pc:spChg>
      </pc:sldChg>
      <pc:sldChg chg="modSp mod">
        <pc:chgData name="Emha Taufiq Luthfi" userId="781e0746-5eaa-49be-bfa4-11bf7d142bc1" providerId="ADAL" clId="{D87F772B-8F0B-4E40-BAAE-53DCB66B6FE8}" dt="2026-10-13T03:30:24.464" v="2422" actId="790"/>
        <pc:sldMkLst>
          <pc:docMk/>
          <pc:sldMk cId="690799288" sldId="395"/>
        </pc:sldMkLst>
        <pc:spChg chg="mod">
          <ac:chgData name="Emha Taufiq Luthfi" userId="781e0746-5eaa-49be-bfa4-11bf7d142bc1" providerId="ADAL" clId="{D87F772B-8F0B-4E40-BAAE-53DCB66B6FE8}" dt="2026-10-13T03:30:24.464" v="2422" actId="790"/>
          <ac:spMkLst>
            <pc:docMk/>
            <pc:sldMk cId="690799288" sldId="395"/>
            <ac:spMk id="2" creationId="{71C43304-58FE-E67D-2A23-853D445D82D2}"/>
          </ac:spMkLst>
        </pc:spChg>
        <pc:spChg chg="mod">
          <ac:chgData name="Emha Taufiq Luthfi" userId="781e0746-5eaa-49be-bfa4-11bf7d142bc1" providerId="ADAL" clId="{D87F772B-8F0B-4E40-BAAE-53DCB66B6FE8}" dt="2026-10-13T03:30:24.464" v="2422" actId="790"/>
          <ac:spMkLst>
            <pc:docMk/>
            <pc:sldMk cId="690799288" sldId="395"/>
            <ac:spMk id="3" creationId="{9C759672-9E17-F50C-3675-D5E5EC558FCA}"/>
          </ac:spMkLst>
        </pc:spChg>
      </pc:sldChg>
      <pc:sldChg chg="modSp mod">
        <pc:chgData name="Emha Taufiq Luthfi" userId="781e0746-5eaa-49be-bfa4-11bf7d142bc1" providerId="ADAL" clId="{D87F772B-8F0B-4E40-BAAE-53DCB66B6FE8}" dt="2026-10-13T03:30:24.464" v="2422" actId="790"/>
        <pc:sldMkLst>
          <pc:docMk/>
          <pc:sldMk cId="694509420" sldId="396"/>
        </pc:sldMkLst>
        <pc:spChg chg="mod">
          <ac:chgData name="Emha Taufiq Luthfi" userId="781e0746-5eaa-49be-bfa4-11bf7d142bc1" providerId="ADAL" clId="{D87F772B-8F0B-4E40-BAAE-53DCB66B6FE8}" dt="2026-10-13T03:30:24.464" v="2422" actId="790"/>
          <ac:spMkLst>
            <pc:docMk/>
            <pc:sldMk cId="694509420" sldId="396"/>
            <ac:spMk id="2" creationId="{38088D44-14E4-BC9F-69A8-D17CE84A4F24}"/>
          </ac:spMkLst>
        </pc:spChg>
        <pc:spChg chg="mod">
          <ac:chgData name="Emha Taufiq Luthfi" userId="781e0746-5eaa-49be-bfa4-11bf7d142bc1" providerId="ADAL" clId="{D87F772B-8F0B-4E40-BAAE-53DCB66B6FE8}" dt="2026-10-13T03:30:24.464" v="2422" actId="790"/>
          <ac:spMkLst>
            <pc:docMk/>
            <pc:sldMk cId="694509420" sldId="396"/>
            <ac:spMk id="3" creationId="{DC947E30-87A0-9BEC-7D42-9D7E4CF13E95}"/>
          </ac:spMkLst>
        </pc:spChg>
      </pc:sldChg>
      <pc:sldChg chg="modSp mod">
        <pc:chgData name="Emha Taufiq Luthfi" userId="781e0746-5eaa-49be-bfa4-11bf7d142bc1" providerId="ADAL" clId="{D87F772B-8F0B-4E40-BAAE-53DCB66B6FE8}" dt="2026-10-13T03:30:24.464" v="2422" actId="790"/>
        <pc:sldMkLst>
          <pc:docMk/>
          <pc:sldMk cId="3429609142" sldId="397"/>
        </pc:sldMkLst>
        <pc:spChg chg="mod">
          <ac:chgData name="Emha Taufiq Luthfi" userId="781e0746-5eaa-49be-bfa4-11bf7d142bc1" providerId="ADAL" clId="{D87F772B-8F0B-4E40-BAAE-53DCB66B6FE8}" dt="2026-10-13T03:30:24.464" v="2422" actId="790"/>
          <ac:spMkLst>
            <pc:docMk/>
            <pc:sldMk cId="3429609142" sldId="397"/>
            <ac:spMk id="2" creationId="{A6ECCE60-E2E2-8041-35BE-2EBB360BD88B}"/>
          </ac:spMkLst>
        </pc:spChg>
        <pc:spChg chg="mod">
          <ac:chgData name="Emha Taufiq Luthfi" userId="781e0746-5eaa-49be-bfa4-11bf7d142bc1" providerId="ADAL" clId="{D87F772B-8F0B-4E40-BAAE-53DCB66B6FE8}" dt="2026-10-13T03:30:24.464" v="2422" actId="790"/>
          <ac:spMkLst>
            <pc:docMk/>
            <pc:sldMk cId="3429609142" sldId="397"/>
            <ac:spMk id="3" creationId="{16B52018-BE4E-5664-16D5-61295443C3B6}"/>
          </ac:spMkLst>
        </pc:spChg>
      </pc:sldChg>
      <pc:sldChg chg="modSp mod">
        <pc:chgData name="Emha Taufiq Luthfi" userId="781e0746-5eaa-49be-bfa4-11bf7d142bc1" providerId="ADAL" clId="{D87F772B-8F0B-4E40-BAAE-53DCB66B6FE8}" dt="2026-10-13T03:30:24.464" v="2422" actId="790"/>
        <pc:sldMkLst>
          <pc:docMk/>
          <pc:sldMk cId="1261695046" sldId="398"/>
        </pc:sldMkLst>
        <pc:spChg chg="mod">
          <ac:chgData name="Emha Taufiq Luthfi" userId="781e0746-5eaa-49be-bfa4-11bf7d142bc1" providerId="ADAL" clId="{D87F772B-8F0B-4E40-BAAE-53DCB66B6FE8}" dt="2026-10-13T03:30:24.464" v="2422" actId="790"/>
          <ac:spMkLst>
            <pc:docMk/>
            <pc:sldMk cId="1261695046" sldId="398"/>
            <ac:spMk id="2" creationId="{0C0D6EF7-A0F5-7160-E178-4E0C26BD9C50}"/>
          </ac:spMkLst>
        </pc:spChg>
        <pc:spChg chg="mod">
          <ac:chgData name="Emha Taufiq Luthfi" userId="781e0746-5eaa-49be-bfa4-11bf7d142bc1" providerId="ADAL" clId="{D87F772B-8F0B-4E40-BAAE-53DCB66B6FE8}" dt="2026-10-13T03:30:24.464" v="2422" actId="790"/>
          <ac:spMkLst>
            <pc:docMk/>
            <pc:sldMk cId="1261695046" sldId="398"/>
            <ac:spMk id="3" creationId="{D73FF46C-6A31-D118-BE35-5B762C8C58B3}"/>
          </ac:spMkLst>
        </pc:spChg>
        <pc:spChg chg="mod">
          <ac:chgData name="Emha Taufiq Luthfi" userId="781e0746-5eaa-49be-bfa4-11bf7d142bc1" providerId="ADAL" clId="{D87F772B-8F0B-4E40-BAAE-53DCB66B6FE8}" dt="2026-10-13T03:30:24.464" v="2422" actId="790"/>
          <ac:spMkLst>
            <pc:docMk/>
            <pc:sldMk cId="1261695046" sldId="398"/>
            <ac:spMk id="4" creationId="{03274F37-3DF0-7967-6944-09DC7B6BED06}"/>
          </ac:spMkLst>
        </pc:spChg>
      </pc:sldChg>
      <pc:sldChg chg="modSp mod">
        <pc:chgData name="Emha Taufiq Luthfi" userId="781e0746-5eaa-49be-bfa4-11bf7d142bc1" providerId="ADAL" clId="{D87F772B-8F0B-4E40-BAAE-53DCB66B6FE8}" dt="2026-10-13T03:30:24.464" v="2422" actId="790"/>
        <pc:sldMkLst>
          <pc:docMk/>
          <pc:sldMk cId="1041075418" sldId="399"/>
        </pc:sldMkLst>
        <pc:spChg chg="mod">
          <ac:chgData name="Emha Taufiq Luthfi" userId="781e0746-5eaa-49be-bfa4-11bf7d142bc1" providerId="ADAL" clId="{D87F772B-8F0B-4E40-BAAE-53DCB66B6FE8}" dt="2026-10-13T03:30:24.464" v="2422" actId="790"/>
          <ac:spMkLst>
            <pc:docMk/>
            <pc:sldMk cId="1041075418" sldId="399"/>
            <ac:spMk id="2" creationId="{7D80BC28-B05D-A5A6-50F9-85D9AB55D3FD}"/>
          </ac:spMkLst>
        </pc:spChg>
        <pc:spChg chg="mod">
          <ac:chgData name="Emha Taufiq Luthfi" userId="781e0746-5eaa-49be-bfa4-11bf7d142bc1" providerId="ADAL" clId="{D87F772B-8F0B-4E40-BAAE-53DCB66B6FE8}" dt="2026-10-13T03:30:24.464" v="2422" actId="790"/>
          <ac:spMkLst>
            <pc:docMk/>
            <pc:sldMk cId="1041075418" sldId="399"/>
            <ac:spMk id="3" creationId="{9CEA9971-3665-0E2A-94AC-A752B81C433B}"/>
          </ac:spMkLst>
        </pc:spChg>
        <pc:spChg chg="mod">
          <ac:chgData name="Emha Taufiq Luthfi" userId="781e0746-5eaa-49be-bfa4-11bf7d142bc1" providerId="ADAL" clId="{D87F772B-8F0B-4E40-BAAE-53DCB66B6FE8}" dt="2026-10-13T03:30:24.464" v="2422" actId="790"/>
          <ac:spMkLst>
            <pc:docMk/>
            <pc:sldMk cId="1041075418" sldId="399"/>
            <ac:spMk id="5" creationId="{8FEF8572-DD31-BB20-0FAB-F6913F7288DB}"/>
          </ac:spMkLst>
        </pc:spChg>
      </pc:sldChg>
      <pc:sldChg chg="modSp mod">
        <pc:chgData name="Emha Taufiq Luthfi" userId="781e0746-5eaa-49be-bfa4-11bf7d142bc1" providerId="ADAL" clId="{D87F772B-8F0B-4E40-BAAE-53DCB66B6FE8}" dt="2026-10-13T03:30:24.464" v="2422" actId="790"/>
        <pc:sldMkLst>
          <pc:docMk/>
          <pc:sldMk cId="4025574204" sldId="400"/>
        </pc:sldMkLst>
        <pc:spChg chg="mod">
          <ac:chgData name="Emha Taufiq Luthfi" userId="781e0746-5eaa-49be-bfa4-11bf7d142bc1" providerId="ADAL" clId="{D87F772B-8F0B-4E40-BAAE-53DCB66B6FE8}" dt="2026-10-13T03:30:24.464" v="2422" actId="790"/>
          <ac:spMkLst>
            <pc:docMk/>
            <pc:sldMk cId="4025574204" sldId="400"/>
            <ac:spMk id="2" creationId="{EB942180-93FF-9ADD-4E26-2693710CFCDC}"/>
          </ac:spMkLst>
        </pc:spChg>
        <pc:spChg chg="mod">
          <ac:chgData name="Emha Taufiq Luthfi" userId="781e0746-5eaa-49be-bfa4-11bf7d142bc1" providerId="ADAL" clId="{D87F772B-8F0B-4E40-BAAE-53DCB66B6FE8}" dt="2026-10-13T03:30:24.464" v="2422" actId="790"/>
          <ac:spMkLst>
            <pc:docMk/>
            <pc:sldMk cId="4025574204" sldId="400"/>
            <ac:spMk id="6" creationId="{DEC5CD22-8819-4AA4-B747-CB5C5FBAD526}"/>
          </ac:spMkLst>
        </pc:spChg>
        <pc:graphicFrameChg chg="modGraphic">
          <ac:chgData name="Emha Taufiq Luthfi" userId="781e0746-5eaa-49be-bfa4-11bf7d142bc1" providerId="ADAL" clId="{D87F772B-8F0B-4E40-BAAE-53DCB66B6FE8}" dt="2026-10-13T03:30:24.464" v="2422" actId="790"/>
          <ac:graphicFrameMkLst>
            <pc:docMk/>
            <pc:sldMk cId="4025574204" sldId="400"/>
            <ac:graphicFrameMk id="4" creationId="{4920B02C-95A6-DA77-1BB7-0B21F45176A3}"/>
          </ac:graphicFrameMkLst>
        </pc:graphicFrameChg>
      </pc:sldChg>
      <pc:sldChg chg="modSp mod">
        <pc:chgData name="Emha Taufiq Luthfi" userId="781e0746-5eaa-49be-bfa4-11bf7d142bc1" providerId="ADAL" clId="{D87F772B-8F0B-4E40-BAAE-53DCB66B6FE8}" dt="2026-10-13T03:30:24.464" v="2422" actId="790"/>
        <pc:sldMkLst>
          <pc:docMk/>
          <pc:sldMk cId="3016636786" sldId="401"/>
        </pc:sldMkLst>
        <pc:spChg chg="mod">
          <ac:chgData name="Emha Taufiq Luthfi" userId="781e0746-5eaa-49be-bfa4-11bf7d142bc1" providerId="ADAL" clId="{D87F772B-8F0B-4E40-BAAE-53DCB66B6FE8}" dt="2026-10-13T03:30:24.464" v="2422" actId="790"/>
          <ac:spMkLst>
            <pc:docMk/>
            <pc:sldMk cId="3016636786" sldId="401"/>
            <ac:spMk id="3" creationId="{55DABCFB-3E60-5B96-9E75-CF44C6EE51A1}"/>
          </ac:spMkLst>
        </pc:spChg>
      </pc:sldChg>
      <pc:sldChg chg="modSp mod">
        <pc:chgData name="Emha Taufiq Luthfi" userId="781e0746-5eaa-49be-bfa4-11bf7d142bc1" providerId="ADAL" clId="{D87F772B-8F0B-4E40-BAAE-53DCB66B6FE8}" dt="2026-10-13T03:30:24.464" v="2422" actId="790"/>
        <pc:sldMkLst>
          <pc:docMk/>
          <pc:sldMk cId="3923338499" sldId="402"/>
        </pc:sldMkLst>
        <pc:spChg chg="mod">
          <ac:chgData name="Emha Taufiq Luthfi" userId="781e0746-5eaa-49be-bfa4-11bf7d142bc1" providerId="ADAL" clId="{D87F772B-8F0B-4E40-BAAE-53DCB66B6FE8}" dt="2026-10-13T03:30:24.464" v="2422" actId="790"/>
          <ac:spMkLst>
            <pc:docMk/>
            <pc:sldMk cId="3923338499" sldId="402"/>
            <ac:spMk id="2" creationId="{C457FBE6-33D6-9BA5-1E16-3255C3E259BE}"/>
          </ac:spMkLst>
        </pc:spChg>
        <pc:spChg chg="mod">
          <ac:chgData name="Emha Taufiq Luthfi" userId="781e0746-5eaa-49be-bfa4-11bf7d142bc1" providerId="ADAL" clId="{D87F772B-8F0B-4E40-BAAE-53DCB66B6FE8}" dt="2026-10-13T03:30:24.464" v="2422" actId="790"/>
          <ac:spMkLst>
            <pc:docMk/>
            <pc:sldMk cId="3923338499" sldId="402"/>
            <ac:spMk id="3" creationId="{A1950BDC-F2B6-E615-D124-E051093CFE24}"/>
          </ac:spMkLst>
        </pc:spChg>
      </pc:sldChg>
      <pc:sldChg chg="modSp mod">
        <pc:chgData name="Emha Taufiq Luthfi" userId="781e0746-5eaa-49be-bfa4-11bf7d142bc1" providerId="ADAL" clId="{D87F772B-8F0B-4E40-BAAE-53DCB66B6FE8}" dt="2026-10-13T03:30:24.464" v="2422" actId="790"/>
        <pc:sldMkLst>
          <pc:docMk/>
          <pc:sldMk cId="3356242297" sldId="403"/>
        </pc:sldMkLst>
        <pc:spChg chg="mod">
          <ac:chgData name="Emha Taufiq Luthfi" userId="781e0746-5eaa-49be-bfa4-11bf7d142bc1" providerId="ADAL" clId="{D87F772B-8F0B-4E40-BAAE-53DCB66B6FE8}" dt="2026-10-13T03:30:24.464" v="2422" actId="790"/>
          <ac:spMkLst>
            <pc:docMk/>
            <pc:sldMk cId="3356242297" sldId="403"/>
            <ac:spMk id="3" creationId="{8C03FF44-DC0F-8BC5-3A59-43C8EF6E3451}"/>
          </ac:spMkLst>
        </pc:spChg>
      </pc:sldChg>
      <pc:sldChg chg="modSp mod">
        <pc:chgData name="Emha Taufiq Luthfi" userId="781e0746-5eaa-49be-bfa4-11bf7d142bc1" providerId="ADAL" clId="{D87F772B-8F0B-4E40-BAAE-53DCB66B6FE8}" dt="2026-10-13T03:30:24.464" v="2422" actId="790"/>
        <pc:sldMkLst>
          <pc:docMk/>
          <pc:sldMk cId="2782511929" sldId="404"/>
        </pc:sldMkLst>
        <pc:spChg chg="mod">
          <ac:chgData name="Emha Taufiq Luthfi" userId="781e0746-5eaa-49be-bfa4-11bf7d142bc1" providerId="ADAL" clId="{D87F772B-8F0B-4E40-BAAE-53DCB66B6FE8}" dt="2026-10-13T03:30:24.464" v="2422" actId="790"/>
          <ac:spMkLst>
            <pc:docMk/>
            <pc:sldMk cId="2782511929" sldId="404"/>
            <ac:spMk id="3" creationId="{EE4BD3E5-1C71-93B4-9D8E-FEB5892A15C5}"/>
          </ac:spMkLst>
        </pc:spChg>
      </pc:sldChg>
      <pc:sldChg chg="modSp mod">
        <pc:chgData name="Emha Taufiq Luthfi" userId="781e0746-5eaa-49be-bfa4-11bf7d142bc1" providerId="ADAL" clId="{D87F772B-8F0B-4E40-BAAE-53DCB66B6FE8}" dt="2026-10-13T03:30:24.464" v="2422" actId="790"/>
        <pc:sldMkLst>
          <pc:docMk/>
          <pc:sldMk cId="4024250223" sldId="405"/>
        </pc:sldMkLst>
        <pc:graphicFrameChg chg="modGraphic">
          <ac:chgData name="Emha Taufiq Luthfi" userId="781e0746-5eaa-49be-bfa4-11bf7d142bc1" providerId="ADAL" clId="{D87F772B-8F0B-4E40-BAAE-53DCB66B6FE8}" dt="2026-10-13T03:30:24.464" v="2422" actId="790"/>
          <ac:graphicFrameMkLst>
            <pc:docMk/>
            <pc:sldMk cId="4024250223" sldId="405"/>
            <ac:graphicFrameMk id="9" creationId="{6BE4C3A3-C5D4-D62D-B453-25853355FD4F}"/>
          </ac:graphicFrameMkLst>
        </pc:graphicFrameChg>
      </pc:sldChg>
      <pc:sldChg chg="modSp mod">
        <pc:chgData name="Emha Taufiq Luthfi" userId="781e0746-5eaa-49be-bfa4-11bf7d142bc1" providerId="ADAL" clId="{D87F772B-8F0B-4E40-BAAE-53DCB66B6FE8}" dt="2026-10-13T03:30:24.464" v="2422" actId="790"/>
        <pc:sldMkLst>
          <pc:docMk/>
          <pc:sldMk cId="621538971" sldId="406"/>
        </pc:sldMkLst>
        <pc:graphicFrameChg chg="modGraphic">
          <ac:chgData name="Emha Taufiq Luthfi" userId="781e0746-5eaa-49be-bfa4-11bf7d142bc1" providerId="ADAL" clId="{D87F772B-8F0B-4E40-BAAE-53DCB66B6FE8}" dt="2026-10-13T03:30:24.464" v="2422" actId="790"/>
          <ac:graphicFrameMkLst>
            <pc:docMk/>
            <pc:sldMk cId="621538971" sldId="406"/>
            <ac:graphicFrameMk id="9" creationId="{9126B42E-BCC5-7F6E-D59A-403CF58F798C}"/>
          </ac:graphicFrameMkLst>
        </pc:graphicFrameChg>
      </pc:sldChg>
      <pc:sldChg chg="modSp mod">
        <pc:chgData name="Emha Taufiq Luthfi" userId="781e0746-5eaa-49be-bfa4-11bf7d142bc1" providerId="ADAL" clId="{D87F772B-8F0B-4E40-BAAE-53DCB66B6FE8}" dt="2026-10-13T03:30:24.464" v="2422" actId="790"/>
        <pc:sldMkLst>
          <pc:docMk/>
          <pc:sldMk cId="2551430434" sldId="407"/>
        </pc:sldMkLst>
        <pc:spChg chg="mod">
          <ac:chgData name="Emha Taufiq Luthfi" userId="781e0746-5eaa-49be-bfa4-11bf7d142bc1" providerId="ADAL" clId="{D87F772B-8F0B-4E40-BAAE-53DCB66B6FE8}" dt="2026-10-13T03:30:24.464" v="2422" actId="790"/>
          <ac:spMkLst>
            <pc:docMk/>
            <pc:sldMk cId="2551430434" sldId="407"/>
            <ac:spMk id="2" creationId="{2BDD8302-9EF4-90C7-AC46-F4339F86510E}"/>
          </ac:spMkLst>
        </pc:spChg>
        <pc:spChg chg="mod">
          <ac:chgData name="Emha Taufiq Luthfi" userId="781e0746-5eaa-49be-bfa4-11bf7d142bc1" providerId="ADAL" clId="{D87F772B-8F0B-4E40-BAAE-53DCB66B6FE8}" dt="2026-10-13T03:30:24.464" v="2422" actId="790"/>
          <ac:spMkLst>
            <pc:docMk/>
            <pc:sldMk cId="2551430434" sldId="407"/>
            <ac:spMk id="5" creationId="{2D5A4536-8BE4-63B7-A59A-4B999D329DDF}"/>
          </ac:spMkLst>
        </pc:spChg>
      </pc:sldChg>
      <pc:sldChg chg="modSp mod">
        <pc:chgData name="Emha Taufiq Luthfi" userId="781e0746-5eaa-49be-bfa4-11bf7d142bc1" providerId="ADAL" clId="{D87F772B-8F0B-4E40-BAAE-53DCB66B6FE8}" dt="2026-10-13T03:30:24.464" v="2422" actId="790"/>
        <pc:sldMkLst>
          <pc:docMk/>
          <pc:sldMk cId="2733180866" sldId="408"/>
        </pc:sldMkLst>
        <pc:spChg chg="mod">
          <ac:chgData name="Emha Taufiq Luthfi" userId="781e0746-5eaa-49be-bfa4-11bf7d142bc1" providerId="ADAL" clId="{D87F772B-8F0B-4E40-BAAE-53DCB66B6FE8}" dt="2026-10-13T03:30:24.464" v="2422" actId="790"/>
          <ac:spMkLst>
            <pc:docMk/>
            <pc:sldMk cId="2733180866" sldId="408"/>
            <ac:spMk id="2" creationId="{B774AF13-79DB-226B-C1AC-FDA4C4373FB7}"/>
          </ac:spMkLst>
        </pc:spChg>
        <pc:spChg chg="mod">
          <ac:chgData name="Emha Taufiq Luthfi" userId="781e0746-5eaa-49be-bfa4-11bf7d142bc1" providerId="ADAL" clId="{D87F772B-8F0B-4E40-BAAE-53DCB66B6FE8}" dt="2026-10-13T03:30:24.464" v="2422" actId="790"/>
          <ac:spMkLst>
            <pc:docMk/>
            <pc:sldMk cId="2733180866" sldId="408"/>
            <ac:spMk id="4" creationId="{495EE037-7316-E43A-AD1D-003C6D3E900C}"/>
          </ac:spMkLst>
        </pc:spChg>
      </pc:sldChg>
      <pc:sldChg chg="modSp mod">
        <pc:chgData name="Emha Taufiq Luthfi" userId="781e0746-5eaa-49be-bfa4-11bf7d142bc1" providerId="ADAL" clId="{D87F772B-8F0B-4E40-BAAE-53DCB66B6FE8}" dt="2026-10-13T03:30:24.464" v="2422" actId="790"/>
        <pc:sldMkLst>
          <pc:docMk/>
          <pc:sldMk cId="665243129" sldId="409"/>
        </pc:sldMkLst>
        <pc:spChg chg="mod">
          <ac:chgData name="Emha Taufiq Luthfi" userId="781e0746-5eaa-49be-bfa4-11bf7d142bc1" providerId="ADAL" clId="{D87F772B-8F0B-4E40-BAAE-53DCB66B6FE8}" dt="2026-10-13T03:30:24.464" v="2422" actId="790"/>
          <ac:spMkLst>
            <pc:docMk/>
            <pc:sldMk cId="665243129" sldId="409"/>
            <ac:spMk id="2" creationId="{FB43A765-3020-FF8B-B3FA-6C0D815DB059}"/>
          </ac:spMkLst>
        </pc:spChg>
        <pc:spChg chg="mod">
          <ac:chgData name="Emha Taufiq Luthfi" userId="781e0746-5eaa-49be-bfa4-11bf7d142bc1" providerId="ADAL" clId="{D87F772B-8F0B-4E40-BAAE-53DCB66B6FE8}" dt="2026-10-13T03:30:24.464" v="2422" actId="790"/>
          <ac:spMkLst>
            <pc:docMk/>
            <pc:sldMk cId="665243129" sldId="409"/>
            <ac:spMk id="4" creationId="{19B4B7F9-C25B-B915-9CEE-C0E9F4376629}"/>
          </ac:spMkLst>
        </pc:spChg>
        <pc:spChg chg="mod">
          <ac:chgData name="Emha Taufiq Luthfi" userId="781e0746-5eaa-49be-bfa4-11bf7d142bc1" providerId="ADAL" clId="{D87F772B-8F0B-4E40-BAAE-53DCB66B6FE8}" dt="2026-10-13T03:30:24.464" v="2422" actId="790"/>
          <ac:spMkLst>
            <pc:docMk/>
            <pc:sldMk cId="665243129" sldId="409"/>
            <ac:spMk id="6" creationId="{3A1E93D0-FF5F-CFA9-8D1A-4FB30A5C1F27}"/>
          </ac:spMkLst>
        </pc:spChg>
        <pc:graphicFrameChg chg="modGraphic">
          <ac:chgData name="Emha Taufiq Luthfi" userId="781e0746-5eaa-49be-bfa4-11bf7d142bc1" providerId="ADAL" clId="{D87F772B-8F0B-4E40-BAAE-53DCB66B6FE8}" dt="2026-10-13T03:30:24.464" v="2422" actId="790"/>
          <ac:graphicFrameMkLst>
            <pc:docMk/>
            <pc:sldMk cId="665243129" sldId="409"/>
            <ac:graphicFrameMk id="3" creationId="{5AFFADEA-3993-BA80-9C58-39E3C89B6EA8}"/>
          </ac:graphicFrameMkLst>
        </pc:graphicFrameChg>
      </pc:sldChg>
      <pc:sldChg chg="modSp add del mod">
        <pc:chgData name="Emha Taufiq Luthfi" userId="781e0746-5eaa-49be-bfa4-11bf7d142bc1" providerId="ADAL" clId="{D87F772B-8F0B-4E40-BAAE-53DCB66B6FE8}" dt="2026-10-13T03:30:24.464" v="2422" actId="790"/>
        <pc:sldMkLst>
          <pc:docMk/>
          <pc:sldMk cId="3244053252" sldId="410"/>
        </pc:sldMkLst>
        <pc:spChg chg="mod">
          <ac:chgData name="Emha Taufiq Luthfi" userId="781e0746-5eaa-49be-bfa4-11bf7d142bc1" providerId="ADAL" clId="{D87F772B-8F0B-4E40-BAAE-53DCB66B6FE8}" dt="2026-10-13T03:30:24.464" v="2422" actId="790"/>
          <ac:spMkLst>
            <pc:docMk/>
            <pc:sldMk cId="3244053252" sldId="410"/>
            <ac:spMk id="2" creationId="{8C7798F4-4241-2960-EA78-0A037C91D56F}"/>
          </ac:spMkLst>
        </pc:spChg>
      </pc:sldChg>
      <pc:sldChg chg="modSp add del mod">
        <pc:chgData name="Emha Taufiq Luthfi" userId="781e0746-5eaa-49be-bfa4-11bf7d142bc1" providerId="ADAL" clId="{D87F772B-8F0B-4E40-BAAE-53DCB66B6FE8}" dt="2026-10-13T03:30:24.464" v="2422" actId="790"/>
        <pc:sldMkLst>
          <pc:docMk/>
          <pc:sldMk cId="377292778" sldId="411"/>
        </pc:sldMkLst>
        <pc:spChg chg="mod">
          <ac:chgData name="Emha Taufiq Luthfi" userId="781e0746-5eaa-49be-bfa4-11bf7d142bc1" providerId="ADAL" clId="{D87F772B-8F0B-4E40-BAAE-53DCB66B6FE8}" dt="2026-10-13T03:30:24.464" v="2422" actId="790"/>
          <ac:spMkLst>
            <pc:docMk/>
            <pc:sldMk cId="377292778" sldId="411"/>
            <ac:spMk id="2" creationId="{5E9D77AC-9DE2-118B-4B07-9DDFE80FC2F1}"/>
          </ac:spMkLst>
        </pc:spChg>
        <pc:spChg chg="mod">
          <ac:chgData name="Emha Taufiq Luthfi" userId="781e0746-5eaa-49be-bfa4-11bf7d142bc1" providerId="ADAL" clId="{D87F772B-8F0B-4E40-BAAE-53DCB66B6FE8}" dt="2026-10-13T03:30:24.464" v="2422" actId="790"/>
          <ac:spMkLst>
            <pc:docMk/>
            <pc:sldMk cId="377292778" sldId="411"/>
            <ac:spMk id="3" creationId="{5BBC53EB-DAE9-14B4-2685-5B1407306D6D}"/>
          </ac:spMkLst>
        </pc:spChg>
      </pc:sldChg>
      <pc:sldChg chg="modSp add del mod">
        <pc:chgData name="Emha Taufiq Luthfi" userId="781e0746-5eaa-49be-bfa4-11bf7d142bc1" providerId="ADAL" clId="{D87F772B-8F0B-4E40-BAAE-53DCB66B6FE8}" dt="2026-10-13T03:30:24.464" v="2422" actId="790"/>
        <pc:sldMkLst>
          <pc:docMk/>
          <pc:sldMk cId="376785193" sldId="412"/>
        </pc:sldMkLst>
        <pc:spChg chg="mod">
          <ac:chgData name="Emha Taufiq Luthfi" userId="781e0746-5eaa-49be-bfa4-11bf7d142bc1" providerId="ADAL" clId="{D87F772B-8F0B-4E40-BAAE-53DCB66B6FE8}" dt="2026-10-13T03:30:24.464" v="2422" actId="790"/>
          <ac:spMkLst>
            <pc:docMk/>
            <pc:sldMk cId="376785193" sldId="412"/>
            <ac:spMk id="2" creationId="{313357A0-8663-99BB-F8DD-A77AD7541833}"/>
          </ac:spMkLst>
        </pc:spChg>
        <pc:spChg chg="mod">
          <ac:chgData name="Emha Taufiq Luthfi" userId="781e0746-5eaa-49be-bfa4-11bf7d142bc1" providerId="ADAL" clId="{D87F772B-8F0B-4E40-BAAE-53DCB66B6FE8}" dt="2026-10-13T03:30:24.464" v="2422" actId="790"/>
          <ac:spMkLst>
            <pc:docMk/>
            <pc:sldMk cId="376785193" sldId="412"/>
            <ac:spMk id="3" creationId="{5B543A82-FA87-9858-8FF4-7DBDC1331E16}"/>
          </ac:spMkLst>
        </pc:spChg>
      </pc:sldChg>
      <pc:sldChg chg="modSp add del mod">
        <pc:chgData name="Emha Taufiq Luthfi" userId="781e0746-5eaa-49be-bfa4-11bf7d142bc1" providerId="ADAL" clId="{D87F772B-8F0B-4E40-BAAE-53DCB66B6FE8}" dt="2026-10-13T03:30:24.464" v="2422" actId="790"/>
        <pc:sldMkLst>
          <pc:docMk/>
          <pc:sldMk cId="3684134203" sldId="413"/>
        </pc:sldMkLst>
        <pc:spChg chg="mod">
          <ac:chgData name="Emha Taufiq Luthfi" userId="781e0746-5eaa-49be-bfa4-11bf7d142bc1" providerId="ADAL" clId="{D87F772B-8F0B-4E40-BAAE-53DCB66B6FE8}" dt="2026-10-13T03:30:24.464" v="2422" actId="790"/>
          <ac:spMkLst>
            <pc:docMk/>
            <pc:sldMk cId="3684134203" sldId="413"/>
            <ac:spMk id="2" creationId="{A385D02F-7E12-D0F0-A554-45F1E9FBDF43}"/>
          </ac:spMkLst>
        </pc:spChg>
        <pc:spChg chg="mod">
          <ac:chgData name="Emha Taufiq Luthfi" userId="781e0746-5eaa-49be-bfa4-11bf7d142bc1" providerId="ADAL" clId="{D87F772B-8F0B-4E40-BAAE-53DCB66B6FE8}" dt="2026-10-13T03:30:24.464" v="2422" actId="790"/>
          <ac:spMkLst>
            <pc:docMk/>
            <pc:sldMk cId="3684134203" sldId="413"/>
            <ac:spMk id="3" creationId="{A2353E1A-E6EA-FBC7-AAC1-7EEF92D74837}"/>
          </ac:spMkLst>
        </pc:spChg>
      </pc:sldChg>
      <pc:sldChg chg="modSp add del mod">
        <pc:chgData name="Emha Taufiq Luthfi" userId="781e0746-5eaa-49be-bfa4-11bf7d142bc1" providerId="ADAL" clId="{D87F772B-8F0B-4E40-BAAE-53DCB66B6FE8}" dt="2026-10-13T03:30:24.464" v="2422" actId="790"/>
        <pc:sldMkLst>
          <pc:docMk/>
          <pc:sldMk cId="4249169791" sldId="414"/>
        </pc:sldMkLst>
        <pc:spChg chg="mod">
          <ac:chgData name="Emha Taufiq Luthfi" userId="781e0746-5eaa-49be-bfa4-11bf7d142bc1" providerId="ADAL" clId="{D87F772B-8F0B-4E40-BAAE-53DCB66B6FE8}" dt="2026-10-13T03:30:24.464" v="2422" actId="790"/>
          <ac:spMkLst>
            <pc:docMk/>
            <pc:sldMk cId="4249169791" sldId="414"/>
            <ac:spMk id="2" creationId="{0391EB20-EFDF-B316-877A-DB327AE6EF4E}"/>
          </ac:spMkLst>
        </pc:spChg>
        <pc:spChg chg="mod">
          <ac:chgData name="Emha Taufiq Luthfi" userId="781e0746-5eaa-49be-bfa4-11bf7d142bc1" providerId="ADAL" clId="{D87F772B-8F0B-4E40-BAAE-53DCB66B6FE8}" dt="2026-10-13T03:30:24.464" v="2422" actId="790"/>
          <ac:spMkLst>
            <pc:docMk/>
            <pc:sldMk cId="4249169791" sldId="414"/>
            <ac:spMk id="7" creationId="{4C597983-8058-A4C0-1C7C-E0E78BACCF8A}"/>
          </ac:spMkLst>
        </pc:spChg>
        <pc:graphicFrameChg chg="modGraphic">
          <ac:chgData name="Emha Taufiq Luthfi" userId="781e0746-5eaa-49be-bfa4-11bf7d142bc1" providerId="ADAL" clId="{D87F772B-8F0B-4E40-BAAE-53DCB66B6FE8}" dt="2026-10-13T03:30:24.464" v="2422" actId="790"/>
          <ac:graphicFrameMkLst>
            <pc:docMk/>
            <pc:sldMk cId="4249169791" sldId="414"/>
            <ac:graphicFrameMk id="5" creationId="{BED0E886-8CF3-44A8-CD9E-A0F6D105F5AA}"/>
          </ac:graphicFrameMkLst>
        </pc:graphicFrameChg>
      </pc:sldChg>
      <pc:sldChg chg="modSp add del mod">
        <pc:chgData name="Emha Taufiq Luthfi" userId="781e0746-5eaa-49be-bfa4-11bf7d142bc1" providerId="ADAL" clId="{D87F772B-8F0B-4E40-BAAE-53DCB66B6FE8}" dt="2026-10-13T03:30:24.464" v="2422" actId="790"/>
        <pc:sldMkLst>
          <pc:docMk/>
          <pc:sldMk cId="2633886071" sldId="415"/>
        </pc:sldMkLst>
        <pc:spChg chg="mod">
          <ac:chgData name="Emha Taufiq Luthfi" userId="781e0746-5eaa-49be-bfa4-11bf7d142bc1" providerId="ADAL" clId="{D87F772B-8F0B-4E40-BAAE-53DCB66B6FE8}" dt="2026-10-13T03:30:24.464" v="2422" actId="790"/>
          <ac:spMkLst>
            <pc:docMk/>
            <pc:sldMk cId="2633886071" sldId="415"/>
            <ac:spMk id="2" creationId="{6BB8880E-D516-09C4-9C41-9393CD0D9F83}"/>
          </ac:spMkLst>
        </pc:spChg>
        <pc:spChg chg="mod">
          <ac:chgData name="Emha Taufiq Luthfi" userId="781e0746-5eaa-49be-bfa4-11bf7d142bc1" providerId="ADAL" clId="{D87F772B-8F0B-4E40-BAAE-53DCB66B6FE8}" dt="2026-10-13T03:30:24.464" v="2422" actId="790"/>
          <ac:spMkLst>
            <pc:docMk/>
            <pc:sldMk cId="2633886071" sldId="415"/>
            <ac:spMk id="3" creationId="{49311D8D-C4DC-D0A7-E9AD-6A308A668135}"/>
          </ac:spMkLst>
        </pc:spChg>
      </pc:sldChg>
      <pc:sldChg chg="modSp add del mod">
        <pc:chgData name="Emha Taufiq Luthfi" userId="781e0746-5eaa-49be-bfa4-11bf7d142bc1" providerId="ADAL" clId="{D87F772B-8F0B-4E40-BAAE-53DCB66B6FE8}" dt="2026-10-13T03:30:24.464" v="2422" actId="790"/>
        <pc:sldMkLst>
          <pc:docMk/>
          <pc:sldMk cId="3398995719" sldId="416"/>
        </pc:sldMkLst>
        <pc:spChg chg="mod">
          <ac:chgData name="Emha Taufiq Luthfi" userId="781e0746-5eaa-49be-bfa4-11bf7d142bc1" providerId="ADAL" clId="{D87F772B-8F0B-4E40-BAAE-53DCB66B6FE8}" dt="2026-10-13T03:30:24.464" v="2422" actId="790"/>
          <ac:spMkLst>
            <pc:docMk/>
            <pc:sldMk cId="3398995719" sldId="416"/>
            <ac:spMk id="2" creationId="{CD7241F8-50FC-EEA2-92F1-79A46CD6821B}"/>
          </ac:spMkLst>
        </pc:spChg>
        <pc:spChg chg="mod">
          <ac:chgData name="Emha Taufiq Luthfi" userId="781e0746-5eaa-49be-bfa4-11bf7d142bc1" providerId="ADAL" clId="{D87F772B-8F0B-4E40-BAAE-53DCB66B6FE8}" dt="2026-10-13T03:30:24.464" v="2422" actId="790"/>
          <ac:spMkLst>
            <pc:docMk/>
            <pc:sldMk cId="3398995719" sldId="416"/>
            <ac:spMk id="3" creationId="{01EB07F2-E067-F7F4-36FD-07F5048D5D53}"/>
          </ac:spMkLst>
        </pc:spChg>
      </pc:sldChg>
      <pc:sldChg chg="modSp add del mod">
        <pc:chgData name="Emha Taufiq Luthfi" userId="781e0746-5eaa-49be-bfa4-11bf7d142bc1" providerId="ADAL" clId="{D87F772B-8F0B-4E40-BAAE-53DCB66B6FE8}" dt="2026-10-13T03:30:24.464" v="2422" actId="790"/>
        <pc:sldMkLst>
          <pc:docMk/>
          <pc:sldMk cId="4116553209" sldId="417"/>
        </pc:sldMkLst>
        <pc:spChg chg="mod">
          <ac:chgData name="Emha Taufiq Luthfi" userId="781e0746-5eaa-49be-bfa4-11bf7d142bc1" providerId="ADAL" clId="{D87F772B-8F0B-4E40-BAAE-53DCB66B6FE8}" dt="2026-10-13T03:30:24.464" v="2422" actId="790"/>
          <ac:spMkLst>
            <pc:docMk/>
            <pc:sldMk cId="4116553209" sldId="417"/>
            <ac:spMk id="2" creationId="{C66A1B5D-300B-B6AF-4DB6-8BDF0AE12D70}"/>
          </ac:spMkLst>
        </pc:spChg>
        <pc:spChg chg="mod">
          <ac:chgData name="Emha Taufiq Luthfi" userId="781e0746-5eaa-49be-bfa4-11bf7d142bc1" providerId="ADAL" clId="{D87F772B-8F0B-4E40-BAAE-53DCB66B6FE8}" dt="2026-10-13T03:30:24.464" v="2422" actId="790"/>
          <ac:spMkLst>
            <pc:docMk/>
            <pc:sldMk cId="4116553209" sldId="417"/>
            <ac:spMk id="3" creationId="{B4A05B94-7545-4C15-95FA-10B951E99B76}"/>
          </ac:spMkLst>
        </pc:spChg>
      </pc:sldChg>
      <pc:sldChg chg="modSp add del mod">
        <pc:chgData name="Emha Taufiq Luthfi" userId="781e0746-5eaa-49be-bfa4-11bf7d142bc1" providerId="ADAL" clId="{D87F772B-8F0B-4E40-BAAE-53DCB66B6FE8}" dt="2026-10-13T03:30:24.464" v="2422" actId="790"/>
        <pc:sldMkLst>
          <pc:docMk/>
          <pc:sldMk cId="2444145946" sldId="418"/>
        </pc:sldMkLst>
        <pc:spChg chg="mod">
          <ac:chgData name="Emha Taufiq Luthfi" userId="781e0746-5eaa-49be-bfa4-11bf7d142bc1" providerId="ADAL" clId="{D87F772B-8F0B-4E40-BAAE-53DCB66B6FE8}" dt="2026-10-13T03:30:24.464" v="2422" actId="790"/>
          <ac:spMkLst>
            <pc:docMk/>
            <pc:sldMk cId="2444145946" sldId="418"/>
            <ac:spMk id="2" creationId="{F3607CA2-3557-E6F7-BDBC-889D3D8A674C}"/>
          </ac:spMkLst>
        </pc:spChg>
        <pc:spChg chg="mod">
          <ac:chgData name="Emha Taufiq Luthfi" userId="781e0746-5eaa-49be-bfa4-11bf7d142bc1" providerId="ADAL" clId="{D87F772B-8F0B-4E40-BAAE-53DCB66B6FE8}" dt="2026-10-13T03:30:24.464" v="2422" actId="790"/>
          <ac:spMkLst>
            <pc:docMk/>
            <pc:sldMk cId="2444145946" sldId="418"/>
            <ac:spMk id="3" creationId="{BC7B3BF7-FA9D-EA9A-BAF7-48F074EAF9F3}"/>
          </ac:spMkLst>
        </pc:spChg>
      </pc:sldChg>
      <pc:sldChg chg="modSp add del mod">
        <pc:chgData name="Emha Taufiq Luthfi" userId="781e0746-5eaa-49be-bfa4-11bf7d142bc1" providerId="ADAL" clId="{D87F772B-8F0B-4E40-BAAE-53DCB66B6FE8}" dt="2026-10-13T03:30:24.464" v="2422" actId="790"/>
        <pc:sldMkLst>
          <pc:docMk/>
          <pc:sldMk cId="1236571187" sldId="419"/>
        </pc:sldMkLst>
        <pc:spChg chg="mod">
          <ac:chgData name="Emha Taufiq Luthfi" userId="781e0746-5eaa-49be-bfa4-11bf7d142bc1" providerId="ADAL" clId="{D87F772B-8F0B-4E40-BAAE-53DCB66B6FE8}" dt="2026-10-13T03:30:24.464" v="2422" actId="790"/>
          <ac:spMkLst>
            <pc:docMk/>
            <pc:sldMk cId="1236571187" sldId="419"/>
            <ac:spMk id="2" creationId="{A519376F-4CCE-CDCE-BDD7-4639ECB57E60}"/>
          </ac:spMkLst>
        </pc:spChg>
        <pc:spChg chg="mod">
          <ac:chgData name="Emha Taufiq Luthfi" userId="781e0746-5eaa-49be-bfa4-11bf7d142bc1" providerId="ADAL" clId="{D87F772B-8F0B-4E40-BAAE-53DCB66B6FE8}" dt="2026-10-13T03:30:24.464" v="2422" actId="790"/>
          <ac:spMkLst>
            <pc:docMk/>
            <pc:sldMk cId="1236571187" sldId="419"/>
            <ac:spMk id="5" creationId="{06696791-161A-4261-AC16-80E3AF87C355}"/>
          </ac:spMkLst>
        </pc:spChg>
      </pc:sldChg>
      <pc:sldChg chg="add del">
        <pc:chgData name="Emha Taufiq Luthfi" userId="781e0746-5eaa-49be-bfa4-11bf7d142bc1" providerId="ADAL" clId="{D87F772B-8F0B-4E40-BAAE-53DCB66B6FE8}" dt="2026-10-13T03:25:24.635" v="2317" actId="2696"/>
        <pc:sldMkLst>
          <pc:docMk/>
          <pc:sldMk cId="2819257705" sldId="420"/>
        </pc:sldMkLst>
      </pc:sldChg>
      <pc:sldChg chg="add del">
        <pc:chgData name="Emha Taufiq Luthfi" userId="781e0746-5eaa-49be-bfa4-11bf7d142bc1" providerId="ADAL" clId="{D87F772B-8F0B-4E40-BAAE-53DCB66B6FE8}" dt="2026-10-13T03:25:24.635" v="2317" actId="2696"/>
        <pc:sldMkLst>
          <pc:docMk/>
          <pc:sldMk cId="150956906" sldId="421"/>
        </pc:sldMkLst>
      </pc:sldChg>
      <pc:sldChg chg="add del">
        <pc:chgData name="Emha Taufiq Luthfi" userId="781e0746-5eaa-49be-bfa4-11bf7d142bc1" providerId="ADAL" clId="{D87F772B-8F0B-4E40-BAAE-53DCB66B6FE8}" dt="2026-10-13T03:25:24.635" v="2317" actId="2696"/>
        <pc:sldMkLst>
          <pc:docMk/>
          <pc:sldMk cId="746297703" sldId="422"/>
        </pc:sldMkLst>
      </pc:sldChg>
      <pc:sldChg chg="add del">
        <pc:chgData name="Emha Taufiq Luthfi" userId="781e0746-5eaa-49be-bfa4-11bf7d142bc1" providerId="ADAL" clId="{D87F772B-8F0B-4E40-BAAE-53DCB66B6FE8}" dt="2026-10-13T03:25:24.635" v="2317" actId="2696"/>
        <pc:sldMkLst>
          <pc:docMk/>
          <pc:sldMk cId="2569900346" sldId="423"/>
        </pc:sldMkLst>
      </pc:sldChg>
      <pc:sldChg chg="add del">
        <pc:chgData name="Emha Taufiq Luthfi" userId="781e0746-5eaa-49be-bfa4-11bf7d142bc1" providerId="ADAL" clId="{D87F772B-8F0B-4E40-BAAE-53DCB66B6FE8}" dt="2026-10-13T03:25:24.635" v="2317" actId="2696"/>
        <pc:sldMkLst>
          <pc:docMk/>
          <pc:sldMk cId="924241613" sldId="424"/>
        </pc:sldMkLst>
      </pc:sldChg>
      <pc:sldChg chg="delSp modSp new mod">
        <pc:chgData name="Emha Taufiq Luthfi" userId="781e0746-5eaa-49be-bfa4-11bf7d142bc1" providerId="ADAL" clId="{D87F772B-8F0B-4E40-BAAE-53DCB66B6FE8}" dt="2026-10-13T03:30:24.464" v="2422" actId="790"/>
        <pc:sldMkLst>
          <pc:docMk/>
          <pc:sldMk cId="3065789042" sldId="425"/>
        </pc:sldMkLst>
        <pc:spChg chg="mod">
          <ac:chgData name="Emha Taufiq Luthfi" userId="781e0746-5eaa-49be-bfa4-11bf7d142bc1" providerId="ADAL" clId="{D87F772B-8F0B-4E40-BAAE-53DCB66B6FE8}" dt="2026-10-13T03:30:24.464" v="2422" actId="790"/>
          <ac:spMkLst>
            <pc:docMk/>
            <pc:sldMk cId="3065789042" sldId="425"/>
            <ac:spMk id="2" creationId="{78D90136-0AD8-1062-E67C-368922957281}"/>
          </ac:spMkLst>
        </pc:spChg>
        <pc:spChg chg="del">
          <ac:chgData name="Emha Taufiq Luthfi" userId="781e0746-5eaa-49be-bfa4-11bf7d142bc1" providerId="ADAL" clId="{D87F772B-8F0B-4E40-BAAE-53DCB66B6FE8}" dt="2026-10-13T03:22:10.406" v="2211" actId="478"/>
          <ac:spMkLst>
            <pc:docMk/>
            <pc:sldMk cId="3065789042" sldId="425"/>
            <ac:spMk id="3" creationId="{B8313497-2A41-0C47-0E06-294A28C0A08F}"/>
          </ac:spMkLst>
        </pc:spChg>
      </pc:sldChg>
      <pc:sldChg chg="modSp add mod">
        <pc:chgData name="Emha Taufiq Luthfi" userId="781e0746-5eaa-49be-bfa4-11bf7d142bc1" providerId="ADAL" clId="{D87F772B-8F0B-4E40-BAAE-53DCB66B6FE8}" dt="2026-10-13T03:30:24.464" v="2422" actId="790"/>
        <pc:sldMkLst>
          <pc:docMk/>
          <pc:sldMk cId="0" sldId="426"/>
        </pc:sldMkLst>
        <pc:spChg chg="mod">
          <ac:chgData name="Emha Taufiq Luthfi" userId="781e0746-5eaa-49be-bfa4-11bf7d142bc1" providerId="ADAL" clId="{D87F772B-8F0B-4E40-BAAE-53DCB66B6FE8}" dt="2026-10-13T03:30:24.464" v="2422" actId="790"/>
          <ac:spMkLst>
            <pc:docMk/>
            <pc:sldMk cId="0" sldId="426"/>
            <ac:spMk id="2" creationId="{00000000-0000-0000-0000-000000000000}"/>
          </ac:spMkLst>
        </pc:spChg>
        <pc:spChg chg="mod">
          <ac:chgData name="Emha Taufiq Luthfi" userId="781e0746-5eaa-49be-bfa4-11bf7d142bc1" providerId="ADAL" clId="{D87F772B-8F0B-4E40-BAAE-53DCB66B6FE8}" dt="2026-10-13T03:30:24.464" v="2422" actId="790"/>
          <ac:spMkLst>
            <pc:docMk/>
            <pc:sldMk cId="0" sldId="426"/>
            <ac:spMk id="3" creationId="{00000000-0000-0000-0000-000000000000}"/>
          </ac:spMkLst>
        </pc:spChg>
      </pc:sldChg>
      <pc:sldChg chg="add del">
        <pc:chgData name="Emha Taufiq Luthfi" userId="781e0746-5eaa-49be-bfa4-11bf7d142bc1" providerId="ADAL" clId="{D87F772B-8F0B-4E40-BAAE-53DCB66B6FE8}" dt="2026-10-13T03:24:55.436" v="2315"/>
        <pc:sldMkLst>
          <pc:docMk/>
          <pc:sldMk cId="316876782" sldId="426"/>
        </pc:sldMkLst>
      </pc:sldChg>
      <pc:sldChg chg="add del">
        <pc:chgData name="Emha Taufiq Luthfi" userId="781e0746-5eaa-49be-bfa4-11bf7d142bc1" providerId="ADAL" clId="{D87F772B-8F0B-4E40-BAAE-53DCB66B6FE8}" dt="2026-10-13T03:28:01.585" v="2319"/>
        <pc:sldMkLst>
          <pc:docMk/>
          <pc:sldMk cId="633256056" sldId="426"/>
        </pc:sldMkLst>
      </pc:sldChg>
      <pc:sldChg chg="add del">
        <pc:chgData name="Emha Taufiq Luthfi" userId="781e0746-5eaa-49be-bfa4-11bf7d142bc1" providerId="ADAL" clId="{D87F772B-8F0B-4E40-BAAE-53DCB66B6FE8}" dt="2026-10-13T03:28:08.860" v="2321"/>
        <pc:sldMkLst>
          <pc:docMk/>
          <pc:sldMk cId="995215946" sldId="426"/>
        </pc:sldMkLst>
      </pc:sldChg>
      <pc:sldChg chg="modSp add mod">
        <pc:chgData name="Emha Taufiq Luthfi" userId="781e0746-5eaa-49be-bfa4-11bf7d142bc1" providerId="ADAL" clId="{D87F772B-8F0B-4E40-BAAE-53DCB66B6FE8}" dt="2026-10-13T03:30:24.464" v="2422" actId="790"/>
        <pc:sldMkLst>
          <pc:docMk/>
          <pc:sldMk cId="0" sldId="427"/>
        </pc:sldMkLst>
        <pc:spChg chg="mod">
          <ac:chgData name="Emha Taufiq Luthfi" userId="781e0746-5eaa-49be-bfa4-11bf7d142bc1" providerId="ADAL" clId="{D87F772B-8F0B-4E40-BAAE-53DCB66B6FE8}" dt="2026-10-13T03:30:24.464" v="2422" actId="790"/>
          <ac:spMkLst>
            <pc:docMk/>
            <pc:sldMk cId="0" sldId="427"/>
            <ac:spMk id="2" creationId="{00000000-0000-0000-0000-000000000000}"/>
          </ac:spMkLst>
        </pc:spChg>
        <pc:spChg chg="mod">
          <ac:chgData name="Emha Taufiq Luthfi" userId="781e0746-5eaa-49be-bfa4-11bf7d142bc1" providerId="ADAL" clId="{D87F772B-8F0B-4E40-BAAE-53DCB66B6FE8}" dt="2026-10-13T03:30:24.464" v="2422" actId="790"/>
          <ac:spMkLst>
            <pc:docMk/>
            <pc:sldMk cId="0" sldId="427"/>
            <ac:spMk id="8" creationId="{00000000-0000-0000-0000-000000000000}"/>
          </ac:spMkLst>
        </pc:spChg>
        <pc:graphicFrameChg chg="modGraphic">
          <ac:chgData name="Emha Taufiq Luthfi" userId="781e0746-5eaa-49be-bfa4-11bf7d142bc1" providerId="ADAL" clId="{D87F772B-8F0B-4E40-BAAE-53DCB66B6FE8}" dt="2026-10-13T03:30:24.464" v="2422" actId="790"/>
          <ac:graphicFrameMkLst>
            <pc:docMk/>
            <pc:sldMk cId="0" sldId="427"/>
            <ac:graphicFrameMk id="4" creationId="{00000000-0000-0000-0000-000000000000}"/>
          </ac:graphicFrameMkLst>
        </pc:graphicFrameChg>
      </pc:sldChg>
      <pc:sldChg chg="add del">
        <pc:chgData name="Emha Taufiq Luthfi" userId="781e0746-5eaa-49be-bfa4-11bf7d142bc1" providerId="ADAL" clId="{D87F772B-8F0B-4E40-BAAE-53DCB66B6FE8}" dt="2026-10-13T03:28:08.860" v="2321"/>
        <pc:sldMkLst>
          <pc:docMk/>
          <pc:sldMk cId="817823787" sldId="427"/>
        </pc:sldMkLst>
      </pc:sldChg>
      <pc:sldChg chg="add del">
        <pc:chgData name="Emha Taufiq Luthfi" userId="781e0746-5eaa-49be-bfa4-11bf7d142bc1" providerId="ADAL" clId="{D87F772B-8F0B-4E40-BAAE-53DCB66B6FE8}" dt="2026-10-13T03:24:55.436" v="2315"/>
        <pc:sldMkLst>
          <pc:docMk/>
          <pc:sldMk cId="2942197505" sldId="427"/>
        </pc:sldMkLst>
      </pc:sldChg>
      <pc:sldChg chg="add del">
        <pc:chgData name="Emha Taufiq Luthfi" userId="781e0746-5eaa-49be-bfa4-11bf7d142bc1" providerId="ADAL" clId="{D87F772B-8F0B-4E40-BAAE-53DCB66B6FE8}" dt="2026-10-13T03:28:01.585" v="2319"/>
        <pc:sldMkLst>
          <pc:docMk/>
          <pc:sldMk cId="4124877012" sldId="427"/>
        </pc:sldMkLst>
      </pc:sldChg>
      <pc:sldChg chg="modSp add mod">
        <pc:chgData name="Emha Taufiq Luthfi" userId="781e0746-5eaa-49be-bfa4-11bf7d142bc1" providerId="ADAL" clId="{D87F772B-8F0B-4E40-BAAE-53DCB66B6FE8}" dt="2026-10-13T03:30:24.464" v="2422" actId="790"/>
        <pc:sldMkLst>
          <pc:docMk/>
          <pc:sldMk cId="0" sldId="428"/>
        </pc:sldMkLst>
        <pc:spChg chg="mod">
          <ac:chgData name="Emha Taufiq Luthfi" userId="781e0746-5eaa-49be-bfa4-11bf7d142bc1" providerId="ADAL" clId="{D87F772B-8F0B-4E40-BAAE-53DCB66B6FE8}" dt="2026-10-13T03:30:24.464" v="2422" actId="790"/>
          <ac:spMkLst>
            <pc:docMk/>
            <pc:sldMk cId="0" sldId="428"/>
            <ac:spMk id="2" creationId="{00000000-0000-0000-0000-000000000000}"/>
          </ac:spMkLst>
        </pc:spChg>
        <pc:spChg chg="mod">
          <ac:chgData name="Emha Taufiq Luthfi" userId="781e0746-5eaa-49be-bfa4-11bf7d142bc1" providerId="ADAL" clId="{D87F772B-8F0B-4E40-BAAE-53DCB66B6FE8}" dt="2026-10-13T03:30:24.464" v="2422" actId="790"/>
          <ac:spMkLst>
            <pc:docMk/>
            <pc:sldMk cId="0" sldId="428"/>
            <ac:spMk id="3" creationId="{00000000-0000-0000-0000-000000000000}"/>
          </ac:spMkLst>
        </pc:spChg>
      </pc:sldChg>
      <pc:sldChg chg="add del">
        <pc:chgData name="Emha Taufiq Luthfi" userId="781e0746-5eaa-49be-bfa4-11bf7d142bc1" providerId="ADAL" clId="{D87F772B-8F0B-4E40-BAAE-53DCB66B6FE8}" dt="2026-10-13T03:28:01.585" v="2319"/>
        <pc:sldMkLst>
          <pc:docMk/>
          <pc:sldMk cId="38907399" sldId="428"/>
        </pc:sldMkLst>
      </pc:sldChg>
      <pc:sldChg chg="add del">
        <pc:chgData name="Emha Taufiq Luthfi" userId="781e0746-5eaa-49be-bfa4-11bf7d142bc1" providerId="ADAL" clId="{D87F772B-8F0B-4E40-BAAE-53DCB66B6FE8}" dt="2026-10-13T03:28:08.860" v="2321"/>
        <pc:sldMkLst>
          <pc:docMk/>
          <pc:sldMk cId="1705054546" sldId="428"/>
        </pc:sldMkLst>
      </pc:sldChg>
      <pc:sldChg chg="add del">
        <pc:chgData name="Emha Taufiq Luthfi" userId="781e0746-5eaa-49be-bfa4-11bf7d142bc1" providerId="ADAL" clId="{D87F772B-8F0B-4E40-BAAE-53DCB66B6FE8}" dt="2026-10-13T03:24:55.436" v="2315"/>
        <pc:sldMkLst>
          <pc:docMk/>
          <pc:sldMk cId="3588494152" sldId="428"/>
        </pc:sldMkLst>
      </pc:sldChg>
      <pc:sldChg chg="modSp add mod">
        <pc:chgData name="Emha Taufiq Luthfi" userId="781e0746-5eaa-49be-bfa4-11bf7d142bc1" providerId="ADAL" clId="{D87F772B-8F0B-4E40-BAAE-53DCB66B6FE8}" dt="2026-10-13T03:30:24.464" v="2422" actId="790"/>
        <pc:sldMkLst>
          <pc:docMk/>
          <pc:sldMk cId="0" sldId="429"/>
        </pc:sldMkLst>
        <pc:spChg chg="mod">
          <ac:chgData name="Emha Taufiq Luthfi" userId="781e0746-5eaa-49be-bfa4-11bf7d142bc1" providerId="ADAL" clId="{D87F772B-8F0B-4E40-BAAE-53DCB66B6FE8}" dt="2026-10-13T03:30:24.464" v="2422" actId="790"/>
          <ac:spMkLst>
            <pc:docMk/>
            <pc:sldMk cId="0" sldId="429"/>
            <ac:spMk id="2" creationId="{00000000-0000-0000-0000-000000000000}"/>
          </ac:spMkLst>
        </pc:spChg>
        <pc:spChg chg="mod">
          <ac:chgData name="Emha Taufiq Luthfi" userId="781e0746-5eaa-49be-bfa4-11bf7d142bc1" providerId="ADAL" clId="{D87F772B-8F0B-4E40-BAAE-53DCB66B6FE8}" dt="2026-10-13T03:30:24.464" v="2422" actId="790"/>
          <ac:spMkLst>
            <pc:docMk/>
            <pc:sldMk cId="0" sldId="429"/>
            <ac:spMk id="3" creationId="{00000000-0000-0000-0000-000000000000}"/>
          </ac:spMkLst>
        </pc:spChg>
        <pc:graphicFrameChg chg="modGraphic">
          <ac:chgData name="Emha Taufiq Luthfi" userId="781e0746-5eaa-49be-bfa4-11bf7d142bc1" providerId="ADAL" clId="{D87F772B-8F0B-4E40-BAAE-53DCB66B6FE8}" dt="2026-10-13T03:30:24.464" v="2422" actId="790"/>
          <ac:graphicFrameMkLst>
            <pc:docMk/>
            <pc:sldMk cId="0" sldId="429"/>
            <ac:graphicFrameMk id="8" creationId="{00000000-0000-0000-0000-000000000000}"/>
          </ac:graphicFrameMkLst>
        </pc:graphicFrameChg>
      </pc:sldChg>
      <pc:sldChg chg="add del">
        <pc:chgData name="Emha Taufiq Luthfi" userId="781e0746-5eaa-49be-bfa4-11bf7d142bc1" providerId="ADAL" clId="{D87F772B-8F0B-4E40-BAAE-53DCB66B6FE8}" dt="2026-10-13T03:28:08.860" v="2321"/>
        <pc:sldMkLst>
          <pc:docMk/>
          <pc:sldMk cId="2552020882" sldId="429"/>
        </pc:sldMkLst>
      </pc:sldChg>
      <pc:sldChg chg="add del">
        <pc:chgData name="Emha Taufiq Luthfi" userId="781e0746-5eaa-49be-bfa4-11bf7d142bc1" providerId="ADAL" clId="{D87F772B-8F0B-4E40-BAAE-53DCB66B6FE8}" dt="2026-10-13T03:28:01.585" v="2319"/>
        <pc:sldMkLst>
          <pc:docMk/>
          <pc:sldMk cId="3602603269" sldId="429"/>
        </pc:sldMkLst>
      </pc:sldChg>
      <pc:sldChg chg="add del">
        <pc:chgData name="Emha Taufiq Luthfi" userId="781e0746-5eaa-49be-bfa4-11bf7d142bc1" providerId="ADAL" clId="{D87F772B-8F0B-4E40-BAAE-53DCB66B6FE8}" dt="2026-10-13T03:24:55.436" v="2315"/>
        <pc:sldMkLst>
          <pc:docMk/>
          <pc:sldMk cId="4175886569" sldId="429"/>
        </pc:sldMkLst>
      </pc:sldChg>
      <pc:sldChg chg="modSp add mod">
        <pc:chgData name="Emha Taufiq Luthfi" userId="781e0746-5eaa-49be-bfa4-11bf7d142bc1" providerId="ADAL" clId="{D87F772B-8F0B-4E40-BAAE-53DCB66B6FE8}" dt="2026-10-13T03:30:24.464" v="2422" actId="790"/>
        <pc:sldMkLst>
          <pc:docMk/>
          <pc:sldMk cId="0" sldId="430"/>
        </pc:sldMkLst>
        <pc:spChg chg="mod">
          <ac:chgData name="Emha Taufiq Luthfi" userId="781e0746-5eaa-49be-bfa4-11bf7d142bc1" providerId="ADAL" clId="{D87F772B-8F0B-4E40-BAAE-53DCB66B6FE8}" dt="2026-10-13T03:30:24.464" v="2422" actId="790"/>
          <ac:spMkLst>
            <pc:docMk/>
            <pc:sldMk cId="0" sldId="430"/>
            <ac:spMk id="2" creationId="{00000000-0000-0000-0000-000000000000}"/>
          </ac:spMkLst>
        </pc:spChg>
        <pc:spChg chg="mod">
          <ac:chgData name="Emha Taufiq Luthfi" userId="781e0746-5eaa-49be-bfa4-11bf7d142bc1" providerId="ADAL" clId="{D87F772B-8F0B-4E40-BAAE-53DCB66B6FE8}" dt="2026-10-13T03:30:24.464" v="2422" actId="790"/>
          <ac:spMkLst>
            <pc:docMk/>
            <pc:sldMk cId="0" sldId="430"/>
            <ac:spMk id="3" creationId="{00000000-0000-0000-0000-000000000000}"/>
          </ac:spMkLst>
        </pc:spChg>
      </pc:sldChg>
      <pc:sldChg chg="add del">
        <pc:chgData name="Emha Taufiq Luthfi" userId="781e0746-5eaa-49be-bfa4-11bf7d142bc1" providerId="ADAL" clId="{D87F772B-8F0B-4E40-BAAE-53DCB66B6FE8}" dt="2026-10-13T03:28:01.585" v="2319"/>
        <pc:sldMkLst>
          <pc:docMk/>
          <pc:sldMk cId="52726301" sldId="430"/>
        </pc:sldMkLst>
      </pc:sldChg>
      <pc:sldChg chg="add del">
        <pc:chgData name="Emha Taufiq Luthfi" userId="781e0746-5eaa-49be-bfa4-11bf7d142bc1" providerId="ADAL" clId="{D87F772B-8F0B-4E40-BAAE-53DCB66B6FE8}" dt="2026-10-13T03:24:55.436" v="2315"/>
        <pc:sldMkLst>
          <pc:docMk/>
          <pc:sldMk cId="2551691233" sldId="430"/>
        </pc:sldMkLst>
      </pc:sldChg>
      <pc:sldChg chg="add del">
        <pc:chgData name="Emha Taufiq Luthfi" userId="781e0746-5eaa-49be-bfa4-11bf7d142bc1" providerId="ADAL" clId="{D87F772B-8F0B-4E40-BAAE-53DCB66B6FE8}" dt="2026-10-13T03:28:08.860" v="2321"/>
        <pc:sldMkLst>
          <pc:docMk/>
          <pc:sldMk cId="3456923347" sldId="430"/>
        </pc:sldMkLst>
      </pc:sldChg>
      <pc:sldChg chg="modSp add mod">
        <pc:chgData name="Emha Taufiq Luthfi" userId="781e0746-5eaa-49be-bfa4-11bf7d142bc1" providerId="ADAL" clId="{D87F772B-8F0B-4E40-BAAE-53DCB66B6FE8}" dt="2026-10-13T03:30:24.464" v="2422" actId="790"/>
        <pc:sldMkLst>
          <pc:docMk/>
          <pc:sldMk cId="0" sldId="431"/>
        </pc:sldMkLst>
        <pc:spChg chg="mod">
          <ac:chgData name="Emha Taufiq Luthfi" userId="781e0746-5eaa-49be-bfa4-11bf7d142bc1" providerId="ADAL" clId="{D87F772B-8F0B-4E40-BAAE-53DCB66B6FE8}" dt="2026-10-13T03:30:24.464" v="2422" actId="790"/>
          <ac:spMkLst>
            <pc:docMk/>
            <pc:sldMk cId="0" sldId="431"/>
            <ac:spMk id="2" creationId="{00000000-0000-0000-0000-000000000000}"/>
          </ac:spMkLst>
        </pc:spChg>
        <pc:spChg chg="mod">
          <ac:chgData name="Emha Taufiq Luthfi" userId="781e0746-5eaa-49be-bfa4-11bf7d142bc1" providerId="ADAL" clId="{D87F772B-8F0B-4E40-BAAE-53DCB66B6FE8}" dt="2026-10-13T03:30:24.464" v="2422" actId="790"/>
          <ac:spMkLst>
            <pc:docMk/>
            <pc:sldMk cId="0" sldId="431"/>
            <ac:spMk id="3" creationId="{00000000-0000-0000-0000-000000000000}"/>
          </ac:spMkLst>
        </pc:spChg>
      </pc:sldChg>
      <pc:sldChg chg="add del">
        <pc:chgData name="Emha Taufiq Luthfi" userId="781e0746-5eaa-49be-bfa4-11bf7d142bc1" providerId="ADAL" clId="{D87F772B-8F0B-4E40-BAAE-53DCB66B6FE8}" dt="2026-10-13T03:28:01.585" v="2319"/>
        <pc:sldMkLst>
          <pc:docMk/>
          <pc:sldMk cId="1069090545" sldId="431"/>
        </pc:sldMkLst>
      </pc:sldChg>
      <pc:sldChg chg="add del">
        <pc:chgData name="Emha Taufiq Luthfi" userId="781e0746-5eaa-49be-bfa4-11bf7d142bc1" providerId="ADAL" clId="{D87F772B-8F0B-4E40-BAAE-53DCB66B6FE8}" dt="2026-10-13T03:24:55.436" v="2315"/>
        <pc:sldMkLst>
          <pc:docMk/>
          <pc:sldMk cId="3807773711" sldId="431"/>
        </pc:sldMkLst>
      </pc:sldChg>
      <pc:sldChg chg="add del">
        <pc:chgData name="Emha Taufiq Luthfi" userId="781e0746-5eaa-49be-bfa4-11bf7d142bc1" providerId="ADAL" clId="{D87F772B-8F0B-4E40-BAAE-53DCB66B6FE8}" dt="2026-10-13T03:28:08.860" v="2321"/>
        <pc:sldMkLst>
          <pc:docMk/>
          <pc:sldMk cId="3945943374" sldId="431"/>
        </pc:sldMkLst>
      </pc:sldChg>
      <pc:sldChg chg="modSp add mod">
        <pc:chgData name="Emha Taufiq Luthfi" userId="781e0746-5eaa-49be-bfa4-11bf7d142bc1" providerId="ADAL" clId="{D87F772B-8F0B-4E40-BAAE-53DCB66B6FE8}" dt="2026-10-13T03:30:24.464" v="2422" actId="790"/>
        <pc:sldMkLst>
          <pc:docMk/>
          <pc:sldMk cId="0" sldId="432"/>
        </pc:sldMkLst>
        <pc:spChg chg="mod">
          <ac:chgData name="Emha Taufiq Luthfi" userId="781e0746-5eaa-49be-bfa4-11bf7d142bc1" providerId="ADAL" clId="{D87F772B-8F0B-4E40-BAAE-53DCB66B6FE8}" dt="2026-10-13T03:30:24.464" v="2422" actId="790"/>
          <ac:spMkLst>
            <pc:docMk/>
            <pc:sldMk cId="0" sldId="432"/>
            <ac:spMk id="2" creationId="{00000000-0000-0000-0000-000000000000}"/>
          </ac:spMkLst>
        </pc:spChg>
        <pc:spChg chg="mod">
          <ac:chgData name="Emha Taufiq Luthfi" userId="781e0746-5eaa-49be-bfa4-11bf7d142bc1" providerId="ADAL" clId="{D87F772B-8F0B-4E40-BAAE-53DCB66B6FE8}" dt="2026-10-13T03:30:24.464" v="2422" actId="790"/>
          <ac:spMkLst>
            <pc:docMk/>
            <pc:sldMk cId="0" sldId="432"/>
            <ac:spMk id="3" creationId="{00000000-0000-0000-0000-000000000000}"/>
          </ac:spMkLst>
        </pc:spChg>
      </pc:sldChg>
      <pc:sldChg chg="add del">
        <pc:chgData name="Emha Taufiq Luthfi" userId="781e0746-5eaa-49be-bfa4-11bf7d142bc1" providerId="ADAL" clId="{D87F772B-8F0B-4E40-BAAE-53DCB66B6FE8}" dt="2026-10-13T03:24:55.436" v="2315"/>
        <pc:sldMkLst>
          <pc:docMk/>
          <pc:sldMk cId="3378415265" sldId="432"/>
        </pc:sldMkLst>
      </pc:sldChg>
      <pc:sldChg chg="add del">
        <pc:chgData name="Emha Taufiq Luthfi" userId="781e0746-5eaa-49be-bfa4-11bf7d142bc1" providerId="ADAL" clId="{D87F772B-8F0B-4E40-BAAE-53DCB66B6FE8}" dt="2026-10-13T03:24:55.436" v="2315"/>
        <pc:sldMkLst>
          <pc:docMk/>
          <pc:sldMk cId="2522161138" sldId="433"/>
        </pc:sldMkLst>
      </pc:sldChg>
      <pc:sldChg chg="delSp modSp new mod">
        <pc:chgData name="Emha Taufiq Luthfi" userId="781e0746-5eaa-49be-bfa4-11bf7d142bc1" providerId="ADAL" clId="{D87F772B-8F0B-4E40-BAAE-53DCB66B6FE8}" dt="2026-10-13T03:30:24.464" v="2422" actId="790"/>
        <pc:sldMkLst>
          <pc:docMk/>
          <pc:sldMk cId="2605745275" sldId="433"/>
        </pc:sldMkLst>
        <pc:spChg chg="mod">
          <ac:chgData name="Emha Taufiq Luthfi" userId="781e0746-5eaa-49be-bfa4-11bf7d142bc1" providerId="ADAL" clId="{D87F772B-8F0B-4E40-BAAE-53DCB66B6FE8}" dt="2026-10-13T03:30:24.464" v="2422" actId="790"/>
          <ac:spMkLst>
            <pc:docMk/>
            <pc:sldMk cId="2605745275" sldId="433"/>
            <ac:spMk id="2" creationId="{841CAFE9-D954-087A-E30A-54DB46D8EBE7}"/>
          </ac:spMkLst>
        </pc:spChg>
        <pc:spChg chg="del">
          <ac:chgData name="Emha Taufiq Luthfi" userId="781e0746-5eaa-49be-bfa4-11bf7d142bc1" providerId="ADAL" clId="{D87F772B-8F0B-4E40-BAAE-53DCB66B6FE8}" dt="2026-10-13T03:30:12.026" v="2420" actId="478"/>
          <ac:spMkLst>
            <pc:docMk/>
            <pc:sldMk cId="2605745275" sldId="433"/>
            <ac:spMk id="3" creationId="{B9555B58-CF99-1712-2F03-DE27627A859F}"/>
          </ac:spMkLst>
        </pc:spChg>
      </pc:sldChg>
      <pc:sldChg chg="add del">
        <pc:chgData name="Emha Taufiq Luthfi" userId="781e0746-5eaa-49be-bfa4-11bf7d142bc1" providerId="ADAL" clId="{D87F772B-8F0B-4E40-BAAE-53DCB66B6FE8}" dt="2026-10-13T03:24:55.436" v="2315"/>
        <pc:sldMkLst>
          <pc:docMk/>
          <pc:sldMk cId="3820017129" sldId="434"/>
        </pc:sldMkLst>
      </pc:sldChg>
      <pc:sldChg chg="add del">
        <pc:chgData name="Emha Taufiq Luthfi" userId="781e0746-5eaa-49be-bfa4-11bf7d142bc1" providerId="ADAL" clId="{D87F772B-8F0B-4E40-BAAE-53DCB66B6FE8}" dt="2026-10-13T03:24:55.436" v="2315"/>
        <pc:sldMkLst>
          <pc:docMk/>
          <pc:sldMk cId="4076527992" sldId="435"/>
        </pc:sldMkLst>
      </pc:sldChg>
      <pc:sldChg chg="add del">
        <pc:chgData name="Emha Taufiq Luthfi" userId="781e0746-5eaa-49be-bfa4-11bf7d142bc1" providerId="ADAL" clId="{D87F772B-8F0B-4E40-BAAE-53DCB66B6FE8}" dt="2026-10-13T03:24:55.436" v="2315"/>
        <pc:sldMkLst>
          <pc:docMk/>
          <pc:sldMk cId="1569365882" sldId="436"/>
        </pc:sldMkLst>
      </pc:sldChg>
      <pc:sldChg chg="add del">
        <pc:chgData name="Emha Taufiq Luthfi" userId="781e0746-5eaa-49be-bfa4-11bf7d142bc1" providerId="ADAL" clId="{D87F772B-8F0B-4E40-BAAE-53DCB66B6FE8}" dt="2026-10-13T03:24:55.436" v="2315"/>
        <pc:sldMkLst>
          <pc:docMk/>
          <pc:sldMk cId="2310860457" sldId="437"/>
        </pc:sldMkLst>
      </pc:sldChg>
      <pc:sldChg chg="add del">
        <pc:chgData name="Emha Taufiq Luthfi" userId="781e0746-5eaa-49be-bfa4-11bf7d142bc1" providerId="ADAL" clId="{D87F772B-8F0B-4E40-BAAE-53DCB66B6FE8}" dt="2026-10-13T03:24:55.436" v="2315"/>
        <pc:sldMkLst>
          <pc:docMk/>
          <pc:sldMk cId="3469495644" sldId="438"/>
        </pc:sldMkLst>
      </pc:sldChg>
      <pc:sldChg chg="add del">
        <pc:chgData name="Emha Taufiq Luthfi" userId="781e0746-5eaa-49be-bfa4-11bf7d142bc1" providerId="ADAL" clId="{D87F772B-8F0B-4E40-BAAE-53DCB66B6FE8}" dt="2026-10-13T03:24:55.436" v="2315"/>
        <pc:sldMkLst>
          <pc:docMk/>
          <pc:sldMk cId="4147992697" sldId="439"/>
        </pc:sldMkLst>
      </pc:sldChg>
      <pc:sldChg chg="add del">
        <pc:chgData name="Emha Taufiq Luthfi" userId="781e0746-5eaa-49be-bfa4-11bf7d142bc1" providerId="ADAL" clId="{D87F772B-8F0B-4E40-BAAE-53DCB66B6FE8}" dt="2026-10-13T03:24:55.436" v="2315"/>
        <pc:sldMkLst>
          <pc:docMk/>
          <pc:sldMk cId="3609434009" sldId="440"/>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[Book1]Sheet1!$B$1</c:f>
              <c:strCache>
                <c:ptCount val="1"/>
                <c:pt idx="0">
                  <c:v>Manajer Proyek Lain (%)</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lumMod val="75000"/>
                        <a:lumOff val="25000"/>
                      </a:schemeClr>
                    </a:solidFill>
                    <a:latin typeface="+mn-lt"/>
                    <a:ea typeface="+mn-ea"/>
                    <a:cs typeface="+mn-cs"/>
                  </a:defRPr>
                </a:pPr>
                <a:endParaRPr lang="id-ID"/>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[Book1]Sheet1!$A$2:$A$6</c:f>
              <c:strCache>
                <c:ptCount val="5"/>
                <c:pt idx="0">
                  <c:v>Inisiasi</c:v>
                </c:pt>
                <c:pt idx="1">
                  <c:v>Perencanaan</c:v>
                </c:pt>
                <c:pt idx="2">
                  <c:v>Pelaksanaan </c:v>
                </c:pt>
                <c:pt idx="3">
                  <c:v>Pemantauan &amp; Pengendalian</c:v>
                </c:pt>
                <c:pt idx="4">
                  <c:v>Penutupan</c:v>
                </c:pt>
              </c:strCache>
            </c:strRef>
          </c:cat>
          <c:val>
            <c:numRef>
              <c:f>[Book1]Sheet1!$B$2:$B$6</c:f>
              <c:numCache>
                <c:formatCode>General</c:formatCode>
                <c:ptCount val="5"/>
                <c:pt idx="0">
                  <c:v>1</c:v>
                </c:pt>
                <c:pt idx="1">
                  <c:v>11</c:v>
                </c:pt>
                <c:pt idx="2">
                  <c:v>82</c:v>
                </c:pt>
                <c:pt idx="3">
                  <c:v>4</c:v>
                </c:pt>
                <c:pt idx="4">
                  <c:v>2</c:v>
                </c:pt>
              </c:numCache>
            </c:numRef>
          </c:val>
          <c:extLst>
            <c:ext xmlns:c16="http://schemas.microsoft.com/office/drawing/2014/chart" uri="{C3380CC4-5D6E-409C-BE32-E72D297353CC}">
              <c16:uniqueId val="{00000000-F862-4C1D-94E0-BCF3FBE5D9AE}"/>
            </c:ext>
          </c:extLst>
        </c:ser>
        <c:ser>
          <c:idx val="1"/>
          <c:order val="1"/>
          <c:tx>
            <c:strRef>
              <c:f>[Book1]Sheet1!$C$1</c:f>
              <c:strCache>
                <c:ptCount val="1"/>
                <c:pt idx="0">
                  <c:v>Manajer Proyek Alpha (%)</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lumMod val="75000"/>
                        <a:lumOff val="25000"/>
                      </a:schemeClr>
                    </a:solidFill>
                    <a:latin typeface="+mn-lt"/>
                    <a:ea typeface="+mn-ea"/>
                    <a:cs typeface="+mn-cs"/>
                  </a:defRPr>
                </a:pPr>
                <a:endParaRPr lang="id-ID"/>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[Book1]Sheet1!$A$2:$A$6</c:f>
              <c:strCache>
                <c:ptCount val="5"/>
                <c:pt idx="0">
                  <c:v>Inisiasi</c:v>
                </c:pt>
                <c:pt idx="1">
                  <c:v>Perencanaan</c:v>
                </c:pt>
                <c:pt idx="2">
                  <c:v>Pelaksanaan </c:v>
                </c:pt>
                <c:pt idx="3">
                  <c:v>Pemantauan &amp; Pengendalian</c:v>
                </c:pt>
                <c:pt idx="4">
                  <c:v>Penutupan</c:v>
                </c:pt>
              </c:strCache>
            </c:strRef>
          </c:cat>
          <c:val>
            <c:numRef>
              <c:f>[Book1]Sheet1!$C$2:$C$6</c:f>
              <c:numCache>
                <c:formatCode>General</c:formatCode>
                <c:ptCount val="5"/>
                <c:pt idx="0">
                  <c:v>2</c:v>
                </c:pt>
                <c:pt idx="1">
                  <c:v>21</c:v>
                </c:pt>
                <c:pt idx="2">
                  <c:v>69</c:v>
                </c:pt>
                <c:pt idx="3">
                  <c:v>5</c:v>
                </c:pt>
                <c:pt idx="4">
                  <c:v>3</c:v>
                </c:pt>
              </c:numCache>
            </c:numRef>
          </c:val>
          <c:extLst>
            <c:ext xmlns:c16="http://schemas.microsoft.com/office/drawing/2014/chart" uri="{C3380CC4-5D6E-409C-BE32-E72D297353CC}">
              <c16:uniqueId val="{00000001-F862-4C1D-94E0-BCF3FBE5D9AE}"/>
            </c:ext>
          </c:extLst>
        </c:ser>
        <c:dLbls>
          <c:showLegendKey val="0"/>
          <c:showVal val="1"/>
          <c:showCatName val="0"/>
          <c:showSerName val="0"/>
          <c:showPercent val="0"/>
          <c:showBubbleSize val="0"/>
        </c:dLbls>
        <c:gapWidth val="182"/>
        <c:axId val="1092809920"/>
        <c:axId val="1166366975"/>
      </c:barChart>
      <c:catAx>
        <c:axId val="109280992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400" b="0" i="0" u="none" strike="noStrike" kern="1200" baseline="0">
                <a:solidFill>
                  <a:schemeClr val="tx1">
                    <a:lumMod val="65000"/>
                    <a:lumOff val="35000"/>
                  </a:schemeClr>
                </a:solidFill>
                <a:latin typeface="+mn-lt"/>
                <a:ea typeface="+mn-ea"/>
                <a:cs typeface="+mn-cs"/>
              </a:defRPr>
            </a:pPr>
            <a:endParaRPr lang="id-ID"/>
          </a:p>
        </c:txPr>
        <c:crossAx val="1166366975"/>
        <c:crosses val="autoZero"/>
        <c:auto val="1"/>
        <c:lblAlgn val="ctr"/>
        <c:lblOffset val="100"/>
        <c:noMultiLvlLbl val="0"/>
      </c:catAx>
      <c:valAx>
        <c:axId val="116636697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400" b="0" i="0" u="none" strike="noStrike" kern="1200" baseline="0">
                <a:solidFill>
                  <a:schemeClr val="tx1">
                    <a:lumMod val="65000"/>
                    <a:lumOff val="35000"/>
                  </a:schemeClr>
                </a:solidFill>
                <a:latin typeface="+mn-lt"/>
                <a:ea typeface="+mn-ea"/>
                <a:cs typeface="+mn-cs"/>
              </a:defRPr>
            </a:pPr>
            <a:endParaRPr lang="id-ID"/>
          </a:p>
        </c:txPr>
        <c:crossAx val="109280992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lang="en-US" sz="1400" b="0" i="0" u="none" strike="noStrike" kern="1200" baseline="0">
                <a:solidFill>
                  <a:schemeClr val="tx1">
                    <a:lumMod val="65000"/>
                    <a:lumOff val="35000"/>
                  </a:schemeClr>
                </a:solidFill>
                <a:latin typeface="+mn-lt"/>
                <a:ea typeface="+mn-ea"/>
                <a:cs typeface="+mn-cs"/>
              </a:defRPr>
            </a:pPr>
            <a:endParaRPr lang="id-ID"/>
          </a:p>
        </c:txPr>
      </c:dTable>
      <c:spPr>
        <a:noFill/>
        <a:ln>
          <a:noFill/>
        </a:ln>
        <a:effectLst/>
      </c:spPr>
    </c:plotArea>
    <c:legend>
      <c:legendPos val="b"/>
      <c:legendEntry>
        <c:idx val="0"/>
        <c:txPr>
          <a:bodyPr rot="0" spcFirstLastPara="1" vertOverflow="ellipsis" vert="horz" wrap="square" anchor="ctr" anchorCtr="1"/>
          <a:lstStyle/>
          <a:p>
            <a:pPr>
              <a:defRPr lang="en-US" sz="1400" b="0" i="0" u="none" strike="noStrike" kern="1200" baseline="0">
                <a:solidFill>
                  <a:schemeClr val="tx1">
                    <a:lumMod val="65000"/>
                    <a:lumOff val="35000"/>
                  </a:schemeClr>
                </a:solidFill>
                <a:latin typeface="+mn-lt"/>
                <a:ea typeface="+mn-ea"/>
                <a:cs typeface="+mn-cs"/>
              </a:defRPr>
            </a:pPr>
            <a:endParaRPr lang="id-ID"/>
          </a:p>
        </c:txPr>
      </c:legendEntry>
      <c:legendEntry>
        <c:idx val="1"/>
        <c:txPr>
          <a:bodyPr rot="0" spcFirstLastPara="1" vertOverflow="ellipsis" vert="horz" wrap="square" anchor="ctr" anchorCtr="1"/>
          <a:lstStyle/>
          <a:p>
            <a:pPr>
              <a:defRPr lang="en-US" sz="1400" b="0" i="0" u="none" strike="noStrike" kern="1200" baseline="0">
                <a:solidFill>
                  <a:schemeClr val="tx1">
                    <a:lumMod val="65000"/>
                    <a:lumOff val="35000"/>
                  </a:schemeClr>
                </a:solidFill>
                <a:latin typeface="+mn-lt"/>
                <a:ea typeface="+mn-ea"/>
                <a:cs typeface="+mn-cs"/>
              </a:defRPr>
            </a:pPr>
            <a:endParaRPr lang="id-ID"/>
          </a:p>
        </c:txPr>
      </c:legendEntry>
      <c:overlay val="0"/>
      <c:spPr>
        <a:noFill/>
        <a:ln>
          <a:noFill/>
        </a:ln>
        <a:effectLst/>
      </c:spPr>
      <c:txPr>
        <a:bodyPr rot="0" spcFirstLastPara="1" vertOverflow="ellipsis" vert="horz" wrap="square" anchor="ctr" anchorCtr="1"/>
        <a:lstStyle/>
        <a:p>
          <a:pPr>
            <a:defRPr lang="en-US" sz="1400" b="0" i="0" u="none" strike="noStrike" kern="1200" baseline="0">
              <a:solidFill>
                <a:schemeClr val="tx1">
                  <a:lumMod val="65000"/>
                  <a:lumOff val="35000"/>
                </a:schemeClr>
              </a:solidFill>
              <a:latin typeface="+mn-lt"/>
              <a:ea typeface="+mn-ea"/>
              <a:cs typeface="+mn-cs"/>
            </a:defRPr>
          </a:pPr>
          <a:endParaRPr lang="id-ID"/>
        </a:p>
      </c:txPr>
    </c:legend>
    <c:plotVisOnly val="1"/>
    <c:dispBlanksAs val="gap"/>
    <c:showDLblsOverMax val="0"/>
    <c:extLst>
      <c:ext uri="{0b15fc19-7d7d-44ad-8c2d-2c3a37ce22c3}">
        <chartProps xmlns="https://web.wps.cn/et/2018/main" chartId="{35a54722-d9e0-4b0e-900c-5c515cd612b1}"/>
      </c:ext>
    </c:extLst>
  </c:chart>
  <c:spPr>
    <a:noFill/>
    <a:ln>
      <a:noFill/>
    </a:ln>
    <a:effectLst/>
  </c:spPr>
  <c:txPr>
    <a:bodyPr/>
    <a:lstStyle/>
    <a:p>
      <a:pPr>
        <a:defRPr lang="en-US" sz="1400"/>
      </a:pPr>
      <a:endParaRPr lang="id-ID"/>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714069-DE91-44FA-BEC7-7518C929DFC9}" type="datetimeFigureOut">
              <a:rPr lang="id-ID" smtClean="0"/>
              <a:t>13/10/2026</a:t>
            </a:fld>
            <a:endParaRPr lang="id-ID"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9B8211-AA9A-47A4-B6DF-8F3C7E814F28}" type="slidenum">
              <a:rPr lang="id-ID" smtClean="0"/>
              <a:t>‹#›</a:t>
            </a:fld>
            <a:endParaRPr lang="id-ID"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 penyampaian:</a:t>
            </a:r>
          </a:p>
          <a:p>
            <a:r>
              <a:t>1. Standar (PMBOK®, ISO 21502) menjawab APA yang perlu dikelola, tetapi tidak menetapkan langkah kerja yang harus diikuti.</a:t>
            </a:r>
          </a:p>
          <a:p>
            <a:r>
              <a:t>2. Organisasi melakukan tailoring: memilih dan menyesuaikan isi standar dengan ukuran proyek, budaya, regulasi, dan tingkat ketidakpastian, sehingga menghasilkan metodologi organisasi (cara kerja internal).</a:t>
            </a:r>
          </a:p>
          <a:p>
            <a:r>
              <a:t>3. Metodologi organisasi mengadopsi framework/praktik tertentu (Scrum, Kanban, PRINCE2, teknik Six Sigma) sebagai alat.</a:t>
            </a:r>
          </a:p>
          <a:p>
            <a:r>
              <a:t>4. Hasilnya diterapkan pada proyek; lessons learned kembali memperbaiki metodologi organisasi.</a:t>
            </a:r>
          </a:p>
          <a:p>
            <a:r>
              <a:t>Pertanyaan pemantik: Jika Amikom atau perusahaan Anda mengadopsi PMBOK®, bagian mana yang akan Anda sederhanakan dan bagian mana yang wajib dipertahankan? Mengapa?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Tekankan miskonsepsi umum: diagram panah linear (slide sebelumnya) hanya urutan logis, bukan urutan waktu. Pada proyek multi-fase, setiap fase memiliki initiating hingga closing sendiri. Diagram ini ilustratif (bukan data empiris).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Analogi produksi film (dari Schwalbe) sering dipakai, tetapi menyederhanakan secara berlebihan. Ajak mahasiswa mengkritisinya:</a:t>
            </a:r>
          </a:p>
          <a:p>
            <a:r>
              <a:t>- Tahapan film (pra-produksi, produksi, pasca-produksi, distribusi) adalah FASE, sedangkan kelompok proses berulang di DALAM setiap fase. Pasca-produksi pun punya initiating, planning, executing, M&amp;C, dan closing sendiri.</a:t>
            </a:r>
          </a:p>
          <a:p>
            <a:r>
              <a:t>- Penyuntingan (editing) adalah pekerjaan executing dalam fase pasca-produksi, bukan Monitoring &amp; Controlling. M&amp;C berlangsung sepanjang proyek (misalnya kontrol anggaran harian, review hasil syuting).</a:t>
            </a:r>
          </a:p>
          <a:p>
            <a:r>
              <a:t>- 'Produksi (pra-shooting)' sebenarnya adalah pra-produksi.</a:t>
            </a:r>
          </a:p>
          <a:p>
            <a:r>
              <a:t>Pesan kunci: process group ≠ phase. Kaitkan dengan diagram tumpang-tindih pada slide sebelumnya.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PANDUAN JAWABAN (untuk dosen — rilis setelah diskusi forum ditutup)</a:t>
            </a:r>
          </a:p>
          <a:p>
            <a:endParaRPr/>
          </a:p>
          <a:p>
            <a:r>
              <a:t>1. Mengapa PM Alpha mengalokasikan lebih banyak waktu untuk perencanaan? Apakah berdampak pada kualitas pelaksanaan?</a:t>
            </a:r>
          </a:p>
          <a:p>
            <a:r>
              <a:t>Dalam data Crowe (2006), PM yang dinilai paling efektif oleh stakeholder (Alpha) menghabiskan ±21% waktu untuk perencanaan, hampir dua kali lipat PM lain (11%). Perencanaan yang matang memperjelas ruang lingkup, mengurangi rework, dan menekan perubahan mendadak. Namun data ini korelasional: belum tentu lebih banyak perencanaan yang MENYEBABKAN keberhasilan — bisa jadi PM yang lebih matang memang cenderung merencanakan lebih baik.</a:t>
            </a:r>
          </a:p>
          <a:p>
            <a:endParaRPr/>
          </a:p>
          <a:p>
            <a:r>
              <a:t>2. Apakah 82% waktu pada pelaksanaan menunjukkan efisiensi atau kurangnya perencanaan?</a:t>
            </a:r>
          </a:p>
          <a:p>
            <a:r>
              <a:t>Bisa keduanya. Jika pelaksanaan lancar, itu efisien; jika waktu habis untuk rework, perubahan scope, atau masalah komunikasi, itu tanda perencanaan kurang. Risiko: scope creep, pembengkakan biaya, keterlambatan, kepuasan stakeholder turun.</a:t>
            </a:r>
          </a:p>
          <a:p>
            <a:endParaRPr/>
          </a:p>
          <a:p>
            <a:r>
              <a:t>3. Keseimbangan perencanaan–pelaksanaan dan 'standar ideal' distribusi waktu</a:t>
            </a:r>
          </a:p>
          <a:p>
            <a:r>
              <a:t>PMI TIDAK menetapkan distribusi waktu baku per kelompok proses. Proporsinya bergantung pada pendekatan (prediktif vs adaptif), ukuran, dan kompleksitas proyek; pada pendekatan adaptif perencanaan tersebar di setiap iterasi. Data Crowe dapat dipakai sebagai satu titik pembanding, bukan norma.</a:t>
            </a:r>
          </a:p>
          <a:p>
            <a:endParaRPr/>
          </a:p>
          <a:p>
            <a:r>
              <a:t>4. Implikasi alokasi waktu rendah pada inisiasi dan penutupan</a:t>
            </a:r>
          </a:p>
          <a:p>
            <a:r>
              <a:t>Inisiasi lemah → stakeholder dan tujuan tidak teridentifikasi dengan baik. Penutupan lemah → lessons learned tidak terdokumentasi, kesalahan berulang di proyek berikutnya.</a:t>
            </a:r>
          </a:p>
          <a:p>
            <a:endParaRPr/>
          </a:p>
          <a:p>
            <a:r>
              <a:t>5. Perbedaan pendekatan dan budaya organisasi (Agile vs Waterfall)</a:t>
            </a:r>
          </a:p>
          <a:p>
            <a:r>
              <a:t>Agile: iterasi cepat, kolaborasi, adaptasi — cocok untuk budaya fleksibel. Waterfall/prediktif: struktur dan dokumentasi — cocok untuk lingkungan formal dan regulatif. Hybrid: menggabungkan stabilitas dan fleksibilitas.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PANDUAN DISKUSI (rilis setelah forum ditutup)</a:t>
            </a:r>
          </a:p>
          <a:p>
            <a:r>
              <a:t>PDNS 2: akar masalah ada pada planning (rencana backup/DRP tidak ditegakkan sebagai persyaratan), risk management (risiko ransomware dan single point of failure), dan M&amp;C (pemantauan kepatuhan backup oleh instansi pengguna). Juga procurement/governance: kejelasan kewajiban operator vs tenant dalam kontrak/SLA.</a:t>
            </a:r>
          </a:p>
          <a:p>
            <a:r>
              <a:t>Coretax: quality (uji beban/load test sebelum go-live), risk (rencana kontinjensi/fallback), communications &amp; stakeholder (kesiapan wajib pajak, sertifikat elektronik, panduan), serta strategi rilis (pilot atau phased rollout vs big bang).</a:t>
            </a:r>
          </a:p>
          <a:p>
            <a:r>
              <a:t>Pelajaran umum: metodologi yang predictable dan repeatable membuat risiko teridentifikasi lebih awal, ekspektasi stakeholder realistis, dan organisasi belajar dari proyek sebelumnya (lessons learned).</a:t>
            </a:r>
          </a:p>
          <a:p>
            <a:r>
              <a:t>Catatan: dosen dapat menambahkan pembanding internasional (kasus IRS 2006 dari Schwalbe).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PANDUAN JAWABAN (rilis setelah diskusi)</a:t>
            </a:r>
          </a:p>
          <a:p>
            <a:endParaRPr/>
          </a:p>
          <a:p>
            <a:r>
              <a:t>1. Mengapa sebagian besar aktivitas terjadi di Planning dan Monitoring &amp; Controlling?</a:t>
            </a:r>
          </a:p>
          <a:p>
            <a:r>
              <a:t>Planning (20 dari 42 proses) menentukan arah, scope, jadwal, anggaran, risiko, dan komunikasi; M&amp;C (10 proses) memastikan pelaksanaan tetap sesuai rencana, mendeteksi penyimpangan, dan melakukan koreksi. Keduanya menyentuh hampir semua knowledge area karena setiap area perlu direncanakan dan dikendalikan.</a:t>
            </a:r>
          </a:p>
          <a:p>
            <a:endParaRPr/>
          </a:p>
          <a:p>
            <a:r>
              <a:t>2. Bagaimana pemetaan ini membantu menyusun dokumen proyek?</a:t>
            </a:r>
          </a:p>
          <a:p>
            <a:r>
              <a:t>Pemetaan memberi kerangka sistematis: dokumen apa yang dibutuhkan di setiap kelompok proses, template mana yang relevan, dan memastikan tidak ada aspek yang terlewat (risiko, komunikasi, pengadaan). Contoh: Initiating–Integration → Project Charter; Planning–Scope → Scope Statement dan WBS.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Kasus EMR kini disatukan dengan studi kasus hybrid RS Yogyakarta (slide 43–48): business case ini adalah tahap PRA-INISIASI dari proyek yang sama. Strukturnya mengikuti 10 komponen business case (slide 55) agar dapat dibandingkan langsung dengan business case JWD. Semua angka bersifat ilustratif (fiktif) untuk latihan.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Skor 1–5 bersifat ilustratif. Diskusi: ubah bobot, misalnya risiko 30%, NPV 25%, kesesuaian 20%, kecepatan 15%, kemandirian 10% → Opsi 2 = 3,50; Opsi 3 = 3,85. Opsi 3 masih unggul, tetapi selisihnya menyempit. Minta mahasiswa mencari bobot yang membuat Opsi 2 menang, lalu diskusikan siapa stakeholder yang akan memilih bobot tersebut (mis. direktur keuangan vs kepala instalasi TI).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Dihitung dengan faktor diskonto penuh 1/(1+10%)^t; faktor ditampilkan dua desimal, sehingga perkalian manual bisa berbeda ±1 karena pembulatan. NPV = 5082 − 4085 = 997; ROI = NPV / total biaya terdiskonto = 24.4%. Akumulasi menjadi positif di Year 4 (payback). Manfaat Year 0 (selama pilot) diabaikan sebagai asumsi konservatif.</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Perhitungan Opsi 2: biaya [700, 1.000 ×5], manfaat [0, 1.040, 1.485 ×4], diskonto 10% → PV biaya 4.491, PV manfaat 5.225, NPV 734, ROI 16,3%, akumulasi positif di Year 3. Pesan diskusi: Opsi 2 lebih cepat balik modal dan lebih rendah risikonya, sedangkan Opsi 3 memberi NPV lebih tinggi. Inilah alasan analisis opsi memakai lebih dari satu kriteria.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Risiko keempat sengaja dikaitkan dengan kasus PDNS 2 (slide 32): backup yang disiapkan tetapi tidak dimanfaatkan adalah kegagalan pengendalian, bukan kegagalan teknologi.</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Kolom agile adalah ilustrasi konseptual, bukan dokumen asli kasus JWD. Arahkan mahasiswa ke jawaban hybrid: fitur konten dan Ask the Expert cocok iteratif; keamanan, pembayaran, dan integrasi dengan sistem yang ada cenderung butuh perencanaan lebih prediktif.</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Kasus pemicu sengaja dibuat sejajar dengan JWD (portal pengetahuan internal) agar mahasiswa dapat memakai struktur dokumen yang sama dalam konteks lokal. Angka anggaran dan jadwal bersifat fiktif untuk latihan; mahasiswa boleh menyesuaikan asumsi asalkan dinyatakan eksplisit.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5"/>
          </p:nvPr>
        </p:nvSpPr>
        <p:spPr/>
        <p:txBody>
          <a:bodyPr/>
          <a:lstStyle/>
          <a:p>
            <a:fld id="{849B8211-AA9A-47A4-B6DF-8F3C7E814F28}" type="slidenum">
              <a:rPr lang="id-ID" smtClean="0"/>
              <a:t>113</a:t>
            </a:fld>
            <a:endParaRPr lang="id-ID" dirty="0"/>
          </a:p>
        </p:txBody>
      </p:sp>
    </p:spTree>
    <p:extLst>
      <p:ext uri="{BB962C8B-B14F-4D97-AF65-F5344CB8AC3E}">
        <p14:creationId xmlns:p14="http://schemas.microsoft.com/office/powerpoint/2010/main" val="1991829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10/13/2026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10/13/2026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10/13/2026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10/13/2026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mailto:erica_bell@jwdconsulting.com" TargetMode="External"/><Relationship Id="rId2" Type="http://schemas.openxmlformats.org/officeDocument/2006/relationships/hyperlink" Target="mailto:joe_fleming@jwdconsulting.com" TargetMode="External"/><Relationship Id="rId1" Type="http://schemas.openxmlformats.org/officeDocument/2006/relationships/slideLayout" Target="../slideLayouts/slideLayout2.xml"/><Relationship Id="rId6" Type="http://schemas.openxmlformats.org/officeDocument/2006/relationships/hyperlink" Target="mailto:louise_mills@jwdconsulting.com" TargetMode="External"/><Relationship Id="rId5" Type="http://schemas.openxmlformats.org/officeDocument/2006/relationships/hyperlink" Target="mailto:kim_phuong@client1.com" TargetMode="External"/><Relationship Id="rId4" Type="http://schemas.openxmlformats.org/officeDocument/2006/relationships/hyperlink" Target="mailto:michael_chen@jwdconsulting.com"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mailto:erica_bell@jwdconsulting.com"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3" Type="http://schemas.openxmlformats.org/officeDocument/2006/relationships/hyperlink" Target="https://docs.google.com/spreadsheets/d/1zfBegSDsy_TNDMPnUWDKcN1woLvJKsS5/edit?usp=sharing&amp;ouid=118272870785432862265&amp;rtpof=true&amp;sd=true" TargetMode="External"/><Relationship Id="rId2" Type="http://schemas.openxmlformats.org/officeDocument/2006/relationships/hyperlink" Target="https://docs.google.com/document/d/1quaXQdi6Dbv_YEO5zTxroWkSpBhjdKpR/edit?usp=sharing&amp;ouid=118272870785432862265&amp;rtpof=true&amp;sd=true" TargetMode="Externa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hyperlink" Target="https://docs.google.com/document/d/1oPy0aDrAjS0iQmoM4pX7zd2Kf2Ci10Gz/edit?usp=sharing&amp;ouid=118272870785432862265&amp;rtpof=true&amp;sd=true" TargetMode="External"/><Relationship Id="rId2" Type="http://schemas.openxmlformats.org/officeDocument/2006/relationships/hyperlink" Target="https://docs.google.com/document/d/1eEgvZFZsCXOTuzJltXYtv0vMkdf6M8Lr/edit?usp=sharing&amp;ouid=118272870785432862265&amp;rtpof=true&amp;sd=true" TargetMode="External"/><Relationship Id="rId1" Type="http://schemas.openxmlformats.org/officeDocument/2006/relationships/slideLayout" Target="../slideLayouts/slideLayout2.xml"/><Relationship Id="rId5" Type="http://schemas.openxmlformats.org/officeDocument/2006/relationships/hyperlink" Target="https://docs.google.com/document/d/1RmzSfb9-guAh4asYUhvAz_Zj50jfmNA6/edit?usp=sharing&amp;ouid=118272870785432862265&amp;rtpof=true&amp;sd=true" TargetMode="External"/><Relationship Id="rId4" Type="http://schemas.openxmlformats.org/officeDocument/2006/relationships/hyperlink" Target="https://docs.google.com/document/d/175tX488U_vDBal9rkZmjn5fDm8olih-J/edit?usp=sharing&amp;ouid=118272870785432862265&amp;rtpof=true&amp;sd=true"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4800" b="1" noProof="1"/>
              <a:t>IT PROJECT MANAGEMENT</a:t>
            </a:r>
            <a:br>
              <a:rPr lang="en-US" sz="4800" b="1" noProof="1"/>
            </a:br>
            <a:r>
              <a:rPr lang="en-US" sz="3600" b="1" noProof="1"/>
              <a:t>Semester Ganjil 2026/2027</a:t>
            </a:r>
            <a:br>
              <a:rPr lang="en-US" sz="3600" b="1" noProof="1"/>
            </a:br>
            <a:r>
              <a:rPr lang="en-US" sz="3600" b="1" noProof="1"/>
              <a:t>(Pertemuan 4)</a:t>
            </a:r>
            <a:endParaRPr lang="en-US" sz="4800" b="1" noProof="1"/>
          </a:p>
        </p:txBody>
      </p:sp>
      <p:sp>
        <p:nvSpPr>
          <p:cNvPr id="3" name="Subtitle 2"/>
          <p:cNvSpPr>
            <a:spLocks noGrp="1"/>
          </p:cNvSpPr>
          <p:nvPr>
            <p:ph type="subTitle" idx="1"/>
          </p:nvPr>
        </p:nvSpPr>
        <p:spPr/>
        <p:txBody>
          <a:bodyPr>
            <a:normAutofit lnSpcReduction="10000"/>
          </a:bodyPr>
          <a:lstStyle/>
          <a:p>
            <a:r>
              <a:rPr lang="en-US" b="1" noProof="1"/>
              <a:t>Program Studi S2 Informatika</a:t>
            </a:r>
          </a:p>
          <a:p>
            <a:r>
              <a:rPr lang="en-US" b="1" noProof="1"/>
              <a:t>Universitas Amikom Yogyakarta</a:t>
            </a:r>
          </a:p>
          <a:p>
            <a:endParaRPr lang="en-US" b="1" noProof="1"/>
          </a:p>
          <a:p>
            <a:r>
              <a:rPr lang="en-US" b="1" noProof="1"/>
              <a:t>Dosen Pengampu: Emha Taufiq Luthfi, S.T., M.Kom.,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365125"/>
            <a:ext cx="10515600" cy="1100000"/>
          </a:xfrm>
          <a:prstGeom prst="rect">
            <a:avLst/>
          </a:prstGeom>
          <a:noFill/>
        </p:spPr>
        <p:txBody>
          <a:bodyPr wrap="none" anchor="ctr">
            <a:spAutoFit/>
          </a:bodyPr>
          <a:lstStyle/>
          <a:p>
            <a:pPr algn="ctr"/>
            <a:r>
              <a:rPr lang="en-US" sz="4000" noProof="1">
                <a:latin typeface="+mj-lt"/>
              </a:rPr>
              <a:t>Minggu 4 – Tujuan Pembelajaran</a:t>
            </a:r>
          </a:p>
        </p:txBody>
      </p:sp>
      <p:pic>
        <p:nvPicPr>
          <p:cNvPr id="3" name="Picture 2" descr="icon0.png"/>
          <p:cNvPicPr>
            <a:picLocks noChangeAspect="1"/>
          </p:cNvPicPr>
          <p:nvPr/>
        </p:nvPicPr>
        <p:blipFill>
          <a:blip r:embed="rId2"/>
          <a:stretch>
            <a:fillRect/>
          </a:stretch>
        </p:blipFill>
        <p:spPr>
          <a:xfrm>
            <a:off x="1325880" y="1673352"/>
            <a:ext cx="741209" cy="731520"/>
          </a:xfrm>
          <a:prstGeom prst="rect">
            <a:avLst/>
          </a:prstGeom>
        </p:spPr>
      </p:pic>
      <p:sp>
        <p:nvSpPr>
          <p:cNvPr id="4" name="TextBox 3"/>
          <p:cNvSpPr txBox="1"/>
          <p:nvPr/>
        </p:nvSpPr>
        <p:spPr>
          <a:xfrm>
            <a:off x="2377440" y="1600200"/>
            <a:ext cx="8412480" cy="1051560"/>
          </a:xfrm>
          <a:prstGeom prst="rect">
            <a:avLst/>
          </a:prstGeom>
          <a:noFill/>
        </p:spPr>
        <p:txBody>
          <a:bodyPr wrap="square" anchor="ctr">
            <a:spAutoFit/>
          </a:bodyPr>
          <a:lstStyle/>
          <a:p>
            <a:r>
              <a:rPr lang="en-US" sz="2000" b="0" noProof="1">
                <a:latin typeface="Arial"/>
              </a:rPr>
              <a:t>Menjelaskan </a:t>
            </a:r>
            <a:r>
              <a:rPr lang="en-US" sz="2000" b="1" noProof="1">
                <a:latin typeface="Arial"/>
              </a:rPr>
              <a:t>lima kelompok proses manajemen proyek</a:t>
            </a:r>
            <a:r>
              <a:rPr lang="en-US" sz="2000" b="0" noProof="1">
                <a:latin typeface="Arial"/>
              </a:rPr>
              <a:t>, tingkat aktivitas masing-masing, dan interaksinya — kelompok proses saling tumpang tindih, bukan fase berurutan</a:t>
            </a:r>
          </a:p>
        </p:txBody>
      </p:sp>
      <p:pic>
        <p:nvPicPr>
          <p:cNvPr id="5" name="Picture 4" descr="icon1.png"/>
          <p:cNvPicPr>
            <a:picLocks noChangeAspect="1"/>
          </p:cNvPicPr>
          <p:nvPr/>
        </p:nvPicPr>
        <p:blipFill>
          <a:blip r:embed="rId3"/>
          <a:stretch>
            <a:fillRect/>
          </a:stretch>
        </p:blipFill>
        <p:spPr>
          <a:xfrm>
            <a:off x="1325880" y="2862072"/>
            <a:ext cx="720266" cy="731520"/>
          </a:xfrm>
          <a:prstGeom prst="rect">
            <a:avLst/>
          </a:prstGeom>
        </p:spPr>
      </p:pic>
      <p:sp>
        <p:nvSpPr>
          <p:cNvPr id="6" name="TextBox 5"/>
          <p:cNvSpPr txBox="1"/>
          <p:nvPr/>
        </p:nvSpPr>
        <p:spPr>
          <a:xfrm>
            <a:off x="2377440" y="2788920"/>
            <a:ext cx="8412480" cy="1051560"/>
          </a:xfrm>
          <a:prstGeom prst="rect">
            <a:avLst/>
          </a:prstGeom>
          <a:noFill/>
        </p:spPr>
        <p:txBody>
          <a:bodyPr wrap="square" anchor="ctr">
            <a:spAutoFit/>
          </a:bodyPr>
          <a:lstStyle/>
          <a:p>
            <a:r>
              <a:rPr lang="en-US" sz="2000" b="0" noProof="1">
                <a:latin typeface="Arial"/>
              </a:rPr>
              <a:t>Memetakan </a:t>
            </a:r>
            <a:r>
              <a:rPr lang="en-US" sz="2000" b="1" noProof="1">
                <a:latin typeface="Arial"/>
              </a:rPr>
              <a:t>kelompok proses ke area pengetahuan</a:t>
            </a:r>
            <a:r>
              <a:rPr lang="en-US" sz="2000" b="0" noProof="1">
                <a:latin typeface="Arial"/>
              </a:rPr>
              <a:t> (PMBOK® edisi 4) dan menjelaskan evolusinya hingga PMBOK® edisi 7 dan 8</a:t>
            </a:r>
          </a:p>
        </p:txBody>
      </p:sp>
      <p:pic>
        <p:nvPicPr>
          <p:cNvPr id="7" name="Picture 6" descr="icon2.png"/>
          <p:cNvPicPr>
            <a:picLocks noChangeAspect="1"/>
          </p:cNvPicPr>
          <p:nvPr/>
        </p:nvPicPr>
        <p:blipFill>
          <a:blip r:embed="rId4"/>
          <a:stretch>
            <a:fillRect/>
          </a:stretch>
        </p:blipFill>
        <p:spPr>
          <a:xfrm>
            <a:off x="1325880" y="4050792"/>
            <a:ext cx="695711" cy="731520"/>
          </a:xfrm>
          <a:prstGeom prst="rect">
            <a:avLst/>
          </a:prstGeom>
        </p:spPr>
      </p:pic>
      <p:sp>
        <p:nvSpPr>
          <p:cNvPr id="8" name="TextBox 7"/>
          <p:cNvSpPr txBox="1"/>
          <p:nvPr/>
        </p:nvSpPr>
        <p:spPr>
          <a:xfrm>
            <a:off x="2377440" y="3977640"/>
            <a:ext cx="8412480" cy="1051560"/>
          </a:xfrm>
          <a:prstGeom prst="rect">
            <a:avLst/>
          </a:prstGeom>
          <a:noFill/>
        </p:spPr>
        <p:txBody>
          <a:bodyPr wrap="square" anchor="ctr">
            <a:spAutoFit/>
          </a:bodyPr>
          <a:lstStyle/>
          <a:p>
            <a:r>
              <a:rPr lang="en-US" sz="2000" b="0" noProof="1">
                <a:latin typeface="Arial"/>
              </a:rPr>
              <a:t>Membedakan </a:t>
            </a:r>
            <a:r>
              <a:rPr lang="en-US" sz="2000" b="1" noProof="1">
                <a:latin typeface="Arial"/>
              </a:rPr>
              <a:t>standar dan metodologi</a:t>
            </a:r>
            <a:r>
              <a:rPr lang="en-US" sz="2000" b="0" noProof="1">
                <a:latin typeface="Arial"/>
              </a:rPr>
              <a:t>, serta menjelaskan bagaimana organisasi mengembangkan dan menyesuaikan (</a:t>
            </a:r>
            <a:r>
              <a:rPr lang="en-US" sz="2000" b="1" noProof="1">
                <a:latin typeface="Arial"/>
              </a:rPr>
              <a:t>tailoring</a:t>
            </a:r>
            <a:r>
              <a:rPr lang="en-US" sz="2000" b="0" noProof="1">
                <a:latin typeface="Arial"/>
              </a:rPr>
              <a:t>) metodologi PM TI</a:t>
            </a:r>
          </a:p>
        </p:txBody>
      </p:sp>
      <p:pic>
        <p:nvPicPr>
          <p:cNvPr id="9" name="Picture 8" descr="icon3.png"/>
          <p:cNvPicPr>
            <a:picLocks noChangeAspect="1"/>
          </p:cNvPicPr>
          <p:nvPr/>
        </p:nvPicPr>
        <p:blipFill>
          <a:blip r:embed="rId5"/>
          <a:stretch>
            <a:fillRect/>
          </a:stretch>
        </p:blipFill>
        <p:spPr>
          <a:xfrm>
            <a:off x="1325880" y="5239512"/>
            <a:ext cx="866120" cy="731520"/>
          </a:xfrm>
          <a:prstGeom prst="rect">
            <a:avLst/>
          </a:prstGeom>
        </p:spPr>
      </p:pic>
      <p:sp>
        <p:nvSpPr>
          <p:cNvPr id="10" name="TextBox 9"/>
          <p:cNvSpPr txBox="1"/>
          <p:nvPr/>
        </p:nvSpPr>
        <p:spPr>
          <a:xfrm>
            <a:off x="2377440" y="5166360"/>
            <a:ext cx="8412480" cy="1051560"/>
          </a:xfrm>
          <a:prstGeom prst="rect">
            <a:avLst/>
          </a:prstGeom>
          <a:noFill/>
        </p:spPr>
        <p:txBody>
          <a:bodyPr wrap="square" anchor="ctr">
            <a:spAutoFit/>
          </a:bodyPr>
          <a:lstStyle/>
          <a:p>
            <a:r>
              <a:rPr lang="en-US" sz="2000" b="0" noProof="1">
                <a:latin typeface="Arial"/>
              </a:rPr>
              <a:t>Menelaah </a:t>
            </a:r>
            <a:r>
              <a:rPr lang="en-US" sz="2000" b="1" noProof="1">
                <a:latin typeface="Arial"/>
              </a:rPr>
              <a:t>studi kasus</a:t>
            </a:r>
            <a:r>
              <a:rPr lang="en-US" sz="2000" b="0" noProof="1">
                <a:latin typeface="Arial"/>
              </a:rPr>
              <a:t> (JWD Consulting dan kasus nasional) untuk menjelaskan </a:t>
            </a:r>
            <a:r>
              <a:rPr lang="en-US" sz="2000" b="1" noProof="1">
                <a:latin typeface="Arial"/>
              </a:rPr>
              <a:t>keluaran (output) kunci</a:t>
            </a:r>
            <a:r>
              <a:rPr lang="en-US" sz="2000" b="0" noProof="1">
                <a:latin typeface="Arial"/>
              </a:rPr>
              <a:t> dari setiap kelompok proses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798F4-4241-2960-EA78-0A037C91D56F}"/>
              </a:ext>
            </a:extLst>
          </p:cNvPr>
          <p:cNvSpPr>
            <a:spLocks noGrp="1"/>
          </p:cNvSpPr>
          <p:nvPr>
            <p:ph type="title"/>
          </p:nvPr>
        </p:nvSpPr>
        <p:spPr>
          <a:xfrm>
            <a:off x="605118" y="2498725"/>
            <a:ext cx="10515600" cy="1325563"/>
          </a:xfrm>
        </p:spPr>
        <p:txBody>
          <a:bodyPr/>
          <a:lstStyle/>
          <a:p>
            <a:pPr algn="ctr"/>
            <a:r>
              <a:rPr lang="en-US" b="1" noProof="1"/>
              <a:t>Apa itu Proyek?</a:t>
            </a:r>
          </a:p>
        </p:txBody>
      </p:sp>
    </p:spTree>
    <p:extLst>
      <p:ext uri="{BB962C8B-B14F-4D97-AF65-F5344CB8AC3E}">
        <p14:creationId xmlns:p14="http://schemas.microsoft.com/office/powerpoint/2010/main" val="3244053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D77AC-9DE2-118B-4B07-9DDFE80FC2F1}"/>
              </a:ext>
            </a:extLst>
          </p:cNvPr>
          <p:cNvSpPr>
            <a:spLocks noGrp="1"/>
          </p:cNvSpPr>
          <p:nvPr>
            <p:ph type="title"/>
          </p:nvPr>
        </p:nvSpPr>
        <p:spPr/>
        <p:txBody>
          <a:bodyPr/>
          <a:lstStyle/>
          <a:p>
            <a:pPr algn="ctr"/>
            <a:r>
              <a:rPr lang="en-US" b="1" noProof="1"/>
              <a:t>Apa Itu Proyek?</a:t>
            </a:r>
          </a:p>
        </p:txBody>
      </p:sp>
      <p:sp>
        <p:nvSpPr>
          <p:cNvPr id="3" name="Content Placeholder 2">
            <a:extLst>
              <a:ext uri="{FF2B5EF4-FFF2-40B4-BE49-F238E27FC236}">
                <a16:creationId xmlns:a16="http://schemas.microsoft.com/office/drawing/2014/main" id="{5BBC53EB-DAE9-14B4-2685-5B1407306D6D}"/>
              </a:ext>
            </a:extLst>
          </p:cNvPr>
          <p:cNvSpPr>
            <a:spLocks noGrp="1"/>
          </p:cNvSpPr>
          <p:nvPr>
            <p:ph idx="1"/>
          </p:nvPr>
        </p:nvSpPr>
        <p:spPr/>
        <p:txBody>
          <a:bodyPr>
            <a:normAutofit lnSpcReduction="10000"/>
          </a:bodyPr>
          <a:lstStyle/>
          <a:p>
            <a:pPr marL="0" indent="0">
              <a:buNone/>
            </a:pPr>
            <a:r>
              <a:rPr lang="en-US" sz="2400" b="1" noProof="1"/>
              <a:t>Definisi (PMBOK 7):</a:t>
            </a:r>
            <a:endParaRPr lang="en-US" sz="2400" noProof="1"/>
          </a:p>
          <a:p>
            <a:r>
              <a:rPr lang="en-US" sz="2400" noProof="1"/>
              <a:t>Proyek adalah usaha sementara untuk menghasilkan produk, layanan, atau hasil yang unik</a:t>
            </a:r>
          </a:p>
          <a:p>
            <a:endParaRPr lang="en-US" sz="2400" noProof="1"/>
          </a:p>
          <a:p>
            <a:pPr marL="0" indent="0">
              <a:buNone/>
            </a:pPr>
            <a:r>
              <a:rPr lang="en-US" sz="2400" b="1" noProof="1"/>
              <a:t>Kata kunci:</a:t>
            </a:r>
            <a:endParaRPr lang="en-US" sz="2400" noProof="1"/>
          </a:p>
          <a:p>
            <a:r>
              <a:rPr lang="en-US" sz="2400" noProof="1"/>
              <a:t>Temporary </a:t>
            </a:r>
          </a:p>
          <a:p>
            <a:r>
              <a:rPr lang="en-US" sz="2400" noProof="1"/>
              <a:t>Unique </a:t>
            </a:r>
          </a:p>
          <a:p>
            <a:r>
              <a:rPr lang="en-US" sz="2400" noProof="1"/>
              <a:t>Goal-oriented</a:t>
            </a:r>
          </a:p>
          <a:p>
            <a:endParaRPr lang="en-US" sz="2400" noProof="1"/>
          </a:p>
          <a:p>
            <a:r>
              <a:rPr lang="en-US" sz="2400" b="1" noProof="1"/>
              <a:t>Diskusi:  </a:t>
            </a:r>
            <a:r>
              <a:rPr lang="en-US" sz="2400" noProof="1"/>
              <a:t>"Bagian mana dari definisi ini yang paling sering dilanggar dalam proyek nyata?"</a:t>
            </a:r>
          </a:p>
          <a:p>
            <a:pPr marL="0" indent="0">
              <a:buNone/>
            </a:pPr>
            <a:endParaRPr lang="en-US" sz="2400" noProof="1"/>
          </a:p>
          <a:p>
            <a:endParaRPr lang="en-US" sz="2400" noProof="1"/>
          </a:p>
        </p:txBody>
      </p:sp>
    </p:spTree>
    <p:extLst>
      <p:ext uri="{BB962C8B-B14F-4D97-AF65-F5344CB8AC3E}">
        <p14:creationId xmlns:p14="http://schemas.microsoft.com/office/powerpoint/2010/main" val="377292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357A0-8663-99BB-F8DD-A77AD7541833}"/>
              </a:ext>
            </a:extLst>
          </p:cNvPr>
          <p:cNvSpPr>
            <a:spLocks noGrp="1"/>
          </p:cNvSpPr>
          <p:nvPr>
            <p:ph type="title"/>
          </p:nvPr>
        </p:nvSpPr>
        <p:spPr/>
        <p:txBody>
          <a:bodyPr/>
          <a:lstStyle/>
          <a:p>
            <a:pPr algn="ctr"/>
            <a:r>
              <a:rPr lang="en-US" b="1" noProof="1"/>
              <a:t>Karakteristik Proyek</a:t>
            </a:r>
          </a:p>
        </p:txBody>
      </p:sp>
      <p:sp>
        <p:nvSpPr>
          <p:cNvPr id="3" name="Content Placeholder 2">
            <a:extLst>
              <a:ext uri="{FF2B5EF4-FFF2-40B4-BE49-F238E27FC236}">
                <a16:creationId xmlns:a16="http://schemas.microsoft.com/office/drawing/2014/main" id="{5B543A82-FA87-9858-8FF4-7DBDC1331E16}"/>
              </a:ext>
            </a:extLst>
          </p:cNvPr>
          <p:cNvSpPr>
            <a:spLocks noGrp="1"/>
          </p:cNvSpPr>
          <p:nvPr>
            <p:ph idx="1"/>
          </p:nvPr>
        </p:nvSpPr>
        <p:spPr/>
        <p:txBody>
          <a:bodyPr>
            <a:normAutofit/>
          </a:bodyPr>
          <a:lstStyle/>
          <a:p>
            <a:r>
              <a:rPr lang="en-US" sz="2400" noProof="1"/>
              <a:t>Memiliki tujuan spesifik </a:t>
            </a:r>
          </a:p>
          <a:p>
            <a:r>
              <a:rPr lang="en-US" sz="2400" noProof="1"/>
              <a:t>Bersifat sementara (awal &amp; akhir jelas) </a:t>
            </a:r>
          </a:p>
          <a:p>
            <a:r>
              <a:rPr lang="en-US" sz="2400" noProof="1"/>
              <a:t>Sumber daya terbatas </a:t>
            </a:r>
          </a:p>
          <a:p>
            <a:r>
              <a:rPr lang="en-US" sz="2400" noProof="1"/>
              <a:t>Mengandung risiko </a:t>
            </a:r>
          </a:p>
          <a:p>
            <a:r>
              <a:rPr lang="en-US" sz="2400" noProof="1"/>
              <a:t>Bersifat lintas fungsi </a:t>
            </a:r>
          </a:p>
          <a:p>
            <a:pPr marL="0" indent="0">
              <a:buNone/>
            </a:pPr>
            <a:endParaRPr lang="en-US" sz="2400" noProof="1"/>
          </a:p>
          <a:p>
            <a:pPr marL="0" indent="0">
              <a:buNone/>
            </a:pPr>
            <a:r>
              <a:rPr lang="en-US" sz="2400" noProof="1"/>
              <a:t>Diskusi: </a:t>
            </a:r>
          </a:p>
          <a:p>
            <a:r>
              <a:rPr lang="en-US" sz="2400" b="1" noProof="1"/>
              <a:t>"Apakah thesis termasuk proyek?“</a:t>
            </a:r>
          </a:p>
          <a:p>
            <a:r>
              <a:rPr lang="en-US" sz="2400" b="1" noProof="1"/>
              <a:t>"Dari karakteristik tersebut, mana yang paling sulit dijaga dalam proyek nyata?"</a:t>
            </a:r>
          </a:p>
          <a:p>
            <a:pPr marL="0" indent="0">
              <a:buNone/>
            </a:pPr>
            <a:endParaRPr lang="en-US" sz="2400" b="1" noProof="1"/>
          </a:p>
          <a:p>
            <a:endParaRPr lang="en-US" sz="2400" noProof="1"/>
          </a:p>
        </p:txBody>
      </p:sp>
    </p:spTree>
    <p:extLst>
      <p:ext uri="{BB962C8B-B14F-4D97-AF65-F5344CB8AC3E}">
        <p14:creationId xmlns:p14="http://schemas.microsoft.com/office/powerpoint/2010/main" val="376785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5D02F-7E12-D0F0-A554-45F1E9FBDF43}"/>
              </a:ext>
            </a:extLst>
          </p:cNvPr>
          <p:cNvSpPr>
            <a:spLocks noGrp="1"/>
          </p:cNvSpPr>
          <p:nvPr>
            <p:ph type="title"/>
          </p:nvPr>
        </p:nvSpPr>
        <p:spPr/>
        <p:txBody>
          <a:bodyPr/>
          <a:lstStyle/>
          <a:p>
            <a:pPr algn="ctr"/>
            <a:r>
              <a:rPr lang="en-US" b="1" noProof="1"/>
              <a:t>Contoh Proyek TI</a:t>
            </a:r>
          </a:p>
        </p:txBody>
      </p:sp>
      <p:sp>
        <p:nvSpPr>
          <p:cNvPr id="3" name="Content Placeholder 2">
            <a:extLst>
              <a:ext uri="{FF2B5EF4-FFF2-40B4-BE49-F238E27FC236}">
                <a16:creationId xmlns:a16="http://schemas.microsoft.com/office/drawing/2014/main" id="{A2353E1A-E6EA-FBC7-AAC1-7EEF92D74837}"/>
              </a:ext>
            </a:extLst>
          </p:cNvPr>
          <p:cNvSpPr>
            <a:spLocks noGrp="1"/>
          </p:cNvSpPr>
          <p:nvPr>
            <p:ph idx="1"/>
          </p:nvPr>
        </p:nvSpPr>
        <p:spPr/>
        <p:txBody>
          <a:bodyPr>
            <a:normAutofit fontScale="77500" lnSpcReduction="20000"/>
          </a:bodyPr>
          <a:lstStyle/>
          <a:p>
            <a:pPr marL="0" indent="0">
              <a:buNone/>
            </a:pPr>
            <a:r>
              <a:rPr lang="en-US" b="1" noProof="1"/>
              <a:t>Produk:</a:t>
            </a:r>
            <a:endParaRPr lang="en-US" noProof="1"/>
          </a:p>
          <a:p>
            <a:r>
              <a:rPr lang="en-US" noProof="1"/>
              <a:t>Aplikasi mobile banking </a:t>
            </a:r>
          </a:p>
          <a:p>
            <a:r>
              <a:rPr lang="en-US" noProof="1"/>
              <a:t>Sistem e-learning </a:t>
            </a:r>
          </a:p>
          <a:p>
            <a:r>
              <a:rPr lang="en-US" noProof="1"/>
              <a:t>Perangkat IoT </a:t>
            </a:r>
          </a:p>
          <a:p>
            <a:pPr marL="0" indent="0">
              <a:buNone/>
            </a:pPr>
            <a:endParaRPr lang="en-US" b="1" noProof="1"/>
          </a:p>
          <a:p>
            <a:pPr marL="0" indent="0">
              <a:buNone/>
            </a:pPr>
            <a:r>
              <a:rPr lang="en-US" b="1" noProof="1"/>
              <a:t>Layanan:</a:t>
            </a:r>
            <a:endParaRPr lang="en-US" noProof="1"/>
          </a:p>
          <a:p>
            <a:r>
              <a:rPr lang="en-US" noProof="1"/>
              <a:t>Migrasi ke cloud </a:t>
            </a:r>
          </a:p>
          <a:p>
            <a:r>
              <a:rPr lang="en-US" noProof="1"/>
              <a:t>Helpdesk SaaS </a:t>
            </a:r>
          </a:p>
          <a:p>
            <a:r>
              <a:rPr lang="en-US" noProof="1"/>
              <a:t>Implementasi sistem </a:t>
            </a:r>
          </a:p>
          <a:p>
            <a:pPr marL="0" indent="0">
              <a:buNone/>
            </a:pPr>
            <a:endParaRPr lang="en-US" noProof="1"/>
          </a:p>
          <a:p>
            <a:pPr marL="0" indent="0">
              <a:buNone/>
            </a:pPr>
            <a:r>
              <a:rPr lang="en-US" noProof="1"/>
              <a:t>Diskusi: </a:t>
            </a:r>
            <a:r>
              <a:rPr lang="en-US" b="1" noProof="1"/>
              <a:t>Mana lebih sulit? Apakah membangun proyek, dan memelihara operasional?</a:t>
            </a:r>
          </a:p>
          <a:p>
            <a:endParaRPr lang="en-US" noProof="1"/>
          </a:p>
        </p:txBody>
      </p:sp>
    </p:spTree>
    <p:extLst>
      <p:ext uri="{BB962C8B-B14F-4D97-AF65-F5344CB8AC3E}">
        <p14:creationId xmlns:p14="http://schemas.microsoft.com/office/powerpoint/2010/main" val="3684134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1EB20-EFDF-B316-877A-DB327AE6EF4E}"/>
              </a:ext>
            </a:extLst>
          </p:cNvPr>
          <p:cNvSpPr>
            <a:spLocks noGrp="1"/>
          </p:cNvSpPr>
          <p:nvPr>
            <p:ph type="title"/>
          </p:nvPr>
        </p:nvSpPr>
        <p:spPr/>
        <p:txBody>
          <a:bodyPr/>
          <a:lstStyle/>
          <a:p>
            <a:pPr algn="ctr"/>
            <a:r>
              <a:rPr lang="en-US" b="1" noProof="1"/>
              <a:t>Proyek vs Operasional</a:t>
            </a:r>
          </a:p>
        </p:txBody>
      </p:sp>
      <p:graphicFrame>
        <p:nvGraphicFramePr>
          <p:cNvPr id="5" name="Content Placeholder 4">
            <a:extLst>
              <a:ext uri="{FF2B5EF4-FFF2-40B4-BE49-F238E27FC236}">
                <a16:creationId xmlns:a16="http://schemas.microsoft.com/office/drawing/2014/main" id="{BED0E886-8CF3-44A8-CD9E-A0F6D105F5AA}"/>
              </a:ext>
            </a:extLst>
          </p:cNvPr>
          <p:cNvGraphicFramePr>
            <a:graphicFrameLocks noGrp="1"/>
          </p:cNvGraphicFramePr>
          <p:nvPr>
            <p:ph idx="1"/>
            <p:extLst>
              <p:ext uri="{D42A27DB-BD31-4B8C-83A1-F6EECF244321}">
                <p14:modId xmlns:p14="http://schemas.microsoft.com/office/powerpoint/2010/main" val="3308661127"/>
              </p:ext>
            </p:extLst>
          </p:nvPr>
        </p:nvGraphicFramePr>
        <p:xfrm>
          <a:off x="838200" y="1863884"/>
          <a:ext cx="10515600" cy="2286000"/>
        </p:xfrm>
        <a:graphic>
          <a:graphicData uri="http://schemas.openxmlformats.org/drawingml/2006/table">
            <a:tbl>
              <a:tblPr>
                <a:tableStyleId>{5940675A-B579-460E-94D1-54222C63F5DA}</a:tableStyleId>
              </a:tblPr>
              <a:tblGrid>
                <a:gridCol w="5257800">
                  <a:extLst>
                    <a:ext uri="{9D8B030D-6E8A-4147-A177-3AD203B41FA5}">
                      <a16:colId xmlns:a16="http://schemas.microsoft.com/office/drawing/2014/main" val="570691404"/>
                    </a:ext>
                  </a:extLst>
                </a:gridCol>
                <a:gridCol w="5257800">
                  <a:extLst>
                    <a:ext uri="{9D8B030D-6E8A-4147-A177-3AD203B41FA5}">
                      <a16:colId xmlns:a16="http://schemas.microsoft.com/office/drawing/2014/main" val="3545507101"/>
                    </a:ext>
                  </a:extLst>
                </a:gridCol>
              </a:tblGrid>
              <a:tr h="0">
                <a:tc>
                  <a:txBody>
                    <a:bodyPr/>
                    <a:lstStyle/>
                    <a:p>
                      <a:pPr algn="ctr">
                        <a:buNone/>
                      </a:pPr>
                      <a:r>
                        <a:rPr lang="en-US" sz="2400" b="1" noProof="1"/>
                        <a:t>Proyek</a:t>
                      </a:r>
                    </a:p>
                  </a:txBody>
                  <a:tcPr anchor="ctr"/>
                </a:tc>
                <a:tc>
                  <a:txBody>
                    <a:bodyPr/>
                    <a:lstStyle/>
                    <a:p>
                      <a:pPr algn="ctr">
                        <a:buNone/>
                      </a:pPr>
                      <a:r>
                        <a:rPr lang="en-US" sz="2400" b="1" noProof="1"/>
                        <a:t>Operasional</a:t>
                      </a:r>
                    </a:p>
                  </a:txBody>
                  <a:tcPr anchor="ctr"/>
                </a:tc>
                <a:extLst>
                  <a:ext uri="{0D108BD9-81ED-4DB2-BD59-A6C34878D82A}">
                    <a16:rowId xmlns:a16="http://schemas.microsoft.com/office/drawing/2014/main" val="4217695317"/>
                  </a:ext>
                </a:extLst>
              </a:tr>
              <a:tr h="0">
                <a:tc>
                  <a:txBody>
                    <a:bodyPr/>
                    <a:lstStyle/>
                    <a:p>
                      <a:pPr>
                        <a:buNone/>
                      </a:pPr>
                      <a:r>
                        <a:rPr lang="en-US" sz="2400" noProof="1"/>
                        <a:t>Sementara</a:t>
                      </a:r>
                    </a:p>
                  </a:txBody>
                  <a:tcPr anchor="ctr"/>
                </a:tc>
                <a:tc>
                  <a:txBody>
                    <a:bodyPr/>
                    <a:lstStyle/>
                    <a:p>
                      <a:pPr>
                        <a:buNone/>
                      </a:pPr>
                      <a:r>
                        <a:rPr lang="en-US" sz="2400" noProof="1"/>
                        <a:t>Berulang</a:t>
                      </a:r>
                    </a:p>
                  </a:txBody>
                  <a:tcPr anchor="ctr"/>
                </a:tc>
                <a:extLst>
                  <a:ext uri="{0D108BD9-81ED-4DB2-BD59-A6C34878D82A}">
                    <a16:rowId xmlns:a16="http://schemas.microsoft.com/office/drawing/2014/main" val="2697896607"/>
                  </a:ext>
                </a:extLst>
              </a:tr>
              <a:tr h="0">
                <a:tc>
                  <a:txBody>
                    <a:bodyPr/>
                    <a:lstStyle/>
                    <a:p>
                      <a:pPr>
                        <a:buNone/>
                      </a:pPr>
                      <a:r>
                        <a:rPr lang="en-US" sz="2400" noProof="1"/>
                        <a:t>Unik</a:t>
                      </a:r>
                    </a:p>
                  </a:txBody>
                  <a:tcPr anchor="ctr"/>
                </a:tc>
                <a:tc>
                  <a:txBody>
                    <a:bodyPr/>
                    <a:lstStyle/>
                    <a:p>
                      <a:pPr>
                        <a:buNone/>
                      </a:pPr>
                      <a:r>
                        <a:rPr lang="en-US" sz="2400" noProof="1"/>
                        <a:t>Rutin</a:t>
                      </a:r>
                    </a:p>
                  </a:txBody>
                  <a:tcPr anchor="ctr"/>
                </a:tc>
                <a:extLst>
                  <a:ext uri="{0D108BD9-81ED-4DB2-BD59-A6C34878D82A}">
                    <a16:rowId xmlns:a16="http://schemas.microsoft.com/office/drawing/2014/main" val="348042181"/>
                  </a:ext>
                </a:extLst>
              </a:tr>
              <a:tr h="0">
                <a:tc>
                  <a:txBody>
                    <a:bodyPr/>
                    <a:lstStyle/>
                    <a:p>
                      <a:pPr>
                        <a:buNone/>
                      </a:pPr>
                      <a:r>
                        <a:rPr lang="en-US" sz="2400" noProof="1"/>
                        <a:t>Ada tujuan</a:t>
                      </a:r>
                    </a:p>
                  </a:txBody>
                  <a:tcPr anchor="ctr"/>
                </a:tc>
                <a:tc>
                  <a:txBody>
                    <a:bodyPr/>
                    <a:lstStyle/>
                    <a:p>
                      <a:pPr>
                        <a:buNone/>
                      </a:pPr>
                      <a:r>
                        <a:rPr lang="en-US" sz="2400" noProof="1"/>
                        <a:t>Menjaga sistem berjalan</a:t>
                      </a:r>
                    </a:p>
                  </a:txBody>
                  <a:tcPr anchor="ctr"/>
                </a:tc>
                <a:extLst>
                  <a:ext uri="{0D108BD9-81ED-4DB2-BD59-A6C34878D82A}">
                    <a16:rowId xmlns:a16="http://schemas.microsoft.com/office/drawing/2014/main" val="1013746005"/>
                  </a:ext>
                </a:extLst>
              </a:tr>
              <a:tr h="0">
                <a:tc>
                  <a:txBody>
                    <a:bodyPr/>
                    <a:lstStyle/>
                    <a:p>
                      <a:pPr>
                        <a:buNone/>
                      </a:pPr>
                      <a:r>
                        <a:rPr lang="en-US" sz="2400" noProof="1"/>
                        <a:t>Contoh: develop aplikasi</a:t>
                      </a:r>
                    </a:p>
                  </a:txBody>
                  <a:tcPr anchor="ctr"/>
                </a:tc>
                <a:tc>
                  <a:txBody>
                    <a:bodyPr/>
                    <a:lstStyle/>
                    <a:p>
                      <a:pPr>
                        <a:buNone/>
                      </a:pPr>
                      <a:r>
                        <a:rPr lang="en-US" sz="2400" noProof="1"/>
                        <a:t>Contoh: maintenance</a:t>
                      </a:r>
                    </a:p>
                  </a:txBody>
                  <a:tcPr anchor="ctr"/>
                </a:tc>
                <a:extLst>
                  <a:ext uri="{0D108BD9-81ED-4DB2-BD59-A6C34878D82A}">
                    <a16:rowId xmlns:a16="http://schemas.microsoft.com/office/drawing/2014/main" val="3975692959"/>
                  </a:ext>
                </a:extLst>
              </a:tr>
            </a:tbl>
          </a:graphicData>
        </a:graphic>
      </p:graphicFrame>
      <p:sp>
        <p:nvSpPr>
          <p:cNvPr id="7" name="TextBox 6">
            <a:extLst>
              <a:ext uri="{FF2B5EF4-FFF2-40B4-BE49-F238E27FC236}">
                <a16:creationId xmlns:a16="http://schemas.microsoft.com/office/drawing/2014/main" id="{4C597983-8058-A4C0-1C7C-E0E78BACCF8A}"/>
              </a:ext>
            </a:extLst>
          </p:cNvPr>
          <p:cNvSpPr txBox="1"/>
          <p:nvPr/>
        </p:nvSpPr>
        <p:spPr>
          <a:xfrm>
            <a:off x="838200" y="4728895"/>
            <a:ext cx="884301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1">
                <a:ln>
                  <a:noFill/>
                </a:ln>
                <a:solidFill>
                  <a:prstClr val="black"/>
                </a:solidFill>
                <a:effectLst/>
                <a:uLnTx/>
                <a:uFillTx/>
                <a:latin typeface="Calibri"/>
                <a:ea typeface="+mn-ea"/>
                <a:cs typeface="+mn-cs"/>
              </a:rPr>
              <a:t>Diskusi: </a:t>
            </a:r>
            <a:r>
              <a:rPr kumimoji="0" lang="en-US" sz="2400" b="1" i="0" u="none" strike="noStrike" kern="1200" cap="none" spc="0" normalizeH="0" baseline="0" noProof="1">
                <a:ln>
                  <a:noFill/>
                </a:ln>
                <a:solidFill>
                  <a:prstClr val="black"/>
                </a:solidFill>
                <a:effectLst/>
                <a:uLnTx/>
                <a:uFillTx/>
                <a:latin typeface="Calibri"/>
                <a:ea typeface="+mn-ea"/>
                <a:cs typeface="+mn-cs"/>
              </a:rPr>
              <a:t>"Startup termasuk proyek atau operasional?"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1">
                <a:ln>
                  <a:noFill/>
                </a:ln>
                <a:solidFill>
                  <a:prstClr val="black"/>
                </a:solidFill>
                <a:effectLst/>
                <a:uLnTx/>
                <a:uFillTx/>
                <a:latin typeface="Calibri"/>
                <a:ea typeface="+mn-ea"/>
                <a:cs typeface="+mn-cs"/>
              </a:rPr>
              <a:t>                </a:t>
            </a:r>
            <a:r>
              <a:rPr kumimoji="0" lang="en-US" sz="2400" b="0" i="0" u="none" strike="noStrike" kern="1200" cap="none" spc="0" normalizeH="0" baseline="0" noProof="1">
                <a:ln>
                  <a:noFill/>
                </a:ln>
                <a:solidFill>
                  <a:prstClr val="black"/>
                </a:solidFill>
                <a:effectLst/>
                <a:uLnTx/>
                <a:uFillTx/>
                <a:latin typeface="Calibri"/>
                <a:ea typeface="+mn-ea"/>
                <a:cs typeface="+mn-cs"/>
              </a:rPr>
              <a:t>Atau kombinasi keduanya (hybrid)?</a:t>
            </a:r>
            <a:endParaRPr kumimoji="0" lang="en-US" sz="2400" b="1" i="0" u="none" strike="noStrike" kern="1200" cap="none" spc="0" normalizeH="0" baseline="0" noProof="1">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49169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8880E-D516-09C4-9C41-9393CD0D9F83}"/>
              </a:ext>
            </a:extLst>
          </p:cNvPr>
          <p:cNvSpPr>
            <a:spLocks noGrp="1"/>
          </p:cNvSpPr>
          <p:nvPr>
            <p:ph type="title"/>
          </p:nvPr>
        </p:nvSpPr>
        <p:spPr/>
        <p:txBody>
          <a:bodyPr/>
          <a:lstStyle/>
          <a:p>
            <a:pPr algn="ctr"/>
            <a:r>
              <a:rPr lang="en-US" b="1" noProof="1"/>
              <a:t>Program &amp; Portfolio</a:t>
            </a:r>
          </a:p>
        </p:txBody>
      </p:sp>
      <p:sp>
        <p:nvSpPr>
          <p:cNvPr id="3" name="Content Placeholder 2">
            <a:extLst>
              <a:ext uri="{FF2B5EF4-FFF2-40B4-BE49-F238E27FC236}">
                <a16:creationId xmlns:a16="http://schemas.microsoft.com/office/drawing/2014/main" id="{49311D8D-C4DC-D0A7-E9AD-6A308A668135}"/>
              </a:ext>
            </a:extLst>
          </p:cNvPr>
          <p:cNvSpPr>
            <a:spLocks noGrp="1"/>
          </p:cNvSpPr>
          <p:nvPr>
            <p:ph idx="1"/>
          </p:nvPr>
        </p:nvSpPr>
        <p:spPr/>
        <p:txBody>
          <a:bodyPr>
            <a:normAutofit lnSpcReduction="10000"/>
          </a:bodyPr>
          <a:lstStyle/>
          <a:p>
            <a:r>
              <a:rPr lang="en-US" sz="2400" b="1" noProof="1"/>
              <a:t>Project:</a:t>
            </a:r>
            <a:r>
              <a:rPr lang="en-US" sz="2400" noProof="1"/>
              <a:t> Satu inisiatif </a:t>
            </a:r>
          </a:p>
          <a:p>
            <a:r>
              <a:rPr lang="en-US" sz="2400" b="1" noProof="1"/>
              <a:t>Program:</a:t>
            </a:r>
            <a:r>
              <a:rPr lang="en-US" sz="2400" noProof="1"/>
              <a:t> Kumpulan proyek terkait </a:t>
            </a:r>
          </a:p>
          <a:p>
            <a:r>
              <a:rPr lang="en-US" sz="2400" b="1" noProof="1"/>
              <a:t>Portfolio:</a:t>
            </a:r>
            <a:r>
              <a:rPr lang="en-US" sz="2400" noProof="1"/>
              <a:t> Kumpulan program &amp; proyek </a:t>
            </a:r>
          </a:p>
          <a:p>
            <a:pPr marL="0" indent="0">
              <a:buNone/>
            </a:pPr>
            <a:endParaRPr lang="en-US" sz="2400" b="1" noProof="1"/>
          </a:p>
          <a:p>
            <a:pPr marL="0" indent="0">
              <a:buNone/>
            </a:pPr>
            <a:r>
              <a:rPr lang="en-US" sz="2400" b="1" noProof="1"/>
              <a:t>Contoh:</a:t>
            </a:r>
            <a:endParaRPr lang="en-US" sz="2400" noProof="1"/>
          </a:p>
          <a:p>
            <a:r>
              <a:rPr lang="en-US" sz="2400" noProof="1"/>
              <a:t>Project: Sistem e-learning </a:t>
            </a:r>
          </a:p>
          <a:p>
            <a:r>
              <a:rPr lang="en-US" sz="2400" noProof="1"/>
              <a:t>Program: Digitalisasi kampus </a:t>
            </a:r>
          </a:p>
          <a:p>
            <a:r>
              <a:rPr lang="en-US" sz="2400" noProof="1"/>
              <a:t>Portfolio: Transformasi digital universitas</a:t>
            </a:r>
          </a:p>
          <a:p>
            <a:endParaRPr lang="en-US" sz="2400" noProof="1"/>
          </a:p>
          <a:p>
            <a:r>
              <a:rPr lang="en-US" sz="2400" b="1" noProof="1"/>
              <a:t>Diskusi: </a:t>
            </a:r>
            <a:r>
              <a:rPr lang="en-US" sz="2400" noProof="1"/>
              <a:t>"Apakah satu proyek bisa berdiri sendiri tanpa program atau portfolio?"</a:t>
            </a:r>
          </a:p>
          <a:p>
            <a:pPr marL="0" indent="0">
              <a:buNone/>
            </a:pPr>
            <a:endParaRPr lang="en-US" sz="2400" noProof="1"/>
          </a:p>
          <a:p>
            <a:endParaRPr lang="en-US" sz="2400" noProof="1"/>
          </a:p>
        </p:txBody>
      </p:sp>
    </p:spTree>
    <p:extLst>
      <p:ext uri="{BB962C8B-B14F-4D97-AF65-F5344CB8AC3E}">
        <p14:creationId xmlns:p14="http://schemas.microsoft.com/office/powerpoint/2010/main" val="2633886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90136-0AD8-1062-E67C-368922957281}"/>
              </a:ext>
            </a:extLst>
          </p:cNvPr>
          <p:cNvSpPr>
            <a:spLocks noGrp="1"/>
          </p:cNvSpPr>
          <p:nvPr>
            <p:ph type="title"/>
          </p:nvPr>
        </p:nvSpPr>
        <p:spPr>
          <a:xfrm>
            <a:off x="838200" y="2583395"/>
            <a:ext cx="10515600" cy="1325563"/>
          </a:xfrm>
        </p:spPr>
        <p:txBody>
          <a:bodyPr>
            <a:normAutofit fontScale="90000"/>
          </a:bodyPr>
          <a:lstStyle/>
          <a:p>
            <a:pPr algn="ctr"/>
            <a:r>
              <a:rPr lang="en-US" b="1" noProof="1"/>
              <a:t>Dalam perkuliahan ini, </a:t>
            </a:r>
            <a:br>
              <a:rPr lang="en-US" b="1" noProof="1"/>
            </a:br>
            <a:r>
              <a:rPr lang="en-US" b="1" noProof="1"/>
              <a:t>apa peran Anda dalam Proyek?</a:t>
            </a:r>
            <a:br>
              <a:rPr lang="en-US" b="1" noProof="1"/>
            </a:br>
            <a:r>
              <a:rPr lang="en-US" sz="3100" b="1" i="1" noProof="1">
                <a:solidFill>
                  <a:srgbClr val="FF0000"/>
                </a:solidFill>
              </a:rPr>
              <a:t>(POV yang digunakan)</a:t>
            </a:r>
            <a:endParaRPr lang="en-US" b="1" i="1" noProof="1">
              <a:solidFill>
                <a:srgbClr val="FF0000"/>
              </a:solidFill>
            </a:endParaRPr>
          </a:p>
        </p:txBody>
      </p:sp>
    </p:spTree>
    <p:extLst>
      <p:ext uri="{BB962C8B-B14F-4D97-AF65-F5344CB8AC3E}">
        <p14:creationId xmlns:p14="http://schemas.microsoft.com/office/powerpoint/2010/main" val="3065789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241F8-50FC-EEA2-92F1-79A46CD6821B}"/>
              </a:ext>
            </a:extLst>
          </p:cNvPr>
          <p:cNvSpPr>
            <a:spLocks noGrp="1"/>
          </p:cNvSpPr>
          <p:nvPr>
            <p:ph type="title"/>
          </p:nvPr>
        </p:nvSpPr>
        <p:spPr/>
        <p:txBody>
          <a:bodyPr/>
          <a:lstStyle/>
          <a:p>
            <a:pPr algn="ctr"/>
            <a:r>
              <a:rPr lang="en-US" b="1" noProof="1"/>
              <a:t>Peran Project Manager</a:t>
            </a:r>
          </a:p>
        </p:txBody>
      </p:sp>
      <p:sp>
        <p:nvSpPr>
          <p:cNvPr id="3" name="Content Placeholder 2">
            <a:extLst>
              <a:ext uri="{FF2B5EF4-FFF2-40B4-BE49-F238E27FC236}">
                <a16:creationId xmlns:a16="http://schemas.microsoft.com/office/drawing/2014/main" id="{01EB07F2-E067-F7F4-36FD-07F5048D5D53}"/>
              </a:ext>
            </a:extLst>
          </p:cNvPr>
          <p:cNvSpPr>
            <a:spLocks noGrp="1"/>
          </p:cNvSpPr>
          <p:nvPr>
            <p:ph idx="1"/>
          </p:nvPr>
        </p:nvSpPr>
        <p:spPr/>
        <p:txBody>
          <a:bodyPr>
            <a:normAutofit/>
          </a:bodyPr>
          <a:lstStyle/>
          <a:p>
            <a:pPr marL="0" indent="0">
              <a:buNone/>
            </a:pPr>
            <a:r>
              <a:rPr lang="en-US" sz="2400" b="1" noProof="1"/>
              <a:t>Tugas utama:</a:t>
            </a:r>
          </a:p>
          <a:p>
            <a:r>
              <a:rPr lang="en-US" sz="2400" noProof="1"/>
              <a:t>Mengelola scope, waktu, biaya </a:t>
            </a:r>
          </a:p>
          <a:p>
            <a:r>
              <a:rPr lang="en-US" sz="2400" noProof="1"/>
              <a:t>Mengelola tim </a:t>
            </a:r>
          </a:p>
          <a:p>
            <a:r>
              <a:rPr lang="en-US" sz="2400" noProof="1"/>
              <a:t>Mengelola risiko </a:t>
            </a:r>
          </a:p>
          <a:p>
            <a:r>
              <a:rPr lang="en-US" sz="2400" noProof="1"/>
              <a:t>Mengelola komunikasi stakeholder </a:t>
            </a:r>
          </a:p>
          <a:p>
            <a:pPr marL="0" indent="0">
              <a:buNone/>
            </a:pPr>
            <a:endParaRPr lang="en-US" sz="2400" noProof="1"/>
          </a:p>
          <a:p>
            <a:pPr marL="0" indent="0" algn="ctr">
              <a:buNone/>
            </a:pPr>
            <a:r>
              <a:rPr lang="en-US" sz="2400" b="1" i="1" noProof="1"/>
              <a:t>"Project Manager bukan yang paling pintar teknis, tetapi yang paling mampu mengelola kompleksitas"</a:t>
            </a:r>
          </a:p>
          <a:p>
            <a:pPr algn="just"/>
            <a:r>
              <a:rPr lang="en-US" sz="2400" b="1" noProof="1"/>
              <a:t>Diskusi: "</a:t>
            </a:r>
            <a:r>
              <a:rPr lang="en-US" sz="2400" noProof="1"/>
              <a:t>Menurut Anda, mana yang lebih sulit: mengelola teknologi atau mengelola manusia dalam proyek?"</a:t>
            </a:r>
          </a:p>
          <a:p>
            <a:pPr marL="0" indent="0">
              <a:buNone/>
            </a:pPr>
            <a:endParaRPr lang="en-US" sz="2400" b="1" i="1" noProof="1"/>
          </a:p>
          <a:p>
            <a:endParaRPr lang="en-US" sz="2400" noProof="1"/>
          </a:p>
        </p:txBody>
      </p:sp>
    </p:spTree>
    <p:extLst>
      <p:ext uri="{BB962C8B-B14F-4D97-AF65-F5344CB8AC3E}">
        <p14:creationId xmlns:p14="http://schemas.microsoft.com/office/powerpoint/2010/main" val="3398995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A1B5D-300B-B6AF-4DB6-8BDF0AE12D70}"/>
              </a:ext>
            </a:extLst>
          </p:cNvPr>
          <p:cNvSpPr>
            <a:spLocks noGrp="1"/>
          </p:cNvSpPr>
          <p:nvPr>
            <p:ph type="title"/>
          </p:nvPr>
        </p:nvSpPr>
        <p:spPr/>
        <p:txBody>
          <a:bodyPr/>
          <a:lstStyle/>
          <a:p>
            <a:pPr algn="ctr"/>
            <a:r>
              <a:rPr lang="en-US" b="1" noProof="1"/>
              <a:t>Diskusi</a:t>
            </a:r>
          </a:p>
        </p:txBody>
      </p:sp>
      <p:sp>
        <p:nvSpPr>
          <p:cNvPr id="3" name="Content Placeholder 2">
            <a:extLst>
              <a:ext uri="{FF2B5EF4-FFF2-40B4-BE49-F238E27FC236}">
                <a16:creationId xmlns:a16="http://schemas.microsoft.com/office/drawing/2014/main" id="{B4A05B94-7545-4C15-95FA-10B951E99B76}"/>
              </a:ext>
            </a:extLst>
          </p:cNvPr>
          <p:cNvSpPr>
            <a:spLocks noGrp="1"/>
          </p:cNvSpPr>
          <p:nvPr>
            <p:ph idx="1"/>
          </p:nvPr>
        </p:nvSpPr>
        <p:spPr/>
        <p:txBody>
          <a:bodyPr>
            <a:normAutofit/>
          </a:bodyPr>
          <a:lstStyle/>
          <a:p>
            <a:pPr marL="0" indent="0">
              <a:buNone/>
            </a:pPr>
            <a:endParaRPr lang="en-US" sz="2000" b="1" noProof="1"/>
          </a:p>
          <a:p>
            <a:pPr marL="0" indent="0" algn="ctr">
              <a:buNone/>
            </a:pPr>
            <a:r>
              <a:rPr lang="en-US" sz="2400" b="1" noProof="1"/>
              <a:t>Pertanyaan: "Kalau semua sudah jelas, kenapa banyak proyek tetap gagal?"</a:t>
            </a:r>
          </a:p>
          <a:p>
            <a:pPr marL="0" indent="0">
              <a:buNone/>
            </a:pPr>
            <a:endParaRPr lang="en-US" sz="2400" b="1" noProof="1"/>
          </a:p>
          <a:p>
            <a:r>
              <a:rPr lang="en-US" sz="2400" noProof="1"/>
              <a:t>Apakah masalahnya di perencanaan? </a:t>
            </a:r>
          </a:p>
          <a:p>
            <a:r>
              <a:rPr lang="en-US" sz="2400" noProof="1"/>
              <a:t>Apakah masalahnya di komunikasi? </a:t>
            </a:r>
          </a:p>
          <a:p>
            <a:r>
              <a:rPr lang="en-US" sz="2400" noProof="1"/>
              <a:t>Apakah masalahnya di tim? </a:t>
            </a:r>
          </a:p>
          <a:p>
            <a:r>
              <a:rPr lang="en-US" sz="2400" noProof="1"/>
              <a:t>Atau karena perubahan kebutuhan? </a:t>
            </a:r>
          </a:p>
          <a:p>
            <a:pPr marL="0" indent="0">
              <a:buNone/>
            </a:pPr>
            <a:endParaRPr lang="en-US" sz="2400" noProof="1"/>
          </a:p>
          <a:p>
            <a:pPr marL="0" indent="0">
              <a:buNone/>
            </a:pPr>
            <a:endParaRPr lang="en-US" sz="2400" b="1" noProof="1"/>
          </a:p>
          <a:p>
            <a:endParaRPr lang="en-US" sz="2000" noProof="1"/>
          </a:p>
        </p:txBody>
      </p:sp>
    </p:spTree>
    <p:extLst>
      <p:ext uri="{BB962C8B-B14F-4D97-AF65-F5344CB8AC3E}">
        <p14:creationId xmlns:p14="http://schemas.microsoft.com/office/powerpoint/2010/main" val="4116553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07CA2-3557-E6F7-BDBC-889D3D8A674C}"/>
              </a:ext>
            </a:extLst>
          </p:cNvPr>
          <p:cNvSpPr>
            <a:spLocks noGrp="1"/>
          </p:cNvSpPr>
          <p:nvPr>
            <p:ph type="title"/>
          </p:nvPr>
        </p:nvSpPr>
        <p:spPr/>
        <p:txBody>
          <a:bodyPr/>
          <a:lstStyle/>
          <a:p>
            <a:pPr algn="ctr"/>
            <a:r>
              <a:rPr lang="en-US" b="1" noProof="1"/>
              <a:t>Big Picture</a:t>
            </a:r>
          </a:p>
        </p:txBody>
      </p:sp>
      <p:sp>
        <p:nvSpPr>
          <p:cNvPr id="3" name="Content Placeholder 2">
            <a:extLst>
              <a:ext uri="{FF2B5EF4-FFF2-40B4-BE49-F238E27FC236}">
                <a16:creationId xmlns:a16="http://schemas.microsoft.com/office/drawing/2014/main" id="{BC7B3BF7-FA9D-EA9A-BAF7-48F074EAF9F3}"/>
              </a:ext>
            </a:extLst>
          </p:cNvPr>
          <p:cNvSpPr>
            <a:spLocks noGrp="1"/>
          </p:cNvSpPr>
          <p:nvPr>
            <p:ph idx="1"/>
          </p:nvPr>
        </p:nvSpPr>
        <p:spPr/>
        <p:txBody>
          <a:bodyPr>
            <a:normAutofit/>
          </a:bodyPr>
          <a:lstStyle/>
          <a:p>
            <a:pPr marL="0" indent="0">
              <a:buNone/>
            </a:pPr>
            <a:r>
              <a:rPr lang="en-US" sz="2400" noProof="1"/>
              <a:t>Proyek tidak berdiri sendiri.</a:t>
            </a:r>
          </a:p>
          <a:p>
            <a:pPr marL="0" indent="0">
              <a:buNone/>
            </a:pPr>
            <a:r>
              <a:rPr lang="en-US" sz="2400" noProof="1"/>
              <a:t>Dipengaruhi oleh:</a:t>
            </a:r>
          </a:p>
          <a:p>
            <a:r>
              <a:rPr lang="en-US" sz="2400" noProof="1"/>
              <a:t>Organisasi </a:t>
            </a:r>
          </a:p>
          <a:p>
            <a:r>
              <a:rPr lang="en-US" sz="2400" noProof="1"/>
              <a:t>Stakeholder </a:t>
            </a:r>
          </a:p>
          <a:p>
            <a:r>
              <a:rPr lang="en-US" sz="2400" noProof="1"/>
              <a:t>Teknologi </a:t>
            </a:r>
          </a:p>
          <a:p>
            <a:endParaRPr lang="en-US" sz="2400" noProof="1"/>
          </a:p>
          <a:p>
            <a:pPr marL="0" indent="0">
              <a:buNone/>
            </a:pPr>
            <a:r>
              <a:rPr lang="en-US" sz="2400" noProof="1"/>
              <a:t>Tanpa memahami konteks ini, proyek yang baik sekalipun bisa gagal.</a:t>
            </a:r>
          </a:p>
          <a:p>
            <a:endParaRPr lang="en-US" sz="2400" noProof="1"/>
          </a:p>
        </p:txBody>
      </p:sp>
    </p:spTree>
    <p:extLst>
      <p:ext uri="{BB962C8B-B14F-4D97-AF65-F5344CB8AC3E}">
        <p14:creationId xmlns:p14="http://schemas.microsoft.com/office/powerpoint/2010/main" val="2444145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CAFE9-D954-087A-E30A-54DB46D8EBE7}"/>
              </a:ext>
            </a:extLst>
          </p:cNvPr>
          <p:cNvSpPr>
            <a:spLocks noGrp="1"/>
          </p:cNvSpPr>
          <p:nvPr>
            <p:ph type="title"/>
          </p:nvPr>
        </p:nvSpPr>
        <p:spPr>
          <a:xfrm>
            <a:off x="753533" y="2447925"/>
            <a:ext cx="10515600" cy="1325563"/>
          </a:xfrm>
        </p:spPr>
        <p:txBody>
          <a:bodyPr/>
          <a:lstStyle/>
          <a:p>
            <a:pPr algn="ctr"/>
            <a:r>
              <a:rPr lang="en-US" b="1" noProof="1"/>
              <a:t>Bagaimana upaya untuk meminimalisir kegagalan Proyek?</a:t>
            </a:r>
          </a:p>
        </p:txBody>
      </p:sp>
    </p:spTree>
    <p:extLst>
      <p:ext uri="{BB962C8B-B14F-4D97-AF65-F5344CB8AC3E}">
        <p14:creationId xmlns:p14="http://schemas.microsoft.com/office/powerpoint/2010/main" val="2605745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noProof="1"/>
              <a:t>Mengembangkan Metodologi Manajemen Proyek TI (1)</a:t>
            </a:r>
          </a:p>
        </p:txBody>
      </p:sp>
      <p:sp>
        <p:nvSpPr>
          <p:cNvPr id="3" name="Content Placeholder 2"/>
          <p:cNvSpPr>
            <a:spLocks noGrp="1"/>
          </p:cNvSpPr>
          <p:nvPr>
            <p:ph idx="1"/>
          </p:nvPr>
        </p:nvSpPr>
        <p:spPr/>
        <p:txBody>
          <a:bodyPr>
            <a:noAutofit/>
          </a:bodyPr>
          <a:lstStyle/>
          <a:p>
            <a:pPr marL="457200" indent="-457200">
              <a:lnSpc>
                <a:spcPct val="100000"/>
              </a:lnSpc>
              <a:spcBef>
                <a:spcPts val="0"/>
              </a:spcBef>
              <a:buFont typeface="+mj-lt"/>
              <a:buAutoNum type="arabicPeriod"/>
            </a:pPr>
            <a:r>
              <a:rPr lang="en-US" sz="2000" b="1" noProof="1">
                <a:latin typeface="Arial" panose="020B0604020202020204" pitchFamily="34" charset="0"/>
                <a:cs typeface="Arial" panose="020B0604020202020204" pitchFamily="34" charset="0"/>
              </a:rPr>
              <a:t>Organisasi dan Metodologi</a:t>
            </a:r>
          </a:p>
          <a:p>
            <a:pPr lvl="1">
              <a:lnSpc>
                <a:spcPct val="100000"/>
              </a:lnSpc>
              <a:spcBef>
                <a:spcPts val="0"/>
              </a:spcBef>
            </a:pPr>
            <a:r>
              <a:rPr lang="en-US" sz="2000" noProof="1">
                <a:latin typeface="Arial" panose="020B0604020202020204" pitchFamily="34" charset="0"/>
                <a:cs typeface="Arial" panose="020B0604020202020204" pitchFamily="34" charset="0"/>
              </a:rPr>
              <a:t>Banyak organisasi mengembangkan metodologi manajemen proyek mereka sendiri, khususnya untuk proyek TI.</a:t>
            </a:r>
          </a:p>
          <a:p>
            <a:pPr lvl="1">
              <a:lnSpc>
                <a:spcPct val="100000"/>
              </a:lnSpc>
              <a:spcBef>
                <a:spcPts val="0"/>
              </a:spcBef>
            </a:pPr>
            <a:r>
              <a:rPr lang="en-US" sz="2000" b="1" noProof="1">
                <a:latin typeface="Arial" panose="020B0604020202020204" pitchFamily="34" charset="0"/>
                <a:cs typeface="Arial" panose="020B0604020202020204" pitchFamily="34" charset="0"/>
              </a:rPr>
              <a:t>Metodologi</a:t>
            </a:r>
            <a:r>
              <a:rPr lang="en-US" sz="2000" noProof="1">
                <a:latin typeface="Arial" panose="020B0604020202020204" pitchFamily="34" charset="0"/>
                <a:cs typeface="Arial" panose="020B0604020202020204" pitchFamily="34" charset="0"/>
              </a:rPr>
              <a:t> menjelaskan </a:t>
            </a:r>
            <a:r>
              <a:rPr lang="en-US" sz="2000" b="1" noProof="1">
                <a:latin typeface="Arial" panose="020B0604020202020204" pitchFamily="34" charset="0"/>
                <a:cs typeface="Arial" panose="020B0604020202020204" pitchFamily="34" charset="0"/>
              </a:rPr>
              <a:t>bagaimana</a:t>
            </a:r>
            <a:r>
              <a:rPr lang="en-US" sz="2000" noProof="1">
                <a:latin typeface="Arial" panose="020B0604020202020204" pitchFamily="34" charset="0"/>
                <a:cs typeface="Arial" panose="020B0604020202020204" pitchFamily="34" charset="0"/>
              </a:rPr>
              <a:t> sesuatu harus dilakukan.</a:t>
            </a:r>
          </a:p>
          <a:p>
            <a:pPr lvl="1">
              <a:lnSpc>
                <a:spcPct val="100000"/>
              </a:lnSpc>
              <a:spcBef>
                <a:spcPts val="0"/>
              </a:spcBef>
            </a:pPr>
            <a:r>
              <a:rPr lang="en-US" sz="2000" b="1" noProof="1">
                <a:latin typeface="Arial" panose="020B0604020202020204" pitchFamily="34" charset="0"/>
                <a:cs typeface="Arial" panose="020B0604020202020204" pitchFamily="34" charset="0"/>
              </a:rPr>
              <a:t>Standar</a:t>
            </a:r>
            <a:r>
              <a:rPr lang="en-US" sz="2000" noProof="1">
                <a:latin typeface="Arial" panose="020B0604020202020204" pitchFamily="34" charset="0"/>
                <a:cs typeface="Arial" panose="020B0604020202020204" pitchFamily="34" charset="0"/>
              </a:rPr>
              <a:t> menjelaskan </a:t>
            </a:r>
            <a:r>
              <a:rPr lang="en-US" sz="2000" b="1" noProof="1">
                <a:latin typeface="Arial" panose="020B0604020202020204" pitchFamily="34" charset="0"/>
                <a:cs typeface="Arial" panose="020B0604020202020204" pitchFamily="34" charset="0"/>
              </a:rPr>
              <a:t>apa</a:t>
            </a:r>
            <a:r>
              <a:rPr lang="en-US" sz="2000" noProof="1">
                <a:latin typeface="Arial" panose="020B0604020202020204" pitchFamily="34" charset="0"/>
                <a:cs typeface="Arial" panose="020B0604020202020204" pitchFamily="34" charset="0"/>
              </a:rPr>
              <a:t> yang harus dilakukan.</a:t>
            </a:r>
          </a:p>
          <a:p>
            <a:pPr marL="0" indent="0">
              <a:lnSpc>
                <a:spcPct val="100000"/>
              </a:lnSpc>
              <a:spcBef>
                <a:spcPts val="0"/>
              </a:spcBef>
              <a:buNone/>
            </a:pPr>
            <a:endParaRPr lang="en-US" sz="2000" noProof="1">
              <a:latin typeface="Arial" panose="020B0604020202020204" pitchFamily="34" charset="0"/>
              <a:cs typeface="Arial" panose="020B0604020202020204" pitchFamily="34" charset="0"/>
            </a:endParaRPr>
          </a:p>
          <a:p>
            <a:pPr marL="0" indent="0">
              <a:lnSpc>
                <a:spcPct val="100000"/>
              </a:lnSpc>
              <a:spcBef>
                <a:spcPts val="0"/>
              </a:spcBef>
              <a:buNone/>
            </a:pPr>
            <a:endParaRPr lang="en-US" sz="2000" noProof="1">
              <a:latin typeface="Arial" panose="020B0604020202020204" pitchFamily="34" charset="0"/>
              <a:cs typeface="Arial" panose="020B0604020202020204" pitchFamily="34" charset="0"/>
            </a:endParaRPr>
          </a:p>
        </p:txBody>
      </p:sp>
      <p:sp>
        <p:nvSpPr>
          <p:cNvPr id="4" name="Rounded Rectangle 3"/>
          <p:cNvSpPr/>
          <p:nvPr/>
        </p:nvSpPr>
        <p:spPr>
          <a:xfrm>
            <a:off x="1280160" y="3611880"/>
            <a:ext cx="3931920" cy="1188720"/>
          </a:xfrm>
          <a:prstGeom prst="roundRect">
            <a:avLst>
              <a:gd name="adj" fmla="val 1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800" b="1" i="0" noProof="1">
                <a:solidFill>
                  <a:srgbClr val="FFFFFF"/>
                </a:solidFill>
                <a:latin typeface="Arial"/>
              </a:rPr>
              <a:t>STANDAR</a:t>
            </a:r>
          </a:p>
          <a:p>
            <a:pPr algn="ctr"/>
            <a:r>
              <a:rPr lang="en-US" sz="1500" b="0" i="0" noProof="1">
                <a:solidFill>
                  <a:srgbClr val="FFFFFF"/>
                </a:solidFill>
                <a:latin typeface="Arial"/>
              </a:rPr>
              <a:t>APA yang harus dikelola</a:t>
            </a:r>
          </a:p>
          <a:p>
            <a:pPr algn="ctr"/>
            <a:r>
              <a:rPr lang="en-US" sz="1200" b="0" i="1" noProof="1">
                <a:solidFill>
                  <a:srgbClr val="DDE7F5"/>
                </a:solidFill>
                <a:latin typeface="Arial"/>
              </a:rPr>
              <a:t>Contoh: PMBOK® Guide, ISO 21502</a:t>
            </a:r>
          </a:p>
        </p:txBody>
      </p:sp>
      <p:sp>
        <p:nvSpPr>
          <p:cNvPr id="5" name="Rounded Rectangle 4"/>
          <p:cNvSpPr/>
          <p:nvPr/>
        </p:nvSpPr>
        <p:spPr>
          <a:xfrm>
            <a:off x="6976872" y="3611880"/>
            <a:ext cx="3931920" cy="1188720"/>
          </a:xfrm>
          <a:prstGeom prst="roundRect">
            <a:avLst>
              <a:gd name="adj" fmla="val 10000"/>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800" b="1" i="0" noProof="1">
                <a:solidFill>
                  <a:srgbClr val="FFFFFF"/>
                </a:solidFill>
                <a:latin typeface="Arial"/>
              </a:rPr>
              <a:t>METODOLOGI</a:t>
            </a:r>
          </a:p>
          <a:p>
            <a:pPr algn="ctr"/>
            <a:r>
              <a:rPr lang="en-US" sz="1500" b="0" i="0" noProof="1">
                <a:solidFill>
                  <a:srgbClr val="FFFFFF"/>
                </a:solidFill>
                <a:latin typeface="Arial"/>
              </a:rPr>
              <a:t>BAGAIMANA proyek dijalankan</a:t>
            </a:r>
          </a:p>
          <a:p>
            <a:pPr algn="ctr"/>
            <a:r>
              <a:rPr lang="en-US" sz="1200" b="0" i="1" noProof="1">
                <a:solidFill>
                  <a:srgbClr val="DDE7F5"/>
                </a:solidFill>
                <a:latin typeface="Arial"/>
              </a:rPr>
              <a:t>Contoh: metodologi organisasi yang memakai Scrum, PRINCE2, atau RUP</a:t>
            </a:r>
          </a:p>
        </p:txBody>
      </p:sp>
      <p:sp>
        <p:nvSpPr>
          <p:cNvPr id="6" name="Right Arrow 5"/>
          <p:cNvSpPr/>
          <p:nvPr/>
        </p:nvSpPr>
        <p:spPr>
          <a:xfrm>
            <a:off x="5321808" y="4023360"/>
            <a:ext cx="1545336" cy="365760"/>
          </a:xfrm>
          <a:prstGeom prst="rightArrow">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7" name="TextBox 6"/>
          <p:cNvSpPr txBox="1"/>
          <p:nvPr/>
        </p:nvSpPr>
        <p:spPr>
          <a:xfrm>
            <a:off x="5321808" y="3493008"/>
            <a:ext cx="1545336" cy="430887"/>
          </a:xfrm>
          <a:prstGeom prst="rect">
            <a:avLst/>
          </a:prstGeom>
          <a:noFill/>
        </p:spPr>
        <p:txBody>
          <a:bodyPr wrap="square">
            <a:spAutoFit/>
          </a:bodyPr>
          <a:lstStyle/>
          <a:p>
            <a:pPr algn="ctr"/>
            <a:r>
              <a:rPr lang="en-US" sz="1100" b="1" noProof="1">
                <a:latin typeface="Arial"/>
              </a:rPr>
              <a:t>dioperasionalkan melalui tailoring</a:t>
            </a:r>
          </a:p>
        </p:txBody>
      </p:sp>
      <p:sp>
        <p:nvSpPr>
          <p:cNvPr id="8" name="Rounded Rectangle 7"/>
          <p:cNvSpPr/>
          <p:nvPr/>
        </p:nvSpPr>
        <p:spPr>
          <a:xfrm>
            <a:off x="1280160" y="4983480"/>
            <a:ext cx="3931920" cy="777240"/>
          </a:xfrm>
          <a:prstGeom prst="roundRect">
            <a:avLst>
              <a:gd name="adj" fmla="val 10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300" b="0" i="0" noProof="1">
                <a:solidFill>
                  <a:srgbClr val="1F1F1F"/>
                </a:solidFill>
                <a:latin typeface="Arial"/>
              </a:rPr>
              <a:t>Ilustrasi: PMBOK® menekankan pentingnya manajemen risiko</a:t>
            </a:r>
          </a:p>
        </p:txBody>
      </p:sp>
      <p:sp>
        <p:nvSpPr>
          <p:cNvPr id="9" name="Rounded Rectangle 8"/>
          <p:cNvSpPr/>
          <p:nvPr/>
        </p:nvSpPr>
        <p:spPr>
          <a:xfrm>
            <a:off x="6976872" y="4983480"/>
            <a:ext cx="3931920" cy="777240"/>
          </a:xfrm>
          <a:prstGeom prst="roundRect">
            <a:avLst>
              <a:gd name="adj" fmla="val 10000"/>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300" b="0" i="0" noProof="1">
                <a:solidFill>
                  <a:srgbClr val="1F1F1F"/>
                </a:solidFill>
                <a:latin typeface="Arial"/>
              </a:rPr>
              <a:t>Ilustrasi: metodologi tim menetapkan risk register ditinjau di setiap sprint planning</a:t>
            </a:r>
          </a:p>
        </p:txBody>
      </p:sp>
      <p:sp>
        <p:nvSpPr>
          <p:cNvPr id="10" name="Right Arrow 9"/>
          <p:cNvSpPr/>
          <p:nvPr/>
        </p:nvSpPr>
        <p:spPr>
          <a:xfrm>
            <a:off x="5321808" y="5253228"/>
            <a:ext cx="1545336" cy="237744"/>
          </a:xfrm>
          <a:prstGeom prst="rightArrow">
            <a:avLst/>
          </a:prstGeom>
          <a:solidFill>
            <a:schemeClr val="accent3">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noProof="1"/>
              <a:t>Mengembangkan Metodologi Manajemen Proyek TI (2)</a:t>
            </a:r>
          </a:p>
        </p:txBody>
      </p:sp>
      <p:graphicFrame>
        <p:nvGraphicFramePr>
          <p:cNvPr id="4" name="Content Placeholder 3"/>
          <p:cNvGraphicFramePr/>
          <p:nvPr>
            <p:extLst>
              <p:ext uri="{D42A27DB-BD31-4B8C-83A1-F6EECF244321}">
                <p14:modId xmlns:p14="http://schemas.microsoft.com/office/powerpoint/2010/main" val="316794674"/>
              </p:ext>
            </p:extLst>
          </p:nvPr>
        </p:nvGraphicFramePr>
        <p:xfrm>
          <a:off x="237067" y="2240280"/>
          <a:ext cx="11743266" cy="4473144"/>
        </p:xfrm>
        <a:graphic>
          <a:graphicData uri="http://schemas.openxmlformats.org/drawingml/2006/table">
            <a:tbl>
              <a:tblPr/>
              <a:tblGrid>
                <a:gridCol w="1586696">
                  <a:extLst>
                    <a:ext uri="{9D8B030D-6E8A-4147-A177-3AD203B41FA5}">
                      <a16:colId xmlns:a16="http://schemas.microsoft.com/office/drawing/2014/main" val="20000"/>
                    </a:ext>
                  </a:extLst>
                </a:gridCol>
                <a:gridCol w="2450993">
                  <a:extLst>
                    <a:ext uri="{9D8B030D-6E8A-4147-A177-3AD203B41FA5}">
                      <a16:colId xmlns:a16="http://schemas.microsoft.com/office/drawing/2014/main" val="20001"/>
                    </a:ext>
                  </a:extLst>
                </a:gridCol>
                <a:gridCol w="3371151">
                  <a:extLst>
                    <a:ext uri="{9D8B030D-6E8A-4147-A177-3AD203B41FA5}">
                      <a16:colId xmlns:a16="http://schemas.microsoft.com/office/drawing/2014/main" val="20002"/>
                    </a:ext>
                  </a:extLst>
                </a:gridCol>
                <a:gridCol w="4334426">
                  <a:extLst>
                    <a:ext uri="{9D8B030D-6E8A-4147-A177-3AD203B41FA5}">
                      <a16:colId xmlns:a16="http://schemas.microsoft.com/office/drawing/2014/main" val="20003"/>
                    </a:ext>
                  </a:extLst>
                </a:gridCol>
              </a:tblGrid>
              <a:tr h="141463">
                <a:tc>
                  <a:txBody>
                    <a:bodyPr/>
                    <a:lstStyle/>
                    <a:p>
                      <a:pPr algn="ctr">
                        <a:buNone/>
                      </a:pPr>
                      <a:r>
                        <a:rPr lang="en-US" sz="1500" b="1" noProof="1">
                          <a:latin typeface="Arial" panose="020B0604020202020204" pitchFamily="34" charset="0"/>
                          <a:cs typeface="Arial" panose="020B0604020202020204" pitchFamily="34" charset="0"/>
                        </a:rPr>
                        <a:t>Aspek</a:t>
                      </a:r>
                      <a:endParaRPr lang="en-US" sz="1500" noProof="1">
                        <a:latin typeface="Arial" panose="020B0604020202020204" pitchFamily="34" charset="0"/>
                        <a:cs typeface="Arial" panose="020B0604020202020204" pitchFamily="34" charset="0"/>
                      </a:endParaRPr>
                    </a:p>
                  </a:txBody>
                  <a:tcPr marL="51192" marR="51192" marT="25596" marB="25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b="1" noProof="1">
                          <a:latin typeface="Arial" panose="020B0604020202020204" pitchFamily="34" charset="0"/>
                          <a:cs typeface="Arial" panose="020B0604020202020204" pitchFamily="34" charset="0"/>
                        </a:rPr>
                        <a:t>Metodologi</a:t>
                      </a:r>
                      <a:endParaRPr lang="en-US" sz="1500" noProof="1">
                        <a:latin typeface="Arial" panose="020B0604020202020204" pitchFamily="34" charset="0"/>
                        <a:cs typeface="Arial" panose="020B0604020202020204" pitchFamily="34" charset="0"/>
                      </a:endParaRPr>
                    </a:p>
                  </a:txBody>
                  <a:tcPr marL="51192" marR="51192" marT="25596" marB="25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b="1" noProof="1">
                          <a:latin typeface="Arial" panose="020B0604020202020204" pitchFamily="34" charset="0"/>
                          <a:cs typeface="Arial" panose="020B0604020202020204" pitchFamily="34" charset="0"/>
                        </a:rPr>
                        <a:t>Standar</a:t>
                      </a:r>
                      <a:endParaRPr lang="en-US" sz="1500" noProof="1">
                        <a:latin typeface="Arial" panose="020B0604020202020204" pitchFamily="34" charset="0"/>
                        <a:cs typeface="Arial" panose="020B0604020202020204" pitchFamily="34" charset="0"/>
                      </a:endParaRPr>
                    </a:p>
                  </a:txBody>
                  <a:tcPr marL="51192" marR="51192" marT="25596" marB="25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b="1" noProof="1">
                          <a:latin typeface="Arial" panose="020B0604020202020204" pitchFamily="34" charset="0"/>
                          <a:cs typeface="Arial" panose="020B0604020202020204" pitchFamily="34" charset="0"/>
                        </a:rPr>
                        <a:t>Contoh</a:t>
                      </a:r>
                      <a:endParaRPr lang="en-US" sz="1500" noProof="1">
                        <a:latin typeface="Arial" panose="020B0604020202020204" pitchFamily="34" charset="0"/>
                        <a:cs typeface="Arial" panose="020B0604020202020204" pitchFamily="34" charset="0"/>
                      </a:endParaRPr>
                    </a:p>
                  </a:txBody>
                  <a:tcPr marL="51192" marR="51192" marT="25596" marB="255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59755">
                <a:tc>
                  <a:txBody>
                    <a:bodyPr/>
                    <a:lstStyle/>
                    <a:p>
                      <a:pPr>
                        <a:buNone/>
                      </a:pPr>
                      <a:r>
                        <a:rPr lang="en-US" sz="1500" b="1" noProof="1">
                          <a:latin typeface="Arial" panose="020B0604020202020204" pitchFamily="34" charset="0"/>
                          <a:cs typeface="Arial" panose="020B0604020202020204" pitchFamily="34" charset="0"/>
                        </a:rPr>
                        <a:t>Definisi</a:t>
                      </a:r>
                      <a:endParaRPr lang="en-US" sz="1500" noProof="1">
                        <a:latin typeface="Arial" panose="020B0604020202020204" pitchFamily="34" charset="0"/>
                        <a:cs typeface="Arial" panose="020B0604020202020204" pitchFamily="34" charset="0"/>
                      </a:endParaRP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Pendekatan sistematis untuk melaksanakan proyek</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Kerangka kerja yang menetapkan praktik terbaik</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Agile menjelaskan tahapan sprint; PMBOK menjelaskan pentingnya manajemen risiko</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59755">
                <a:tc>
                  <a:txBody>
                    <a:bodyPr/>
                    <a:lstStyle/>
                    <a:p>
                      <a:pPr>
                        <a:buNone/>
                      </a:pPr>
                      <a:r>
                        <a:rPr lang="en-US" sz="1500" b="1" noProof="1">
                          <a:latin typeface="Arial" panose="020B0604020202020204" pitchFamily="34" charset="0"/>
                          <a:cs typeface="Arial" panose="020B0604020202020204" pitchFamily="34" charset="0"/>
                        </a:rPr>
                        <a:t>Fokus</a:t>
                      </a:r>
                      <a:endParaRPr lang="en-US" sz="1500" noProof="1">
                        <a:latin typeface="Arial" panose="020B0604020202020204" pitchFamily="34" charset="0"/>
                        <a:cs typeface="Arial" panose="020B0604020202020204" pitchFamily="34" charset="0"/>
                      </a:endParaRP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i="1" noProof="1">
                          <a:latin typeface="Arial" panose="020B0604020202020204" pitchFamily="34" charset="0"/>
                          <a:cs typeface="Arial" panose="020B0604020202020204" pitchFamily="34" charset="0"/>
                        </a:rPr>
                        <a:t>Bagaimana</a:t>
                      </a:r>
                      <a:r>
                        <a:rPr lang="en-US" sz="1500" noProof="1">
                          <a:latin typeface="Arial" panose="020B0604020202020204" pitchFamily="34" charset="0"/>
                          <a:cs typeface="Arial" panose="020B0604020202020204" pitchFamily="34" charset="0"/>
                        </a:rPr>
                        <a:t> proyek dijalankan</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i="1" noProof="1">
                          <a:latin typeface="Arial" panose="020B0604020202020204" pitchFamily="34" charset="0"/>
                          <a:cs typeface="Arial" panose="020B0604020202020204" pitchFamily="34" charset="0"/>
                        </a:rPr>
                        <a:t>Apa</a:t>
                      </a:r>
                      <a:r>
                        <a:rPr lang="en-US" sz="1500" noProof="1">
                          <a:latin typeface="Arial" panose="020B0604020202020204" pitchFamily="34" charset="0"/>
                          <a:cs typeface="Arial" panose="020B0604020202020204" pitchFamily="34" charset="0"/>
                        </a:rPr>
                        <a:t> yang harus dilakukan dalam proyek</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PRINCE2 menjelaskan proses pelaporan; ISO 21502:2020 memberi panduan proses komunikasi proyek</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65852">
                <a:tc>
                  <a:txBody>
                    <a:bodyPr/>
                    <a:lstStyle/>
                    <a:p>
                      <a:pPr>
                        <a:buNone/>
                      </a:pPr>
                      <a:r>
                        <a:rPr lang="en-US" sz="1500" b="1" noProof="1">
                          <a:latin typeface="Arial" panose="020B0604020202020204" pitchFamily="34" charset="0"/>
                          <a:cs typeface="Arial" panose="020B0604020202020204" pitchFamily="34" charset="0"/>
                        </a:rPr>
                        <a:t>Contoh</a:t>
                      </a:r>
                      <a:endParaRPr lang="en-US" sz="1500" noProof="1">
                        <a:latin typeface="Arial" panose="020B0604020202020204" pitchFamily="34" charset="0"/>
                        <a:cs typeface="Arial" panose="020B0604020202020204" pitchFamily="34" charset="0"/>
                      </a:endParaRP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Scrum/Kanban (penerapan Agile), PRINCE2, RUP; Six Sigma (metodologi mutu)</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PMBOK® Guide, ISO 21502:2020, IPMA ICB (standar kompetensi)</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Agile digunakan dalam pengembangan aplikasi mobile; PMBOK digunakan dalam audit proyek</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65852">
                <a:tc>
                  <a:txBody>
                    <a:bodyPr/>
                    <a:lstStyle/>
                    <a:p>
                      <a:pPr>
                        <a:buNone/>
                      </a:pPr>
                      <a:r>
                        <a:rPr lang="en-US" sz="1500" b="1" noProof="1">
                          <a:latin typeface="Arial" panose="020B0604020202020204" pitchFamily="34" charset="0"/>
                          <a:cs typeface="Arial" panose="020B0604020202020204" pitchFamily="34" charset="0"/>
                        </a:rPr>
                        <a:t>Fleksibilitas</a:t>
                      </a:r>
                      <a:endParaRPr lang="en-US" sz="1500" noProof="1">
                        <a:latin typeface="Arial" panose="020B0604020202020204" pitchFamily="34" charset="0"/>
                        <a:cs typeface="Arial" panose="020B0604020202020204" pitchFamily="34" charset="0"/>
                      </a:endParaRP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Lebih fleksibel dan bisa disesuaikan</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Acuan umum; PMBOK® 7/8 justru menekankan tailoring sesuai konteks</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Agile diterapkan melalui Scrum atau Kanban; prinsip dan domain PMBOK® 7/8 di-tailor sesuai proyek</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59755">
                <a:tc>
                  <a:txBody>
                    <a:bodyPr/>
                    <a:lstStyle/>
                    <a:p>
                      <a:pPr>
                        <a:buNone/>
                      </a:pPr>
                      <a:r>
                        <a:rPr lang="en-US" sz="1500" b="1" noProof="1">
                          <a:latin typeface="Arial" panose="020B0604020202020204" pitchFamily="34" charset="0"/>
                          <a:cs typeface="Arial" panose="020B0604020202020204" pitchFamily="34" charset="0"/>
                        </a:rPr>
                        <a:t>Tujuan Utama</a:t>
                      </a:r>
                      <a:endParaRPr lang="en-US" sz="1500" noProof="1">
                        <a:latin typeface="Arial" panose="020B0604020202020204" pitchFamily="34" charset="0"/>
                        <a:cs typeface="Arial" panose="020B0604020202020204" pitchFamily="34" charset="0"/>
                      </a:endParaRP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Efisiensi dan efektivitas pelaksanaan proyek</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Konsistensi dan kesesuaian dengan praktik terbaik</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Six Sigma fokus pada pengurangan cacat; ISO 21502 memberi panduan praktik proyek yang konsisten</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53657">
                <a:tc>
                  <a:txBody>
                    <a:bodyPr/>
                    <a:lstStyle/>
                    <a:p>
                      <a:pPr>
                        <a:buNone/>
                      </a:pPr>
                      <a:r>
                        <a:rPr lang="en-US" sz="1500" b="1" noProof="1">
                          <a:latin typeface="Arial" panose="020B0604020202020204" pitchFamily="34" charset="0"/>
                          <a:cs typeface="Arial" panose="020B0604020202020204" pitchFamily="34" charset="0"/>
                        </a:rPr>
                        <a:t>Isi</a:t>
                      </a:r>
                      <a:endParaRPr lang="en-US" sz="1500" noProof="1">
                        <a:latin typeface="Arial" panose="020B0604020202020204" pitchFamily="34" charset="0"/>
                        <a:cs typeface="Arial" panose="020B0604020202020204" pitchFamily="34" charset="0"/>
                      </a:endParaRP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Proses, teknik, alat, dan peran dalam proyek</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Terminologi, proses, dan prinsip dasar manajemen proyek</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PRINCE2: 7 prinsip, 7 tema, 7 proses; PMBOK® 7: 12 prinsip dan 8 domain kinerja</a:t>
                      </a:r>
                    </a:p>
                  </a:txBody>
                  <a:tcPr marL="51192" marR="51192" marT="25596" marB="255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8" name="TextBox 7"/>
          <p:cNvSpPr txBox="1"/>
          <p:nvPr/>
        </p:nvSpPr>
        <p:spPr>
          <a:xfrm>
            <a:off x="838200" y="1780818"/>
            <a:ext cx="6097904" cy="400110"/>
          </a:xfrm>
          <a:prstGeom prst="rect">
            <a:avLst/>
          </a:prstGeom>
          <a:noFill/>
        </p:spPr>
        <p:txBody>
          <a:bodyPr wrap="square">
            <a:spAutoFit/>
          </a:bodyPr>
          <a:lstStyle/>
          <a:p>
            <a:r>
              <a:rPr lang="en-US" sz="2000" noProof="1">
                <a:latin typeface="Arial" panose="020B0604020202020204" pitchFamily="34" charset="0"/>
                <a:cs typeface="Arial" panose="020B0604020202020204" pitchFamily="34" charset="0"/>
              </a:rPr>
              <a:t>Tabel Perbedaan Metodologi vs Standar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noProof="1"/>
              <a:t>Mengembangkan Metodologi Manajemen Proyek TI (3)</a:t>
            </a:r>
          </a:p>
        </p:txBody>
      </p:sp>
      <p:sp>
        <p:nvSpPr>
          <p:cNvPr id="3" name="Content Placeholder 2"/>
          <p:cNvSpPr>
            <a:spLocks noGrp="1"/>
          </p:cNvSpPr>
          <p:nvPr>
            <p:ph idx="1"/>
          </p:nvPr>
        </p:nvSpPr>
        <p:spPr/>
        <p:txBody>
          <a:bodyPr>
            <a:noAutofit/>
          </a:bodyPr>
          <a:lstStyle/>
          <a:p>
            <a:pPr marL="0" indent="0">
              <a:lnSpc>
                <a:spcPct val="100000"/>
              </a:lnSpc>
              <a:spcBef>
                <a:spcPts val="0"/>
              </a:spcBef>
              <a:buNone/>
            </a:pPr>
            <a:r>
              <a:rPr lang="en-US" sz="2000" b="1" noProof="1">
                <a:latin typeface="Arial" panose="020B0604020202020204" pitchFamily="34" charset="0"/>
                <a:cs typeface="Arial" panose="020B0604020202020204" pitchFamily="34" charset="0"/>
              </a:rPr>
              <a:t>2. Contoh Metodologi dan Definisi Singkat</a:t>
            </a:r>
          </a:p>
          <a:p>
            <a:pPr lvl="1">
              <a:lnSpc>
                <a:spcPct val="100000"/>
              </a:lnSpc>
              <a:spcBef>
                <a:spcPts val="0"/>
              </a:spcBef>
            </a:pPr>
            <a:r>
              <a:rPr lang="en-US" sz="2000" b="1" noProof="1">
                <a:latin typeface="Arial" panose="020B0604020202020204" pitchFamily="34" charset="0"/>
                <a:cs typeface="Arial" panose="020B0604020202020204" pitchFamily="34" charset="0"/>
              </a:rPr>
              <a:t>PRINCE2</a:t>
            </a:r>
            <a:r>
              <a:rPr lang="en-US" sz="2000" noProof="1">
                <a:latin typeface="Arial" panose="020B0604020202020204" pitchFamily="34" charset="0"/>
                <a:cs typeface="Arial" panose="020B0604020202020204" pitchFamily="34" charset="0"/>
              </a:rPr>
              <a:t>: Metodologi berbasis proses yang sangat terstruktur, cocok untuk proyek berskala besar dan lingkungan yang membutuhkan dokumentasi formal.</a:t>
            </a:r>
          </a:p>
          <a:p>
            <a:pPr lvl="1">
              <a:lnSpc>
                <a:spcPct val="100000"/>
              </a:lnSpc>
              <a:spcBef>
                <a:spcPts val="0"/>
              </a:spcBef>
            </a:pPr>
            <a:r>
              <a:rPr lang="en-US" sz="2000" b="1" noProof="1">
                <a:latin typeface="Arial" panose="020B0604020202020204" pitchFamily="34" charset="0"/>
                <a:cs typeface="Arial" panose="020B0604020202020204" pitchFamily="34" charset="0"/>
              </a:rPr>
              <a:t>Agile (diterapkan melalui Scrum, Kanban, dll.):</a:t>
            </a:r>
            <a:r>
              <a:rPr lang="en-US" sz="2000" b="0" noProof="1">
                <a:latin typeface="Arial" panose="020B0604020202020204" pitchFamily="34" charset="0"/>
                <a:cs typeface="Arial" panose="020B0604020202020204" pitchFamily="34" charset="0"/>
              </a:rPr>
              <a:t> pola pikir dan pendekatan iteratif-inkremental, ideal untuk proyek dinamis yang membutuhkan respons cepat terhadap perubahan.</a:t>
            </a:r>
          </a:p>
          <a:p>
            <a:pPr lvl="1">
              <a:lnSpc>
                <a:spcPct val="100000"/>
              </a:lnSpc>
              <a:spcBef>
                <a:spcPts val="0"/>
              </a:spcBef>
            </a:pPr>
            <a:r>
              <a:rPr lang="en-US" sz="2000" b="1" noProof="1">
                <a:latin typeface="Arial" panose="020B0604020202020204" pitchFamily="34" charset="0"/>
                <a:cs typeface="Arial" panose="020B0604020202020204" pitchFamily="34" charset="0"/>
              </a:rPr>
              <a:t>RUP (Rational Unified Process)</a:t>
            </a:r>
            <a:r>
              <a:rPr lang="en-US" sz="2000" noProof="1">
                <a:latin typeface="Arial" panose="020B0604020202020204" pitchFamily="34" charset="0"/>
                <a:cs typeface="Arial" panose="020B0604020202020204" pitchFamily="34" charset="0"/>
              </a:rPr>
              <a:t>: Metodologi berbasis fase yang menekankan pada dokumentasi dan pengembangan berulang, cocok untuk proyek perangkat lunak kompleks.</a:t>
            </a:r>
          </a:p>
          <a:p>
            <a:pPr lvl="1">
              <a:lnSpc>
                <a:spcPct val="100000"/>
              </a:lnSpc>
              <a:spcBef>
                <a:spcPts val="0"/>
              </a:spcBef>
            </a:pPr>
            <a:r>
              <a:rPr lang="en-US" sz="2000" b="1" noProof="1">
                <a:latin typeface="Arial" panose="020B0604020202020204" pitchFamily="34" charset="0"/>
                <a:cs typeface="Arial" panose="020B0604020202020204" pitchFamily="34" charset="0"/>
              </a:rPr>
              <a:t>Six Sigma:</a:t>
            </a:r>
            <a:r>
              <a:rPr lang="en-US" sz="2000" b="0" noProof="1">
                <a:latin typeface="Arial" panose="020B0604020202020204" pitchFamily="34" charset="0"/>
                <a:cs typeface="Arial" panose="020B0604020202020204" pitchFamily="34" charset="0"/>
              </a:rPr>
              <a:t> metodologi peningkatan kualitas proses (bukan metodologi manajemen proyek murni); digunakan pada proyek perbaikan proses dan pengurangan cacat.</a:t>
            </a:r>
          </a:p>
          <a:p>
            <a:pPr marL="0" indent="0">
              <a:lnSpc>
                <a:spcPct val="100000"/>
              </a:lnSpc>
              <a:spcBef>
                <a:spcPts val="0"/>
              </a:spcBef>
              <a:buNone/>
            </a:pPr>
            <a:endParaRPr lang="en-US" sz="2000" noProof="1">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noProof="1"/>
              <a:t>Mengembangkan Metodologi Manajemen Proyek TI (4)</a:t>
            </a:r>
          </a:p>
        </p:txBody>
      </p:sp>
      <p:sp>
        <p:nvSpPr>
          <p:cNvPr id="3" name="Content Placeholder 2"/>
          <p:cNvSpPr>
            <a:spLocks noGrp="1"/>
          </p:cNvSpPr>
          <p:nvPr>
            <p:ph idx="1"/>
          </p:nvPr>
        </p:nvSpPr>
        <p:spPr/>
        <p:txBody>
          <a:bodyPr>
            <a:normAutofit/>
          </a:bodyPr>
          <a:lstStyle/>
          <a:p>
            <a:pPr marL="0" indent="0">
              <a:buNone/>
            </a:pPr>
            <a:r>
              <a:rPr lang="en-US" sz="2000" b="1" noProof="1">
                <a:latin typeface="Arial" panose="020B0604020202020204" pitchFamily="34" charset="0"/>
                <a:cs typeface="Arial" panose="020B0604020202020204" pitchFamily="34" charset="0"/>
              </a:rPr>
              <a:t>3. Kapan Menggunakan Metodologi Tertentu?</a:t>
            </a:r>
          </a:p>
        </p:txBody>
      </p:sp>
      <p:graphicFrame>
        <p:nvGraphicFramePr>
          <p:cNvPr id="8" name="Table 7"/>
          <p:cNvGraphicFramePr>
            <a:graphicFrameLocks noGrp="1"/>
          </p:cNvGraphicFramePr>
          <p:nvPr>
            <p:extLst>
              <p:ext uri="{D42A27DB-BD31-4B8C-83A1-F6EECF244321}">
                <p14:modId xmlns:p14="http://schemas.microsoft.com/office/powerpoint/2010/main" val="3466102105"/>
              </p:ext>
            </p:extLst>
          </p:nvPr>
        </p:nvGraphicFramePr>
        <p:xfrm>
          <a:off x="1097280" y="2229644"/>
          <a:ext cx="10176510" cy="1981200"/>
        </p:xfrm>
        <a:graphic>
          <a:graphicData uri="http://schemas.openxmlformats.org/drawingml/2006/table">
            <a:tbl>
              <a:tblPr/>
              <a:tblGrid>
                <a:gridCol w="2183130">
                  <a:extLst>
                    <a:ext uri="{9D8B030D-6E8A-4147-A177-3AD203B41FA5}">
                      <a16:colId xmlns:a16="http://schemas.microsoft.com/office/drawing/2014/main" val="20000"/>
                    </a:ext>
                  </a:extLst>
                </a:gridCol>
                <a:gridCol w="7993380">
                  <a:extLst>
                    <a:ext uri="{9D8B030D-6E8A-4147-A177-3AD203B41FA5}">
                      <a16:colId xmlns:a16="http://schemas.microsoft.com/office/drawing/2014/main" val="20001"/>
                    </a:ext>
                  </a:extLst>
                </a:gridCol>
              </a:tblGrid>
              <a:tr h="0">
                <a:tc>
                  <a:txBody>
                    <a:bodyPr/>
                    <a:lstStyle/>
                    <a:p>
                      <a:pPr algn="ctr">
                        <a:buNone/>
                      </a:pPr>
                      <a:r>
                        <a:rPr lang="en-US" sz="2000" b="1" noProof="1">
                          <a:latin typeface="Arial" panose="020B0604020202020204" pitchFamily="34" charset="0"/>
                          <a:cs typeface="Arial" panose="020B0604020202020204" pitchFamily="34" charset="0"/>
                        </a:rPr>
                        <a:t>Metodologi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b="1" noProof="1">
                          <a:latin typeface="Arial" panose="020B0604020202020204" pitchFamily="34" charset="0"/>
                          <a:cs typeface="Arial" panose="020B0604020202020204" pitchFamily="34" charset="0"/>
                        </a:rPr>
                        <a:t>Cocok Digunakan Pada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a:buNone/>
                      </a:pPr>
                      <a:r>
                        <a:rPr lang="en-US" sz="2000" noProof="1">
                          <a:latin typeface="Arial" panose="020B0604020202020204" pitchFamily="34" charset="0"/>
                          <a:cs typeface="Arial" panose="020B0604020202020204" pitchFamily="34" charset="0"/>
                        </a:rPr>
                        <a:t>PRINCE2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noProof="1">
                          <a:latin typeface="Arial" panose="020B0604020202020204" pitchFamily="34" charset="0"/>
                          <a:cs typeface="Arial" panose="020B0604020202020204" pitchFamily="34" charset="0"/>
                        </a:rPr>
                        <a:t>Proyek besar, formal, dan terstruktur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a:buNone/>
                      </a:pPr>
                      <a:r>
                        <a:rPr lang="en-US" sz="2000" noProof="1">
                          <a:latin typeface="Arial" panose="020B0604020202020204" pitchFamily="34" charset="0"/>
                          <a:cs typeface="Arial" panose="020B0604020202020204" pitchFamily="34" charset="0"/>
                        </a:rPr>
                        <a:t>Agile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noProof="1">
                          <a:latin typeface="Arial" panose="020B0604020202020204" pitchFamily="34" charset="0"/>
                          <a:cs typeface="Arial" panose="020B0604020202020204" pitchFamily="34" charset="0"/>
                        </a:rPr>
                        <a:t>Proyek cepat berubah, tim kecil, dan kolaboratif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pPr>
                        <a:buNone/>
                      </a:pPr>
                      <a:r>
                        <a:rPr lang="en-US" sz="2000" noProof="1">
                          <a:latin typeface="Arial" panose="020B0604020202020204" pitchFamily="34" charset="0"/>
                          <a:cs typeface="Arial" panose="020B0604020202020204" pitchFamily="34" charset="0"/>
                        </a:rPr>
                        <a:t>RUP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noProof="1">
                          <a:latin typeface="Arial" panose="020B0604020202020204" pitchFamily="34" charset="0"/>
                          <a:cs typeface="Arial" panose="020B0604020202020204" pitchFamily="34" charset="0"/>
                        </a:rPr>
                        <a:t>Proyek perangkat lunak kompleks dengan banyak fase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pPr>
                        <a:buNone/>
                      </a:pPr>
                      <a:r>
                        <a:rPr lang="en-US" sz="2000" noProof="1">
                          <a:latin typeface="Arial" panose="020B0604020202020204" pitchFamily="34" charset="0"/>
                          <a:cs typeface="Arial" panose="020B0604020202020204" pitchFamily="34" charset="0"/>
                        </a:rPr>
                        <a:t>Six Sigma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noProof="1">
                          <a:latin typeface="Arial" panose="020B0604020202020204" pitchFamily="34" charset="0"/>
                          <a:cs typeface="Arial" panose="020B0604020202020204" pitchFamily="34" charset="0"/>
                        </a:rPr>
                        <a:t>Proyek peningkatan proses dan kualitas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noProof="1"/>
              <a:t>Mengembangkan Metodologi Manajemen Proyek TI (5)</a:t>
            </a:r>
          </a:p>
        </p:txBody>
      </p:sp>
      <p:sp>
        <p:nvSpPr>
          <p:cNvPr id="3" name="Content Placeholder 2"/>
          <p:cNvSpPr>
            <a:spLocks noGrp="1"/>
          </p:cNvSpPr>
          <p:nvPr>
            <p:ph idx="1"/>
          </p:nvPr>
        </p:nvSpPr>
        <p:spPr/>
        <p:txBody>
          <a:bodyPr>
            <a:noAutofit/>
          </a:bodyPr>
          <a:lstStyle/>
          <a:p>
            <a:pPr marL="0" indent="0">
              <a:lnSpc>
                <a:spcPct val="100000"/>
              </a:lnSpc>
              <a:buNone/>
            </a:pPr>
            <a:r>
              <a:rPr lang="en-US" b="1" noProof="1">
                <a:latin typeface="Arial" panose="020B0604020202020204" pitchFamily="34" charset="0"/>
                <a:cs typeface="Arial" panose="020B0604020202020204" pitchFamily="34" charset="0"/>
              </a:rPr>
              <a:t>Studi Kasus: Pengembangan Aplikasi Mobile</a:t>
            </a:r>
          </a:p>
          <a:p>
            <a:pPr>
              <a:lnSpc>
                <a:spcPct val="100000"/>
              </a:lnSpc>
            </a:pPr>
            <a:r>
              <a:rPr lang="en-US" sz="2000" b="1" noProof="1">
                <a:latin typeface="Arial" panose="020B0604020202020204" pitchFamily="34" charset="0"/>
                <a:cs typeface="Arial" panose="020B0604020202020204" pitchFamily="34" charset="0"/>
              </a:rPr>
              <a:t>Standar yang Digunakan: PMBOK</a:t>
            </a:r>
          </a:p>
          <a:p>
            <a:pPr lvl="1">
              <a:lnSpc>
                <a:spcPct val="100000"/>
              </a:lnSpc>
            </a:pPr>
            <a:r>
              <a:rPr lang="en-US" sz="2000" noProof="1">
                <a:latin typeface="Arial" panose="020B0604020202020204" pitchFamily="34" charset="0"/>
                <a:cs typeface="Arial" panose="020B0604020202020204" pitchFamily="34" charset="0"/>
              </a:rPr>
              <a:t>Tim proyek mengacu pada PMBOK untuk memastikan semua aspek manajemen proyek tercakup: </a:t>
            </a:r>
          </a:p>
          <a:p>
            <a:pPr lvl="2">
              <a:lnSpc>
                <a:spcPct val="100000"/>
              </a:lnSpc>
            </a:pPr>
            <a:r>
              <a:rPr lang="en-US" noProof="1">
                <a:latin typeface="Arial" panose="020B0604020202020204" pitchFamily="34" charset="0"/>
                <a:cs typeface="Arial" panose="020B0604020202020204" pitchFamily="34" charset="0"/>
              </a:rPr>
              <a:t>Manajemen waktu</a:t>
            </a:r>
          </a:p>
          <a:p>
            <a:pPr lvl="2">
              <a:lnSpc>
                <a:spcPct val="100000"/>
              </a:lnSpc>
            </a:pPr>
            <a:r>
              <a:rPr lang="en-US" noProof="1">
                <a:latin typeface="Arial" panose="020B0604020202020204" pitchFamily="34" charset="0"/>
                <a:cs typeface="Arial" panose="020B0604020202020204" pitchFamily="34" charset="0"/>
              </a:rPr>
              <a:t>Manajemen risiko</a:t>
            </a:r>
          </a:p>
          <a:p>
            <a:pPr lvl="2">
              <a:lnSpc>
                <a:spcPct val="100000"/>
              </a:lnSpc>
            </a:pPr>
            <a:r>
              <a:rPr lang="en-US" noProof="1">
                <a:latin typeface="Arial" panose="020B0604020202020204" pitchFamily="34" charset="0"/>
                <a:cs typeface="Arial" panose="020B0604020202020204" pitchFamily="34" charset="0"/>
              </a:rPr>
              <a:t>Manajemen komunikasi</a:t>
            </a:r>
          </a:p>
          <a:p>
            <a:pPr lvl="2">
              <a:lnSpc>
                <a:spcPct val="100000"/>
              </a:lnSpc>
            </a:pPr>
            <a:r>
              <a:rPr lang="en-US" noProof="1">
                <a:latin typeface="Arial" panose="020B0604020202020204" pitchFamily="34" charset="0"/>
                <a:cs typeface="Arial" panose="020B0604020202020204" pitchFamily="34" charset="0"/>
              </a:rPr>
              <a:t>Manajemen kualitas</a:t>
            </a:r>
          </a:p>
          <a:p>
            <a:pPr lvl="1">
              <a:lnSpc>
                <a:spcPct val="100000"/>
              </a:lnSpc>
            </a:pPr>
            <a:r>
              <a:rPr lang="en-US" sz="2000" noProof="1">
                <a:latin typeface="Arial" panose="020B0604020202020204" pitchFamily="34" charset="0"/>
                <a:cs typeface="Arial" panose="020B0604020202020204" pitchFamily="34" charset="0"/>
              </a:rPr>
              <a:t>PMBOK memberi tahu tim </a:t>
            </a:r>
            <a:r>
              <a:rPr lang="en-US" sz="2000" b="1" noProof="1">
                <a:latin typeface="Arial" panose="020B0604020202020204" pitchFamily="34" charset="0"/>
                <a:cs typeface="Arial" panose="020B0604020202020204" pitchFamily="34" charset="0"/>
              </a:rPr>
              <a:t>apa saja yang harus dilakukan</a:t>
            </a:r>
            <a:r>
              <a:rPr lang="en-US" sz="2000" noProof="1">
                <a:latin typeface="Arial" panose="020B0604020202020204" pitchFamily="34" charset="0"/>
                <a:cs typeface="Arial" panose="020B0604020202020204" pitchFamily="34" charset="0"/>
              </a:rPr>
              <a:t> agar proyek berjalan sesuai praktik terbaik.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noProof="1"/>
              <a:t>Mengembangkan Metodologi Manajemen Proyek TI (6)</a:t>
            </a:r>
          </a:p>
        </p:txBody>
      </p:sp>
      <p:sp>
        <p:nvSpPr>
          <p:cNvPr id="3" name="Content Placeholder 2"/>
          <p:cNvSpPr>
            <a:spLocks noGrp="1"/>
          </p:cNvSpPr>
          <p:nvPr>
            <p:ph idx="1"/>
          </p:nvPr>
        </p:nvSpPr>
        <p:spPr/>
        <p:txBody>
          <a:bodyPr>
            <a:noAutofit/>
          </a:bodyPr>
          <a:lstStyle/>
          <a:p>
            <a:pPr>
              <a:lnSpc>
                <a:spcPct val="100000"/>
              </a:lnSpc>
            </a:pPr>
            <a:r>
              <a:rPr lang="en-US" sz="2000" b="1" noProof="1">
                <a:latin typeface="Arial" panose="020B0604020202020204" pitchFamily="34" charset="0"/>
                <a:cs typeface="Arial" panose="020B0604020202020204" pitchFamily="34" charset="0"/>
              </a:rPr>
              <a:t>Metodologi yang Dipilih: Agile (Scrum)</a:t>
            </a:r>
          </a:p>
          <a:p>
            <a:pPr lvl="1">
              <a:lnSpc>
                <a:spcPct val="100000"/>
              </a:lnSpc>
            </a:pPr>
            <a:r>
              <a:rPr lang="en-US" sz="2000" noProof="1">
                <a:latin typeface="Arial" panose="020B0604020202020204" pitchFamily="34" charset="0"/>
                <a:cs typeface="Arial" panose="020B0604020202020204" pitchFamily="34" charset="0"/>
              </a:rPr>
              <a:t>Untuk pelaksanaan proyek, tim memilih metodologi Agile karena: </a:t>
            </a:r>
          </a:p>
          <a:p>
            <a:pPr lvl="2">
              <a:lnSpc>
                <a:spcPct val="100000"/>
              </a:lnSpc>
            </a:pPr>
            <a:r>
              <a:rPr lang="en-US" noProof="1">
                <a:latin typeface="Arial" panose="020B0604020202020204" pitchFamily="34" charset="0"/>
                <a:cs typeface="Arial" panose="020B0604020202020204" pitchFamily="34" charset="0"/>
              </a:rPr>
              <a:t>Proyek bersifat dinamis dan cepat berubah</a:t>
            </a:r>
          </a:p>
          <a:p>
            <a:pPr lvl="2">
              <a:lnSpc>
                <a:spcPct val="100000"/>
              </a:lnSpc>
            </a:pPr>
            <a:r>
              <a:rPr lang="en-US" noProof="1">
                <a:latin typeface="Arial" panose="020B0604020202020204" pitchFamily="34" charset="0"/>
                <a:cs typeface="Arial" panose="020B0604020202020204" pitchFamily="34" charset="0"/>
              </a:rPr>
              <a:t>Klien ingin melihat hasil secara bertahap</a:t>
            </a:r>
          </a:p>
          <a:p>
            <a:pPr lvl="2">
              <a:lnSpc>
                <a:spcPct val="100000"/>
              </a:lnSpc>
            </a:pPr>
            <a:r>
              <a:rPr lang="en-US" noProof="1">
                <a:latin typeface="Arial" panose="020B0604020202020204" pitchFamily="34" charset="0"/>
                <a:cs typeface="Arial" panose="020B0604020202020204" pitchFamily="34" charset="0"/>
              </a:rPr>
              <a:t>Tim bekerja dalam sprint 2 minggu</a:t>
            </a:r>
          </a:p>
          <a:p>
            <a:pPr lvl="1">
              <a:lnSpc>
                <a:spcPct val="100000"/>
              </a:lnSpc>
            </a:pPr>
            <a:r>
              <a:rPr lang="en-US" sz="2000" noProof="1">
                <a:latin typeface="Arial" panose="020B0604020202020204" pitchFamily="34" charset="0"/>
                <a:cs typeface="Arial" panose="020B0604020202020204" pitchFamily="34" charset="0"/>
              </a:rPr>
              <a:t>Agile memberi tahu tim </a:t>
            </a:r>
            <a:r>
              <a:rPr lang="en-US" sz="2000" b="1" noProof="1">
                <a:latin typeface="Arial" panose="020B0604020202020204" pitchFamily="34" charset="0"/>
                <a:cs typeface="Arial" panose="020B0604020202020204" pitchFamily="34" charset="0"/>
              </a:rPr>
              <a:t>bagaimana cara melaksanakan proyek</a:t>
            </a:r>
            <a:r>
              <a:rPr lang="en-US" sz="2000" noProof="1">
                <a:latin typeface="Arial" panose="020B0604020202020204" pitchFamily="34" charset="0"/>
                <a:cs typeface="Arial" panose="020B0604020202020204" pitchFamily="34" charset="0"/>
              </a:rPr>
              <a:t>, misalnya:</a:t>
            </a:r>
          </a:p>
          <a:p>
            <a:pPr lvl="2">
              <a:lnSpc>
                <a:spcPct val="100000"/>
              </a:lnSpc>
            </a:pPr>
            <a:r>
              <a:rPr lang="en-US" noProof="1">
                <a:latin typeface="Arial" panose="020B0604020202020204" pitchFamily="34" charset="0"/>
                <a:cs typeface="Arial" panose="020B0604020202020204" pitchFamily="34" charset="0"/>
              </a:rPr>
              <a:t>Daily stand-up meeting</a:t>
            </a:r>
          </a:p>
          <a:p>
            <a:pPr lvl="2">
              <a:lnSpc>
                <a:spcPct val="100000"/>
              </a:lnSpc>
            </a:pPr>
            <a:r>
              <a:rPr lang="en-US" noProof="1">
                <a:latin typeface="Arial" panose="020B0604020202020204" pitchFamily="34" charset="0"/>
                <a:cs typeface="Arial" panose="020B0604020202020204" pitchFamily="34" charset="0"/>
              </a:rPr>
              <a:t>Sprint planning dan review</a:t>
            </a:r>
          </a:p>
          <a:p>
            <a:pPr lvl="2">
              <a:lnSpc>
                <a:spcPct val="100000"/>
              </a:lnSpc>
            </a:pPr>
            <a:r>
              <a:rPr lang="en-US" noProof="1">
                <a:latin typeface="Arial" panose="020B0604020202020204" pitchFamily="34" charset="0"/>
                <a:cs typeface="Arial" panose="020B0604020202020204" pitchFamily="34" charset="0"/>
              </a:rPr>
              <a:t>Backlog grooming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noProof="1"/>
              <a:t>Mengembangkan Metodologi Manajemen Proyek TI (7)</a:t>
            </a:r>
          </a:p>
        </p:txBody>
      </p:sp>
      <p:sp>
        <p:nvSpPr>
          <p:cNvPr id="3" name="Rounded Rectangle 2"/>
          <p:cNvSpPr/>
          <p:nvPr/>
        </p:nvSpPr>
        <p:spPr>
          <a:xfrm>
            <a:off x="723900" y="2148840"/>
            <a:ext cx="2171700" cy="132588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lang="en-US" sz="1500" b="1" i="0" noProof="1">
                <a:solidFill>
                  <a:srgbClr val="FFFFFF"/>
                </a:solidFill>
                <a:latin typeface="Arial"/>
              </a:rPr>
              <a:t>STANDAR</a:t>
            </a:r>
          </a:p>
          <a:p>
            <a:pPr algn="ctr"/>
            <a:r>
              <a:rPr lang="en-US" sz="1300" b="0" i="0" noProof="1">
                <a:solidFill>
                  <a:srgbClr val="FFFFFF"/>
                </a:solidFill>
                <a:latin typeface="Arial"/>
              </a:rPr>
              <a:t>APA yang perlu dikelola</a:t>
            </a:r>
          </a:p>
          <a:p>
            <a:pPr algn="ctr"/>
            <a:r>
              <a:rPr lang="en-US" sz="1100" b="0" i="1" noProof="1">
                <a:solidFill>
                  <a:srgbClr val="DDE7F5"/>
                </a:solidFill>
                <a:latin typeface="Arial"/>
              </a:rPr>
              <a:t>PMBOK® Guide, ISO 21502</a:t>
            </a:r>
          </a:p>
        </p:txBody>
      </p:sp>
      <p:sp>
        <p:nvSpPr>
          <p:cNvPr id="4" name="Rounded Rectangle 3"/>
          <p:cNvSpPr/>
          <p:nvPr/>
        </p:nvSpPr>
        <p:spPr>
          <a:xfrm>
            <a:off x="723900" y="3767328"/>
            <a:ext cx="2171700" cy="1051560"/>
          </a:xfrm>
          <a:prstGeom prst="roundRect">
            <a:avLst>
              <a:gd name="adj" fmla="val 8000"/>
            </a:avLst>
          </a:prstGeom>
          <a:solidFill>
            <a:schemeClr val="accent3">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lang="en-US" sz="1200" b="0" i="0" noProof="1">
                <a:solidFill>
                  <a:srgbClr val="1F1F1F"/>
                </a:solidFill>
                <a:latin typeface="Arial"/>
              </a:rPr>
              <a:t>Area waktu, risiko, komunikasi, dan kualitas wajib dikelola</a:t>
            </a:r>
          </a:p>
        </p:txBody>
      </p:sp>
      <p:sp>
        <p:nvSpPr>
          <p:cNvPr id="5" name="Right Arrow 4"/>
          <p:cNvSpPr/>
          <p:nvPr/>
        </p:nvSpPr>
        <p:spPr>
          <a:xfrm>
            <a:off x="2941320" y="2665476"/>
            <a:ext cx="594360" cy="292608"/>
          </a:xfrm>
          <a:prstGeom prst="rightArrow">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6" name="TextBox 5"/>
          <p:cNvSpPr txBox="1"/>
          <p:nvPr/>
        </p:nvSpPr>
        <p:spPr>
          <a:xfrm>
            <a:off x="2895600" y="2377862"/>
            <a:ext cx="685800" cy="227755"/>
          </a:xfrm>
          <a:prstGeom prst="rect">
            <a:avLst/>
          </a:prstGeom>
          <a:noFill/>
        </p:spPr>
        <p:txBody>
          <a:bodyPr wrap="square" lIns="0" tIns="36576" rIns="0" bIns="36576" anchor="ctr">
            <a:spAutoFit/>
          </a:bodyPr>
          <a:lstStyle/>
          <a:p>
            <a:pPr algn="ctr"/>
            <a:r>
              <a:rPr lang="en-US" sz="1000" b="1" i="0" noProof="1">
                <a:latin typeface="Arial"/>
              </a:rPr>
              <a:t>tailoring</a:t>
            </a:r>
          </a:p>
        </p:txBody>
      </p:sp>
      <p:sp>
        <p:nvSpPr>
          <p:cNvPr id="7" name="Rounded Rectangle 6"/>
          <p:cNvSpPr/>
          <p:nvPr/>
        </p:nvSpPr>
        <p:spPr>
          <a:xfrm>
            <a:off x="3581400" y="2148840"/>
            <a:ext cx="2171700" cy="1325880"/>
          </a:xfrm>
          <a:prstGeom prst="roundRect">
            <a:avLst>
              <a:gd name="adj" fmla="val 8000"/>
            </a:avLst>
          </a:prstGeom>
          <a:solidFill>
            <a:schemeClr val="tx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lang="en-US" sz="1500" b="1" i="0" noProof="1">
                <a:solidFill>
                  <a:srgbClr val="FFFFFF"/>
                </a:solidFill>
                <a:latin typeface="Arial"/>
              </a:rPr>
              <a:t>METODOLOGI ORGANISASI</a:t>
            </a:r>
          </a:p>
          <a:p>
            <a:pPr algn="ctr"/>
            <a:r>
              <a:rPr lang="en-US" sz="1300" b="0" i="0" noProof="1">
                <a:solidFill>
                  <a:srgbClr val="FFFFFF"/>
                </a:solidFill>
                <a:latin typeface="Arial"/>
              </a:rPr>
              <a:t>BAGAIMANA organisasi bekerja</a:t>
            </a:r>
          </a:p>
          <a:p>
            <a:pPr algn="ctr"/>
            <a:r>
              <a:rPr lang="en-US" sz="1100" b="0" i="1" noProof="1">
                <a:solidFill>
                  <a:srgbClr val="DDE7F5"/>
                </a:solidFill>
                <a:latin typeface="Arial"/>
              </a:rPr>
              <a:t>Proses, peran, dan template internal</a:t>
            </a:r>
          </a:p>
        </p:txBody>
      </p:sp>
      <p:sp>
        <p:nvSpPr>
          <p:cNvPr id="8" name="Rounded Rectangle 7"/>
          <p:cNvSpPr/>
          <p:nvPr/>
        </p:nvSpPr>
        <p:spPr>
          <a:xfrm>
            <a:off x="3581400" y="3767328"/>
            <a:ext cx="2171700" cy="1051560"/>
          </a:xfrm>
          <a:prstGeom prst="roundRect">
            <a:avLst>
              <a:gd name="adj" fmla="val 8000"/>
            </a:avLst>
          </a:prstGeom>
          <a:solidFill>
            <a:schemeClr val="accent3">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lang="en-US" sz="1200" b="0" i="0" noProof="1">
                <a:solidFill>
                  <a:srgbClr val="1F1F1F"/>
                </a:solidFill>
                <a:latin typeface="Arial"/>
              </a:rPr>
              <a:t>Tim menetapkan sprint 2 minggu, kriteria “selesai”, dan laporan ke klien per sprint</a:t>
            </a:r>
          </a:p>
        </p:txBody>
      </p:sp>
      <p:sp>
        <p:nvSpPr>
          <p:cNvPr id="9" name="Right Arrow 8"/>
          <p:cNvSpPr/>
          <p:nvPr/>
        </p:nvSpPr>
        <p:spPr>
          <a:xfrm>
            <a:off x="5798820" y="2665476"/>
            <a:ext cx="594360" cy="292608"/>
          </a:xfrm>
          <a:prstGeom prst="rightArrow">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0" name="TextBox 9"/>
          <p:cNvSpPr txBox="1"/>
          <p:nvPr/>
        </p:nvSpPr>
        <p:spPr>
          <a:xfrm>
            <a:off x="5753100" y="2377862"/>
            <a:ext cx="685800" cy="227755"/>
          </a:xfrm>
          <a:prstGeom prst="rect">
            <a:avLst/>
          </a:prstGeom>
          <a:noFill/>
        </p:spPr>
        <p:txBody>
          <a:bodyPr wrap="square" lIns="0" tIns="36576" rIns="0" bIns="36576" anchor="ctr">
            <a:spAutoFit/>
          </a:bodyPr>
          <a:lstStyle/>
          <a:p>
            <a:pPr algn="ctr"/>
            <a:r>
              <a:rPr lang="en-US" sz="1000" b="1" i="0" noProof="1">
                <a:latin typeface="Arial"/>
              </a:rPr>
              <a:t>adopsi</a:t>
            </a:r>
          </a:p>
        </p:txBody>
      </p:sp>
      <p:sp>
        <p:nvSpPr>
          <p:cNvPr id="11" name="Rounded Rectangle 10"/>
          <p:cNvSpPr/>
          <p:nvPr/>
        </p:nvSpPr>
        <p:spPr>
          <a:xfrm>
            <a:off x="6438900" y="2148840"/>
            <a:ext cx="2171700" cy="1325880"/>
          </a:xfrm>
          <a:prstGeom prst="roundRect">
            <a:avLst>
              <a:gd name="adj" fmla="val 8000"/>
            </a:avLst>
          </a:prstGeom>
          <a:solidFill>
            <a:schemeClr val="tx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lang="en-US" sz="1500" b="1" i="0" noProof="1">
                <a:solidFill>
                  <a:srgbClr val="FFFFFF"/>
                </a:solidFill>
                <a:latin typeface="Arial"/>
              </a:rPr>
              <a:t>FRAMEWORK / PRAKTIK</a:t>
            </a:r>
          </a:p>
          <a:p>
            <a:pPr algn="ctr"/>
            <a:r>
              <a:rPr lang="en-US" sz="1300" b="0" i="0" noProof="1">
                <a:solidFill>
                  <a:srgbClr val="FFFFFF"/>
                </a:solidFill>
                <a:latin typeface="Arial"/>
              </a:rPr>
              <a:t>ALAT untuk menjalankan</a:t>
            </a:r>
          </a:p>
          <a:p>
            <a:pPr algn="ctr"/>
            <a:r>
              <a:rPr lang="en-US" sz="1100" b="0" i="1" noProof="1">
                <a:solidFill>
                  <a:srgbClr val="DDE7F5"/>
                </a:solidFill>
                <a:latin typeface="Arial"/>
              </a:rPr>
              <a:t>Scrum, Kanban, PRINCE2, teknik Six Sigma</a:t>
            </a:r>
          </a:p>
        </p:txBody>
      </p:sp>
      <p:sp>
        <p:nvSpPr>
          <p:cNvPr id="12" name="Rounded Rectangle 11"/>
          <p:cNvSpPr/>
          <p:nvPr/>
        </p:nvSpPr>
        <p:spPr>
          <a:xfrm>
            <a:off x="6438900" y="3767328"/>
            <a:ext cx="2171700" cy="1051560"/>
          </a:xfrm>
          <a:prstGeom prst="roundRect">
            <a:avLst>
              <a:gd name="adj" fmla="val 8000"/>
            </a:avLst>
          </a:prstGeom>
          <a:solidFill>
            <a:schemeClr val="accent3">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lang="en-US" sz="1200" b="0" i="0" noProof="1">
                <a:solidFill>
                  <a:srgbClr val="1F1F1F"/>
                </a:solidFill>
                <a:latin typeface="Arial"/>
              </a:rPr>
              <a:t>Daily stand-up, sprint planning &amp; review, backlog grooming</a:t>
            </a:r>
          </a:p>
        </p:txBody>
      </p:sp>
      <p:sp>
        <p:nvSpPr>
          <p:cNvPr id="13" name="Right Arrow 12"/>
          <p:cNvSpPr/>
          <p:nvPr/>
        </p:nvSpPr>
        <p:spPr>
          <a:xfrm>
            <a:off x="8656320" y="2665476"/>
            <a:ext cx="594360" cy="292608"/>
          </a:xfrm>
          <a:prstGeom prst="rightArrow">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4" name="TextBox 13"/>
          <p:cNvSpPr txBox="1"/>
          <p:nvPr/>
        </p:nvSpPr>
        <p:spPr>
          <a:xfrm>
            <a:off x="8610600" y="2377862"/>
            <a:ext cx="685800" cy="227755"/>
          </a:xfrm>
          <a:prstGeom prst="rect">
            <a:avLst/>
          </a:prstGeom>
          <a:noFill/>
        </p:spPr>
        <p:txBody>
          <a:bodyPr wrap="square" lIns="0" tIns="36576" rIns="0" bIns="36576" anchor="ctr">
            <a:spAutoFit/>
          </a:bodyPr>
          <a:lstStyle/>
          <a:p>
            <a:pPr algn="ctr"/>
            <a:r>
              <a:rPr lang="en-US" sz="1000" b="1" i="0" noProof="1">
                <a:latin typeface="Arial"/>
              </a:rPr>
              <a:t>diterapkan</a:t>
            </a:r>
          </a:p>
        </p:txBody>
      </p:sp>
      <p:sp>
        <p:nvSpPr>
          <p:cNvPr id="15" name="Rounded Rectangle 14"/>
          <p:cNvSpPr/>
          <p:nvPr/>
        </p:nvSpPr>
        <p:spPr>
          <a:xfrm>
            <a:off x="9296400" y="2148840"/>
            <a:ext cx="2171700" cy="1325880"/>
          </a:xfrm>
          <a:prstGeom prst="roundRect">
            <a:avLst>
              <a:gd name="adj" fmla="val 8000"/>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lang="en-US" sz="1500" b="1" i="0" noProof="1">
                <a:solidFill>
                  <a:srgbClr val="FFFFFF"/>
                </a:solidFill>
                <a:latin typeface="Arial"/>
              </a:rPr>
              <a:t>PROYEK</a:t>
            </a:r>
          </a:p>
          <a:p>
            <a:pPr algn="ctr"/>
            <a:r>
              <a:rPr lang="en-US" sz="1300" b="0" i="0" noProof="1">
                <a:solidFill>
                  <a:srgbClr val="FFFFFF"/>
                </a:solidFill>
                <a:latin typeface="Arial"/>
              </a:rPr>
              <a:t>PENERAPAN pada konteks nyata</a:t>
            </a:r>
          </a:p>
          <a:p>
            <a:pPr algn="ctr"/>
            <a:r>
              <a:rPr lang="en-US" sz="1100" b="0" i="1" noProof="1">
                <a:solidFill>
                  <a:srgbClr val="DDE7F5"/>
                </a:solidFill>
                <a:latin typeface="Arial"/>
              </a:rPr>
              <a:t>Deliverable dan nilai bagi stakeholder</a:t>
            </a:r>
          </a:p>
        </p:txBody>
      </p:sp>
      <p:sp>
        <p:nvSpPr>
          <p:cNvPr id="16" name="Rounded Rectangle 15"/>
          <p:cNvSpPr/>
          <p:nvPr/>
        </p:nvSpPr>
        <p:spPr>
          <a:xfrm>
            <a:off x="9296400" y="3767328"/>
            <a:ext cx="2171700" cy="1051560"/>
          </a:xfrm>
          <a:prstGeom prst="roundRect">
            <a:avLst>
              <a:gd name="adj" fmla="val 8000"/>
            </a:avLst>
          </a:prstGeom>
          <a:solidFill>
            <a:schemeClr val="accent3">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lang="en-US" sz="1200" b="0" i="0" noProof="1">
                <a:solidFill>
                  <a:srgbClr val="1F1F1F"/>
                </a:solidFill>
                <a:latin typeface="Arial"/>
              </a:rPr>
              <a:t>Aplikasi mobile dirilis bertahap; klien melihat hasil setiap sprint</a:t>
            </a:r>
          </a:p>
        </p:txBody>
      </p:sp>
      <p:sp>
        <p:nvSpPr>
          <p:cNvPr id="17" name="TextBox 16"/>
          <p:cNvSpPr txBox="1"/>
          <p:nvPr/>
        </p:nvSpPr>
        <p:spPr>
          <a:xfrm>
            <a:off x="723900" y="3520440"/>
            <a:ext cx="5486400" cy="246888"/>
          </a:xfrm>
          <a:prstGeom prst="rect">
            <a:avLst/>
          </a:prstGeom>
          <a:noFill/>
        </p:spPr>
        <p:txBody>
          <a:bodyPr wrap="square" lIns="0" tIns="36576" rIns="0" bIns="36576" anchor="ctr">
            <a:spAutoFit/>
          </a:bodyPr>
          <a:lstStyle/>
          <a:p>
            <a:pPr algn="l"/>
            <a:r>
              <a:rPr lang="en-US" sz="1100" b="1" i="0" noProof="1">
                <a:solidFill>
                  <a:srgbClr val="595959"/>
                </a:solidFill>
                <a:latin typeface="Arial"/>
              </a:rPr>
              <a:t>Contoh: studi kasus aplikasi mobile (slide 18–19)</a:t>
            </a:r>
          </a:p>
        </p:txBody>
      </p:sp>
      <p:sp>
        <p:nvSpPr>
          <p:cNvPr id="18" name="Left Arrow 17"/>
          <p:cNvSpPr/>
          <p:nvPr/>
        </p:nvSpPr>
        <p:spPr>
          <a:xfrm>
            <a:off x="3581400" y="4937760"/>
            <a:ext cx="7886700" cy="384048"/>
          </a:xfrm>
          <a:prstGeom prst="leftArrow">
            <a:avLst/>
          </a:prstGeom>
          <a:solidFill>
            <a:schemeClr val="accent3">
              <a:lumMod val="20000"/>
              <a:lumOff val="80000"/>
            </a:schemeClr>
          </a:solidFill>
          <a:ln w="12700">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lang="en-US" sz="1200" b="0" i="0" noProof="1">
                <a:solidFill>
                  <a:schemeClr val="tx1"/>
                </a:solidFill>
                <a:latin typeface="Arial"/>
              </a:rPr>
              <a:t>Umpan balik: lessons learned proyek memperbarui metodologi organisasi</a:t>
            </a:r>
          </a:p>
        </p:txBody>
      </p:sp>
      <p:sp>
        <p:nvSpPr>
          <p:cNvPr id="19" name="Rounded Rectangle 18"/>
          <p:cNvSpPr/>
          <p:nvPr/>
        </p:nvSpPr>
        <p:spPr>
          <a:xfrm>
            <a:off x="723900" y="5486400"/>
            <a:ext cx="10744200" cy="7772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lang="en-US" sz="1500" b="1" noProof="1">
                <a:solidFill>
                  <a:srgbClr val="1F1F1F"/>
                </a:solidFill>
                <a:latin typeface="Arial"/>
              </a:rPr>
              <a:t>Bukan pilihan “standar atau metodologi”. </a:t>
            </a:r>
            <a:r>
              <a:rPr lang="en-US" sz="1500" b="0" noProof="1">
                <a:solidFill>
                  <a:srgbClr val="1F1F1F"/>
                </a:solidFill>
                <a:latin typeface="Arial"/>
              </a:rPr>
              <a:t>Standar memberi kerangka, metodologi mengoperasionalkannya, dan </a:t>
            </a:r>
            <a:r>
              <a:rPr lang="en-US" sz="1500" b="1" noProof="1">
                <a:solidFill>
                  <a:srgbClr val="1F1F1F"/>
                </a:solidFill>
                <a:latin typeface="Arial"/>
              </a:rPr>
              <a:t>tailoring</a:t>
            </a:r>
            <a:r>
              <a:rPr lang="en-US" sz="1500" b="0" noProof="1">
                <a:solidFill>
                  <a:srgbClr val="1F1F1F"/>
                </a:solidFill>
                <a:latin typeface="Arial"/>
              </a:rPr>
              <a:t> menjadi jembatannya — prinsip yang eksplisit di PMBOK® edisi 7 dan 8.</a:t>
            </a:r>
          </a:p>
        </p:txBody>
      </p:sp>
      <p:sp>
        <p:nvSpPr>
          <p:cNvPr id="20" name="TextBox 19"/>
          <p:cNvSpPr txBox="1"/>
          <p:nvPr/>
        </p:nvSpPr>
        <p:spPr>
          <a:xfrm>
            <a:off x="723900" y="1572768"/>
            <a:ext cx="10744200" cy="411480"/>
          </a:xfrm>
          <a:prstGeom prst="rect">
            <a:avLst/>
          </a:prstGeom>
          <a:noFill/>
        </p:spPr>
        <p:txBody>
          <a:bodyPr wrap="square" lIns="73152" tIns="36576" rIns="73152" bIns="36576" anchor="ctr">
            <a:spAutoFit/>
          </a:bodyPr>
          <a:lstStyle/>
          <a:p>
            <a:pPr algn="ctr"/>
            <a:r>
              <a:rPr lang="en-US" sz="2000" b="1" i="0" noProof="1">
                <a:solidFill>
                  <a:srgbClr val="0B2E6B"/>
                </a:solidFill>
                <a:latin typeface="Arial"/>
              </a:rPr>
              <a:t>Hubungan Standar dan Metodologi Proyek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9376F-4CCE-CDCE-BDD7-4639ECB57E60}"/>
              </a:ext>
            </a:extLst>
          </p:cNvPr>
          <p:cNvSpPr>
            <a:spLocks noGrp="1"/>
          </p:cNvSpPr>
          <p:nvPr>
            <p:ph type="title"/>
          </p:nvPr>
        </p:nvSpPr>
        <p:spPr>
          <a:xfrm>
            <a:off x="831850" y="1709739"/>
            <a:ext cx="10515600" cy="964882"/>
          </a:xfrm>
        </p:spPr>
        <p:txBody>
          <a:bodyPr/>
          <a:lstStyle/>
          <a:p>
            <a:pPr algn="ctr"/>
            <a:r>
              <a:rPr lang="en-US" b="1" noProof="1"/>
              <a:t>Preview PMBOK</a:t>
            </a:r>
          </a:p>
        </p:txBody>
      </p:sp>
      <p:sp>
        <p:nvSpPr>
          <p:cNvPr id="5" name="TextBox 4">
            <a:extLst>
              <a:ext uri="{FF2B5EF4-FFF2-40B4-BE49-F238E27FC236}">
                <a16:creationId xmlns:a16="http://schemas.microsoft.com/office/drawing/2014/main" id="{06696791-161A-4261-AC16-80E3AF87C355}"/>
              </a:ext>
            </a:extLst>
          </p:cNvPr>
          <p:cNvSpPr txBox="1"/>
          <p:nvPr/>
        </p:nvSpPr>
        <p:spPr>
          <a:xfrm>
            <a:off x="1528762" y="3005019"/>
            <a:ext cx="9818687" cy="120032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1">
                <a:ln>
                  <a:noFill/>
                </a:ln>
                <a:solidFill>
                  <a:prstClr val="black"/>
                </a:solidFill>
                <a:effectLst/>
                <a:uLnTx/>
                <a:uFillTx/>
                <a:latin typeface="Calibri"/>
                <a:ea typeface="+mn-ea"/>
                <a:cs typeface="+mn-cs"/>
              </a:rPr>
              <a:t>PMBOK adalah kumpulan standar, konsep, dan praktik terbaik dalam manajemen proyek. Merupakan standar global yang menjelaskan bagaimana proyek seharusnya dikelola secara profesional.</a:t>
            </a:r>
          </a:p>
        </p:txBody>
      </p:sp>
    </p:spTree>
    <p:extLst>
      <p:ext uri="{BB962C8B-B14F-4D97-AF65-F5344CB8AC3E}">
        <p14:creationId xmlns:p14="http://schemas.microsoft.com/office/powerpoint/2010/main" val="12365711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7E661D-0822-0CD6-71D3-16514C8BE221}"/>
              </a:ext>
            </a:extLst>
          </p:cNvPr>
          <p:cNvPicPr>
            <a:picLocks noChangeAspect="1"/>
          </p:cNvPicPr>
          <p:nvPr/>
        </p:nvPicPr>
        <p:blipFill>
          <a:blip r:embed="rId2"/>
          <a:stretch>
            <a:fillRect/>
          </a:stretch>
        </p:blipFill>
        <p:spPr>
          <a:xfrm>
            <a:off x="0" y="0"/>
            <a:ext cx="5358234" cy="6828791"/>
          </a:xfrm>
          <a:prstGeom prst="rect">
            <a:avLst/>
          </a:prstGeom>
        </p:spPr>
      </p:pic>
      <p:pic>
        <p:nvPicPr>
          <p:cNvPr id="7" name="Picture 6">
            <a:extLst>
              <a:ext uri="{FF2B5EF4-FFF2-40B4-BE49-F238E27FC236}">
                <a16:creationId xmlns:a16="http://schemas.microsoft.com/office/drawing/2014/main" id="{969DA078-D0F7-7658-4223-72DBF81430EA}"/>
              </a:ext>
            </a:extLst>
          </p:cNvPr>
          <p:cNvPicPr>
            <a:picLocks noChangeAspect="1"/>
          </p:cNvPicPr>
          <p:nvPr/>
        </p:nvPicPr>
        <p:blipFill>
          <a:blip r:embed="rId3"/>
          <a:srcRect r="13198"/>
          <a:stretch>
            <a:fillRect/>
          </a:stretch>
        </p:blipFill>
        <p:spPr>
          <a:xfrm>
            <a:off x="5358234" y="29210"/>
            <a:ext cx="6712053" cy="6828790"/>
          </a:xfrm>
          <a:prstGeom prst="rect">
            <a:avLst/>
          </a:prstGeom>
        </p:spPr>
      </p:pic>
    </p:spTree>
    <p:extLst>
      <p:ext uri="{BB962C8B-B14F-4D97-AF65-F5344CB8AC3E}">
        <p14:creationId xmlns:p14="http://schemas.microsoft.com/office/powerpoint/2010/main" val="28192577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5605D-5E7C-B8FE-2537-E4A817FA74F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11AA14C-EC27-FB18-CA56-9285FE48C944}"/>
              </a:ext>
            </a:extLst>
          </p:cNvPr>
          <p:cNvPicPr>
            <a:picLocks noChangeAspect="1"/>
          </p:cNvPicPr>
          <p:nvPr/>
        </p:nvPicPr>
        <p:blipFill>
          <a:blip r:embed="rId2"/>
          <a:stretch>
            <a:fillRect/>
          </a:stretch>
        </p:blipFill>
        <p:spPr>
          <a:xfrm>
            <a:off x="0" y="0"/>
            <a:ext cx="5358234" cy="6828791"/>
          </a:xfrm>
          <a:prstGeom prst="rect">
            <a:avLst/>
          </a:prstGeom>
        </p:spPr>
      </p:pic>
      <p:pic>
        <p:nvPicPr>
          <p:cNvPr id="3" name="Picture 2">
            <a:extLst>
              <a:ext uri="{FF2B5EF4-FFF2-40B4-BE49-F238E27FC236}">
                <a16:creationId xmlns:a16="http://schemas.microsoft.com/office/drawing/2014/main" id="{587410C5-F496-AC04-4F91-0719FA5DCF9E}"/>
              </a:ext>
            </a:extLst>
          </p:cNvPr>
          <p:cNvPicPr>
            <a:picLocks noChangeAspect="1"/>
          </p:cNvPicPr>
          <p:nvPr/>
        </p:nvPicPr>
        <p:blipFill>
          <a:blip r:embed="rId3"/>
          <a:srcRect r="2195"/>
          <a:stretch>
            <a:fillRect/>
          </a:stretch>
        </p:blipFill>
        <p:spPr>
          <a:xfrm>
            <a:off x="5358234" y="29208"/>
            <a:ext cx="6833766" cy="6352763"/>
          </a:xfrm>
          <a:prstGeom prst="rect">
            <a:avLst/>
          </a:prstGeom>
        </p:spPr>
      </p:pic>
    </p:spTree>
    <p:extLst>
      <p:ext uri="{BB962C8B-B14F-4D97-AF65-F5344CB8AC3E}">
        <p14:creationId xmlns:p14="http://schemas.microsoft.com/office/powerpoint/2010/main" val="1509569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543A56-A8E1-9044-C6F7-BED53D7119C3}"/>
              </a:ext>
            </a:extLst>
          </p:cNvPr>
          <p:cNvPicPr>
            <a:picLocks noChangeAspect="1"/>
          </p:cNvPicPr>
          <p:nvPr/>
        </p:nvPicPr>
        <p:blipFill>
          <a:blip r:embed="rId2"/>
          <a:stretch>
            <a:fillRect/>
          </a:stretch>
        </p:blipFill>
        <p:spPr>
          <a:xfrm>
            <a:off x="0" y="0"/>
            <a:ext cx="5280660" cy="6862348"/>
          </a:xfrm>
          <a:prstGeom prst="rect">
            <a:avLst/>
          </a:prstGeom>
        </p:spPr>
      </p:pic>
      <p:pic>
        <p:nvPicPr>
          <p:cNvPr id="7" name="Picture 6">
            <a:extLst>
              <a:ext uri="{FF2B5EF4-FFF2-40B4-BE49-F238E27FC236}">
                <a16:creationId xmlns:a16="http://schemas.microsoft.com/office/drawing/2014/main" id="{2A951E61-B087-1BC2-7C29-887FC1B7E0F1}"/>
              </a:ext>
            </a:extLst>
          </p:cNvPr>
          <p:cNvPicPr>
            <a:picLocks noChangeAspect="1"/>
          </p:cNvPicPr>
          <p:nvPr/>
        </p:nvPicPr>
        <p:blipFill>
          <a:blip r:embed="rId3"/>
          <a:stretch>
            <a:fillRect/>
          </a:stretch>
        </p:blipFill>
        <p:spPr>
          <a:xfrm>
            <a:off x="5364365" y="0"/>
            <a:ext cx="6856123" cy="6777990"/>
          </a:xfrm>
          <a:prstGeom prst="rect">
            <a:avLst/>
          </a:prstGeom>
        </p:spPr>
      </p:pic>
    </p:spTree>
    <p:extLst>
      <p:ext uri="{BB962C8B-B14F-4D97-AF65-F5344CB8AC3E}">
        <p14:creationId xmlns:p14="http://schemas.microsoft.com/office/powerpoint/2010/main" val="746297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66161-B89C-5D86-540B-D84AB81BA9A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6890044-8983-8584-765B-0F06E1B416B2}"/>
              </a:ext>
            </a:extLst>
          </p:cNvPr>
          <p:cNvPicPr>
            <a:picLocks noChangeAspect="1"/>
          </p:cNvPicPr>
          <p:nvPr/>
        </p:nvPicPr>
        <p:blipFill>
          <a:blip r:embed="rId2"/>
          <a:stretch>
            <a:fillRect/>
          </a:stretch>
        </p:blipFill>
        <p:spPr>
          <a:xfrm>
            <a:off x="0" y="0"/>
            <a:ext cx="5280660" cy="6862348"/>
          </a:xfrm>
          <a:prstGeom prst="rect">
            <a:avLst/>
          </a:prstGeom>
        </p:spPr>
      </p:pic>
      <p:pic>
        <p:nvPicPr>
          <p:cNvPr id="3" name="Picture 2">
            <a:extLst>
              <a:ext uri="{FF2B5EF4-FFF2-40B4-BE49-F238E27FC236}">
                <a16:creationId xmlns:a16="http://schemas.microsoft.com/office/drawing/2014/main" id="{F5D7D986-0E27-66F6-73B7-34855D34E9DD}"/>
              </a:ext>
            </a:extLst>
          </p:cNvPr>
          <p:cNvPicPr>
            <a:picLocks noChangeAspect="1"/>
          </p:cNvPicPr>
          <p:nvPr/>
        </p:nvPicPr>
        <p:blipFill>
          <a:blip r:embed="rId3"/>
          <a:stretch>
            <a:fillRect/>
          </a:stretch>
        </p:blipFill>
        <p:spPr>
          <a:xfrm>
            <a:off x="5397387" y="0"/>
            <a:ext cx="6375513" cy="6866650"/>
          </a:xfrm>
          <a:prstGeom prst="rect">
            <a:avLst/>
          </a:prstGeom>
        </p:spPr>
      </p:pic>
    </p:spTree>
    <p:extLst>
      <p:ext uri="{BB962C8B-B14F-4D97-AF65-F5344CB8AC3E}">
        <p14:creationId xmlns:p14="http://schemas.microsoft.com/office/powerpoint/2010/main" val="25699003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7F673-659E-A8F3-A827-68C310D8AFE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BFED266-A113-99E9-6F02-7E4F1E87FC94}"/>
              </a:ext>
            </a:extLst>
          </p:cNvPr>
          <p:cNvPicPr>
            <a:picLocks noChangeAspect="1"/>
          </p:cNvPicPr>
          <p:nvPr/>
        </p:nvPicPr>
        <p:blipFill>
          <a:blip r:embed="rId2"/>
          <a:stretch>
            <a:fillRect/>
          </a:stretch>
        </p:blipFill>
        <p:spPr>
          <a:xfrm>
            <a:off x="0" y="0"/>
            <a:ext cx="5280660" cy="6862348"/>
          </a:xfrm>
          <a:prstGeom prst="rect">
            <a:avLst/>
          </a:prstGeom>
        </p:spPr>
      </p:pic>
      <p:pic>
        <p:nvPicPr>
          <p:cNvPr id="7" name="Picture 6">
            <a:extLst>
              <a:ext uri="{FF2B5EF4-FFF2-40B4-BE49-F238E27FC236}">
                <a16:creationId xmlns:a16="http://schemas.microsoft.com/office/drawing/2014/main" id="{992975E8-D1F1-F68B-EFC7-82F8D5CD3599}"/>
              </a:ext>
            </a:extLst>
          </p:cNvPr>
          <p:cNvPicPr>
            <a:picLocks noChangeAspect="1"/>
          </p:cNvPicPr>
          <p:nvPr/>
        </p:nvPicPr>
        <p:blipFill>
          <a:blip r:embed="rId3"/>
          <a:stretch>
            <a:fillRect/>
          </a:stretch>
        </p:blipFill>
        <p:spPr>
          <a:xfrm>
            <a:off x="5829192" y="-1"/>
            <a:ext cx="5916705" cy="6858001"/>
          </a:xfrm>
          <a:prstGeom prst="rect">
            <a:avLst/>
          </a:prstGeom>
        </p:spPr>
      </p:pic>
    </p:spTree>
    <p:extLst>
      <p:ext uri="{BB962C8B-B14F-4D97-AF65-F5344CB8AC3E}">
        <p14:creationId xmlns:p14="http://schemas.microsoft.com/office/powerpoint/2010/main" val="924241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C21392A-8532-4233-969C-829CF5282836}"/>
              </a:ext>
            </a:extLst>
          </p:cNvPr>
          <p:cNvPicPr>
            <a:picLocks noChangeAspect="1"/>
          </p:cNvPicPr>
          <p:nvPr/>
        </p:nvPicPr>
        <p:blipFill>
          <a:blip r:embed="rId2"/>
          <a:stretch>
            <a:fillRect/>
          </a:stretch>
        </p:blipFill>
        <p:spPr>
          <a:xfrm>
            <a:off x="952500" y="0"/>
            <a:ext cx="10287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noProof="1"/>
              <a:t>Kelompok Proses ≠ Fase Proyek</a:t>
            </a:r>
          </a:p>
        </p:txBody>
      </p:sp>
      <p:pic>
        <p:nvPicPr>
          <p:cNvPr id="3" name="Picture 2" descr="overlap.png"/>
          <p:cNvPicPr>
            <a:picLocks noChangeAspect="1"/>
          </p:cNvPicPr>
          <p:nvPr/>
        </p:nvPicPr>
        <p:blipFill>
          <a:blip r:embed="rId3"/>
          <a:stretch>
            <a:fillRect/>
          </a:stretch>
        </p:blipFill>
        <p:spPr>
          <a:xfrm>
            <a:off x="975360" y="1417320"/>
            <a:ext cx="10241280" cy="4267200"/>
          </a:xfrm>
          <a:prstGeom prst="rect">
            <a:avLst/>
          </a:prstGeom>
        </p:spPr>
      </p:pic>
      <p:sp>
        <p:nvSpPr>
          <p:cNvPr id="4" name="TextBox 3"/>
          <p:cNvSpPr txBox="1"/>
          <p:nvPr/>
        </p:nvSpPr>
        <p:spPr>
          <a:xfrm>
            <a:off x="914400" y="5775960"/>
            <a:ext cx="10332720" cy="914400"/>
          </a:xfrm>
          <a:prstGeom prst="rect">
            <a:avLst/>
          </a:prstGeom>
          <a:noFill/>
        </p:spPr>
        <p:txBody>
          <a:bodyPr wrap="square">
            <a:spAutoFit/>
          </a:bodyPr>
          <a:lstStyle/>
          <a:p>
            <a:r>
              <a:rPr lang="en-US" sz="1600" b="0" noProof="1">
                <a:latin typeface="Arial"/>
              </a:rPr>
              <a:t>Kelompok proses berjalan tumpang tindih dan berulang di setiap fase (atau setiap iterasi). Monitoring &amp; Controlling berlangsung sepanjang proyek — bukan tahap setelah executing.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E8D22-B4D9-98D6-EF90-427B7C42230E}"/>
              </a:ext>
            </a:extLst>
          </p:cNvPr>
          <p:cNvSpPr>
            <a:spLocks noGrp="1"/>
          </p:cNvSpPr>
          <p:nvPr>
            <p:ph type="title"/>
          </p:nvPr>
        </p:nvSpPr>
        <p:spPr/>
        <p:txBody>
          <a:bodyPr/>
          <a:lstStyle/>
          <a:p>
            <a:pPr algn="ctr"/>
            <a:r>
              <a:rPr lang="en-US" b="1" noProof="1"/>
              <a:t>Diskusi Kritis: Analogi Produksi Film</a:t>
            </a:r>
            <a:endParaRPr lang="en-US" noProof="1"/>
          </a:p>
        </p:txBody>
      </p:sp>
      <p:graphicFrame>
        <p:nvGraphicFramePr>
          <p:cNvPr id="4" name="Content Placeholder 3">
            <a:extLst>
              <a:ext uri="{FF2B5EF4-FFF2-40B4-BE49-F238E27FC236}">
                <a16:creationId xmlns:a16="http://schemas.microsoft.com/office/drawing/2014/main" id="{971FE726-F76A-EFBA-4C38-F7164F232419}"/>
              </a:ext>
            </a:extLst>
          </p:cNvPr>
          <p:cNvGraphicFramePr>
            <a:graphicFrameLocks noGrp="1"/>
          </p:cNvGraphicFramePr>
          <p:nvPr>
            <p:ph idx="1"/>
            <p:extLst>
              <p:ext uri="{D42A27DB-BD31-4B8C-83A1-F6EECF244321}">
                <p14:modId xmlns:p14="http://schemas.microsoft.com/office/powerpoint/2010/main" val="2004991153"/>
              </p:ext>
            </p:extLst>
          </p:nvPr>
        </p:nvGraphicFramePr>
        <p:xfrm>
          <a:off x="883459" y="1809098"/>
          <a:ext cx="10900872" cy="4658712"/>
        </p:xfrm>
        <a:graphic>
          <a:graphicData uri="http://schemas.openxmlformats.org/drawingml/2006/table">
            <a:tbl>
              <a:tblPr/>
              <a:tblGrid>
                <a:gridCol w="3633624">
                  <a:extLst>
                    <a:ext uri="{9D8B030D-6E8A-4147-A177-3AD203B41FA5}">
                      <a16:colId xmlns:a16="http://schemas.microsoft.com/office/drawing/2014/main" val="88677030"/>
                    </a:ext>
                  </a:extLst>
                </a:gridCol>
                <a:gridCol w="3633624">
                  <a:extLst>
                    <a:ext uri="{9D8B030D-6E8A-4147-A177-3AD203B41FA5}">
                      <a16:colId xmlns:a16="http://schemas.microsoft.com/office/drawing/2014/main" val="1024986145"/>
                    </a:ext>
                  </a:extLst>
                </a:gridCol>
                <a:gridCol w="3633624">
                  <a:extLst>
                    <a:ext uri="{9D8B030D-6E8A-4147-A177-3AD203B41FA5}">
                      <a16:colId xmlns:a16="http://schemas.microsoft.com/office/drawing/2014/main" val="364003282"/>
                    </a:ext>
                  </a:extLst>
                </a:gridCol>
              </a:tblGrid>
              <a:tr h="362611">
                <a:tc>
                  <a:txBody>
                    <a:bodyPr/>
                    <a:lstStyle/>
                    <a:p>
                      <a:pPr algn="ctr">
                        <a:buNone/>
                      </a:pPr>
                      <a:r>
                        <a:rPr lang="en-US" sz="1800" b="1" noProof="1">
                          <a:latin typeface="Arial" panose="020B0604020202020204" pitchFamily="34" charset="0"/>
                          <a:cs typeface="Arial" panose="020B0604020202020204" pitchFamily="34" charset="0"/>
                        </a:rPr>
                        <a:t>Tahapan Produksi Film</a:t>
                      </a:r>
                      <a:endParaRPr lang="en-US" sz="1800" noProof="1">
                        <a:latin typeface="Arial" panose="020B0604020202020204" pitchFamily="34" charset="0"/>
                        <a:cs typeface="Arial" panose="020B060402020202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800" b="1" noProof="1">
                          <a:latin typeface="Arial" panose="020B0604020202020204" pitchFamily="34" charset="0"/>
                          <a:cs typeface="Arial" panose="020B0604020202020204" pitchFamily="34" charset="0"/>
                        </a:rPr>
                        <a:t>Kelompok Proses Proyek TI</a:t>
                      </a:r>
                      <a:endParaRPr lang="en-US" sz="1800" noProof="1">
                        <a:latin typeface="Arial" panose="020B0604020202020204" pitchFamily="34" charset="0"/>
                        <a:cs typeface="Arial" panose="020B060402020202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800" b="1" noProof="1">
                          <a:latin typeface="Arial" panose="020B0604020202020204" pitchFamily="34" charset="0"/>
                          <a:cs typeface="Arial" panose="020B0604020202020204" pitchFamily="34" charset="0"/>
                        </a:rPr>
                        <a:t>Penjelasan</a:t>
                      </a:r>
                      <a:endParaRPr lang="en-US" sz="1800" noProof="1">
                        <a:latin typeface="Arial" panose="020B0604020202020204" pitchFamily="34" charset="0"/>
                        <a:cs typeface="Arial" panose="020B060402020202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4238824"/>
                  </a:ext>
                </a:extLst>
              </a:tr>
              <a:tr h="634570">
                <a:tc>
                  <a:txBody>
                    <a:bodyPr/>
                    <a:lstStyle/>
                    <a:p>
                      <a:pPr>
                        <a:buNone/>
                      </a:pPr>
                      <a:r>
                        <a:rPr lang="en-US" sz="1800" b="1" noProof="1">
                          <a:latin typeface="Arial" panose="020B0604020202020204" pitchFamily="34" charset="0"/>
                          <a:cs typeface="Arial" panose="020B0604020202020204" pitchFamily="34" charset="0"/>
                        </a:rPr>
                        <a:t>Penulisan Naskah</a:t>
                      </a:r>
                      <a:endParaRPr lang="en-US" sz="1800" noProof="1">
                        <a:latin typeface="Arial" panose="020B0604020202020204" pitchFamily="34" charset="0"/>
                        <a:cs typeface="Arial" panose="020B060402020202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b="1" noProof="1">
                          <a:latin typeface="Arial" panose="020B0604020202020204" pitchFamily="34" charset="0"/>
                          <a:cs typeface="Arial" panose="020B0604020202020204" pitchFamily="34" charset="0"/>
                        </a:rPr>
                        <a:t>Initiating</a:t>
                      </a:r>
                      <a:endParaRPr lang="en-US" sz="1800" noProof="1">
                        <a:latin typeface="Arial" panose="020B0604020202020204" pitchFamily="34" charset="0"/>
                        <a:cs typeface="Arial" panose="020B060402020202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noProof="1">
                          <a:latin typeface="Arial" panose="020B0604020202020204" pitchFamily="34" charset="0"/>
                          <a:cs typeface="Arial" panose="020B0604020202020204" pitchFamily="34" charset="0"/>
                        </a:rPr>
                        <a:t>Menentukan ide utama, tujuan, dan stakeholder proyek atau film.</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6210900"/>
                  </a:ext>
                </a:extLst>
              </a:tr>
              <a:tr h="634570">
                <a:tc>
                  <a:txBody>
                    <a:bodyPr/>
                    <a:lstStyle/>
                    <a:p>
                      <a:pPr>
                        <a:buNone/>
                      </a:pPr>
                      <a:r>
                        <a:rPr lang="en-US" sz="1800" b="1" noProof="1">
                          <a:latin typeface="Arial" panose="020B0604020202020204" pitchFamily="34" charset="0"/>
                          <a:cs typeface="Arial" panose="020B0604020202020204" pitchFamily="34" charset="0"/>
                        </a:rPr>
                        <a:t>Produksi (pra-shooting)</a:t>
                      </a:r>
                      <a:endParaRPr lang="en-US" sz="1800" noProof="1">
                        <a:latin typeface="Arial" panose="020B0604020202020204" pitchFamily="34" charset="0"/>
                        <a:cs typeface="Arial" panose="020B060402020202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b="1" noProof="1">
                          <a:latin typeface="Arial" panose="020B0604020202020204" pitchFamily="34" charset="0"/>
                          <a:cs typeface="Arial" panose="020B0604020202020204" pitchFamily="34" charset="0"/>
                        </a:rPr>
                        <a:t>Planning</a:t>
                      </a:r>
                      <a:endParaRPr lang="en-US" sz="1800" noProof="1">
                        <a:latin typeface="Arial" panose="020B0604020202020204" pitchFamily="34" charset="0"/>
                        <a:cs typeface="Arial" panose="020B060402020202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noProof="1">
                          <a:latin typeface="Arial" panose="020B0604020202020204" pitchFamily="34" charset="0"/>
                          <a:cs typeface="Arial" panose="020B0604020202020204" pitchFamily="34" charset="0"/>
                        </a:rPr>
                        <a:t>Merancang jadwal, anggaran, tim, dan sumber daya yang dibutuhkan.</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2788069"/>
                  </a:ext>
                </a:extLst>
              </a:tr>
              <a:tr h="906529">
                <a:tc>
                  <a:txBody>
                    <a:bodyPr/>
                    <a:lstStyle/>
                    <a:p>
                      <a:pPr>
                        <a:buNone/>
                      </a:pPr>
                      <a:r>
                        <a:rPr lang="en-US" sz="1800" b="1" noProof="1">
                          <a:latin typeface="Arial" panose="020B0604020202020204" pitchFamily="34" charset="0"/>
                          <a:cs typeface="Arial" panose="020B0604020202020204" pitchFamily="34" charset="0"/>
                        </a:rPr>
                        <a:t>Akting &amp; Penyutradaraan</a:t>
                      </a:r>
                      <a:endParaRPr lang="en-US" sz="1800" noProof="1">
                        <a:latin typeface="Arial" panose="020B0604020202020204" pitchFamily="34" charset="0"/>
                        <a:cs typeface="Arial" panose="020B060402020202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b="1" noProof="1">
                          <a:latin typeface="Arial" panose="020B0604020202020204" pitchFamily="34" charset="0"/>
                          <a:cs typeface="Arial" panose="020B0604020202020204" pitchFamily="34" charset="0"/>
                        </a:rPr>
                        <a:t>Executing</a:t>
                      </a:r>
                      <a:endParaRPr lang="en-US" sz="1800" noProof="1">
                        <a:latin typeface="Arial" panose="020B0604020202020204" pitchFamily="34" charset="0"/>
                        <a:cs typeface="Arial" panose="020B060402020202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noProof="1">
                          <a:latin typeface="Arial" panose="020B0604020202020204" pitchFamily="34" charset="0"/>
                          <a:cs typeface="Arial" panose="020B0604020202020204" pitchFamily="34" charset="0"/>
                        </a:rPr>
                        <a:t>Melaksanakan rencana: pengambilan gambar, koordinasi tim, dan produksi konten.</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5974798"/>
                  </a:ext>
                </a:extLst>
              </a:tr>
              <a:tr h="906529">
                <a:tc>
                  <a:txBody>
                    <a:bodyPr/>
                    <a:lstStyle/>
                    <a:p>
                      <a:pPr>
                        <a:buNone/>
                      </a:pPr>
                      <a:r>
                        <a:rPr lang="en-US" sz="1800" b="1" noProof="1">
                          <a:latin typeface="Arial" panose="020B0604020202020204" pitchFamily="34" charset="0"/>
                          <a:cs typeface="Arial" panose="020B0604020202020204" pitchFamily="34" charset="0"/>
                        </a:rPr>
                        <a:t>Penyuntingan (editing)</a:t>
                      </a:r>
                      <a:endParaRPr lang="en-US" sz="1800" noProof="1">
                        <a:latin typeface="Arial" panose="020B0604020202020204" pitchFamily="34" charset="0"/>
                        <a:cs typeface="Arial" panose="020B060402020202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b="1" noProof="1">
                          <a:latin typeface="Arial" panose="020B0604020202020204" pitchFamily="34" charset="0"/>
                          <a:cs typeface="Arial" panose="020B0604020202020204" pitchFamily="34" charset="0"/>
                        </a:rPr>
                        <a:t>Monitoring &amp; Controlling</a:t>
                      </a:r>
                      <a:endParaRPr lang="en-US" sz="1800" noProof="1">
                        <a:latin typeface="Arial" panose="020B0604020202020204" pitchFamily="34" charset="0"/>
                        <a:cs typeface="Arial" panose="020B060402020202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noProof="1">
                          <a:latin typeface="Arial" panose="020B0604020202020204" pitchFamily="34" charset="0"/>
                          <a:cs typeface="Arial" panose="020B0604020202020204" pitchFamily="34" charset="0"/>
                        </a:rPr>
                        <a:t>Meninjau hasil, memperbaiki kesalahan, dan memastikan kualitas sesuai target.</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1048991"/>
                  </a:ext>
                </a:extLst>
              </a:tr>
              <a:tr h="906529">
                <a:tc>
                  <a:txBody>
                    <a:bodyPr/>
                    <a:lstStyle/>
                    <a:p>
                      <a:pPr>
                        <a:buNone/>
                      </a:pPr>
                      <a:r>
                        <a:rPr lang="en-US" sz="1800" b="1" noProof="1">
                          <a:latin typeface="Arial" panose="020B0604020202020204" pitchFamily="34" charset="0"/>
                          <a:cs typeface="Arial" panose="020B0604020202020204" pitchFamily="34" charset="0"/>
                        </a:rPr>
                        <a:t>Perilisan ke bioskop/DVD</a:t>
                      </a:r>
                      <a:endParaRPr lang="en-US" sz="1800" noProof="1">
                        <a:latin typeface="Arial" panose="020B0604020202020204" pitchFamily="34" charset="0"/>
                        <a:cs typeface="Arial" panose="020B060402020202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b="1" noProof="1">
                          <a:latin typeface="Arial" panose="020B0604020202020204" pitchFamily="34" charset="0"/>
                          <a:cs typeface="Arial" panose="020B0604020202020204" pitchFamily="34" charset="0"/>
                        </a:rPr>
                        <a:t>Closing</a:t>
                      </a:r>
                      <a:endParaRPr lang="en-US" sz="1800" noProof="1">
                        <a:latin typeface="Arial" panose="020B0604020202020204" pitchFamily="34" charset="0"/>
                        <a:cs typeface="Arial" panose="020B0604020202020204" pitchFamily="34" charset="0"/>
                      </a:endParaRP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800" noProof="1">
                          <a:latin typeface="Arial" panose="020B0604020202020204" pitchFamily="34" charset="0"/>
                          <a:cs typeface="Arial" panose="020B0604020202020204" pitchFamily="34" charset="0"/>
                        </a:rPr>
                        <a:t>Menyelesaikan proyek, mendistribusikan hasil akhir, dan mengevaluasi proses.</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0495534"/>
                  </a:ext>
                </a:extLst>
              </a:tr>
            </a:tbl>
          </a:graphicData>
        </a:graphic>
      </p:graphicFrame>
    </p:spTree>
    <p:extLst>
      <p:ext uri="{BB962C8B-B14F-4D97-AF65-F5344CB8AC3E}">
        <p14:creationId xmlns:p14="http://schemas.microsoft.com/office/powerpoint/2010/main" val="14066308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noProof="1"/>
              <a:t>Persentase Waktu yang Dihabiskan pada Setiap Kelompok Proses (1)</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094521978"/>
              </p:ext>
            </p:extLst>
          </p:nvPr>
        </p:nvGraphicFramePr>
        <p:xfrm>
          <a:off x="838200" y="1825625"/>
          <a:ext cx="9883140" cy="356933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0165865B-DF27-85CA-808B-06F766DB2F85}"/>
              </a:ext>
            </a:extLst>
          </p:cNvPr>
          <p:cNvSpPr txBox="1"/>
          <p:nvPr/>
        </p:nvSpPr>
        <p:spPr>
          <a:xfrm>
            <a:off x="929640" y="5706070"/>
            <a:ext cx="9791700" cy="646331"/>
          </a:xfrm>
          <a:prstGeom prst="rect">
            <a:avLst/>
          </a:prstGeom>
          <a:noFill/>
        </p:spPr>
        <p:txBody>
          <a:bodyPr wrap="square">
            <a:spAutoFit/>
          </a:bodyPr>
          <a:lstStyle/>
          <a:p>
            <a:r>
              <a:rPr lang="en-US" noProof="1">
                <a:latin typeface="Arial" panose="020B0604020202020204" pitchFamily="34" charset="0"/>
                <a:cs typeface="Arial" panose="020B0604020202020204" pitchFamily="34" charset="0"/>
              </a:rPr>
              <a:t>Sumber: Crowe, A. (2006). Alpha Project Managers. “Alpha” = sekitar 2% PM teratas berdasarkan penilaian stakeholder; data survei, sehingga bersifat korelasional (bukan bukti sebab-akibat).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5A3B7-12FB-B57F-FA28-79E6B1E7D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3BD110-9FBB-05E4-F625-94A91ABB53F5}"/>
              </a:ext>
            </a:extLst>
          </p:cNvPr>
          <p:cNvSpPr>
            <a:spLocks noGrp="1"/>
          </p:cNvSpPr>
          <p:nvPr>
            <p:ph type="title"/>
          </p:nvPr>
        </p:nvSpPr>
        <p:spPr/>
        <p:txBody>
          <a:bodyPr>
            <a:normAutofit/>
          </a:bodyPr>
          <a:lstStyle/>
          <a:p>
            <a:pPr algn="ctr"/>
            <a:r>
              <a:rPr lang="en-US" b="1" noProof="1"/>
              <a:t>Persentase Waktu yang Dihabiskan pada Setiap Kelompok Proses (2)</a:t>
            </a:r>
          </a:p>
        </p:txBody>
      </p:sp>
      <p:sp>
        <p:nvSpPr>
          <p:cNvPr id="4" name="Content Placeholder 3">
            <a:extLst>
              <a:ext uri="{FF2B5EF4-FFF2-40B4-BE49-F238E27FC236}">
                <a16:creationId xmlns:a16="http://schemas.microsoft.com/office/drawing/2014/main" id="{1FF84133-4A79-6D5E-9FF4-747FA464917D}"/>
              </a:ext>
            </a:extLst>
          </p:cNvPr>
          <p:cNvSpPr>
            <a:spLocks noGrp="1"/>
          </p:cNvSpPr>
          <p:nvPr>
            <p:ph idx="1"/>
          </p:nvPr>
        </p:nvSpPr>
        <p:spPr/>
        <p:txBody>
          <a:bodyPr>
            <a:normAutofit fontScale="62500" lnSpcReduction="20000"/>
          </a:bodyPr>
          <a:lstStyle/>
          <a:p>
            <a:pPr marL="514350" indent="-514350">
              <a:lnSpc>
                <a:spcPct val="120000"/>
              </a:lnSpc>
              <a:buFont typeface="+mj-lt"/>
              <a:buAutoNum type="arabicPeriod"/>
            </a:pPr>
            <a:r>
              <a:rPr lang="en-US" b="1" noProof="1">
                <a:latin typeface="Arial" panose="020B0604020202020204" pitchFamily="34" charset="0"/>
                <a:cs typeface="Arial" panose="020B0604020202020204" pitchFamily="34" charset="0"/>
              </a:rPr>
              <a:t>Mengapa Manajer Proyek Alpha mengalokasikan lebih banyak waktu untuk perencanaan dibandingkan manajer proyek lain?</a:t>
            </a:r>
            <a:endParaRPr lang="en-US" noProof="1">
              <a:latin typeface="Arial" panose="020B0604020202020204" pitchFamily="34" charset="0"/>
              <a:cs typeface="Arial" panose="020B0604020202020204" pitchFamily="34" charset="0"/>
            </a:endParaRPr>
          </a:p>
          <a:p>
            <a:pPr lvl="1">
              <a:lnSpc>
                <a:spcPct val="120000"/>
              </a:lnSpc>
            </a:pPr>
            <a:r>
              <a:rPr lang="en-US" noProof="1">
                <a:latin typeface="Arial" panose="020B0604020202020204" pitchFamily="34" charset="0"/>
                <a:cs typeface="Arial" panose="020B0604020202020204" pitchFamily="34" charset="0"/>
              </a:rPr>
              <a:t>Apakah ini berdampak pada kualitas pelaksanaan proyek?</a:t>
            </a:r>
          </a:p>
          <a:p>
            <a:pPr marL="514350" indent="-514350">
              <a:lnSpc>
                <a:spcPct val="120000"/>
              </a:lnSpc>
              <a:buFont typeface="+mj-lt"/>
              <a:buAutoNum type="arabicPeriod"/>
            </a:pPr>
            <a:r>
              <a:rPr lang="en-US" b="1" noProof="1">
                <a:latin typeface="Arial" panose="020B0604020202020204" pitchFamily="34" charset="0"/>
                <a:cs typeface="Arial" panose="020B0604020202020204" pitchFamily="34" charset="0"/>
              </a:rPr>
              <a:t>Apakah alokasi waktu yang tinggi pada pelaksanaan (82%) oleh manajer proyek lain menunjukkan efisiensi atau kurangnya perencanaan?</a:t>
            </a:r>
            <a:endParaRPr lang="en-US" noProof="1">
              <a:latin typeface="Arial" panose="020B0604020202020204" pitchFamily="34" charset="0"/>
              <a:cs typeface="Arial" panose="020B0604020202020204" pitchFamily="34" charset="0"/>
            </a:endParaRPr>
          </a:p>
          <a:p>
            <a:pPr lvl="1">
              <a:lnSpc>
                <a:spcPct val="120000"/>
              </a:lnSpc>
            </a:pPr>
            <a:r>
              <a:rPr lang="en-US" noProof="1">
                <a:latin typeface="Arial" panose="020B0604020202020204" pitchFamily="34" charset="0"/>
                <a:cs typeface="Arial" panose="020B0604020202020204" pitchFamily="34" charset="0"/>
              </a:rPr>
              <a:t>Bagaimana risiko yang mungkin timbul?</a:t>
            </a:r>
          </a:p>
          <a:p>
            <a:pPr marL="514350" indent="-514350">
              <a:lnSpc>
                <a:spcPct val="120000"/>
              </a:lnSpc>
              <a:buFont typeface="+mj-lt"/>
              <a:buAutoNum type="arabicPeriod"/>
            </a:pPr>
            <a:r>
              <a:rPr lang="en-US" b="1" noProof="1">
                <a:latin typeface="Arial" panose="020B0604020202020204" pitchFamily="34" charset="0"/>
                <a:cs typeface="Arial" panose="020B0604020202020204" pitchFamily="34" charset="0"/>
              </a:rPr>
              <a:t>Bagaimana keseimbangan antara perencanaan dan pelaksanaan memengaruhi keberhasilan proyek TI?</a:t>
            </a:r>
            <a:endParaRPr lang="en-US" noProof="1">
              <a:latin typeface="Arial" panose="020B0604020202020204" pitchFamily="34" charset="0"/>
              <a:cs typeface="Arial" panose="020B0604020202020204" pitchFamily="34" charset="0"/>
            </a:endParaRPr>
          </a:p>
          <a:p>
            <a:pPr lvl="1">
              <a:lnSpc>
                <a:spcPct val="120000"/>
              </a:lnSpc>
            </a:pPr>
            <a:r>
              <a:rPr lang="en-US" noProof="1">
                <a:latin typeface="Arial" panose="020B0604020202020204" pitchFamily="34" charset="0"/>
                <a:cs typeface="Arial" panose="020B0604020202020204" pitchFamily="34" charset="0"/>
              </a:rPr>
              <a:t>Apakah ada standar ideal distribusi waktu?</a:t>
            </a:r>
          </a:p>
          <a:p>
            <a:pPr marL="514350" indent="-514350">
              <a:lnSpc>
                <a:spcPct val="120000"/>
              </a:lnSpc>
              <a:buFont typeface="+mj-lt"/>
              <a:buAutoNum type="arabicPeriod"/>
            </a:pPr>
            <a:r>
              <a:rPr lang="en-US" b="1" noProof="1">
                <a:latin typeface="Arial" panose="020B0604020202020204" pitchFamily="34" charset="0"/>
                <a:cs typeface="Arial" panose="020B0604020202020204" pitchFamily="34" charset="0"/>
              </a:rPr>
              <a:t>Apa implikasi dari alokasi waktu yang rendah pada proses inisiasi dan penutupan?</a:t>
            </a:r>
            <a:endParaRPr lang="en-US" noProof="1">
              <a:latin typeface="Arial" panose="020B0604020202020204" pitchFamily="34" charset="0"/>
              <a:cs typeface="Arial" panose="020B0604020202020204" pitchFamily="34" charset="0"/>
            </a:endParaRPr>
          </a:p>
          <a:p>
            <a:pPr lvl="1">
              <a:lnSpc>
                <a:spcPct val="120000"/>
              </a:lnSpc>
            </a:pPr>
            <a:r>
              <a:rPr lang="en-US" noProof="1">
                <a:latin typeface="Arial" panose="020B0604020202020204" pitchFamily="34" charset="0"/>
                <a:cs typeface="Arial" panose="020B0604020202020204" pitchFamily="34" charset="0"/>
              </a:rPr>
              <a:t>Apakah ini memengaruhi identifikasi stakeholder dan dokumentasi pembelajaran?</a:t>
            </a:r>
          </a:p>
          <a:p>
            <a:pPr marL="514350" indent="-514350">
              <a:lnSpc>
                <a:spcPct val="120000"/>
              </a:lnSpc>
              <a:buFont typeface="+mj-lt"/>
              <a:buAutoNum type="arabicPeriod"/>
            </a:pPr>
            <a:r>
              <a:rPr lang="en-US" b="1" noProof="1">
                <a:latin typeface="Arial" panose="020B0604020202020204" pitchFamily="34" charset="0"/>
                <a:cs typeface="Arial" panose="020B0604020202020204" pitchFamily="34" charset="0"/>
              </a:rPr>
              <a:t>Bagaimana pendekatan manajemen proyek yang berbeda mencerminkan budaya organisasi atau metodologi yang digunakan (misalnya Agile vs Waterfall)?</a:t>
            </a:r>
            <a:endParaRPr lang="en-US" noProof="1">
              <a:latin typeface="Arial" panose="020B0604020202020204" pitchFamily="34" charset="0"/>
              <a:cs typeface="Arial" panose="020B0604020202020204" pitchFamily="34" charset="0"/>
            </a:endParaRPr>
          </a:p>
          <a:p>
            <a:pPr marL="0" indent="0">
              <a:lnSpc>
                <a:spcPct val="120000"/>
              </a:lnSpc>
              <a:buNone/>
            </a:pPr>
            <a:endParaRPr lang="en-US" noProof="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45337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noProof="1"/>
              <a:t>Apa yang Salah? (1)</a:t>
            </a:r>
            <a:br>
              <a:rPr lang="en-US" noProof="1"/>
            </a:br>
            <a:r>
              <a:rPr lang="en-US" sz="3600" noProof="1"/>
              <a:t>Lumpuhnya PDNS 2 Surabaya (2024)</a:t>
            </a:r>
          </a:p>
        </p:txBody>
      </p:sp>
      <p:sp>
        <p:nvSpPr>
          <p:cNvPr id="3" name="Content Placeholder 2"/>
          <p:cNvSpPr>
            <a:spLocks noGrp="1"/>
          </p:cNvSpPr>
          <p:nvPr>
            <p:ph idx="1"/>
          </p:nvPr>
        </p:nvSpPr>
        <p:spPr/>
        <p:txBody>
          <a:bodyPr wrap="square">
            <a:noAutofit/>
          </a:bodyPr>
          <a:lstStyle/>
          <a:p>
            <a:r>
              <a:rPr lang="en-US" sz="1900" b="0" noProof="1">
                <a:latin typeface="Arial"/>
              </a:rPr>
              <a:t>20 Juni 2024: Pusat Data Nasional Sementara (PDNS) 2 di Surabaya lumpuh akibat ransomware Brain Cipher (varian LockBit 3.0).</a:t>
            </a:r>
          </a:p>
          <a:p>
            <a:r>
              <a:rPr lang="en-US" sz="1900" b="0" noProof="1">
                <a:latin typeface="Arial"/>
              </a:rPr>
              <a:t>Total 282 instansi dikelola di PDNS 2; per 26 Juni 2024, 239 instansi terdampak (30 K/L, 15 provinsi, 148 kabupaten, 48 kota).</a:t>
            </a:r>
          </a:p>
          <a:p>
            <a:r>
              <a:rPr lang="en-US" sz="1900" b="0" noProof="1">
                <a:latin typeface="Arial"/>
              </a:rPr>
              <a:t>Hanya sekitar 44 instansi yang memiliki backup sehingga layanannya dapat segera dimigrasikan.</a:t>
            </a:r>
          </a:p>
          <a:p>
            <a:r>
              <a:rPr lang="en-US" sz="1900" b="0" noProof="1">
                <a:latin typeface="Arial"/>
              </a:rPr>
              <a:t>Menurut operator, sistem backup sebenarnya disiapkan tetapi belum dimanfaatkan; pemulihan bergantung pada backup masing-masing instansi.</a:t>
            </a:r>
          </a:p>
          <a:p>
            <a:r>
              <a:rPr lang="en-US" sz="1900" b="0" noProof="1">
                <a:latin typeface="Arial"/>
              </a:rPr>
              <a:t>Pemulihan memakan waktu berminggu-minggu: per 9 Agustus 2024, sekitar 90% layanan prioritas telah pulih.</a:t>
            </a:r>
          </a:p>
          <a:p>
            <a:r>
              <a:rPr lang="en-US" sz="1900" b="0" noProof="1">
                <a:latin typeface="Arial"/>
              </a:rPr>
              <a:t>Sumber: pernyataan Kemenkominfo dalam Bisnis.com (27/6/2024, 9/8/2024); investortrust.id (2024).</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noProof="1"/>
              <a:t>Apa yang Salah? (2)</a:t>
            </a:r>
            <a:br>
              <a:rPr lang="en-US" noProof="1"/>
            </a:br>
            <a:r>
              <a:rPr lang="en-US" sz="3600" noProof="1"/>
              <a:t>Peluncuran Coretax DJP (2025)</a:t>
            </a:r>
          </a:p>
        </p:txBody>
      </p:sp>
      <p:sp>
        <p:nvSpPr>
          <p:cNvPr id="3" name="Content Placeholder 2"/>
          <p:cNvSpPr>
            <a:spLocks noGrp="1"/>
          </p:cNvSpPr>
          <p:nvPr>
            <p:ph idx="1"/>
          </p:nvPr>
        </p:nvSpPr>
        <p:spPr/>
        <p:txBody>
          <a:bodyPr wrap="square">
            <a:noAutofit/>
          </a:bodyPr>
          <a:lstStyle/>
          <a:p>
            <a:r>
              <a:rPr lang="en-US" sz="1900" b="0" noProof="1">
                <a:latin typeface="Arial"/>
              </a:rPr>
              <a:t>Sistem Inti Administrasi Perpajakan (Coretax) mulai berlaku 1 Januari 2025, menggantikan sistem lama.</a:t>
            </a:r>
          </a:p>
          <a:p>
            <a:r>
              <a:rPr lang="en-US" sz="1900" b="0" noProof="1">
                <a:latin typeface="Arial"/>
              </a:rPr>
              <a:t>Minggu pertama: kendala login, token tidak terkirim, dan kesulitan penerbitan faktur pajak.</a:t>
            </a:r>
          </a:p>
          <a:p>
            <a:r>
              <a:rPr lang="en-US" sz="1900" b="0" noProof="1">
                <a:latin typeface="Arial"/>
              </a:rPr>
              <a:t>Beban tinggi: banyak wajib pajak langsung melakukan transaksi nyata secara serentak, bukan sekadar mencoba sistem.</a:t>
            </a:r>
          </a:p>
          <a:p>
            <a:r>
              <a:rPr lang="en-US" sz="1900" b="0" noProof="1">
                <a:latin typeface="Arial"/>
              </a:rPr>
              <a:t>Respons DJP: menambah kapasitas dan bandwidth, menegaskan tidak ada sanksi akibat kendala Coretax, dan menyampaikan permohonan maaf (10/1/2025).</a:t>
            </a:r>
          </a:p>
          <a:p>
            <a:r>
              <a:rPr lang="en-US" sz="1900" b="0" noProof="1">
                <a:latin typeface="Arial"/>
              </a:rPr>
              <a:t>Hingga 9 Januari 2025: 34.401 WP menerbitkan 845.514 faktur, 236.221 di antaranya tervalidasi.</a:t>
            </a:r>
          </a:p>
          <a:p>
            <a:r>
              <a:rPr lang="en-US" sz="1900" b="0" noProof="1">
                <a:latin typeface="Arial"/>
              </a:rPr>
              <a:t>Sumber: IKPI (6/1/2025); Katadata (10/1/2025).</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noProof="1"/>
              <a:t>Apa yang Salah? (3) </a:t>
            </a:r>
            <a:br>
              <a:rPr lang="en-US" sz="3600" noProof="1"/>
            </a:br>
            <a:r>
              <a:rPr lang="en-US" sz="3600" noProof="1"/>
              <a:t>Diskusi</a:t>
            </a:r>
          </a:p>
        </p:txBody>
      </p:sp>
      <p:sp>
        <p:nvSpPr>
          <p:cNvPr id="3" name="Content Placeholder 2"/>
          <p:cNvSpPr>
            <a:spLocks noGrp="1"/>
          </p:cNvSpPr>
          <p:nvPr>
            <p:ph idx="1"/>
          </p:nvPr>
        </p:nvSpPr>
        <p:spPr/>
        <p:txBody>
          <a:bodyPr wrap="square">
            <a:noAutofit/>
          </a:bodyPr>
          <a:lstStyle/>
          <a:p>
            <a:r>
              <a:rPr lang="en-US" sz="2000" b="0" noProof="1">
                <a:latin typeface="Arial"/>
              </a:rPr>
              <a:t>Pada kelompok proses mana kelemahan utama PDNS 2 dan Coretax berakar: planning, executing, atau monitoring &amp; controlling?</a:t>
            </a:r>
          </a:p>
          <a:p>
            <a:r>
              <a:rPr lang="en-US" sz="2000" b="0" noProof="1">
                <a:latin typeface="Arial"/>
              </a:rPr>
              <a:t>Knowledge area apa yang paling relevan untuk tiap kasus (risk, quality, communications, procurement, stakeholder)?</a:t>
            </a:r>
          </a:p>
          <a:p>
            <a:r>
              <a:rPr lang="en-US" sz="2000" b="0" noProof="1">
                <a:latin typeface="Arial"/>
              </a:rPr>
              <a:t>Apa yang seharusnya tercantum di risk register dan rencana go-live Coretax?</a:t>
            </a:r>
          </a:p>
          <a:p>
            <a:r>
              <a:rPr lang="en-US" sz="2000" b="0" noProof="1">
                <a:latin typeface="Arial"/>
              </a:rPr>
              <a:t>Dalam kasus PDNS, bagaimana pembagian tanggung jawab antara PM, operator/vendor, dan instansi pengguna?</a:t>
            </a:r>
          </a:p>
          <a:p>
            <a:r>
              <a:rPr lang="en-US" sz="2000" b="0" noProof="1">
                <a:latin typeface="Arial"/>
              </a:rPr>
              <a:t>Apa pentingnya metodologi yang dapat diprediksi dan repeatable untuk mencegah kegagalan serupa?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noProof="1"/>
              <a:t>Memetakan Kelompok Proses ke Area Pengetahuan (1)</a:t>
            </a:r>
          </a:p>
        </p:txBody>
      </p:sp>
      <p:sp>
        <p:nvSpPr>
          <p:cNvPr id="3" name="Content Placeholder 2"/>
          <p:cNvSpPr>
            <a:spLocks noGrp="1"/>
          </p:cNvSpPr>
          <p:nvPr>
            <p:ph idx="1"/>
          </p:nvPr>
        </p:nvSpPr>
        <p:spPr/>
        <p:txBody>
          <a:bodyPr>
            <a:normAutofit/>
          </a:bodyPr>
          <a:lstStyle/>
          <a:p>
            <a:r>
              <a:rPr lang="en-US" sz="2300" noProof="1">
                <a:latin typeface="Arial" panose="020B0604020202020204" pitchFamily="34" charset="0"/>
                <a:cs typeface="Arial" panose="020B0604020202020204" pitchFamily="34" charset="0"/>
              </a:rPr>
              <a:t>Anda dapat </a:t>
            </a:r>
            <a:r>
              <a:rPr lang="en-US" sz="2300" b="1" noProof="1">
                <a:latin typeface="Arial" panose="020B0604020202020204" pitchFamily="34" charset="0"/>
                <a:cs typeface="Arial" panose="020B0604020202020204" pitchFamily="34" charset="0"/>
              </a:rPr>
              <a:t>memetakan aktivitas utama</a:t>
            </a:r>
            <a:r>
              <a:rPr lang="en-US" sz="2300" noProof="1">
                <a:latin typeface="Arial" panose="020B0604020202020204" pitchFamily="34" charset="0"/>
                <a:cs typeface="Arial" panose="020B0604020202020204" pitchFamily="34" charset="0"/>
              </a:rPr>
              <a:t> dari setiap </a:t>
            </a:r>
            <a:r>
              <a:rPr lang="en-US" sz="2300" b="1" noProof="1">
                <a:latin typeface="Arial" panose="020B0604020202020204" pitchFamily="34" charset="0"/>
                <a:cs typeface="Arial" panose="020B0604020202020204" pitchFamily="34" charset="0"/>
              </a:rPr>
              <a:t>PM Process Group</a:t>
            </a:r>
            <a:r>
              <a:rPr lang="en-US" sz="2300" noProof="1">
                <a:latin typeface="Arial" panose="020B0604020202020204" pitchFamily="34" charset="0"/>
                <a:cs typeface="Arial" panose="020B0604020202020204" pitchFamily="34" charset="0"/>
              </a:rPr>
              <a:t> ke dalam </a:t>
            </a:r>
            <a:r>
              <a:rPr lang="en-US" sz="2300" b="1" noProof="1">
                <a:latin typeface="Arial" panose="020B0604020202020204" pitchFamily="34" charset="0"/>
                <a:cs typeface="Arial" panose="020B0604020202020204" pitchFamily="34" charset="0"/>
              </a:rPr>
              <a:t>sembilan Knowledge Areas</a:t>
            </a:r>
            <a:r>
              <a:rPr lang="en-US" sz="2300" noProof="1">
                <a:latin typeface="Arial" panose="020B0604020202020204" pitchFamily="34" charset="0"/>
                <a:cs typeface="Arial" panose="020B0604020202020204" pitchFamily="34" charset="0"/>
              </a:rPr>
              <a:t> menggunakan PMBOK® Guide 2008.</a:t>
            </a:r>
          </a:p>
          <a:p>
            <a:pPr lvl="1"/>
            <a:r>
              <a:rPr lang="en-US" sz="1900" b="1" noProof="1">
                <a:latin typeface="Arial" panose="020B0604020202020204" pitchFamily="34" charset="0"/>
                <a:cs typeface="Arial" panose="020B0604020202020204" pitchFamily="34" charset="0"/>
              </a:rPr>
              <a:t>5 Process Groups</a:t>
            </a:r>
            <a:r>
              <a:rPr lang="en-US" sz="1900" noProof="1">
                <a:latin typeface="Arial" panose="020B0604020202020204" pitchFamily="34" charset="0"/>
                <a:cs typeface="Arial" panose="020B0604020202020204" pitchFamily="34" charset="0"/>
              </a:rPr>
              <a:t>: Initiating, Planning, Executing, Monitoring &amp; Controlling, Closing.</a:t>
            </a:r>
          </a:p>
          <a:p>
            <a:pPr lvl="1"/>
            <a:r>
              <a:rPr lang="en-US" sz="1900" b="1" noProof="1">
                <a:latin typeface="Arial" panose="020B0604020202020204" pitchFamily="34" charset="0"/>
                <a:cs typeface="Arial" panose="020B0604020202020204" pitchFamily="34" charset="0"/>
              </a:rPr>
              <a:t>9 Knowledge Areas</a:t>
            </a:r>
            <a:r>
              <a:rPr lang="en-US" sz="1900" noProof="1">
                <a:latin typeface="Arial" panose="020B0604020202020204" pitchFamily="34" charset="0"/>
                <a:cs typeface="Arial" panose="020B0604020202020204" pitchFamily="34" charset="0"/>
              </a:rPr>
              <a:t>: Integration, Scope, Time, Cost, Quality, Human Resource, Communication, Risk, Procurement.</a:t>
            </a:r>
          </a:p>
          <a:p>
            <a:r>
              <a:rPr lang="en-US" sz="2300" noProof="1">
                <a:latin typeface="Arial" panose="020B0604020202020204" pitchFamily="34" charset="0"/>
                <a:cs typeface="Arial" panose="020B0604020202020204" pitchFamily="34" charset="0"/>
              </a:rPr>
              <a:t>Perhatikan bahwa terdapat aktivitas dari setiap </a:t>
            </a:r>
            <a:r>
              <a:rPr lang="en-US" sz="2300" b="1" noProof="1">
                <a:latin typeface="Arial" panose="020B0604020202020204" pitchFamily="34" charset="0"/>
                <a:cs typeface="Arial" panose="020B0604020202020204" pitchFamily="34" charset="0"/>
              </a:rPr>
              <a:t>Knowledge Area</a:t>
            </a:r>
            <a:r>
              <a:rPr lang="en-US" sz="2300" noProof="1">
                <a:latin typeface="Arial" panose="020B0604020202020204" pitchFamily="34" charset="0"/>
                <a:cs typeface="Arial" panose="020B0604020202020204" pitchFamily="34" charset="0"/>
              </a:rPr>
              <a:t> di bawah </a:t>
            </a:r>
            <a:r>
              <a:rPr lang="en-US" sz="2300" b="1" noProof="1">
                <a:latin typeface="Arial" panose="020B0604020202020204" pitchFamily="34" charset="0"/>
                <a:cs typeface="Arial" panose="020B0604020202020204" pitchFamily="34" charset="0"/>
              </a:rPr>
              <a:t>Planning dan Monitoring &amp; Controlling process</a:t>
            </a:r>
            <a:r>
              <a:rPr lang="en-US" sz="2300" noProof="1">
                <a:latin typeface="Arial" panose="020B0604020202020204" pitchFamily="34" charset="0"/>
                <a:cs typeface="Arial" panose="020B0604020202020204" pitchFamily="34" charset="0"/>
              </a:rPr>
              <a:t> groups.</a:t>
            </a:r>
          </a:p>
          <a:p>
            <a:r>
              <a:rPr lang="en-US" sz="2300" noProof="1">
                <a:latin typeface="Arial" panose="020B0604020202020204" pitchFamily="34" charset="0"/>
                <a:cs typeface="Arial" panose="020B0604020202020204" pitchFamily="34" charset="0"/>
              </a:rPr>
              <a:t>Dua proses baru ditambahkan pada tahun 2008: </a:t>
            </a:r>
            <a:r>
              <a:rPr lang="en-US" sz="2300" b="1" noProof="1">
                <a:latin typeface="Arial" panose="020B0604020202020204" pitchFamily="34" charset="0"/>
                <a:cs typeface="Arial" panose="020B0604020202020204" pitchFamily="34" charset="0"/>
              </a:rPr>
              <a:t>Identify Stakeholders</a:t>
            </a:r>
            <a:r>
              <a:rPr lang="en-US" sz="2300" noProof="1">
                <a:latin typeface="Arial" panose="020B0604020202020204" pitchFamily="34" charset="0"/>
                <a:cs typeface="Arial" panose="020B0604020202020204" pitchFamily="34" charset="0"/>
              </a:rPr>
              <a:t> (mengidentifikasi pemangku kepentingan) dan </a:t>
            </a:r>
            <a:r>
              <a:rPr lang="en-US" sz="2300" b="1" noProof="1">
                <a:latin typeface="Arial" panose="020B0604020202020204" pitchFamily="34" charset="0"/>
                <a:cs typeface="Arial" panose="020B0604020202020204" pitchFamily="34" charset="0"/>
              </a:rPr>
              <a:t>Collect Requirements </a:t>
            </a:r>
            <a:r>
              <a:rPr lang="en-US" sz="2300" noProof="1">
                <a:latin typeface="Arial" panose="020B0604020202020204" pitchFamily="34" charset="0"/>
                <a:cs typeface="Arial" panose="020B0604020202020204" pitchFamily="34" charset="0"/>
              </a:rPr>
              <a:t>(mengumpulkan kebutuhan).</a:t>
            </a:r>
          </a:p>
        </p:txBody>
      </p:sp>
      <p:sp>
        <p:nvSpPr>
          <p:cNvPr id="5" name="TextBox 4">
            <a:extLst>
              <a:ext uri="{FF2B5EF4-FFF2-40B4-BE49-F238E27FC236}">
                <a16:creationId xmlns:a16="http://schemas.microsoft.com/office/drawing/2014/main" id="{DAB64737-C318-761D-14CB-33C375C25797}"/>
              </a:ext>
            </a:extLst>
          </p:cNvPr>
          <p:cNvSpPr txBox="1"/>
          <p:nvPr/>
        </p:nvSpPr>
        <p:spPr>
          <a:xfrm>
            <a:off x="1600200" y="5480903"/>
            <a:ext cx="9304020" cy="830997"/>
          </a:xfrm>
          <a:prstGeom prst="rect">
            <a:avLst/>
          </a:prstGeom>
          <a:noFill/>
        </p:spPr>
        <p:txBody>
          <a:bodyPr wrap="square">
            <a:spAutoFit/>
          </a:bodyPr>
          <a:lstStyle/>
          <a:p>
            <a:r>
              <a:rPr lang="en-US" sz="2400" i="1" noProof="1">
                <a:latin typeface="Arial" panose="020B0604020202020204" pitchFamily="34" charset="0"/>
                <a:cs typeface="Arial" panose="020B0604020202020204" pitchFamily="34" charset="0"/>
              </a:rPr>
              <a:t>“Pemetaan ini membantu memahami bagaimana aktivitas proyek terstruktur dan saling terkait dalam praktik profesional.”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E7270-82B8-3E14-7EF0-7E228AA435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3210A4-C9E6-72BF-F139-CDAAE97F75C7}"/>
              </a:ext>
            </a:extLst>
          </p:cNvPr>
          <p:cNvSpPr>
            <a:spLocks noGrp="1"/>
          </p:cNvSpPr>
          <p:nvPr>
            <p:ph type="title"/>
          </p:nvPr>
        </p:nvSpPr>
        <p:spPr/>
        <p:txBody>
          <a:bodyPr>
            <a:normAutofit/>
          </a:bodyPr>
          <a:lstStyle/>
          <a:p>
            <a:pPr algn="ctr"/>
            <a:r>
              <a:rPr lang="en-US" b="1" noProof="1"/>
              <a:t>Memetakan Kelompok Proses ke Area Pengetahuan (2)</a:t>
            </a:r>
          </a:p>
        </p:txBody>
      </p:sp>
      <p:pic>
        <p:nvPicPr>
          <p:cNvPr id="3" name="Picture 2" descr="heatmap.png"/>
          <p:cNvPicPr>
            <a:picLocks noChangeAspect="1"/>
          </p:cNvPicPr>
          <p:nvPr/>
        </p:nvPicPr>
        <p:blipFill>
          <a:blip r:embed="rId2"/>
          <a:stretch>
            <a:fillRect/>
          </a:stretch>
        </p:blipFill>
        <p:spPr>
          <a:xfrm>
            <a:off x="731520" y="1890137"/>
            <a:ext cx="10515600" cy="4556760"/>
          </a:xfrm>
          <a:prstGeom prst="rect">
            <a:avLst/>
          </a:prstGeom>
        </p:spPr>
      </p:pic>
    </p:spTree>
    <p:extLst>
      <p:ext uri="{BB962C8B-B14F-4D97-AF65-F5344CB8AC3E}">
        <p14:creationId xmlns:p14="http://schemas.microsoft.com/office/powerpoint/2010/main" val="34913549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600" b="1" noProof="1"/>
              <a:t>Pemetaan Project Management Process Groups ke Knowledge Areas (PMBOK® Guide, 4th Ed., 2008) (3)</a:t>
            </a:r>
          </a:p>
        </p:txBody>
      </p:sp>
      <p:graphicFrame>
        <p:nvGraphicFramePr>
          <p:cNvPr id="4" name="Content Placeholder 3"/>
          <p:cNvGraphicFramePr>
            <a:graphicFrameLocks noGrp="1"/>
          </p:cNvGraphicFramePr>
          <p:nvPr>
            <p:ph idx="1"/>
            <p:custDataLst>
              <p:tags r:id="rId1"/>
            </p:custDataLst>
            <p:extLst>
              <p:ext uri="{D42A27DB-BD31-4B8C-83A1-F6EECF244321}">
                <p14:modId xmlns:p14="http://schemas.microsoft.com/office/powerpoint/2010/main" val="3103818076"/>
              </p:ext>
            </p:extLst>
          </p:nvPr>
        </p:nvGraphicFramePr>
        <p:xfrm>
          <a:off x="472440" y="1825625"/>
          <a:ext cx="10881360" cy="4782820"/>
        </p:xfrm>
        <a:graphic>
          <a:graphicData uri="http://schemas.openxmlformats.org/drawingml/2006/table">
            <a:tbl>
              <a:tblPr>
                <a:tableStyleId>{5940675A-B579-460E-94D1-54222C63F5DA}</a:tableStyleId>
              </a:tblPr>
              <a:tblGrid>
                <a:gridCol w="1813560">
                  <a:extLst>
                    <a:ext uri="{9D8B030D-6E8A-4147-A177-3AD203B41FA5}">
                      <a16:colId xmlns:a16="http://schemas.microsoft.com/office/drawing/2014/main" val="20000"/>
                    </a:ext>
                  </a:extLst>
                </a:gridCol>
                <a:gridCol w="1813560">
                  <a:extLst>
                    <a:ext uri="{9D8B030D-6E8A-4147-A177-3AD203B41FA5}">
                      <a16:colId xmlns:a16="http://schemas.microsoft.com/office/drawing/2014/main" val="20001"/>
                    </a:ext>
                  </a:extLst>
                </a:gridCol>
                <a:gridCol w="1813560">
                  <a:extLst>
                    <a:ext uri="{9D8B030D-6E8A-4147-A177-3AD203B41FA5}">
                      <a16:colId xmlns:a16="http://schemas.microsoft.com/office/drawing/2014/main" val="20002"/>
                    </a:ext>
                  </a:extLst>
                </a:gridCol>
                <a:gridCol w="1813560">
                  <a:extLst>
                    <a:ext uri="{9D8B030D-6E8A-4147-A177-3AD203B41FA5}">
                      <a16:colId xmlns:a16="http://schemas.microsoft.com/office/drawing/2014/main" val="20003"/>
                    </a:ext>
                  </a:extLst>
                </a:gridCol>
                <a:gridCol w="1813560">
                  <a:extLst>
                    <a:ext uri="{9D8B030D-6E8A-4147-A177-3AD203B41FA5}">
                      <a16:colId xmlns:a16="http://schemas.microsoft.com/office/drawing/2014/main" val="20004"/>
                    </a:ext>
                  </a:extLst>
                </a:gridCol>
                <a:gridCol w="1813560">
                  <a:extLst>
                    <a:ext uri="{9D8B030D-6E8A-4147-A177-3AD203B41FA5}">
                      <a16:colId xmlns:a16="http://schemas.microsoft.com/office/drawing/2014/main" val="20005"/>
                    </a:ext>
                  </a:extLst>
                </a:gridCol>
              </a:tblGrid>
              <a:tr h="184150">
                <a:tc>
                  <a:txBody>
                    <a:bodyPr/>
                    <a:lstStyle/>
                    <a:p>
                      <a:pPr algn="ctr"/>
                      <a:r>
                        <a:rPr lang="en-US" sz="1150" b="1" noProof="1"/>
                        <a:t>Knowledge Area</a:t>
                      </a:r>
                    </a:p>
                  </a:txBody>
                  <a:tcPr marL="36195" marR="36195" marT="0" marB="0" anchor="ctr"/>
                </a:tc>
                <a:tc>
                  <a:txBody>
                    <a:bodyPr/>
                    <a:lstStyle/>
                    <a:p>
                      <a:pPr algn="ctr"/>
                      <a:r>
                        <a:rPr lang="en-US" sz="1150" b="1" noProof="1"/>
                        <a:t>Initiating</a:t>
                      </a:r>
                    </a:p>
                  </a:txBody>
                  <a:tcPr marL="36195" marR="36195" marT="0" marB="0" anchor="ctr"/>
                </a:tc>
                <a:tc>
                  <a:txBody>
                    <a:bodyPr/>
                    <a:lstStyle/>
                    <a:p>
                      <a:pPr algn="ctr"/>
                      <a:r>
                        <a:rPr lang="en-US" sz="1150" b="1" noProof="1"/>
                        <a:t>Planning</a:t>
                      </a:r>
                    </a:p>
                  </a:txBody>
                  <a:tcPr marL="36195" marR="36195" marT="0" marB="0" anchor="ctr"/>
                </a:tc>
                <a:tc>
                  <a:txBody>
                    <a:bodyPr/>
                    <a:lstStyle/>
                    <a:p>
                      <a:pPr algn="ctr"/>
                      <a:r>
                        <a:rPr lang="en-US" sz="1150" b="1" noProof="1"/>
                        <a:t>Executing</a:t>
                      </a:r>
                    </a:p>
                  </a:txBody>
                  <a:tcPr marL="36195" marR="36195" marT="0" marB="0" anchor="ctr"/>
                </a:tc>
                <a:tc>
                  <a:txBody>
                    <a:bodyPr/>
                    <a:lstStyle/>
                    <a:p>
                      <a:pPr algn="ctr"/>
                      <a:r>
                        <a:rPr lang="en-US" sz="1150" b="1" noProof="1"/>
                        <a:t>Monitoring &amp; Controlling</a:t>
                      </a:r>
                    </a:p>
                  </a:txBody>
                  <a:tcPr marL="36195" marR="36195" marT="0" marB="0" anchor="ctr"/>
                </a:tc>
                <a:tc>
                  <a:txBody>
                    <a:bodyPr/>
                    <a:lstStyle/>
                    <a:p>
                      <a:pPr algn="ctr"/>
                      <a:r>
                        <a:rPr lang="en-US" sz="1150" b="1" noProof="1"/>
                        <a:t>Closing</a:t>
                      </a:r>
                    </a:p>
                  </a:txBody>
                  <a:tcPr marL="36195" marR="36195" marT="0" marB="0" anchor="ctr"/>
                </a:tc>
                <a:extLst>
                  <a:ext uri="{0D108BD9-81ED-4DB2-BD59-A6C34878D82A}">
                    <a16:rowId xmlns:a16="http://schemas.microsoft.com/office/drawing/2014/main" val="10000"/>
                  </a:ext>
                </a:extLst>
              </a:tr>
              <a:tr h="551815">
                <a:tc>
                  <a:txBody>
                    <a:bodyPr/>
                    <a:lstStyle/>
                    <a:p>
                      <a:r>
                        <a:rPr lang="en-US" sz="1150" noProof="1"/>
                        <a:t>Project Integration Management</a:t>
                      </a:r>
                    </a:p>
                  </a:txBody>
                  <a:tcPr marL="36195" marR="36195" marT="0" marB="0" anchor="ctr"/>
                </a:tc>
                <a:tc>
                  <a:txBody>
                    <a:bodyPr/>
                    <a:lstStyle/>
                    <a:p>
                      <a:r>
                        <a:rPr lang="en-US" sz="1150" noProof="1"/>
                        <a:t>Develop Project Charter</a:t>
                      </a:r>
                    </a:p>
                  </a:txBody>
                  <a:tcPr marL="36195" marR="36195" marT="0" marB="0" anchor="ctr"/>
                </a:tc>
                <a:tc>
                  <a:txBody>
                    <a:bodyPr/>
                    <a:lstStyle/>
                    <a:p>
                      <a:r>
                        <a:rPr lang="en-US" sz="1150" noProof="1"/>
                        <a:t>Develop Project Management Plan</a:t>
                      </a:r>
                    </a:p>
                  </a:txBody>
                  <a:tcPr marL="36195" marR="36195" marT="0" marB="0" anchor="ctr"/>
                </a:tc>
                <a:tc>
                  <a:txBody>
                    <a:bodyPr/>
                    <a:lstStyle/>
                    <a:p>
                      <a:r>
                        <a:rPr lang="en-US" sz="1150" noProof="1"/>
                        <a:t>Direct and Manage Project Execution</a:t>
                      </a:r>
                    </a:p>
                  </a:txBody>
                  <a:tcPr marL="36195" marR="36195" marT="0" marB="0" anchor="ctr"/>
                </a:tc>
                <a:tc>
                  <a:txBody>
                    <a:bodyPr/>
                    <a:lstStyle/>
                    <a:p>
                      <a:r>
                        <a:rPr lang="en-US" sz="1150" noProof="1"/>
                        <a:t>Monitor and Control Project Work, Perform Integrated Change Control</a:t>
                      </a:r>
                    </a:p>
                  </a:txBody>
                  <a:tcPr marL="36195" marR="36195" marT="0" marB="0" anchor="ctr"/>
                </a:tc>
                <a:tc>
                  <a:txBody>
                    <a:bodyPr/>
                    <a:lstStyle/>
                    <a:p>
                      <a:r>
                        <a:rPr lang="en-US" sz="1150" noProof="1"/>
                        <a:t>Close Project or Phase</a:t>
                      </a:r>
                    </a:p>
                  </a:txBody>
                  <a:tcPr marL="36195" marR="36195" marT="0" marB="0" anchor="ctr"/>
                </a:tc>
                <a:extLst>
                  <a:ext uri="{0D108BD9-81ED-4DB2-BD59-A6C34878D82A}">
                    <a16:rowId xmlns:a16="http://schemas.microsoft.com/office/drawing/2014/main" val="10001"/>
                  </a:ext>
                </a:extLst>
              </a:tr>
              <a:tr h="367665">
                <a:tc>
                  <a:txBody>
                    <a:bodyPr/>
                    <a:lstStyle/>
                    <a:p>
                      <a:r>
                        <a:rPr lang="en-US" sz="1150" noProof="1"/>
                        <a:t>Project Scope Management</a:t>
                      </a:r>
                    </a:p>
                  </a:txBody>
                  <a:tcPr marL="36195" marR="36195" marT="0" marB="0" anchor="ctr"/>
                </a:tc>
                <a:tc>
                  <a:txBody>
                    <a:bodyPr/>
                    <a:lstStyle/>
                    <a:p>
                      <a:r>
                        <a:rPr lang="en-US" sz="1150" noProof="1"/>
                        <a:t>–</a:t>
                      </a:r>
                    </a:p>
                  </a:txBody>
                  <a:tcPr marL="36195" marR="36195" marT="0" marB="0" anchor="ctr"/>
                </a:tc>
                <a:tc>
                  <a:txBody>
                    <a:bodyPr/>
                    <a:lstStyle/>
                    <a:p>
                      <a:r>
                        <a:rPr lang="en-US" sz="1150" noProof="1"/>
                        <a:t>Collect Requirements, Define Scope, Create WBS</a:t>
                      </a:r>
                    </a:p>
                  </a:txBody>
                  <a:tcPr marL="36195" marR="36195" marT="0" marB="0" anchor="ctr"/>
                </a:tc>
                <a:tc>
                  <a:txBody>
                    <a:bodyPr/>
                    <a:lstStyle/>
                    <a:p>
                      <a:r>
                        <a:rPr lang="en-US" sz="1150" noProof="1"/>
                        <a:t>–</a:t>
                      </a:r>
                    </a:p>
                  </a:txBody>
                  <a:tcPr marL="36195" marR="36195" marT="0" marB="0" anchor="ctr"/>
                </a:tc>
                <a:tc>
                  <a:txBody>
                    <a:bodyPr/>
                    <a:lstStyle/>
                    <a:p>
                      <a:r>
                        <a:rPr lang="en-US" sz="1150" noProof="1"/>
                        <a:t>Verify Scope, Control Scope</a:t>
                      </a:r>
                    </a:p>
                  </a:txBody>
                  <a:tcPr marL="36195" marR="36195" marT="0" marB="0" anchor="ctr"/>
                </a:tc>
                <a:tc>
                  <a:txBody>
                    <a:bodyPr/>
                    <a:lstStyle/>
                    <a:p>
                      <a:r>
                        <a:rPr lang="en-US" sz="1150" noProof="1"/>
                        <a:t>–</a:t>
                      </a:r>
                    </a:p>
                  </a:txBody>
                  <a:tcPr marL="36195" marR="36195" marT="0" marB="0" anchor="ctr"/>
                </a:tc>
                <a:extLst>
                  <a:ext uri="{0D108BD9-81ED-4DB2-BD59-A6C34878D82A}">
                    <a16:rowId xmlns:a16="http://schemas.microsoft.com/office/drawing/2014/main" val="10002"/>
                  </a:ext>
                </a:extLst>
              </a:tr>
              <a:tr h="735965">
                <a:tc>
                  <a:txBody>
                    <a:bodyPr/>
                    <a:lstStyle/>
                    <a:p>
                      <a:r>
                        <a:rPr lang="en-US" sz="1150" noProof="1"/>
                        <a:t>Project Time Management</a:t>
                      </a:r>
                    </a:p>
                  </a:txBody>
                  <a:tcPr marL="36195" marR="36195" marT="0" marB="0" anchor="ctr"/>
                </a:tc>
                <a:tc>
                  <a:txBody>
                    <a:bodyPr/>
                    <a:lstStyle/>
                    <a:p>
                      <a:r>
                        <a:rPr lang="en-US" sz="1150" noProof="1"/>
                        <a:t>–</a:t>
                      </a:r>
                    </a:p>
                  </a:txBody>
                  <a:tcPr marL="36195" marR="36195" marT="0" marB="0" anchor="ctr"/>
                </a:tc>
                <a:tc>
                  <a:txBody>
                    <a:bodyPr/>
                    <a:lstStyle/>
                    <a:p>
                      <a:r>
                        <a:rPr lang="en-US" sz="1150" noProof="1"/>
                        <a:t>Define Activities, Sequence Activities, Estimate Activity Resources, Estimate Activity Durations, Develop Schedule</a:t>
                      </a:r>
                    </a:p>
                  </a:txBody>
                  <a:tcPr marL="36195" marR="36195" marT="0" marB="0" anchor="ctr"/>
                </a:tc>
                <a:tc>
                  <a:txBody>
                    <a:bodyPr/>
                    <a:lstStyle/>
                    <a:p>
                      <a:r>
                        <a:rPr lang="en-US" sz="1150" noProof="1"/>
                        <a:t>–</a:t>
                      </a:r>
                    </a:p>
                  </a:txBody>
                  <a:tcPr marL="36195" marR="36195" marT="0" marB="0" anchor="ctr"/>
                </a:tc>
                <a:tc>
                  <a:txBody>
                    <a:bodyPr/>
                    <a:lstStyle/>
                    <a:p>
                      <a:r>
                        <a:rPr lang="en-US" sz="1150" noProof="1"/>
                        <a:t>Control Schedule</a:t>
                      </a:r>
                    </a:p>
                  </a:txBody>
                  <a:tcPr marL="36195" marR="36195" marT="0" marB="0" anchor="ctr"/>
                </a:tc>
                <a:tc>
                  <a:txBody>
                    <a:bodyPr/>
                    <a:lstStyle/>
                    <a:p>
                      <a:r>
                        <a:rPr lang="en-US" sz="1150" noProof="1"/>
                        <a:t>–</a:t>
                      </a:r>
                    </a:p>
                  </a:txBody>
                  <a:tcPr marL="36195" marR="36195" marT="0" marB="0" anchor="ctr"/>
                </a:tc>
                <a:extLst>
                  <a:ext uri="{0D108BD9-81ED-4DB2-BD59-A6C34878D82A}">
                    <a16:rowId xmlns:a16="http://schemas.microsoft.com/office/drawing/2014/main" val="10003"/>
                  </a:ext>
                </a:extLst>
              </a:tr>
              <a:tr h="367665">
                <a:tc>
                  <a:txBody>
                    <a:bodyPr/>
                    <a:lstStyle/>
                    <a:p>
                      <a:r>
                        <a:rPr lang="en-US" sz="1150" noProof="1"/>
                        <a:t>Project Cost Management</a:t>
                      </a:r>
                    </a:p>
                  </a:txBody>
                  <a:tcPr marL="36195" marR="36195" marT="0" marB="0" anchor="ctr"/>
                </a:tc>
                <a:tc>
                  <a:txBody>
                    <a:bodyPr/>
                    <a:lstStyle/>
                    <a:p>
                      <a:r>
                        <a:rPr lang="en-US" sz="1150" noProof="1"/>
                        <a:t>–</a:t>
                      </a:r>
                    </a:p>
                  </a:txBody>
                  <a:tcPr marL="36195" marR="36195" marT="0" marB="0" anchor="ctr"/>
                </a:tc>
                <a:tc>
                  <a:txBody>
                    <a:bodyPr/>
                    <a:lstStyle/>
                    <a:p>
                      <a:r>
                        <a:rPr lang="en-US" sz="1150" noProof="1"/>
                        <a:t>Estimate Costs, Determine Budget</a:t>
                      </a:r>
                    </a:p>
                  </a:txBody>
                  <a:tcPr marL="36195" marR="36195" marT="0" marB="0" anchor="ctr"/>
                </a:tc>
                <a:tc>
                  <a:txBody>
                    <a:bodyPr/>
                    <a:lstStyle/>
                    <a:p>
                      <a:r>
                        <a:rPr lang="en-US" sz="1150" noProof="1"/>
                        <a:t>–</a:t>
                      </a:r>
                    </a:p>
                  </a:txBody>
                  <a:tcPr marL="36195" marR="36195" marT="0" marB="0" anchor="ctr"/>
                </a:tc>
                <a:tc>
                  <a:txBody>
                    <a:bodyPr/>
                    <a:lstStyle/>
                    <a:p>
                      <a:r>
                        <a:rPr lang="en-US" sz="1150" noProof="1"/>
                        <a:t>Control Costs</a:t>
                      </a:r>
                    </a:p>
                  </a:txBody>
                  <a:tcPr marL="36195" marR="36195" marT="0" marB="0" anchor="ctr"/>
                </a:tc>
                <a:tc>
                  <a:txBody>
                    <a:bodyPr/>
                    <a:lstStyle/>
                    <a:p>
                      <a:r>
                        <a:rPr lang="en-US" sz="1150" noProof="1"/>
                        <a:t>–</a:t>
                      </a:r>
                    </a:p>
                  </a:txBody>
                  <a:tcPr marL="36195" marR="36195" marT="0" marB="0" anchor="ctr"/>
                </a:tc>
                <a:extLst>
                  <a:ext uri="{0D108BD9-81ED-4DB2-BD59-A6C34878D82A}">
                    <a16:rowId xmlns:a16="http://schemas.microsoft.com/office/drawing/2014/main" val="10004"/>
                  </a:ext>
                </a:extLst>
              </a:tr>
              <a:tr h="184150">
                <a:tc>
                  <a:txBody>
                    <a:bodyPr/>
                    <a:lstStyle/>
                    <a:p>
                      <a:r>
                        <a:rPr lang="en-US" sz="1150" noProof="1"/>
                        <a:t>Project Quality Management</a:t>
                      </a:r>
                    </a:p>
                  </a:txBody>
                  <a:tcPr marL="36195" marR="36195" marT="0" marB="0" anchor="ctr"/>
                </a:tc>
                <a:tc>
                  <a:txBody>
                    <a:bodyPr/>
                    <a:lstStyle/>
                    <a:p>
                      <a:r>
                        <a:rPr lang="en-US" sz="1150" noProof="1"/>
                        <a:t>–</a:t>
                      </a:r>
                    </a:p>
                  </a:txBody>
                  <a:tcPr marL="36195" marR="36195" marT="0" marB="0" anchor="ctr"/>
                </a:tc>
                <a:tc>
                  <a:txBody>
                    <a:bodyPr/>
                    <a:lstStyle/>
                    <a:p>
                      <a:r>
                        <a:rPr lang="en-US" sz="1150" noProof="1"/>
                        <a:t>Plan Quality</a:t>
                      </a:r>
                    </a:p>
                  </a:txBody>
                  <a:tcPr marL="36195" marR="36195" marT="0" marB="0" anchor="ctr"/>
                </a:tc>
                <a:tc>
                  <a:txBody>
                    <a:bodyPr/>
                    <a:lstStyle/>
                    <a:p>
                      <a:r>
                        <a:rPr lang="en-US" sz="1150" noProof="1"/>
                        <a:t>Perform Quality Assurance</a:t>
                      </a:r>
                    </a:p>
                  </a:txBody>
                  <a:tcPr marL="36195" marR="36195" marT="0" marB="0" anchor="ctr"/>
                </a:tc>
                <a:tc>
                  <a:txBody>
                    <a:bodyPr/>
                    <a:lstStyle/>
                    <a:p>
                      <a:r>
                        <a:rPr lang="en-US" sz="1150" noProof="1"/>
                        <a:t>Perform Quality Control</a:t>
                      </a:r>
                    </a:p>
                  </a:txBody>
                  <a:tcPr marL="36195" marR="36195" marT="0" marB="0" anchor="ctr"/>
                </a:tc>
                <a:tc>
                  <a:txBody>
                    <a:bodyPr/>
                    <a:lstStyle/>
                    <a:p>
                      <a:r>
                        <a:rPr lang="en-US" sz="1150" noProof="1"/>
                        <a:t>–</a:t>
                      </a:r>
                    </a:p>
                  </a:txBody>
                  <a:tcPr marL="36195" marR="36195" marT="0" marB="0" anchor="ctr"/>
                </a:tc>
                <a:extLst>
                  <a:ext uri="{0D108BD9-81ED-4DB2-BD59-A6C34878D82A}">
                    <a16:rowId xmlns:a16="http://schemas.microsoft.com/office/drawing/2014/main" val="10005"/>
                  </a:ext>
                </a:extLst>
              </a:tr>
              <a:tr h="551815">
                <a:tc>
                  <a:txBody>
                    <a:bodyPr/>
                    <a:lstStyle/>
                    <a:p>
                      <a:r>
                        <a:rPr lang="en-US" sz="1150" noProof="1"/>
                        <a:t>Project Human Resource Management</a:t>
                      </a:r>
                    </a:p>
                  </a:txBody>
                  <a:tcPr marL="36195" marR="36195" marT="0" marB="0" anchor="ctr"/>
                </a:tc>
                <a:tc>
                  <a:txBody>
                    <a:bodyPr/>
                    <a:lstStyle/>
                    <a:p>
                      <a:r>
                        <a:rPr lang="en-US" sz="1150" noProof="1"/>
                        <a:t>–</a:t>
                      </a:r>
                    </a:p>
                  </a:txBody>
                  <a:tcPr marL="36195" marR="36195" marT="0" marB="0" anchor="ctr"/>
                </a:tc>
                <a:tc>
                  <a:txBody>
                    <a:bodyPr/>
                    <a:lstStyle/>
                    <a:p>
                      <a:r>
                        <a:rPr lang="en-US" sz="1150" noProof="1"/>
                        <a:t>Develop Human Resource Plan</a:t>
                      </a:r>
                    </a:p>
                  </a:txBody>
                  <a:tcPr marL="36195" marR="36195" marT="0" marB="0" anchor="ctr"/>
                </a:tc>
                <a:tc>
                  <a:txBody>
                    <a:bodyPr/>
                    <a:lstStyle/>
                    <a:p>
                      <a:r>
                        <a:rPr lang="en-US" sz="1150" noProof="1"/>
                        <a:t>Acquire Project Team, Develop Project Team, Manage Project Team</a:t>
                      </a:r>
                    </a:p>
                  </a:txBody>
                  <a:tcPr marL="36195" marR="36195" marT="0" marB="0" anchor="ctr"/>
                </a:tc>
                <a:tc>
                  <a:txBody>
                    <a:bodyPr/>
                    <a:lstStyle/>
                    <a:p>
                      <a:r>
                        <a:rPr lang="en-US" sz="1150" noProof="1"/>
                        <a:t>–</a:t>
                      </a:r>
                    </a:p>
                  </a:txBody>
                  <a:tcPr marL="36195" marR="36195" marT="0" marB="0" anchor="ctr"/>
                </a:tc>
                <a:tc>
                  <a:txBody>
                    <a:bodyPr/>
                    <a:lstStyle/>
                    <a:p>
                      <a:r>
                        <a:rPr lang="en-US" sz="1150" noProof="1"/>
                        <a:t>–</a:t>
                      </a:r>
                    </a:p>
                  </a:txBody>
                  <a:tcPr marL="36195" marR="36195" marT="0" marB="0" anchor="ctr"/>
                </a:tc>
                <a:extLst>
                  <a:ext uri="{0D108BD9-81ED-4DB2-BD59-A6C34878D82A}">
                    <a16:rowId xmlns:a16="http://schemas.microsoft.com/office/drawing/2014/main" val="10006"/>
                  </a:ext>
                </a:extLst>
              </a:tr>
              <a:tr h="551815">
                <a:tc>
                  <a:txBody>
                    <a:bodyPr/>
                    <a:lstStyle/>
                    <a:p>
                      <a:r>
                        <a:rPr lang="en-US" sz="1150" noProof="1"/>
                        <a:t>Project Communications Management</a:t>
                      </a:r>
                    </a:p>
                  </a:txBody>
                  <a:tcPr marL="36195" marR="36195" marT="0" marB="0" anchor="ctr"/>
                </a:tc>
                <a:tc>
                  <a:txBody>
                    <a:bodyPr/>
                    <a:lstStyle/>
                    <a:p>
                      <a:r>
                        <a:rPr lang="en-US" sz="1150" noProof="1"/>
                        <a:t>Identify Stakeholders(proses baru di 2008)</a:t>
                      </a:r>
                    </a:p>
                  </a:txBody>
                  <a:tcPr marL="36195" marR="36195" marT="0" marB="0" anchor="ctr"/>
                </a:tc>
                <a:tc>
                  <a:txBody>
                    <a:bodyPr/>
                    <a:lstStyle/>
                    <a:p>
                      <a:r>
                        <a:rPr lang="en-US" sz="1150" noProof="1"/>
                        <a:t>Plan Communications</a:t>
                      </a:r>
                    </a:p>
                  </a:txBody>
                  <a:tcPr marL="36195" marR="36195" marT="0" marB="0" anchor="ctr"/>
                </a:tc>
                <a:tc>
                  <a:txBody>
                    <a:bodyPr/>
                    <a:lstStyle/>
                    <a:p>
                      <a:r>
                        <a:rPr lang="en-US" sz="1150" noProof="1"/>
                        <a:t>Distribute Information, Manage Stakeholders’ Expectations</a:t>
                      </a:r>
                    </a:p>
                  </a:txBody>
                  <a:tcPr marL="36195" marR="36195" marT="0" marB="0" anchor="ctr"/>
                </a:tc>
                <a:tc>
                  <a:txBody>
                    <a:bodyPr/>
                    <a:lstStyle/>
                    <a:p>
                      <a:r>
                        <a:rPr lang="en-US" sz="1150" noProof="1"/>
                        <a:t>Report Performance</a:t>
                      </a:r>
                    </a:p>
                  </a:txBody>
                  <a:tcPr marL="36195" marR="36195" marT="0" marB="0" anchor="ctr"/>
                </a:tc>
                <a:tc>
                  <a:txBody>
                    <a:bodyPr/>
                    <a:lstStyle/>
                    <a:p>
                      <a:r>
                        <a:rPr lang="en-US" sz="1150" noProof="1"/>
                        <a:t>–</a:t>
                      </a:r>
                    </a:p>
                  </a:txBody>
                  <a:tcPr marL="36195" marR="36195" marT="0" marB="0" anchor="ctr"/>
                </a:tc>
                <a:extLst>
                  <a:ext uri="{0D108BD9-81ED-4DB2-BD59-A6C34878D82A}">
                    <a16:rowId xmlns:a16="http://schemas.microsoft.com/office/drawing/2014/main" val="10007"/>
                  </a:ext>
                </a:extLst>
              </a:tr>
              <a:tr h="920115">
                <a:tc>
                  <a:txBody>
                    <a:bodyPr/>
                    <a:lstStyle/>
                    <a:p>
                      <a:r>
                        <a:rPr lang="en-US" sz="1150" noProof="1"/>
                        <a:t>Project Risk Management</a:t>
                      </a:r>
                    </a:p>
                  </a:txBody>
                  <a:tcPr marL="36195" marR="36195" marT="0" marB="0" anchor="ctr"/>
                </a:tc>
                <a:tc>
                  <a:txBody>
                    <a:bodyPr/>
                    <a:lstStyle/>
                    <a:p>
                      <a:r>
                        <a:rPr lang="en-US" sz="1150" noProof="1"/>
                        <a:t>–</a:t>
                      </a:r>
                    </a:p>
                  </a:txBody>
                  <a:tcPr marL="36195" marR="36195" marT="0" marB="0" anchor="ctr"/>
                </a:tc>
                <a:tc>
                  <a:txBody>
                    <a:bodyPr/>
                    <a:lstStyle/>
                    <a:p>
                      <a:r>
                        <a:rPr lang="en-US" sz="1150" noProof="1"/>
                        <a:t>Plan Risk Management, Identify Risks, Perform Qualitative Risk Analysis, Perform Quantitative Risk Analysis, Plan Risk Responses</a:t>
                      </a:r>
                    </a:p>
                  </a:txBody>
                  <a:tcPr marL="36195" marR="36195" marT="0" marB="0" anchor="ctr"/>
                </a:tc>
                <a:tc>
                  <a:txBody>
                    <a:bodyPr/>
                    <a:lstStyle/>
                    <a:p>
                      <a:r>
                        <a:rPr lang="en-US" sz="1150" noProof="1"/>
                        <a:t>–</a:t>
                      </a:r>
                    </a:p>
                  </a:txBody>
                  <a:tcPr marL="36195" marR="36195" marT="0" marB="0" anchor="ctr"/>
                </a:tc>
                <a:tc>
                  <a:txBody>
                    <a:bodyPr/>
                    <a:lstStyle/>
                    <a:p>
                      <a:r>
                        <a:rPr lang="en-US" sz="1150" noProof="1"/>
                        <a:t>Monitor and Control Risks</a:t>
                      </a:r>
                    </a:p>
                  </a:txBody>
                  <a:tcPr marL="36195" marR="36195" marT="0" marB="0" anchor="ctr"/>
                </a:tc>
                <a:tc>
                  <a:txBody>
                    <a:bodyPr/>
                    <a:lstStyle/>
                    <a:p>
                      <a:r>
                        <a:rPr lang="en-US" sz="1150" noProof="1"/>
                        <a:t>–</a:t>
                      </a:r>
                    </a:p>
                  </a:txBody>
                  <a:tcPr marL="36195" marR="36195" marT="0" marB="0" anchor="ctr"/>
                </a:tc>
                <a:extLst>
                  <a:ext uri="{0D108BD9-81ED-4DB2-BD59-A6C34878D82A}">
                    <a16:rowId xmlns:a16="http://schemas.microsoft.com/office/drawing/2014/main" val="10008"/>
                  </a:ext>
                </a:extLst>
              </a:tr>
              <a:tr h="367665">
                <a:tc>
                  <a:txBody>
                    <a:bodyPr/>
                    <a:lstStyle/>
                    <a:p>
                      <a:r>
                        <a:rPr lang="en-US" sz="1150" noProof="1"/>
                        <a:t>Project Procurement Management</a:t>
                      </a:r>
                    </a:p>
                  </a:txBody>
                  <a:tcPr marL="36195" marR="36195" marT="0" marB="0" anchor="ctr"/>
                </a:tc>
                <a:tc>
                  <a:txBody>
                    <a:bodyPr/>
                    <a:lstStyle/>
                    <a:p>
                      <a:r>
                        <a:rPr lang="en-US" sz="1150" noProof="1"/>
                        <a:t>–</a:t>
                      </a:r>
                    </a:p>
                  </a:txBody>
                  <a:tcPr marL="36195" marR="36195" marT="0" marB="0" anchor="ctr"/>
                </a:tc>
                <a:tc>
                  <a:txBody>
                    <a:bodyPr/>
                    <a:lstStyle/>
                    <a:p>
                      <a:r>
                        <a:rPr lang="en-US" sz="1150" noProof="1"/>
                        <a:t>Plan Procurements</a:t>
                      </a:r>
                    </a:p>
                  </a:txBody>
                  <a:tcPr marL="36195" marR="36195" marT="0" marB="0" anchor="ctr"/>
                </a:tc>
                <a:tc>
                  <a:txBody>
                    <a:bodyPr/>
                    <a:lstStyle/>
                    <a:p>
                      <a:r>
                        <a:rPr lang="en-US" sz="1150" noProof="1"/>
                        <a:t>Conduct Procurements</a:t>
                      </a:r>
                    </a:p>
                  </a:txBody>
                  <a:tcPr marL="36195" marR="36195" marT="0" marB="0" anchor="ctr"/>
                </a:tc>
                <a:tc>
                  <a:txBody>
                    <a:bodyPr/>
                    <a:lstStyle/>
                    <a:p>
                      <a:r>
                        <a:rPr lang="en-US" sz="1150" noProof="1"/>
                        <a:t>Administer Procurements</a:t>
                      </a:r>
                    </a:p>
                  </a:txBody>
                  <a:tcPr marL="36195" marR="36195" marT="0" marB="0" anchor="ctr"/>
                </a:tc>
                <a:tc>
                  <a:txBody>
                    <a:bodyPr/>
                    <a:lstStyle/>
                    <a:p>
                      <a:r>
                        <a:rPr lang="en-US" sz="1150" noProof="1"/>
                        <a:t>Close Procurements</a:t>
                      </a:r>
                    </a:p>
                  </a:txBody>
                  <a:tcPr marL="36195" marR="36195" marT="0" marB="0"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349F6-F046-4BB4-1AC7-4EA81D0D631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5222528-A929-E38F-A277-F7BD21ED4939}"/>
              </a:ext>
            </a:extLst>
          </p:cNvPr>
          <p:cNvSpPr>
            <a:spLocks noGrp="1"/>
          </p:cNvSpPr>
          <p:nvPr>
            <p:ph type="title"/>
          </p:nvPr>
        </p:nvSpPr>
        <p:spPr/>
        <p:txBody>
          <a:bodyPr>
            <a:noAutofit/>
          </a:bodyPr>
          <a:lstStyle/>
          <a:p>
            <a:r>
              <a:rPr lang="en-US" sz="3600" b="1" noProof="1"/>
              <a:t>Pemetaan Project Management Process Groups ke Knowledge Areas (PMBOK® Guide, 4th Ed., 2008) (4)</a:t>
            </a:r>
          </a:p>
        </p:txBody>
      </p:sp>
      <p:sp>
        <p:nvSpPr>
          <p:cNvPr id="3" name="Content Placeholder 2">
            <a:extLst>
              <a:ext uri="{FF2B5EF4-FFF2-40B4-BE49-F238E27FC236}">
                <a16:creationId xmlns:a16="http://schemas.microsoft.com/office/drawing/2014/main" id="{9C36092F-2679-DABC-CD5F-8FEA21B4542D}"/>
              </a:ext>
            </a:extLst>
          </p:cNvPr>
          <p:cNvSpPr>
            <a:spLocks noGrp="1"/>
          </p:cNvSpPr>
          <p:nvPr>
            <p:ph idx="1"/>
          </p:nvPr>
        </p:nvSpPr>
        <p:spPr/>
        <p:txBody>
          <a:bodyPr/>
          <a:lstStyle/>
          <a:p>
            <a:r>
              <a:rPr lang="en-US" b="1" noProof="1"/>
              <a:t>Diskusi dan Refleksi</a:t>
            </a:r>
          </a:p>
          <a:p>
            <a:pPr lvl="1"/>
            <a:r>
              <a:rPr lang="en-US" noProof="1"/>
              <a:t>Mengapa sebagian besar aktivitas terjadi di Planning dan Monitoring &amp; Controlling?</a:t>
            </a:r>
          </a:p>
          <a:p>
            <a:pPr lvl="1"/>
            <a:r>
              <a:rPr lang="en-US" noProof="1"/>
              <a:t>Bagaimana pemetaan ini membantu dalam menyusun dokumen proyek?</a:t>
            </a:r>
          </a:p>
          <a:p>
            <a:pPr marL="0" indent="0">
              <a:buNone/>
            </a:pPr>
            <a:endParaRPr lang="en-US" noProof="1"/>
          </a:p>
        </p:txBody>
      </p:sp>
    </p:spTree>
    <p:extLst>
      <p:ext uri="{BB962C8B-B14F-4D97-AF65-F5344CB8AC3E}">
        <p14:creationId xmlns:p14="http://schemas.microsoft.com/office/powerpoint/2010/main" val="478471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noProof="1"/>
              <a:t>Apa yang baru (Sesudah PMBOK® 2008/4th Ed.)(1)</a:t>
            </a:r>
          </a:p>
        </p:txBody>
      </p:sp>
      <p:sp>
        <p:nvSpPr>
          <p:cNvPr id="3" name="Content Placeholder 2"/>
          <p:cNvSpPr>
            <a:spLocks noGrp="1"/>
          </p:cNvSpPr>
          <p:nvPr>
            <p:ph idx="1"/>
          </p:nvPr>
        </p:nvSpPr>
        <p:spPr/>
        <p:txBody>
          <a:bodyPr>
            <a:noAutofit/>
          </a:bodyPr>
          <a:lstStyle/>
          <a:p>
            <a:r>
              <a:rPr lang="en-US" sz="1700" b="1" noProof="1">
                <a:latin typeface="Arial" panose="020B0604020202020204" pitchFamily="34" charset="0"/>
                <a:cs typeface="Arial" panose="020B0604020202020204" pitchFamily="34" charset="0"/>
              </a:rPr>
              <a:t>PMBOK® 5th Ed. (2013)</a:t>
            </a:r>
            <a:endParaRPr lang="en-US" sz="1700" noProof="1">
              <a:latin typeface="Arial" panose="020B0604020202020204" pitchFamily="34" charset="0"/>
              <a:cs typeface="Arial" panose="020B0604020202020204" pitchFamily="34" charset="0"/>
            </a:endParaRPr>
          </a:p>
          <a:p>
            <a:pPr marL="252730" indent="-34290" defTabSz="914400">
              <a:buNone/>
              <a:tabLst>
                <a:tab pos="179070" algn="l"/>
              </a:tabLst>
            </a:pPr>
            <a:r>
              <a:rPr lang="en-US" sz="1700" noProof="1">
                <a:latin typeface="Arial" panose="020B0604020202020204" pitchFamily="34" charset="0"/>
                <a:cs typeface="Arial" panose="020B0604020202020204" pitchFamily="34" charset="0"/>
              </a:rPr>
              <a:t>Tambah Knowledge Area ke-10: Project Stakeholder Management (total 10 KA); pemetaan proses diperbarui.</a:t>
            </a:r>
          </a:p>
          <a:p>
            <a:r>
              <a:rPr lang="en-US" sz="1700" b="1" noProof="1">
                <a:latin typeface="Arial" panose="020B0604020202020204" pitchFamily="34" charset="0"/>
                <a:cs typeface="Arial" panose="020B0604020202020204" pitchFamily="34" charset="0"/>
              </a:rPr>
              <a:t>PMBOK® 6th Ed. (2017)</a:t>
            </a:r>
          </a:p>
          <a:p>
            <a:pPr marL="207010" indent="0">
              <a:buNone/>
            </a:pPr>
            <a:r>
              <a:rPr lang="en-US" sz="1700" noProof="1">
                <a:latin typeface="Arial" panose="020B0604020202020204" pitchFamily="34" charset="0"/>
                <a:cs typeface="Arial" panose="020B0604020202020204" pitchFamily="34" charset="0"/>
              </a:rPr>
              <a:t>Tetap 5 Process Groups × 10 Knowledge Areas = 49 processes.</a:t>
            </a:r>
          </a:p>
          <a:p>
            <a:pPr marL="207010" indent="0">
              <a:buNone/>
            </a:pPr>
            <a:r>
              <a:rPr lang="en-US" sz="1700" noProof="1">
                <a:latin typeface="Arial" panose="020B0604020202020204" pitchFamily="34" charset="0"/>
                <a:cs typeface="Arial" panose="020B0604020202020204" pitchFamily="34" charset="0"/>
              </a:rPr>
              <a:t>Penamaan diperbarui: Project Time → Project Schedule Management, Human Resource → Project Resource Management. Tambah proses kunci: Manage Project Knowledge, dll.</a:t>
            </a:r>
          </a:p>
          <a:p>
            <a:r>
              <a:rPr lang="en-US" sz="1700" b="1" noProof="1">
                <a:latin typeface="Arial" panose="020B0604020202020204" pitchFamily="34" charset="0"/>
                <a:cs typeface="Arial" panose="020B0604020202020204" pitchFamily="34" charset="0"/>
              </a:rPr>
              <a:t>PMBOK® 7th Ed. (2021) – perubahan paradigma</a:t>
            </a:r>
          </a:p>
          <a:p>
            <a:pPr marL="298450" indent="-11430">
              <a:buNone/>
            </a:pPr>
            <a:r>
              <a:rPr lang="en-US" sz="1700" noProof="1">
                <a:latin typeface="Arial" panose="020B0604020202020204" pitchFamily="34" charset="0"/>
                <a:cs typeface="Arial" panose="020B0604020202020204" pitchFamily="34" charset="0"/>
              </a:rPr>
              <a:t>B</a:t>
            </a:r>
            <a:r>
              <a:rPr lang="en-US" sz="1700" b="1" noProof="1">
                <a:latin typeface="Arial" panose="020B0604020202020204" pitchFamily="34" charset="0"/>
                <a:cs typeface="Arial" panose="020B0604020202020204" pitchFamily="34" charset="0"/>
              </a:rPr>
              <a:t>e</a:t>
            </a:r>
            <a:r>
              <a:rPr lang="en-US" sz="1700" noProof="1">
                <a:latin typeface="Arial" panose="020B0604020202020204" pitchFamily="34" charset="0"/>
                <a:cs typeface="Arial" panose="020B0604020202020204" pitchFamily="34" charset="0"/>
              </a:rPr>
              <a:t>ralih dari daftar proses ke 12 Principles dan 8 Performance Domains; fokus tailoring &amp; value delivery untuk predictive–agile–hybrid.</a:t>
            </a:r>
          </a:p>
          <a:p>
            <a:pPr marL="298450" indent="-11430">
              <a:buNone/>
            </a:pPr>
            <a:r>
              <a:rPr lang="en-US" sz="1700" noProof="1">
                <a:latin typeface="Arial" panose="020B0604020202020204" pitchFamily="34" charset="0"/>
                <a:cs typeface="Arial" panose="020B0604020202020204" pitchFamily="34" charset="0"/>
              </a:rPr>
              <a:t>Knowledge Areas/Process Groups tidak lagi menjadi struktur utama.</a:t>
            </a:r>
          </a:p>
          <a:p>
            <a:r>
              <a:rPr lang="en-US" sz="1700" b="1" noProof="1">
                <a:latin typeface="Arial" panose="020B0604020202020204" pitchFamily="34" charset="0"/>
                <a:cs typeface="Arial" panose="020B0604020202020204" pitchFamily="34" charset="0"/>
              </a:rPr>
              <a:t>Process Groups: A Practice Guide (PMI, 2022)</a:t>
            </a:r>
          </a:p>
          <a:p>
            <a:pPr marL="229870" indent="12065">
              <a:buNone/>
            </a:pPr>
            <a:r>
              <a:rPr lang="en-US" sz="1700" noProof="1">
                <a:latin typeface="Arial" panose="020B0604020202020204" pitchFamily="34" charset="0"/>
                <a:cs typeface="Arial" panose="020B0604020202020204" pitchFamily="34" charset="0"/>
              </a:rPr>
              <a:t>Panduan pendamping yang tetap memakai 5 Process Groups (Initiating, Planning, Executing, Monitoring &amp; Controlling, Closing) bagi organisasi yang memerlukan kerangka proses yang familier.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7F364-D523-0CC5-744B-F8E7AECDD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99CF3E-517D-174F-5A9B-70F645DAEC70}"/>
              </a:ext>
            </a:extLst>
          </p:cNvPr>
          <p:cNvSpPr>
            <a:spLocks noGrp="1"/>
          </p:cNvSpPr>
          <p:nvPr>
            <p:ph type="title"/>
          </p:nvPr>
        </p:nvSpPr>
        <p:spPr/>
        <p:txBody>
          <a:bodyPr>
            <a:normAutofit/>
          </a:bodyPr>
          <a:lstStyle/>
          <a:p>
            <a:pPr algn="ctr"/>
            <a:r>
              <a:rPr lang="en-US" sz="4000" b="1" noProof="1"/>
              <a:t>Apa yang baru (Sesudah PMBOK® 2008/4th Ed.)(2)</a:t>
            </a:r>
          </a:p>
        </p:txBody>
      </p:sp>
      <p:graphicFrame>
        <p:nvGraphicFramePr>
          <p:cNvPr id="4" name="Content Placeholder 3">
            <a:extLst>
              <a:ext uri="{FF2B5EF4-FFF2-40B4-BE49-F238E27FC236}">
                <a16:creationId xmlns:a16="http://schemas.microsoft.com/office/drawing/2014/main" id="{14C3A79C-E4E4-4082-0398-C3A0B4F20E12}"/>
              </a:ext>
            </a:extLst>
          </p:cNvPr>
          <p:cNvGraphicFramePr>
            <a:graphicFrameLocks noGrp="1"/>
          </p:cNvGraphicFramePr>
          <p:nvPr>
            <p:ph idx="1"/>
            <p:extLst>
              <p:ext uri="{D42A27DB-BD31-4B8C-83A1-F6EECF244321}">
                <p14:modId xmlns:p14="http://schemas.microsoft.com/office/powerpoint/2010/main" val="1654656969"/>
              </p:ext>
            </p:extLst>
          </p:nvPr>
        </p:nvGraphicFramePr>
        <p:xfrm>
          <a:off x="1091961" y="1825625"/>
          <a:ext cx="10008078" cy="4062170"/>
        </p:xfrm>
        <a:graphic>
          <a:graphicData uri="http://schemas.openxmlformats.org/drawingml/2006/table">
            <a:tbl>
              <a:tblPr>
                <a:tableStyleId>{616DA210-FB5B-4158-B5E0-FEB733F419BA}</a:tableStyleId>
              </a:tblPr>
              <a:tblGrid>
                <a:gridCol w="1668013">
                  <a:extLst>
                    <a:ext uri="{9D8B030D-6E8A-4147-A177-3AD203B41FA5}">
                      <a16:colId xmlns:a16="http://schemas.microsoft.com/office/drawing/2014/main" val="3988080334"/>
                    </a:ext>
                  </a:extLst>
                </a:gridCol>
                <a:gridCol w="1668013">
                  <a:extLst>
                    <a:ext uri="{9D8B030D-6E8A-4147-A177-3AD203B41FA5}">
                      <a16:colId xmlns:a16="http://schemas.microsoft.com/office/drawing/2014/main" val="2885378033"/>
                    </a:ext>
                  </a:extLst>
                </a:gridCol>
                <a:gridCol w="1668013">
                  <a:extLst>
                    <a:ext uri="{9D8B030D-6E8A-4147-A177-3AD203B41FA5}">
                      <a16:colId xmlns:a16="http://schemas.microsoft.com/office/drawing/2014/main" val="1629530510"/>
                    </a:ext>
                  </a:extLst>
                </a:gridCol>
                <a:gridCol w="1668013">
                  <a:extLst>
                    <a:ext uri="{9D8B030D-6E8A-4147-A177-3AD203B41FA5}">
                      <a16:colId xmlns:a16="http://schemas.microsoft.com/office/drawing/2014/main" val="723561852"/>
                    </a:ext>
                  </a:extLst>
                </a:gridCol>
                <a:gridCol w="1668013">
                  <a:extLst>
                    <a:ext uri="{9D8B030D-6E8A-4147-A177-3AD203B41FA5}">
                      <a16:colId xmlns:a16="http://schemas.microsoft.com/office/drawing/2014/main" val="3316854445"/>
                    </a:ext>
                  </a:extLst>
                </a:gridCol>
                <a:gridCol w="1668013">
                  <a:extLst>
                    <a:ext uri="{9D8B030D-6E8A-4147-A177-3AD203B41FA5}">
                      <a16:colId xmlns:a16="http://schemas.microsoft.com/office/drawing/2014/main" val="1086179994"/>
                    </a:ext>
                  </a:extLst>
                </a:gridCol>
              </a:tblGrid>
              <a:tr h="420000">
                <a:tc>
                  <a:txBody>
                    <a:bodyPr/>
                    <a:lstStyle/>
                    <a:p>
                      <a:pPr algn="ctr">
                        <a:buNone/>
                      </a:pPr>
                      <a:r>
                        <a:rPr lang="en-US" sz="1400" b="1" noProof="1"/>
                        <a:t>Edisi PMBOK®</a:t>
                      </a:r>
                      <a:endParaRPr lang="en-US" sz="1700" noProof="1"/>
                    </a:p>
                  </a:txBody>
                  <a:tcPr marL="87027" marR="87027" marT="43513" marB="43513" anchor="ctr"/>
                </a:tc>
                <a:tc>
                  <a:txBody>
                    <a:bodyPr/>
                    <a:lstStyle/>
                    <a:p>
                      <a:pPr algn="ctr">
                        <a:buNone/>
                      </a:pPr>
                      <a:r>
                        <a:rPr lang="en-US" sz="1400" b="1" noProof="1"/>
                        <a:t>Tahun Terbit</a:t>
                      </a:r>
                      <a:endParaRPr lang="en-US" sz="1700" noProof="1"/>
                    </a:p>
                  </a:txBody>
                  <a:tcPr marL="87027" marR="87027" marT="43513" marB="43513" anchor="ctr"/>
                </a:tc>
                <a:tc>
                  <a:txBody>
                    <a:bodyPr/>
                    <a:lstStyle/>
                    <a:p>
                      <a:pPr algn="ctr">
                        <a:buNone/>
                      </a:pPr>
                      <a:r>
                        <a:rPr lang="en-US" sz="1400" b="1" noProof="1"/>
                        <a:t>Pendekatan Utama</a:t>
                      </a:r>
                      <a:endParaRPr lang="en-US" sz="1700" noProof="1"/>
                    </a:p>
                  </a:txBody>
                  <a:tcPr marL="87027" marR="87027" marT="43513" marB="43513" anchor="ctr"/>
                </a:tc>
                <a:tc>
                  <a:txBody>
                    <a:bodyPr/>
                    <a:lstStyle/>
                    <a:p>
                      <a:pPr algn="ctr">
                        <a:buNone/>
                      </a:pPr>
                      <a:r>
                        <a:rPr lang="en-US" sz="1400" b="1" noProof="1"/>
                        <a:t>Struktur</a:t>
                      </a:r>
                      <a:endParaRPr lang="en-US" sz="1700" noProof="1"/>
                    </a:p>
                  </a:txBody>
                  <a:tcPr marL="87027" marR="87027" marT="43513" marB="43513" anchor="ctr"/>
                </a:tc>
                <a:tc>
                  <a:txBody>
                    <a:bodyPr/>
                    <a:lstStyle/>
                    <a:p>
                      <a:pPr algn="ctr">
                        <a:buNone/>
                      </a:pPr>
                      <a:r>
                        <a:rPr lang="en-US" sz="1400" b="1" noProof="1"/>
                        <a:t>Fokus Utama</a:t>
                      </a:r>
                      <a:endParaRPr lang="en-US" sz="1700" noProof="1"/>
                    </a:p>
                  </a:txBody>
                  <a:tcPr marL="87027" marR="87027" marT="43513" marB="43513" anchor="ctr"/>
                </a:tc>
                <a:tc>
                  <a:txBody>
                    <a:bodyPr/>
                    <a:lstStyle/>
                    <a:p>
                      <a:pPr algn="ctr">
                        <a:buNone/>
                      </a:pPr>
                      <a:r>
                        <a:rPr lang="en-US" sz="1400" b="1" noProof="1"/>
                        <a:t>Perubahan Signifikan</a:t>
                      </a:r>
                      <a:endParaRPr lang="en-US" sz="1700" noProof="1"/>
                    </a:p>
                  </a:txBody>
                  <a:tcPr marL="87027" marR="87027" marT="43513" marB="43513" anchor="ctr"/>
                </a:tc>
                <a:extLst>
                  <a:ext uri="{0D108BD9-81ED-4DB2-BD59-A6C34878D82A}">
                    <a16:rowId xmlns:a16="http://schemas.microsoft.com/office/drawing/2014/main" val="932616958"/>
                  </a:ext>
                </a:extLst>
              </a:tr>
              <a:tr h="640000">
                <a:tc>
                  <a:txBody>
                    <a:bodyPr/>
                    <a:lstStyle/>
                    <a:p>
                      <a:pPr>
                        <a:buNone/>
                      </a:pPr>
                      <a:r>
                        <a:rPr lang="en-US" sz="1400" b="1" noProof="1"/>
                        <a:t>Edisi ke-4</a:t>
                      </a:r>
                      <a:endParaRPr lang="en-US" sz="1700" noProof="1"/>
                    </a:p>
                  </a:txBody>
                  <a:tcPr marL="87027" marR="87027" marT="43513" marB="43513" anchor="ctr"/>
                </a:tc>
                <a:tc>
                  <a:txBody>
                    <a:bodyPr/>
                    <a:lstStyle/>
                    <a:p>
                      <a:pPr>
                        <a:buNone/>
                      </a:pPr>
                      <a:r>
                        <a:rPr lang="en-US" sz="1400" noProof="1"/>
                        <a:t>2008</a:t>
                      </a:r>
                    </a:p>
                  </a:txBody>
                  <a:tcPr marL="87027" marR="87027" marT="43513" marB="43513" anchor="ctr"/>
                </a:tc>
                <a:tc>
                  <a:txBody>
                    <a:bodyPr/>
                    <a:lstStyle/>
                    <a:p>
                      <a:pPr>
                        <a:buNone/>
                      </a:pPr>
                      <a:r>
                        <a:rPr lang="en-US" sz="1400" noProof="1"/>
                        <a:t>Berbasis proses (cenderung prediktif)</a:t>
                      </a:r>
                    </a:p>
                  </a:txBody>
                  <a:tcPr marL="87027" marR="87027" marT="43513" marB="43513" anchor="ctr"/>
                </a:tc>
                <a:tc>
                  <a:txBody>
                    <a:bodyPr/>
                    <a:lstStyle/>
                    <a:p>
                      <a:pPr>
                        <a:buNone/>
                      </a:pPr>
                      <a:r>
                        <a:rPr lang="en-US" sz="1400" noProof="1"/>
                        <a:t>5 Grup Proses, 9 Area Pengetahuan</a:t>
                      </a:r>
                    </a:p>
                  </a:txBody>
                  <a:tcPr marL="87027" marR="87027" marT="43513" marB="43513" anchor="ctr"/>
                </a:tc>
                <a:tc>
                  <a:txBody>
                    <a:bodyPr/>
                    <a:lstStyle/>
                    <a:p>
                      <a:pPr>
                        <a:buNone/>
                      </a:pPr>
                      <a:r>
                        <a:rPr lang="en-US" sz="1400" noProof="1"/>
                        <a:t>Manajemen proyek tradisional</a:t>
                      </a:r>
                    </a:p>
                  </a:txBody>
                  <a:tcPr marL="87027" marR="87027" marT="43513" marB="43513" anchor="ctr"/>
                </a:tc>
                <a:tc>
                  <a:txBody>
                    <a:bodyPr/>
                    <a:lstStyle/>
                    <a:p>
                      <a:pPr>
                        <a:buNone/>
                      </a:pPr>
                      <a:r>
                        <a:rPr lang="en-US" sz="1400" noProof="1"/>
                        <a:t>Konsistensi terminologi dan proses</a:t>
                      </a:r>
                    </a:p>
                  </a:txBody>
                  <a:tcPr marL="87027" marR="87027" marT="43513" marB="43513" anchor="ctr"/>
                </a:tc>
                <a:extLst>
                  <a:ext uri="{0D108BD9-81ED-4DB2-BD59-A6C34878D82A}">
                    <a16:rowId xmlns:a16="http://schemas.microsoft.com/office/drawing/2014/main" val="2761914714"/>
                  </a:ext>
                </a:extLst>
              </a:tr>
              <a:tr h="640000">
                <a:tc>
                  <a:txBody>
                    <a:bodyPr/>
                    <a:lstStyle/>
                    <a:p>
                      <a:pPr>
                        <a:buNone/>
                      </a:pPr>
                      <a:r>
                        <a:rPr lang="en-US" sz="1400" b="1" noProof="1"/>
                        <a:t>Edisi ke-5</a:t>
                      </a:r>
                      <a:endParaRPr lang="en-US" sz="1700" noProof="1"/>
                    </a:p>
                  </a:txBody>
                  <a:tcPr marL="87027" marR="87027" marT="43513" marB="43513" anchor="ctr"/>
                </a:tc>
                <a:tc>
                  <a:txBody>
                    <a:bodyPr/>
                    <a:lstStyle/>
                    <a:p>
                      <a:pPr>
                        <a:buNone/>
                      </a:pPr>
                      <a:r>
                        <a:rPr lang="en-US" sz="1400" noProof="1"/>
                        <a:t>2013</a:t>
                      </a:r>
                    </a:p>
                  </a:txBody>
                  <a:tcPr marL="87027" marR="87027" marT="43513" marB="43513" anchor="ctr"/>
                </a:tc>
                <a:tc>
                  <a:txBody>
                    <a:bodyPr/>
                    <a:lstStyle/>
                    <a:p>
                      <a:pPr>
                        <a:buNone/>
                      </a:pPr>
                      <a:r>
                        <a:rPr lang="en-US" sz="1400" noProof="1"/>
                        <a:t>Berbasis proses (cenderung prediktif)</a:t>
                      </a:r>
                    </a:p>
                  </a:txBody>
                  <a:tcPr marL="87027" marR="87027" marT="43513" marB="43513" anchor="ctr"/>
                </a:tc>
                <a:tc>
                  <a:txBody>
                    <a:bodyPr/>
                    <a:lstStyle/>
                    <a:p>
                      <a:pPr>
                        <a:buNone/>
                      </a:pPr>
                      <a:r>
                        <a:rPr lang="en-US" sz="1400" noProof="1"/>
                        <a:t>5 Grup Proses, 10 Area Pengetahuan</a:t>
                      </a:r>
                    </a:p>
                  </a:txBody>
                  <a:tcPr marL="87027" marR="87027" marT="43513" marB="43513" anchor="ctr"/>
                </a:tc>
                <a:tc>
                  <a:txBody>
                    <a:bodyPr/>
                    <a:lstStyle/>
                    <a:p>
                      <a:pPr>
                        <a:buNone/>
                      </a:pPr>
                      <a:r>
                        <a:rPr lang="en-US" sz="1400" noProof="1"/>
                        <a:t>Penambahan Manajemen Stakeholder</a:t>
                      </a:r>
                    </a:p>
                  </a:txBody>
                  <a:tcPr marL="87027" marR="87027" marT="43513" marB="43513" anchor="ctr"/>
                </a:tc>
                <a:tc>
                  <a:txBody>
                    <a:bodyPr/>
                    <a:lstStyle/>
                    <a:p>
                      <a:pPr>
                        <a:buNone/>
                      </a:pPr>
                      <a:r>
                        <a:rPr lang="en-US" sz="1400" noProof="1"/>
                        <a:t>Penambahan area pengetahuan baru</a:t>
                      </a:r>
                    </a:p>
                  </a:txBody>
                  <a:tcPr marL="87027" marR="87027" marT="43513" marB="43513" anchor="ctr"/>
                </a:tc>
                <a:extLst>
                  <a:ext uri="{0D108BD9-81ED-4DB2-BD59-A6C34878D82A}">
                    <a16:rowId xmlns:a16="http://schemas.microsoft.com/office/drawing/2014/main" val="3110134673"/>
                  </a:ext>
                </a:extLst>
              </a:tr>
              <a:tr h="640000">
                <a:tc>
                  <a:txBody>
                    <a:bodyPr/>
                    <a:lstStyle/>
                    <a:p>
                      <a:pPr>
                        <a:buNone/>
                      </a:pPr>
                      <a:r>
                        <a:rPr lang="en-US" sz="1400" b="1" noProof="1"/>
                        <a:t>Edisi ke-6</a:t>
                      </a:r>
                      <a:endParaRPr lang="en-US" sz="1700" noProof="1"/>
                    </a:p>
                  </a:txBody>
                  <a:tcPr marL="87027" marR="87027" marT="43513" marB="43513" anchor="ctr"/>
                </a:tc>
                <a:tc>
                  <a:txBody>
                    <a:bodyPr/>
                    <a:lstStyle/>
                    <a:p>
                      <a:pPr>
                        <a:buNone/>
                      </a:pPr>
                      <a:r>
                        <a:rPr lang="en-US" sz="1400" noProof="1"/>
                        <a:t>2017</a:t>
                      </a:r>
                    </a:p>
                  </a:txBody>
                  <a:tcPr marL="87027" marR="87027" marT="43513" marB="43513" anchor="ctr"/>
                </a:tc>
                <a:tc>
                  <a:txBody>
                    <a:bodyPr/>
                    <a:lstStyle/>
                    <a:p>
                      <a:pPr>
                        <a:buNone/>
                      </a:pPr>
                      <a:r>
                        <a:rPr lang="en-US" sz="1400" noProof="1"/>
                        <a:t>Berbasis proses + kesadaran Agile</a:t>
                      </a:r>
                    </a:p>
                  </a:txBody>
                  <a:tcPr marL="87027" marR="87027" marT="43513" marB="43513" anchor="ctr"/>
                </a:tc>
                <a:tc>
                  <a:txBody>
                    <a:bodyPr/>
                    <a:lstStyle/>
                    <a:p>
                      <a:pPr>
                        <a:buNone/>
                      </a:pPr>
                      <a:r>
                        <a:rPr lang="en-US" sz="1400" noProof="1"/>
                        <a:t>5 Grup Proses, 10 Area Pengetahuan</a:t>
                      </a:r>
                    </a:p>
                  </a:txBody>
                  <a:tcPr marL="87027" marR="87027" marT="43513" marB="43513" anchor="ctr"/>
                </a:tc>
                <a:tc>
                  <a:txBody>
                    <a:bodyPr/>
                    <a:lstStyle/>
                    <a:p>
                      <a:pPr>
                        <a:buNone/>
                      </a:pPr>
                      <a:r>
                        <a:rPr lang="en-US" sz="1400" noProof="1"/>
                        <a:t>Integrasi Agile dan Hybrid</a:t>
                      </a:r>
                    </a:p>
                  </a:txBody>
                  <a:tcPr marL="87027" marR="87027" marT="43513" marB="43513" anchor="ctr"/>
                </a:tc>
                <a:tc>
                  <a:txBody>
                    <a:bodyPr/>
                    <a:lstStyle/>
                    <a:p>
                      <a:pPr>
                        <a:buNone/>
                      </a:pPr>
                      <a:r>
                        <a:rPr lang="en-US" sz="1400" noProof="1"/>
                        <a:t>Penekanan pada Agile Practice Guide</a:t>
                      </a:r>
                    </a:p>
                  </a:txBody>
                  <a:tcPr marL="87027" marR="87027" marT="43513" marB="43513" anchor="ctr"/>
                </a:tc>
                <a:extLst>
                  <a:ext uri="{0D108BD9-81ED-4DB2-BD59-A6C34878D82A}">
                    <a16:rowId xmlns:a16="http://schemas.microsoft.com/office/drawing/2014/main" val="2961442245"/>
                  </a:ext>
                </a:extLst>
              </a:tr>
              <a:tr h="640000">
                <a:tc>
                  <a:txBody>
                    <a:bodyPr/>
                    <a:lstStyle/>
                    <a:p>
                      <a:pPr>
                        <a:buNone/>
                      </a:pPr>
                      <a:r>
                        <a:rPr lang="en-US" sz="1400" b="1" noProof="1"/>
                        <a:t>Edisi ke-7</a:t>
                      </a:r>
                      <a:endParaRPr lang="en-US" sz="1700" noProof="1"/>
                    </a:p>
                  </a:txBody>
                  <a:tcPr marL="87027" marR="87027" marT="43513" marB="43513" anchor="ctr"/>
                </a:tc>
                <a:tc>
                  <a:txBody>
                    <a:bodyPr/>
                    <a:lstStyle/>
                    <a:p>
                      <a:pPr>
                        <a:buNone/>
                      </a:pPr>
                      <a:r>
                        <a:rPr lang="en-US" sz="1400" noProof="1"/>
                        <a:t>2021</a:t>
                      </a:r>
                    </a:p>
                  </a:txBody>
                  <a:tcPr marL="87027" marR="87027" marT="43513" marB="43513" anchor="ctr"/>
                </a:tc>
                <a:tc>
                  <a:txBody>
                    <a:bodyPr/>
                    <a:lstStyle/>
                    <a:p>
                      <a:pPr>
                        <a:buNone/>
                      </a:pPr>
                      <a:r>
                        <a:rPr lang="en-US" sz="1400" noProof="1"/>
                        <a:t>Berbasis prinsip (principle-based)</a:t>
                      </a:r>
                    </a:p>
                  </a:txBody>
                  <a:tcPr marL="87027" marR="87027" marT="43513" marB="43513" anchor="ctr"/>
                </a:tc>
                <a:tc>
                  <a:txBody>
                    <a:bodyPr/>
                    <a:lstStyle/>
                    <a:p>
                      <a:pPr>
                        <a:buNone/>
                      </a:pPr>
                      <a:r>
                        <a:rPr lang="en-US" sz="1400" noProof="1"/>
                        <a:t>12 Prinsip, 8 Domain Kinerja</a:t>
                      </a:r>
                    </a:p>
                  </a:txBody>
                  <a:tcPr marL="87027" marR="87027" marT="43513" marB="43513" anchor="ctr"/>
                </a:tc>
                <a:tc>
                  <a:txBody>
                    <a:bodyPr/>
                    <a:lstStyle/>
                    <a:p>
                      <a:pPr>
                        <a:buNone/>
                      </a:pPr>
                      <a:r>
                        <a:rPr lang="en-US" sz="1400" noProof="1"/>
                        <a:t>Nilai, hasil, dan adaptabilitas</a:t>
                      </a:r>
                    </a:p>
                  </a:txBody>
                  <a:tcPr marL="87027" marR="87027" marT="43513" marB="43513" anchor="ctr"/>
                </a:tc>
                <a:tc>
                  <a:txBody>
                    <a:bodyPr/>
                    <a:lstStyle/>
                    <a:p>
                      <a:pPr>
                        <a:buNone/>
                      </a:pPr>
                      <a:r>
                        <a:rPr lang="en-US" sz="1400" noProof="1"/>
                        <a:t>Pergeseran dari proses ke prinsip dan domain</a:t>
                      </a:r>
                    </a:p>
                  </a:txBody>
                  <a:tcPr marL="87027" marR="87027" marT="43513" marB="43513" anchor="ctr"/>
                </a:tc>
                <a:extLst>
                  <a:ext uri="{0D108BD9-81ED-4DB2-BD59-A6C34878D82A}">
                    <a16:rowId xmlns:a16="http://schemas.microsoft.com/office/drawing/2014/main" val="1603168289"/>
                  </a:ext>
                </a:extLst>
              </a:tr>
              <a:tr h="640000">
                <a:tc>
                  <a:txBody>
                    <a:bodyPr/>
                    <a:lstStyle/>
                    <a:p>
                      <a:pPr>
                        <a:buNone/>
                      </a:pPr>
                      <a:r>
                        <a:rPr lang="en-US" sz="1400" b="1" noProof="1"/>
                        <a:t>Edisi ke-8</a:t>
                      </a:r>
                      <a:endParaRPr lang="en-US" sz="1700" noProof="1"/>
                    </a:p>
                  </a:txBody>
                  <a:tcPr marL="87027" marR="87027" marT="43513" marB="43513" anchor="ctr"/>
                </a:tc>
                <a:tc>
                  <a:txBody>
                    <a:bodyPr/>
                    <a:lstStyle/>
                    <a:p>
                      <a:pPr>
                        <a:buNone/>
                      </a:pPr>
                      <a:r>
                        <a:rPr lang="en-US" sz="1400" noProof="1"/>
                        <a:t>2025</a:t>
                      </a:r>
                    </a:p>
                  </a:txBody>
                  <a:tcPr marL="87027" marR="87027" marT="43513" marB="43513" anchor="ctr"/>
                </a:tc>
                <a:tc>
                  <a:txBody>
                    <a:bodyPr/>
                    <a:lstStyle/>
                    <a:p>
                      <a:pPr>
                        <a:buNone/>
                      </a:pPr>
                      <a:r>
                        <a:rPr lang="en-US" sz="1400" noProof="1"/>
                        <a:t>Prinsip + proses non-preskriptif</a:t>
                      </a:r>
                    </a:p>
                  </a:txBody>
                  <a:tcPr marL="87027" marR="87027" marT="43513" marB="43513" anchor="ctr"/>
                </a:tc>
                <a:tc>
                  <a:txBody>
                    <a:bodyPr/>
                    <a:lstStyle/>
                    <a:p>
                      <a:pPr>
                        <a:buNone/>
                      </a:pPr>
                      <a:r>
                        <a:rPr lang="en-US" sz="1400" noProof="1"/>
                        <a:t>6 Prinsip, 7 Domain Kinerja, 5 Focus Areas, 40 proses</a:t>
                      </a:r>
                    </a:p>
                  </a:txBody>
                  <a:tcPr marL="87027" marR="87027" marT="43513" marB="43513" anchor="ctr"/>
                </a:tc>
                <a:tc>
                  <a:txBody>
                    <a:bodyPr/>
                    <a:lstStyle/>
                    <a:p>
                      <a:pPr>
                        <a:buNone/>
                      </a:pPr>
                      <a:r>
                        <a:rPr lang="en-US" sz="1400" noProof="1"/>
                        <a:t>Nilai, tata kelola, keberlanjutan, AI</a:t>
                      </a:r>
                    </a:p>
                  </a:txBody>
                  <a:tcPr marL="87027" marR="87027" marT="43513" marB="43513" anchor="ctr"/>
                </a:tc>
                <a:tc>
                  <a:txBody>
                    <a:bodyPr/>
                    <a:lstStyle/>
                    <a:p>
                      <a:pPr>
                        <a:buNone/>
                      </a:pPr>
                      <a:r>
                        <a:rPr lang="en-US" sz="1400" noProof="1"/>
                        <a:t>Kelompok proses kembali sebagai Focus Areas</a:t>
                      </a:r>
                    </a:p>
                  </a:txBody>
                  <a:tcPr marL="87027" marR="87027" marT="43513" marB="43513" anchor="ctr"/>
                </a:tc>
                <a:extLst>
                  <a:ext uri="{0D108BD9-81ED-4DB2-BD59-A6C34878D82A}">
                    <a16:rowId xmlns:a16="http://schemas.microsoft.com/office/drawing/2014/main" val="2059082026"/>
                  </a:ext>
                </a:extLst>
              </a:tr>
            </a:tbl>
          </a:graphicData>
        </a:graphic>
      </p:graphicFrame>
    </p:spTree>
    <p:extLst>
      <p:ext uri="{BB962C8B-B14F-4D97-AF65-F5344CB8AC3E}">
        <p14:creationId xmlns:p14="http://schemas.microsoft.com/office/powerpoint/2010/main" val="25749101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noProof="1"/>
              <a:t>Apa yang baru (3): PMBOK® Edisi ke-8 (2025)</a:t>
            </a:r>
          </a:p>
        </p:txBody>
      </p:sp>
      <p:sp>
        <p:nvSpPr>
          <p:cNvPr id="3" name="Content Placeholder 2"/>
          <p:cNvSpPr>
            <a:spLocks noGrp="1"/>
          </p:cNvSpPr>
          <p:nvPr>
            <p:ph idx="1"/>
          </p:nvPr>
        </p:nvSpPr>
        <p:spPr/>
        <p:txBody>
          <a:bodyPr wrap="square">
            <a:noAutofit/>
          </a:bodyPr>
          <a:lstStyle/>
          <a:p>
            <a:r>
              <a:rPr lang="en-US" sz="2000" b="0" noProof="1">
                <a:latin typeface="Arial"/>
              </a:rPr>
              <a:t>Terbit digital November 2025; edisi cetak Januari 2026.</a:t>
            </a:r>
          </a:p>
          <a:p>
            <a:r>
              <a:rPr lang="en-US" sz="2000" b="0" noProof="1">
                <a:latin typeface="Arial"/>
              </a:rPr>
              <a:t>6 prinsip — konsolidasi dari 12 prinsip edisi ke-7.</a:t>
            </a:r>
          </a:p>
          <a:p>
            <a:r>
              <a:rPr lang="en-US" sz="2000" b="0" noProof="1">
                <a:latin typeface="Arial"/>
              </a:rPr>
              <a:t>7 domain kinerja: Governance, Scope, Schedule, Finance, Stakeholders, Resources, Risk.</a:t>
            </a:r>
          </a:p>
          <a:p>
            <a:r>
              <a:rPr lang="en-US" sz="2000" b="0" noProof="1">
                <a:latin typeface="Arial"/>
              </a:rPr>
              <a:t>5 Focus Areas: Initiating, Planning, Executing, Monitoring &amp; Controlling, Closing — memuat 40 proses non-preskriptif.</a:t>
            </a:r>
          </a:p>
          <a:p>
            <a:r>
              <a:rPr lang="en-US" sz="2000" b="1" noProof="1">
                <a:latin typeface="Arial"/>
              </a:rPr>
              <a:t>Implikasi untuk kuliah ini: kelompok proses yang dipelajari minggu ini kembali menjadi struktur resmi, kini dipadukan dengan prinsip dan domain kinerja.</a:t>
            </a:r>
          </a:p>
          <a:p>
            <a:r>
              <a:rPr lang="en-US" sz="2000" b="0" noProof="1">
                <a:latin typeface="Arial"/>
              </a:rPr>
              <a:t>Sumber: PMI (2025); ringkasan oleh Simplilearn, PM Study Circle, 4PMTI.</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0E57B-F649-140D-77C9-2EA54502D87B}"/>
              </a:ext>
            </a:extLst>
          </p:cNvPr>
          <p:cNvSpPr>
            <a:spLocks noGrp="1"/>
          </p:cNvSpPr>
          <p:nvPr>
            <p:ph type="title"/>
          </p:nvPr>
        </p:nvSpPr>
        <p:spPr/>
        <p:txBody>
          <a:bodyPr/>
          <a:lstStyle/>
          <a:p>
            <a:r>
              <a:rPr lang="en-US" noProof="1"/>
              <a:t>Apakah Edisi ke-4 Masih Relevan Saat Ini?</a:t>
            </a:r>
          </a:p>
        </p:txBody>
      </p:sp>
      <p:graphicFrame>
        <p:nvGraphicFramePr>
          <p:cNvPr id="4" name="Content Placeholder 3">
            <a:extLst>
              <a:ext uri="{FF2B5EF4-FFF2-40B4-BE49-F238E27FC236}">
                <a16:creationId xmlns:a16="http://schemas.microsoft.com/office/drawing/2014/main" id="{4C418DB3-553B-B8D1-9430-7C1B98BF0A82}"/>
              </a:ext>
            </a:extLst>
          </p:cNvPr>
          <p:cNvGraphicFramePr>
            <a:graphicFrameLocks noGrp="1"/>
          </p:cNvGraphicFramePr>
          <p:nvPr>
            <p:ph idx="1"/>
            <p:extLst>
              <p:ext uri="{D42A27DB-BD31-4B8C-83A1-F6EECF244321}">
                <p14:modId xmlns:p14="http://schemas.microsoft.com/office/powerpoint/2010/main" val="1039033392"/>
              </p:ext>
            </p:extLst>
          </p:nvPr>
        </p:nvGraphicFramePr>
        <p:xfrm>
          <a:off x="838200" y="1644968"/>
          <a:ext cx="10515600" cy="3017520"/>
        </p:xfrm>
        <a:graphic>
          <a:graphicData uri="http://schemas.openxmlformats.org/drawingml/2006/table">
            <a:tbl>
              <a:tblPr/>
              <a:tblGrid>
                <a:gridCol w="2625090">
                  <a:extLst>
                    <a:ext uri="{9D8B030D-6E8A-4147-A177-3AD203B41FA5}">
                      <a16:colId xmlns:a16="http://schemas.microsoft.com/office/drawing/2014/main" val="123889244"/>
                    </a:ext>
                  </a:extLst>
                </a:gridCol>
                <a:gridCol w="2663190">
                  <a:extLst>
                    <a:ext uri="{9D8B030D-6E8A-4147-A177-3AD203B41FA5}">
                      <a16:colId xmlns:a16="http://schemas.microsoft.com/office/drawing/2014/main" val="448699429"/>
                    </a:ext>
                  </a:extLst>
                </a:gridCol>
                <a:gridCol w="5227320">
                  <a:extLst>
                    <a:ext uri="{9D8B030D-6E8A-4147-A177-3AD203B41FA5}">
                      <a16:colId xmlns:a16="http://schemas.microsoft.com/office/drawing/2014/main" val="3981247547"/>
                    </a:ext>
                  </a:extLst>
                </a:gridCol>
              </a:tblGrid>
              <a:tr h="0">
                <a:tc>
                  <a:txBody>
                    <a:bodyPr/>
                    <a:lstStyle/>
                    <a:p>
                      <a:pPr>
                        <a:buNone/>
                      </a:pPr>
                      <a:r>
                        <a:rPr lang="en-US" b="1" noProof="1">
                          <a:latin typeface="Arial" panose="020B0604020202020204" pitchFamily="34" charset="0"/>
                          <a:cs typeface="Arial" panose="020B0604020202020204" pitchFamily="34" charset="0"/>
                        </a:rPr>
                        <a:t>Aspek</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Edisi ke-4</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Kebutuhan Proyek Modern</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0657302"/>
                  </a:ext>
                </a:extLst>
              </a:tr>
              <a:tr h="0">
                <a:tc>
                  <a:txBody>
                    <a:bodyPr/>
                    <a:lstStyle/>
                    <a:p>
                      <a:pPr>
                        <a:buNone/>
                      </a:pPr>
                      <a:r>
                        <a:rPr lang="en-US" b="1" noProof="1">
                          <a:latin typeface="Arial" panose="020B0604020202020204" pitchFamily="34" charset="0"/>
                          <a:cs typeface="Arial" panose="020B0604020202020204" pitchFamily="34" charset="0"/>
                        </a:rPr>
                        <a:t>Pendekatan</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Waterfall tradisional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Agile, Hybrid, Lean, dan adaptif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3228629"/>
                  </a:ext>
                </a:extLst>
              </a:tr>
              <a:tr h="0">
                <a:tc>
                  <a:txBody>
                    <a:bodyPr/>
                    <a:lstStyle/>
                    <a:p>
                      <a:pPr>
                        <a:buNone/>
                      </a:pPr>
                      <a:r>
                        <a:rPr lang="en-US" b="1" noProof="1">
                          <a:latin typeface="Arial" panose="020B0604020202020204" pitchFamily="34" charset="0"/>
                          <a:cs typeface="Arial" panose="020B0604020202020204" pitchFamily="34" charset="0"/>
                        </a:rPr>
                        <a:t>Struktur</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Fokus pada proses dan dokumen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Fokus pada nilai, hasil, dan prinsip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9997129"/>
                  </a:ext>
                </a:extLst>
              </a:tr>
              <a:tr h="0">
                <a:tc>
                  <a:txBody>
                    <a:bodyPr/>
                    <a:lstStyle/>
                    <a:p>
                      <a:pPr>
                        <a:buNone/>
                      </a:pPr>
                      <a:r>
                        <a:rPr lang="en-US" b="1" noProof="1">
                          <a:latin typeface="Arial" panose="020B0604020202020204" pitchFamily="34" charset="0"/>
                          <a:cs typeface="Arial" panose="020B0604020202020204" pitchFamily="34" charset="0"/>
                        </a:rPr>
                        <a:t>Stakeholder Engagement</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Kurang ditekankan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Sangat penting dan strategis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3439034"/>
                  </a:ext>
                </a:extLst>
              </a:tr>
              <a:tr h="0">
                <a:tc>
                  <a:txBody>
                    <a:bodyPr/>
                    <a:lstStyle/>
                    <a:p>
                      <a:pPr>
                        <a:buNone/>
                      </a:pPr>
                      <a:r>
                        <a:rPr lang="en-US" b="1" noProof="1">
                          <a:latin typeface="Arial" panose="020B0604020202020204" pitchFamily="34" charset="0"/>
                          <a:cs typeface="Arial" panose="020B0604020202020204" pitchFamily="34" charset="0"/>
                        </a:rPr>
                        <a:t>Agile &amp; Hybrid</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Tidak ada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Sangat dibutuhkan di banyak industri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5168860"/>
                  </a:ext>
                </a:extLst>
              </a:tr>
              <a:tr h="0">
                <a:tc>
                  <a:txBody>
                    <a:bodyPr/>
                    <a:lstStyle/>
                    <a:p>
                      <a:pPr>
                        <a:buNone/>
                      </a:pPr>
                      <a:r>
                        <a:rPr lang="en-US" b="1" noProof="1">
                          <a:latin typeface="Arial" panose="020B0604020202020204" pitchFamily="34" charset="0"/>
                          <a:cs typeface="Arial" panose="020B0604020202020204" pitchFamily="34" charset="0"/>
                        </a:rPr>
                        <a:t>Kompleksitas Proyek</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Cocok untuk proyek linier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Tidak cukup fleksibel untuk proyek kompleks dan cepat berubah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721358"/>
                  </a:ext>
                </a:extLst>
              </a:tr>
            </a:tbl>
          </a:graphicData>
        </a:graphic>
      </p:graphicFrame>
      <p:sp>
        <p:nvSpPr>
          <p:cNvPr id="6" name="TextBox 5">
            <a:extLst>
              <a:ext uri="{FF2B5EF4-FFF2-40B4-BE49-F238E27FC236}">
                <a16:creationId xmlns:a16="http://schemas.microsoft.com/office/drawing/2014/main" id="{5A3030E0-8CFA-0D38-1E78-91A832CE43BE}"/>
              </a:ext>
            </a:extLst>
          </p:cNvPr>
          <p:cNvSpPr txBox="1"/>
          <p:nvPr/>
        </p:nvSpPr>
        <p:spPr>
          <a:xfrm>
            <a:off x="771525" y="4708208"/>
            <a:ext cx="10648950" cy="1938992"/>
          </a:xfrm>
          <a:prstGeom prst="rect">
            <a:avLst/>
          </a:prstGeom>
          <a:noFill/>
        </p:spPr>
        <p:txBody>
          <a:bodyPr wrap="square">
            <a:spAutoFit/>
          </a:bodyPr>
          <a:lstStyle/>
          <a:p>
            <a:pPr>
              <a:buNone/>
            </a:pPr>
            <a:r>
              <a:rPr lang="en-US" sz="1600" b="1" noProof="1">
                <a:latin typeface="Arial" panose="020B0604020202020204" pitchFamily="34" charset="0"/>
                <a:cs typeface="Arial" panose="020B0604020202020204" pitchFamily="34" charset="0"/>
              </a:rPr>
              <a:t>Mengapa Masih Mempelajari Struktur Edisi ke-4?</a:t>
            </a:r>
          </a:p>
          <a:p>
            <a:pPr marL="342900" indent="-342900">
              <a:buFont typeface="Arial" panose="020B0604020202020204" pitchFamily="34" charset="0"/>
              <a:buChar char="•"/>
            </a:pPr>
            <a:r>
              <a:rPr lang="en-US" sz="1600" noProof="1">
                <a:latin typeface="Arial" panose="020B0604020202020204" pitchFamily="34" charset="0"/>
                <a:cs typeface="Arial" panose="020B0604020202020204" pitchFamily="34" charset="0"/>
              </a:rPr>
              <a:t>Lima kelompok proses memberi “bahasa bersama” yang sistematis untuk pengantar manajemen proyek.</a:t>
            </a:r>
          </a:p>
          <a:p>
            <a:pPr marL="342900" indent="-342900">
              <a:buFont typeface="Arial" panose="020B0604020202020204" pitchFamily="34" charset="0"/>
              <a:buChar char="•"/>
            </a:pPr>
            <a:r>
              <a:rPr lang="en-US" sz="1600" noProof="1">
                <a:latin typeface="Arial" panose="020B0604020202020204" pitchFamily="34" charset="0"/>
                <a:cs typeface="Arial" panose="020B0604020202020204" pitchFamily="34" charset="0"/>
              </a:rPr>
              <a:t>PMI tetap mempertahankannya: Process Groups: A Practice Guide (2022), dan PMBOK® edisi 8 (2025) menghadirkannya kembali sebagai 5 Focus Areas.</a:t>
            </a:r>
          </a:p>
          <a:p>
            <a:pPr marL="342900" indent="-342900">
              <a:buFont typeface="Arial" panose="020B0604020202020204" pitchFamily="34" charset="0"/>
              <a:buChar char="•"/>
            </a:pPr>
            <a:r>
              <a:rPr lang="en-US" sz="1600" noProof="1">
                <a:latin typeface="Arial" panose="020B0604020202020204" pitchFamily="34" charset="0"/>
                <a:cs typeface="Arial" panose="020B0604020202020204" pitchFamily="34" charset="0"/>
              </a:rPr>
              <a:t>Pada pertemuan berikutnya, kerangka ini dijembatani ke prinsip dan domain kinerja PMBOK® 7/8.</a:t>
            </a:r>
          </a:p>
        </p:txBody>
      </p:sp>
    </p:spTree>
    <p:extLst>
      <p:ext uri="{BB962C8B-B14F-4D97-AF65-F5344CB8AC3E}">
        <p14:creationId xmlns:p14="http://schemas.microsoft.com/office/powerpoint/2010/main" val="15953246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7FDB6-5AC0-C141-5902-4FB6875B194C}"/>
              </a:ext>
            </a:extLst>
          </p:cNvPr>
          <p:cNvSpPr>
            <a:spLocks noGrp="1"/>
          </p:cNvSpPr>
          <p:nvPr>
            <p:ph type="title"/>
          </p:nvPr>
        </p:nvSpPr>
        <p:spPr/>
        <p:txBody>
          <a:bodyPr/>
          <a:lstStyle/>
          <a:p>
            <a:pPr algn="ctr"/>
            <a:r>
              <a:rPr lang="en-US" noProof="1"/>
              <a:t>Studi Kasus (Versi PMBOK® Edisi ke-4)(1)</a:t>
            </a:r>
          </a:p>
        </p:txBody>
      </p:sp>
      <p:sp>
        <p:nvSpPr>
          <p:cNvPr id="3" name="Content Placeholder 2">
            <a:extLst>
              <a:ext uri="{FF2B5EF4-FFF2-40B4-BE49-F238E27FC236}">
                <a16:creationId xmlns:a16="http://schemas.microsoft.com/office/drawing/2014/main" id="{0C76659D-2EA2-8184-A3E2-1E8AEEA317DF}"/>
              </a:ext>
            </a:extLst>
          </p:cNvPr>
          <p:cNvSpPr>
            <a:spLocks noGrp="1"/>
          </p:cNvSpPr>
          <p:nvPr>
            <p:ph idx="1"/>
          </p:nvPr>
        </p:nvSpPr>
        <p:spPr/>
        <p:txBody>
          <a:bodyPr>
            <a:normAutofit/>
          </a:bodyPr>
          <a:lstStyle/>
          <a:p>
            <a:pPr marL="0" indent="0">
              <a:buNone/>
            </a:pPr>
            <a:r>
              <a:rPr lang="en-US" sz="2200" b="1" noProof="1">
                <a:latin typeface="Arial" panose="020B0604020202020204" pitchFamily="34" charset="0"/>
                <a:cs typeface="Arial" panose="020B0604020202020204" pitchFamily="34" charset="0"/>
              </a:rPr>
              <a:t>Pengembangan Sistem Informasi Rumah Sakit</a:t>
            </a:r>
          </a:p>
          <a:p>
            <a:r>
              <a:rPr lang="en-US" sz="2200" b="1" noProof="1">
                <a:latin typeface="Arial" panose="020B0604020202020204" pitchFamily="34" charset="0"/>
                <a:cs typeface="Arial" panose="020B0604020202020204" pitchFamily="34" charset="0"/>
              </a:rPr>
              <a:t>Latar Belakang</a:t>
            </a:r>
          </a:p>
          <a:p>
            <a:pPr marL="0" indent="0">
              <a:buNone/>
            </a:pPr>
            <a:r>
              <a:rPr lang="en-US" sz="2200" noProof="1">
                <a:latin typeface="Arial" panose="020B0604020202020204" pitchFamily="34" charset="0"/>
                <a:cs typeface="Arial" panose="020B0604020202020204" pitchFamily="34" charset="0"/>
              </a:rPr>
              <a:t>Rumah Sakit Yogyakarta ingin membangun sistem informasi terpadu. Proyek ini terdiri dari dua bagian:</a:t>
            </a:r>
          </a:p>
          <a:p>
            <a:pPr marL="914400" lvl="1" indent="-457200">
              <a:buFont typeface="+mj-lt"/>
              <a:buAutoNum type="arabicPeriod"/>
            </a:pPr>
            <a:r>
              <a:rPr lang="en-US" sz="2200" b="1" noProof="1">
                <a:latin typeface="Arial" panose="020B0604020202020204" pitchFamily="34" charset="0"/>
                <a:cs typeface="Arial" panose="020B0604020202020204" pitchFamily="34" charset="0"/>
              </a:rPr>
              <a:t>Infrastruktur dan Integrasi Sistem</a:t>
            </a:r>
            <a:r>
              <a:rPr lang="en-US" sz="2200" noProof="1">
                <a:latin typeface="Arial" panose="020B0604020202020204" pitchFamily="34" charset="0"/>
                <a:cs typeface="Arial" panose="020B0604020202020204" pitchFamily="34" charset="0"/>
              </a:rPr>
              <a:t> – bersifat teknis dan stabil, cocok untuk pendekatan waterfall.</a:t>
            </a:r>
          </a:p>
          <a:p>
            <a:pPr marL="914400" lvl="1" indent="-457200">
              <a:buFont typeface="+mj-lt"/>
              <a:buAutoNum type="arabicPeriod"/>
            </a:pPr>
            <a:r>
              <a:rPr lang="en-US" sz="2200" b="1" noProof="1">
                <a:latin typeface="Arial" panose="020B0604020202020204" pitchFamily="34" charset="0"/>
                <a:cs typeface="Arial" panose="020B0604020202020204" pitchFamily="34" charset="0"/>
              </a:rPr>
              <a:t>Antarmuka Pengguna dan Fitur Aplikasi</a:t>
            </a:r>
            <a:r>
              <a:rPr lang="en-US" sz="2200" noProof="1">
                <a:latin typeface="Arial" panose="020B0604020202020204" pitchFamily="34" charset="0"/>
                <a:cs typeface="Arial" panose="020B0604020202020204" pitchFamily="34" charset="0"/>
              </a:rPr>
              <a:t> – bersifat dinamis dan responsif terhadap kebutuhan pengguna, cocok untuk pendekatan iteratif.</a:t>
            </a:r>
          </a:p>
          <a:p>
            <a:pPr marL="0" indent="0">
              <a:buNone/>
            </a:pPr>
            <a:endParaRPr lang="en-US" sz="2200" noProof="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22828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92EE2-4914-1E97-5E05-0AB62D3FA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F3E1FA-DC28-43D4-171B-2648D7EEE1CE}"/>
              </a:ext>
            </a:extLst>
          </p:cNvPr>
          <p:cNvSpPr>
            <a:spLocks noGrp="1"/>
          </p:cNvSpPr>
          <p:nvPr>
            <p:ph type="title"/>
          </p:nvPr>
        </p:nvSpPr>
        <p:spPr/>
        <p:txBody>
          <a:bodyPr/>
          <a:lstStyle/>
          <a:p>
            <a:pPr algn="ctr"/>
            <a:r>
              <a:rPr lang="en-US" noProof="1"/>
              <a:t>Studi Kasus (Versi PMBOK® Edisi ke-4)(2)</a:t>
            </a:r>
          </a:p>
        </p:txBody>
      </p:sp>
      <p:sp>
        <p:nvSpPr>
          <p:cNvPr id="3" name="Content Placeholder 2">
            <a:extLst>
              <a:ext uri="{FF2B5EF4-FFF2-40B4-BE49-F238E27FC236}">
                <a16:creationId xmlns:a16="http://schemas.microsoft.com/office/drawing/2014/main" id="{3F75D902-99DE-C02A-E174-97F88C2859DB}"/>
              </a:ext>
            </a:extLst>
          </p:cNvPr>
          <p:cNvSpPr>
            <a:spLocks noGrp="1"/>
          </p:cNvSpPr>
          <p:nvPr>
            <p:ph idx="1"/>
          </p:nvPr>
        </p:nvSpPr>
        <p:spPr/>
        <p:txBody>
          <a:bodyPr>
            <a:normAutofit/>
          </a:bodyPr>
          <a:lstStyle/>
          <a:p>
            <a:pPr marL="0" indent="0">
              <a:buNone/>
            </a:pPr>
            <a:r>
              <a:rPr lang="en-US" sz="2000" b="1" noProof="1"/>
              <a:t>Penerapan PMBOK® Edisi ke-4</a:t>
            </a:r>
          </a:p>
          <a:p>
            <a:r>
              <a:rPr lang="en-US" sz="2000" b="1" noProof="1"/>
              <a:t>1. Grup Proses</a:t>
            </a:r>
          </a:p>
          <a:p>
            <a:pPr marL="0" indent="0">
              <a:buNone/>
            </a:pPr>
            <a:endParaRPr lang="en-US" sz="2000" b="1" noProof="1"/>
          </a:p>
          <a:p>
            <a:pPr marL="0" indent="0">
              <a:buNone/>
            </a:pPr>
            <a:endParaRPr lang="en-US" sz="2000" noProof="1">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96CBA2A5-6B29-061B-9E9F-72B06ACF6EBB}"/>
              </a:ext>
            </a:extLst>
          </p:cNvPr>
          <p:cNvGraphicFramePr>
            <a:graphicFrameLocks noGrp="1"/>
          </p:cNvGraphicFramePr>
          <p:nvPr>
            <p:extLst>
              <p:ext uri="{D42A27DB-BD31-4B8C-83A1-F6EECF244321}">
                <p14:modId xmlns:p14="http://schemas.microsoft.com/office/powerpoint/2010/main" val="4029951276"/>
              </p:ext>
            </p:extLst>
          </p:nvPr>
        </p:nvGraphicFramePr>
        <p:xfrm>
          <a:off x="838200" y="2766854"/>
          <a:ext cx="10515600" cy="2468880"/>
        </p:xfrm>
        <a:graphic>
          <a:graphicData uri="http://schemas.openxmlformats.org/drawingml/2006/table">
            <a:tbl>
              <a:tblPr/>
              <a:tblGrid>
                <a:gridCol w="5257800">
                  <a:extLst>
                    <a:ext uri="{9D8B030D-6E8A-4147-A177-3AD203B41FA5}">
                      <a16:colId xmlns:a16="http://schemas.microsoft.com/office/drawing/2014/main" val="2113157675"/>
                    </a:ext>
                  </a:extLst>
                </a:gridCol>
                <a:gridCol w="5257800">
                  <a:extLst>
                    <a:ext uri="{9D8B030D-6E8A-4147-A177-3AD203B41FA5}">
                      <a16:colId xmlns:a16="http://schemas.microsoft.com/office/drawing/2014/main" val="2030175145"/>
                    </a:ext>
                  </a:extLst>
                </a:gridCol>
              </a:tblGrid>
              <a:tr h="0">
                <a:tc>
                  <a:txBody>
                    <a:bodyPr/>
                    <a:lstStyle/>
                    <a:p>
                      <a:pPr>
                        <a:buNone/>
                      </a:pPr>
                      <a:r>
                        <a:rPr lang="en-US" b="1" noProof="1"/>
                        <a:t>Grup Proses</a:t>
                      </a:r>
                      <a:endParaRPr lang="en-US" noProof="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t>Contoh Implementasi</a:t>
                      </a:r>
                      <a:endParaRPr lang="en-US" noProof="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2432600"/>
                  </a:ext>
                </a:extLst>
              </a:tr>
              <a:tr h="0">
                <a:tc>
                  <a:txBody>
                    <a:bodyPr/>
                    <a:lstStyle/>
                    <a:p>
                      <a:pPr>
                        <a:buNone/>
                      </a:pPr>
                      <a:r>
                        <a:rPr lang="en-US" noProof="1"/>
                        <a:t>Initiating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t>Penentuan ruang lingkup proyek dan sponsor proyek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1375588"/>
                  </a:ext>
                </a:extLst>
              </a:tr>
              <a:tr h="0">
                <a:tc>
                  <a:txBody>
                    <a:bodyPr/>
                    <a:lstStyle/>
                    <a:p>
                      <a:pPr>
                        <a:buNone/>
                      </a:pPr>
                      <a:r>
                        <a:rPr lang="en-US" noProof="1"/>
                        <a:t>Planning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t>Rencana manajemen proyek, jadwal, anggaran, dan komunikasi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219350"/>
                  </a:ext>
                </a:extLst>
              </a:tr>
              <a:tr h="0">
                <a:tc>
                  <a:txBody>
                    <a:bodyPr/>
                    <a:lstStyle/>
                    <a:p>
                      <a:pPr>
                        <a:buNone/>
                      </a:pPr>
                      <a:r>
                        <a:rPr lang="en-US" noProof="1"/>
                        <a:t>Executing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t>Pengembangan sistem backend dan frontend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6515910"/>
                  </a:ext>
                </a:extLst>
              </a:tr>
              <a:tr h="0">
                <a:tc>
                  <a:txBody>
                    <a:bodyPr/>
                    <a:lstStyle/>
                    <a:p>
                      <a:pPr>
                        <a:buNone/>
                      </a:pPr>
                      <a:r>
                        <a:rPr lang="en-US" noProof="1"/>
                        <a:t>Monitoring &amp; Controlling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t>Pengawasan terhadap jadwal, biaya, dan kualitas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989690"/>
                  </a:ext>
                </a:extLst>
              </a:tr>
              <a:tr h="0">
                <a:tc>
                  <a:txBody>
                    <a:bodyPr/>
                    <a:lstStyle/>
                    <a:p>
                      <a:pPr>
                        <a:buNone/>
                      </a:pPr>
                      <a:r>
                        <a:rPr lang="en-US" noProof="1"/>
                        <a:t>Closing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t>Serah terima sistem dan dokumentasi akhir proyek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6307031"/>
                  </a:ext>
                </a:extLst>
              </a:tr>
            </a:tbl>
          </a:graphicData>
        </a:graphic>
      </p:graphicFrame>
    </p:spTree>
    <p:extLst>
      <p:ext uri="{BB962C8B-B14F-4D97-AF65-F5344CB8AC3E}">
        <p14:creationId xmlns:p14="http://schemas.microsoft.com/office/powerpoint/2010/main" val="10694187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584D2-D5B0-23D9-33B2-F74EC488E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C82968-86B5-16D1-8E21-9CDE00FC1079}"/>
              </a:ext>
            </a:extLst>
          </p:cNvPr>
          <p:cNvSpPr>
            <a:spLocks noGrp="1"/>
          </p:cNvSpPr>
          <p:nvPr>
            <p:ph type="title"/>
          </p:nvPr>
        </p:nvSpPr>
        <p:spPr/>
        <p:txBody>
          <a:bodyPr/>
          <a:lstStyle/>
          <a:p>
            <a:pPr algn="ctr"/>
            <a:r>
              <a:rPr lang="en-US" noProof="1"/>
              <a:t>Studi Kasus (Versi PMBOK® Edisi ke-4)(3)</a:t>
            </a:r>
          </a:p>
        </p:txBody>
      </p:sp>
      <p:sp>
        <p:nvSpPr>
          <p:cNvPr id="3" name="Content Placeholder 2">
            <a:extLst>
              <a:ext uri="{FF2B5EF4-FFF2-40B4-BE49-F238E27FC236}">
                <a16:creationId xmlns:a16="http://schemas.microsoft.com/office/drawing/2014/main" id="{8BD2181C-6491-9391-867D-534B3260ACE0}"/>
              </a:ext>
            </a:extLst>
          </p:cNvPr>
          <p:cNvSpPr>
            <a:spLocks noGrp="1"/>
          </p:cNvSpPr>
          <p:nvPr>
            <p:ph idx="1"/>
          </p:nvPr>
        </p:nvSpPr>
        <p:spPr/>
        <p:txBody>
          <a:bodyPr>
            <a:normAutofit/>
          </a:bodyPr>
          <a:lstStyle/>
          <a:p>
            <a:pPr marL="0" indent="0">
              <a:buNone/>
            </a:pPr>
            <a:r>
              <a:rPr lang="en-US" sz="2000" noProof="1">
                <a:latin typeface="Arial" panose="020B0604020202020204" pitchFamily="34" charset="0"/>
                <a:cs typeface="Arial" panose="020B0604020202020204" pitchFamily="34" charset="0"/>
              </a:rPr>
              <a:t>2. </a:t>
            </a:r>
            <a:r>
              <a:rPr lang="en-US" sz="2000" b="1" noProof="1">
                <a:latin typeface="Arial" panose="020B0604020202020204" pitchFamily="34" charset="0"/>
                <a:cs typeface="Arial" panose="020B0604020202020204" pitchFamily="34" charset="0"/>
              </a:rPr>
              <a:t>Area Pengetahuan (Knowledge Areas)</a:t>
            </a:r>
            <a:endParaRPr lang="en-US" sz="2000" noProof="1">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36FC72A0-1853-E9F5-697C-14BE9CC963BA}"/>
              </a:ext>
            </a:extLst>
          </p:cNvPr>
          <p:cNvGraphicFramePr>
            <a:graphicFrameLocks noGrp="1"/>
          </p:cNvGraphicFramePr>
          <p:nvPr>
            <p:extLst>
              <p:ext uri="{D42A27DB-BD31-4B8C-83A1-F6EECF244321}">
                <p14:modId xmlns:p14="http://schemas.microsoft.com/office/powerpoint/2010/main" val="1519602695"/>
              </p:ext>
            </p:extLst>
          </p:nvPr>
        </p:nvGraphicFramePr>
        <p:xfrm>
          <a:off x="1091961" y="2399450"/>
          <a:ext cx="10008078" cy="3918769"/>
        </p:xfrm>
        <a:graphic>
          <a:graphicData uri="http://schemas.openxmlformats.org/drawingml/2006/table">
            <a:tbl>
              <a:tblPr/>
              <a:tblGrid>
                <a:gridCol w="3731499">
                  <a:extLst>
                    <a:ext uri="{9D8B030D-6E8A-4147-A177-3AD203B41FA5}">
                      <a16:colId xmlns:a16="http://schemas.microsoft.com/office/drawing/2014/main" val="4056827128"/>
                    </a:ext>
                  </a:extLst>
                </a:gridCol>
                <a:gridCol w="6276579">
                  <a:extLst>
                    <a:ext uri="{9D8B030D-6E8A-4147-A177-3AD203B41FA5}">
                      <a16:colId xmlns:a16="http://schemas.microsoft.com/office/drawing/2014/main" val="1056119283"/>
                    </a:ext>
                  </a:extLst>
                </a:gridCol>
              </a:tblGrid>
              <a:tr h="311277">
                <a:tc>
                  <a:txBody>
                    <a:bodyPr/>
                    <a:lstStyle/>
                    <a:p>
                      <a:pPr>
                        <a:buNone/>
                      </a:pPr>
                      <a:r>
                        <a:rPr lang="en-US" sz="1700" b="1" noProof="1">
                          <a:latin typeface="Arial" panose="020B0604020202020204" pitchFamily="34" charset="0"/>
                          <a:cs typeface="Arial" panose="020B0604020202020204" pitchFamily="34" charset="0"/>
                        </a:rPr>
                        <a:t>Area Pengetahuan</a:t>
                      </a:r>
                      <a:endParaRPr lang="en-US" sz="1700" noProof="1">
                        <a:latin typeface="Arial" panose="020B0604020202020204" pitchFamily="34" charset="0"/>
                        <a:cs typeface="Arial" panose="020B0604020202020204" pitchFamily="34"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b="1" noProof="1">
                          <a:latin typeface="Arial" panose="020B0604020202020204" pitchFamily="34" charset="0"/>
                          <a:cs typeface="Arial" panose="020B0604020202020204" pitchFamily="34" charset="0"/>
                        </a:rPr>
                        <a:t>Contoh Implementasi</a:t>
                      </a:r>
                      <a:endParaRPr lang="en-US" sz="1700" noProof="1">
                        <a:latin typeface="Arial" panose="020B0604020202020204" pitchFamily="34" charset="0"/>
                        <a:cs typeface="Arial" panose="020B0604020202020204" pitchFamily="34" charset="0"/>
                      </a:endParaRP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5579221"/>
                  </a:ext>
                </a:extLst>
              </a:tr>
              <a:tr h="311277">
                <a:tc>
                  <a:txBody>
                    <a:bodyPr/>
                    <a:lstStyle/>
                    <a:p>
                      <a:pPr>
                        <a:buNone/>
                      </a:pPr>
                      <a:r>
                        <a:rPr lang="en-US" sz="1700" noProof="1">
                          <a:latin typeface="Arial" panose="020B0604020202020204" pitchFamily="34" charset="0"/>
                          <a:cs typeface="Arial" panose="020B0604020202020204" pitchFamily="34" charset="0"/>
                        </a:rPr>
                        <a:t>Integration Management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noProof="1">
                          <a:latin typeface="Arial" panose="020B0604020202020204" pitchFamily="34" charset="0"/>
                          <a:cs typeface="Arial" panose="020B0604020202020204" pitchFamily="34" charset="0"/>
                        </a:rPr>
                        <a:t>Koordinasi antara tim infrastruktur dan tim aplikasi</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3245485"/>
                  </a:ext>
                </a:extLst>
              </a:tr>
              <a:tr h="311277">
                <a:tc>
                  <a:txBody>
                    <a:bodyPr/>
                    <a:lstStyle/>
                    <a:p>
                      <a:pPr>
                        <a:buNone/>
                      </a:pPr>
                      <a:r>
                        <a:rPr lang="en-US" sz="1700" noProof="1">
                          <a:latin typeface="Arial" panose="020B0604020202020204" pitchFamily="34" charset="0"/>
                          <a:cs typeface="Arial" panose="020B0604020202020204" pitchFamily="34" charset="0"/>
                        </a:rPr>
                        <a:t>Scope Management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noProof="1">
                          <a:latin typeface="Arial" panose="020B0604020202020204" pitchFamily="34" charset="0"/>
                          <a:cs typeface="Arial" panose="020B0604020202020204" pitchFamily="34" charset="0"/>
                        </a:rPr>
                        <a:t>Penentuan fitur sistem dan batasan proyek</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1786325"/>
                  </a:ext>
                </a:extLst>
              </a:tr>
              <a:tr h="311277">
                <a:tc>
                  <a:txBody>
                    <a:bodyPr/>
                    <a:lstStyle/>
                    <a:p>
                      <a:pPr>
                        <a:buNone/>
                      </a:pPr>
                      <a:r>
                        <a:rPr lang="en-US" sz="1700" noProof="1">
                          <a:latin typeface="Arial" panose="020B0604020202020204" pitchFamily="34" charset="0"/>
                          <a:cs typeface="Arial" panose="020B0604020202020204" pitchFamily="34" charset="0"/>
                        </a:rPr>
                        <a:t>Time Management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noProof="1">
                          <a:latin typeface="Arial" panose="020B0604020202020204" pitchFamily="34" charset="0"/>
                          <a:cs typeface="Arial" panose="020B0604020202020204" pitchFamily="34" charset="0"/>
                        </a:rPr>
                        <a:t>Penjadwalan milestone dan jadwal rilis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3791822"/>
                  </a:ext>
                </a:extLst>
              </a:tr>
              <a:tr h="544735">
                <a:tc>
                  <a:txBody>
                    <a:bodyPr/>
                    <a:lstStyle/>
                    <a:p>
                      <a:pPr>
                        <a:buNone/>
                      </a:pPr>
                      <a:r>
                        <a:rPr lang="en-US" sz="1700" noProof="1">
                          <a:latin typeface="Arial" panose="020B0604020202020204" pitchFamily="34" charset="0"/>
                          <a:cs typeface="Arial" panose="020B0604020202020204" pitchFamily="34" charset="0"/>
                        </a:rPr>
                        <a:t>Cost Management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noProof="1">
                          <a:latin typeface="Arial" panose="020B0604020202020204" pitchFamily="34" charset="0"/>
                          <a:cs typeface="Arial" panose="020B0604020202020204" pitchFamily="34" charset="0"/>
                        </a:rPr>
                        <a:t>Pengendalian anggaran untuk hardware dan pengembangan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1807035"/>
                  </a:ext>
                </a:extLst>
              </a:tr>
              <a:tr h="311277">
                <a:tc>
                  <a:txBody>
                    <a:bodyPr/>
                    <a:lstStyle/>
                    <a:p>
                      <a:pPr>
                        <a:buNone/>
                      </a:pPr>
                      <a:r>
                        <a:rPr lang="en-US" sz="1700" noProof="1">
                          <a:latin typeface="Arial" panose="020B0604020202020204" pitchFamily="34" charset="0"/>
                          <a:cs typeface="Arial" panose="020B0604020202020204" pitchFamily="34" charset="0"/>
                        </a:rPr>
                        <a:t>Quality Management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noProof="1">
                          <a:latin typeface="Arial" panose="020B0604020202020204" pitchFamily="34" charset="0"/>
                          <a:cs typeface="Arial" panose="020B0604020202020204" pitchFamily="34" charset="0"/>
                        </a:rPr>
                        <a:t>Uji coba sistem dan validasi fungsionalitas</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1950349"/>
                  </a:ext>
                </a:extLst>
              </a:tr>
              <a:tr h="311277">
                <a:tc>
                  <a:txBody>
                    <a:bodyPr/>
                    <a:lstStyle/>
                    <a:p>
                      <a:pPr>
                        <a:buNone/>
                      </a:pPr>
                      <a:r>
                        <a:rPr lang="en-US" sz="1700" noProof="1">
                          <a:latin typeface="Arial" panose="020B0604020202020204" pitchFamily="34" charset="0"/>
                          <a:cs typeface="Arial" panose="020B0604020202020204" pitchFamily="34" charset="0"/>
                        </a:rPr>
                        <a:t>Human Resource Management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noProof="1">
                          <a:latin typeface="Arial" panose="020B0604020202020204" pitchFamily="34" charset="0"/>
                          <a:cs typeface="Arial" panose="020B0604020202020204" pitchFamily="34" charset="0"/>
                        </a:rPr>
                        <a:t>Pembagian tim infrastruktur dan tim aplikasi</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2171855"/>
                  </a:ext>
                </a:extLst>
              </a:tr>
              <a:tr h="311277">
                <a:tc>
                  <a:txBody>
                    <a:bodyPr/>
                    <a:lstStyle/>
                    <a:p>
                      <a:pPr>
                        <a:buNone/>
                      </a:pPr>
                      <a:r>
                        <a:rPr lang="en-US" sz="1700" noProof="1">
                          <a:latin typeface="Arial" panose="020B0604020202020204" pitchFamily="34" charset="0"/>
                          <a:cs typeface="Arial" panose="020B0604020202020204" pitchFamily="34" charset="0"/>
                        </a:rPr>
                        <a:t>Communications Management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noProof="1">
                          <a:latin typeface="Arial" panose="020B0604020202020204" pitchFamily="34" charset="0"/>
                          <a:cs typeface="Arial" panose="020B0604020202020204" pitchFamily="34" charset="0"/>
                        </a:rPr>
                        <a:t>Laporan mingguan dan demo berkala kepada pengguna (termasuk keterlibatan dokter dan admin)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0473717"/>
                  </a:ext>
                </a:extLst>
              </a:tr>
              <a:tr h="311277">
                <a:tc>
                  <a:txBody>
                    <a:bodyPr/>
                    <a:lstStyle/>
                    <a:p>
                      <a:pPr>
                        <a:buNone/>
                      </a:pPr>
                      <a:r>
                        <a:rPr lang="en-US" sz="1700" noProof="1">
                          <a:latin typeface="Arial" panose="020B0604020202020204" pitchFamily="34" charset="0"/>
                          <a:cs typeface="Arial" panose="020B0604020202020204" pitchFamily="34" charset="0"/>
                        </a:rPr>
                        <a:t>Risk Management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noProof="1">
                          <a:latin typeface="Arial" panose="020B0604020202020204" pitchFamily="34" charset="0"/>
                          <a:cs typeface="Arial" panose="020B0604020202020204" pitchFamily="34" charset="0"/>
                        </a:rPr>
                        <a:t>Identifikasi risiko regulasi dan perubahan kebutuhan</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5342529"/>
                  </a:ext>
                </a:extLst>
              </a:tr>
              <a:tr h="311277">
                <a:tc>
                  <a:txBody>
                    <a:bodyPr/>
                    <a:lstStyle/>
                    <a:p>
                      <a:pPr>
                        <a:buNone/>
                      </a:pPr>
                      <a:r>
                        <a:rPr lang="en-US" sz="1700" noProof="1">
                          <a:latin typeface="Arial" panose="020B0604020202020204" pitchFamily="34" charset="0"/>
                          <a:cs typeface="Arial" panose="020B0604020202020204" pitchFamily="34" charset="0"/>
                        </a:rPr>
                        <a:t>Procurement Management</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700" noProof="1">
                          <a:latin typeface="Arial" panose="020B0604020202020204" pitchFamily="34" charset="0"/>
                          <a:cs typeface="Arial" panose="020B0604020202020204" pitchFamily="34" charset="0"/>
                        </a:rPr>
                        <a:t>Pengadaan server dan software</a:t>
                      </a:r>
                    </a:p>
                  </a:txBody>
                  <a:tcPr marL="87027" marR="87027" marT="43513" marB="4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5162175"/>
                  </a:ext>
                </a:extLst>
              </a:tr>
            </a:tbl>
          </a:graphicData>
        </a:graphic>
      </p:graphicFrame>
    </p:spTree>
    <p:extLst>
      <p:ext uri="{BB962C8B-B14F-4D97-AF65-F5344CB8AC3E}">
        <p14:creationId xmlns:p14="http://schemas.microsoft.com/office/powerpoint/2010/main" val="35305673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3E4A2-8D67-82BF-1735-AC8B36A4FC59}"/>
              </a:ext>
            </a:extLst>
          </p:cNvPr>
          <p:cNvSpPr>
            <a:spLocks noGrp="1"/>
          </p:cNvSpPr>
          <p:nvPr>
            <p:ph type="title"/>
          </p:nvPr>
        </p:nvSpPr>
        <p:spPr/>
        <p:txBody>
          <a:bodyPr/>
          <a:lstStyle/>
          <a:p>
            <a:pPr algn="ctr"/>
            <a:r>
              <a:rPr lang="en-US" noProof="1"/>
              <a:t>Studi Kasus (Versi PMBOK® Edisi ke-7)(1)</a:t>
            </a:r>
          </a:p>
        </p:txBody>
      </p:sp>
      <p:sp>
        <p:nvSpPr>
          <p:cNvPr id="3" name="Content Placeholder 2">
            <a:extLst>
              <a:ext uri="{FF2B5EF4-FFF2-40B4-BE49-F238E27FC236}">
                <a16:creationId xmlns:a16="http://schemas.microsoft.com/office/drawing/2014/main" id="{C1F43AAA-8B78-AC36-0600-8C1120B19371}"/>
              </a:ext>
            </a:extLst>
          </p:cNvPr>
          <p:cNvSpPr>
            <a:spLocks noGrp="1"/>
          </p:cNvSpPr>
          <p:nvPr>
            <p:ph idx="1"/>
          </p:nvPr>
        </p:nvSpPr>
        <p:spPr/>
        <p:txBody>
          <a:bodyPr>
            <a:normAutofit/>
          </a:bodyPr>
          <a:lstStyle/>
          <a:p>
            <a:pPr marL="0" indent="0">
              <a:buNone/>
            </a:pPr>
            <a:r>
              <a:rPr lang="en-US" sz="2200" b="1" noProof="1">
                <a:latin typeface="Arial" panose="020B0604020202020204" pitchFamily="34" charset="0"/>
                <a:cs typeface="Arial" panose="020B0604020202020204" pitchFamily="34" charset="0"/>
              </a:rPr>
              <a:t>Studi Kasus Hybrid: Pengembangan Sistem Informasi Rumah Sakit</a:t>
            </a:r>
          </a:p>
          <a:p>
            <a:r>
              <a:rPr lang="en-US" sz="2200" b="1" noProof="1">
                <a:latin typeface="Arial" panose="020B0604020202020204" pitchFamily="34" charset="0"/>
                <a:cs typeface="Arial" panose="020B0604020202020204" pitchFamily="34" charset="0"/>
              </a:rPr>
              <a:t>Latar Belakang</a:t>
            </a:r>
          </a:p>
          <a:p>
            <a:pPr marL="0" indent="0">
              <a:buNone/>
            </a:pPr>
            <a:r>
              <a:rPr lang="en-US" sz="2200" noProof="1">
                <a:latin typeface="Arial" panose="020B0604020202020204" pitchFamily="34" charset="0"/>
                <a:cs typeface="Arial" panose="020B0604020202020204" pitchFamily="34" charset="0"/>
              </a:rPr>
              <a:t>Sebuah rumah sakit besar di Yogyakarta ingin mengembangkan sistem informasi terpadu yang mencakup:</a:t>
            </a:r>
          </a:p>
          <a:p>
            <a:pPr marL="457200" indent="-457200">
              <a:buFont typeface="+mj-lt"/>
              <a:buAutoNum type="arabicPeriod"/>
            </a:pPr>
            <a:r>
              <a:rPr lang="en-US" sz="2200" noProof="1">
                <a:latin typeface="Arial" panose="020B0604020202020204" pitchFamily="34" charset="0"/>
                <a:cs typeface="Arial" panose="020B0604020202020204" pitchFamily="34" charset="0"/>
              </a:rPr>
              <a:t>Manajemen pasien</a:t>
            </a:r>
          </a:p>
          <a:p>
            <a:pPr marL="457200" indent="-457200">
              <a:buFont typeface="+mj-lt"/>
              <a:buAutoNum type="arabicPeriod"/>
            </a:pPr>
            <a:r>
              <a:rPr lang="en-US" sz="2200" noProof="1">
                <a:latin typeface="Arial" panose="020B0604020202020204" pitchFamily="34" charset="0"/>
                <a:cs typeface="Arial" panose="020B0604020202020204" pitchFamily="34" charset="0"/>
              </a:rPr>
              <a:t>Rekam medis elektronik</a:t>
            </a:r>
          </a:p>
          <a:p>
            <a:pPr marL="457200" indent="-457200">
              <a:buFont typeface="+mj-lt"/>
              <a:buAutoNum type="arabicPeriod"/>
            </a:pPr>
            <a:r>
              <a:rPr lang="en-US" sz="2200" noProof="1">
                <a:latin typeface="Arial" panose="020B0604020202020204" pitchFamily="34" charset="0"/>
                <a:cs typeface="Arial" panose="020B0604020202020204" pitchFamily="34" charset="0"/>
              </a:rPr>
              <a:t>Penjadwalan dokter</a:t>
            </a:r>
          </a:p>
          <a:p>
            <a:pPr marL="457200" indent="-457200">
              <a:buFont typeface="+mj-lt"/>
              <a:buAutoNum type="arabicPeriod"/>
            </a:pPr>
            <a:r>
              <a:rPr lang="en-US" sz="2200" noProof="1">
                <a:latin typeface="Arial" panose="020B0604020202020204" pitchFamily="34" charset="0"/>
                <a:cs typeface="Arial" panose="020B0604020202020204" pitchFamily="34" charset="0"/>
              </a:rPr>
              <a:t>Integrasi dengan sistem BPJS</a:t>
            </a:r>
          </a:p>
          <a:p>
            <a:pPr marL="457200" indent="-457200">
              <a:buFont typeface="+mj-lt"/>
              <a:buAutoNum type="arabicPeriod"/>
            </a:pPr>
            <a:r>
              <a:rPr lang="en-US" sz="2200" noProof="1">
                <a:latin typeface="Arial" panose="020B0604020202020204" pitchFamily="34" charset="0"/>
                <a:cs typeface="Arial" panose="020B0604020202020204" pitchFamily="34" charset="0"/>
              </a:rPr>
              <a:t>Integrasi dengan platform SATUSEHAT Kemenkes (kewajiban rekam medis elektronik, Permenkes No. 24 Tahun 2022)</a:t>
            </a:r>
          </a:p>
          <a:p>
            <a:pPr marL="0" indent="0">
              <a:buNone/>
            </a:pPr>
            <a:endParaRPr lang="en-US" sz="2200" noProof="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33810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35974-FE8A-E235-F855-E671367E8CAA}"/>
              </a:ext>
            </a:extLst>
          </p:cNvPr>
          <p:cNvSpPr>
            <a:spLocks noGrp="1"/>
          </p:cNvSpPr>
          <p:nvPr>
            <p:ph type="title"/>
          </p:nvPr>
        </p:nvSpPr>
        <p:spPr/>
        <p:txBody>
          <a:bodyPr/>
          <a:lstStyle/>
          <a:p>
            <a:pPr algn="ctr"/>
            <a:r>
              <a:rPr lang="en-US" noProof="1"/>
              <a:t>Studi Kasus (Versi PMBOK® Edisi ke-7)(2)</a:t>
            </a:r>
          </a:p>
        </p:txBody>
      </p:sp>
      <p:sp>
        <p:nvSpPr>
          <p:cNvPr id="3" name="Content Placeholder 2">
            <a:extLst>
              <a:ext uri="{FF2B5EF4-FFF2-40B4-BE49-F238E27FC236}">
                <a16:creationId xmlns:a16="http://schemas.microsoft.com/office/drawing/2014/main" id="{3558921B-1ABA-3326-9092-BEC0881070DF}"/>
              </a:ext>
            </a:extLst>
          </p:cNvPr>
          <p:cNvSpPr>
            <a:spLocks noGrp="1"/>
          </p:cNvSpPr>
          <p:nvPr>
            <p:ph idx="1"/>
          </p:nvPr>
        </p:nvSpPr>
        <p:spPr/>
        <p:txBody>
          <a:bodyPr>
            <a:normAutofit lnSpcReduction="10000"/>
          </a:bodyPr>
          <a:lstStyle/>
          <a:p>
            <a:pPr>
              <a:lnSpc>
                <a:spcPct val="100000"/>
              </a:lnSpc>
            </a:pPr>
            <a:r>
              <a:rPr lang="en-US" sz="2000" b="1" noProof="1">
                <a:latin typeface="Arial" panose="020B0604020202020204" pitchFamily="34" charset="0"/>
                <a:cs typeface="Arial" panose="020B0604020202020204" pitchFamily="34" charset="0"/>
              </a:rPr>
              <a:t>Pendekatan Hybrid</a:t>
            </a:r>
          </a:p>
          <a:p>
            <a:pPr marL="0" indent="0">
              <a:lnSpc>
                <a:spcPct val="100000"/>
              </a:lnSpc>
              <a:buNone/>
            </a:pPr>
            <a:r>
              <a:rPr lang="en-US" sz="2000" noProof="1">
                <a:latin typeface="Arial" panose="020B0604020202020204" pitchFamily="34" charset="0"/>
                <a:cs typeface="Arial" panose="020B0604020202020204" pitchFamily="34" charset="0"/>
              </a:rPr>
              <a:t>Proyek ini dibagi menjadi dua bagian:</a:t>
            </a:r>
          </a:p>
          <a:p>
            <a:pPr>
              <a:lnSpc>
                <a:spcPct val="100000"/>
              </a:lnSpc>
            </a:pPr>
            <a:r>
              <a:rPr lang="en-US" sz="2000" b="1" noProof="1">
                <a:latin typeface="Arial" panose="020B0604020202020204" pitchFamily="34" charset="0"/>
                <a:cs typeface="Arial" panose="020B0604020202020204" pitchFamily="34" charset="0"/>
              </a:rPr>
              <a:t>Bagian Infrastruktur dan Integrasi Sistem</a:t>
            </a:r>
            <a:br>
              <a:rPr lang="en-US" sz="2000" noProof="1">
                <a:latin typeface="Arial" panose="020B0604020202020204" pitchFamily="34" charset="0"/>
                <a:cs typeface="Arial" panose="020B0604020202020204" pitchFamily="34" charset="0"/>
              </a:rPr>
            </a:br>
            <a:r>
              <a:rPr lang="en-US" sz="2000" noProof="1">
                <a:latin typeface="Arial" panose="020B0604020202020204" pitchFamily="34" charset="0"/>
                <a:cs typeface="Arial" panose="020B0604020202020204" pitchFamily="34" charset="0"/>
              </a:rPr>
              <a:t>Menggunakan pendekatan </a:t>
            </a:r>
            <a:r>
              <a:rPr lang="en-US" sz="2000" b="1" noProof="1">
                <a:latin typeface="Arial" panose="020B0604020202020204" pitchFamily="34" charset="0"/>
                <a:cs typeface="Arial" panose="020B0604020202020204" pitchFamily="34" charset="0"/>
              </a:rPr>
              <a:t>tradisional (waterfall)</a:t>
            </a:r>
            <a:r>
              <a:rPr lang="en-US" sz="2000" noProof="1">
                <a:latin typeface="Arial" panose="020B0604020202020204" pitchFamily="34" charset="0"/>
                <a:cs typeface="Arial" panose="020B0604020202020204" pitchFamily="34" charset="0"/>
              </a:rPr>
              <a:t> karena melibatkan:</a:t>
            </a:r>
          </a:p>
          <a:p>
            <a:pPr marL="914400" lvl="1" indent="-457200">
              <a:lnSpc>
                <a:spcPct val="100000"/>
              </a:lnSpc>
              <a:buFont typeface="+mj-lt"/>
              <a:buAutoNum type="arabicPeriod"/>
            </a:pPr>
            <a:r>
              <a:rPr lang="en-US" sz="2000" noProof="1">
                <a:latin typeface="Arial" panose="020B0604020202020204" pitchFamily="34" charset="0"/>
                <a:cs typeface="Arial" panose="020B0604020202020204" pitchFamily="34" charset="0"/>
              </a:rPr>
              <a:t>Instalasi server dan jaringan</a:t>
            </a:r>
          </a:p>
          <a:p>
            <a:pPr marL="914400" lvl="1" indent="-457200">
              <a:lnSpc>
                <a:spcPct val="100000"/>
              </a:lnSpc>
              <a:buFont typeface="+mj-lt"/>
              <a:buAutoNum type="arabicPeriod"/>
            </a:pPr>
            <a:r>
              <a:rPr lang="en-US" sz="2000" noProof="1">
                <a:latin typeface="Arial" panose="020B0604020202020204" pitchFamily="34" charset="0"/>
                <a:cs typeface="Arial" panose="020B0604020202020204" pitchFamily="34" charset="0"/>
              </a:rPr>
              <a:t>Integrasi dengan sistem lama</a:t>
            </a:r>
          </a:p>
          <a:p>
            <a:pPr marL="914400" lvl="1" indent="-457200">
              <a:lnSpc>
                <a:spcPct val="100000"/>
              </a:lnSpc>
              <a:buFont typeface="+mj-lt"/>
              <a:buAutoNum type="arabicPeriod"/>
            </a:pPr>
            <a:r>
              <a:rPr lang="en-US" sz="2000" noProof="1">
                <a:latin typeface="Arial" panose="020B0604020202020204" pitchFamily="34" charset="0"/>
                <a:cs typeface="Arial" panose="020B0604020202020204" pitchFamily="34" charset="0"/>
              </a:rPr>
              <a:t>Kepatuhan regulasi kesehatan (Permenkes 24/2022, integrasi SATUSEHAT)</a:t>
            </a:r>
          </a:p>
          <a:p>
            <a:pPr>
              <a:lnSpc>
                <a:spcPct val="100000"/>
              </a:lnSpc>
            </a:pPr>
            <a:r>
              <a:rPr lang="en-US" sz="2000" b="1" noProof="1">
                <a:latin typeface="Arial" panose="020B0604020202020204" pitchFamily="34" charset="0"/>
                <a:cs typeface="Arial" panose="020B0604020202020204" pitchFamily="34" charset="0"/>
              </a:rPr>
              <a:t>Bagian Antarmuka Pengguna dan Fitur Aplikasi</a:t>
            </a:r>
            <a:br>
              <a:rPr lang="en-US" sz="2000" noProof="1">
                <a:latin typeface="Arial" panose="020B0604020202020204" pitchFamily="34" charset="0"/>
                <a:cs typeface="Arial" panose="020B0604020202020204" pitchFamily="34" charset="0"/>
              </a:rPr>
            </a:br>
            <a:r>
              <a:rPr lang="en-US" sz="2000" noProof="1">
                <a:latin typeface="Arial" panose="020B0604020202020204" pitchFamily="34" charset="0"/>
                <a:cs typeface="Arial" panose="020B0604020202020204" pitchFamily="34" charset="0"/>
              </a:rPr>
              <a:t>Menggunakan pendekatan </a:t>
            </a:r>
            <a:r>
              <a:rPr lang="en-US" sz="2000" b="1" noProof="1">
                <a:latin typeface="Arial" panose="020B0604020202020204" pitchFamily="34" charset="0"/>
                <a:cs typeface="Arial" panose="020B0604020202020204" pitchFamily="34" charset="0"/>
              </a:rPr>
              <a:t>Agile</a:t>
            </a:r>
            <a:r>
              <a:rPr lang="en-US" sz="2000" noProof="1">
                <a:latin typeface="Arial" panose="020B0604020202020204" pitchFamily="34" charset="0"/>
                <a:cs typeface="Arial" panose="020B0604020202020204" pitchFamily="34" charset="0"/>
              </a:rPr>
              <a:t> karena:</a:t>
            </a:r>
          </a:p>
          <a:p>
            <a:pPr marL="914400" lvl="1" indent="-457200">
              <a:lnSpc>
                <a:spcPct val="100000"/>
              </a:lnSpc>
              <a:buFont typeface="+mj-lt"/>
              <a:buAutoNum type="arabicPeriod"/>
            </a:pPr>
            <a:r>
              <a:rPr lang="en-US" sz="2000" noProof="1">
                <a:latin typeface="Arial" panose="020B0604020202020204" pitchFamily="34" charset="0"/>
                <a:cs typeface="Arial" panose="020B0604020202020204" pitchFamily="34" charset="0"/>
              </a:rPr>
              <a:t>Fitur berubah sesuai masukan pengguna</a:t>
            </a:r>
          </a:p>
          <a:p>
            <a:pPr marL="914400" lvl="1" indent="-457200">
              <a:lnSpc>
                <a:spcPct val="100000"/>
              </a:lnSpc>
              <a:buFont typeface="+mj-lt"/>
              <a:buAutoNum type="arabicPeriod"/>
            </a:pPr>
            <a:r>
              <a:rPr lang="en-US" sz="2000" noProof="1">
                <a:latin typeface="Arial" panose="020B0604020202020204" pitchFamily="34" charset="0"/>
                <a:cs typeface="Arial" panose="020B0604020202020204" pitchFamily="34" charset="0"/>
              </a:rPr>
              <a:t>Tim pengembang melakukan sprint 2 minggu</a:t>
            </a:r>
          </a:p>
          <a:p>
            <a:pPr marL="914400" lvl="1" indent="-457200">
              <a:lnSpc>
                <a:spcPct val="100000"/>
              </a:lnSpc>
              <a:buFont typeface="+mj-lt"/>
              <a:buAutoNum type="arabicPeriod"/>
            </a:pPr>
            <a:r>
              <a:rPr lang="en-US" sz="2000" noProof="1">
                <a:latin typeface="Arial" panose="020B0604020202020204" pitchFamily="34" charset="0"/>
                <a:cs typeface="Arial" panose="020B0604020202020204" pitchFamily="34" charset="0"/>
              </a:rPr>
              <a:t>Stakeholder aktif dalam demo dan review</a:t>
            </a:r>
          </a:p>
          <a:p>
            <a:pPr marL="0" indent="0">
              <a:lnSpc>
                <a:spcPct val="100000"/>
              </a:lnSpc>
              <a:buNone/>
            </a:pPr>
            <a:endParaRPr lang="en-US" sz="2000" noProof="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7766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EEEAA-5A5B-E982-0B16-5B4116D956F7}"/>
              </a:ext>
            </a:extLst>
          </p:cNvPr>
          <p:cNvSpPr>
            <a:spLocks noGrp="1"/>
          </p:cNvSpPr>
          <p:nvPr>
            <p:ph type="title"/>
          </p:nvPr>
        </p:nvSpPr>
        <p:spPr/>
        <p:txBody>
          <a:bodyPr/>
          <a:lstStyle/>
          <a:p>
            <a:pPr algn="ctr"/>
            <a:r>
              <a:rPr lang="en-US" noProof="1"/>
              <a:t>Studi Kasus (Versi PMBOK® Edisi ke-7)(3)</a:t>
            </a:r>
          </a:p>
        </p:txBody>
      </p:sp>
      <p:sp>
        <p:nvSpPr>
          <p:cNvPr id="3" name="Content Placeholder 2">
            <a:extLst>
              <a:ext uri="{FF2B5EF4-FFF2-40B4-BE49-F238E27FC236}">
                <a16:creationId xmlns:a16="http://schemas.microsoft.com/office/drawing/2014/main" id="{A513C101-0D4A-4049-7B4D-50818B6531ED}"/>
              </a:ext>
            </a:extLst>
          </p:cNvPr>
          <p:cNvSpPr>
            <a:spLocks noGrp="1"/>
          </p:cNvSpPr>
          <p:nvPr>
            <p:ph idx="1"/>
          </p:nvPr>
        </p:nvSpPr>
        <p:spPr>
          <a:xfrm>
            <a:off x="838200" y="1690688"/>
            <a:ext cx="10515600" cy="4351338"/>
          </a:xfrm>
        </p:spPr>
        <p:txBody>
          <a:bodyPr/>
          <a:lstStyle/>
          <a:p>
            <a:r>
              <a:rPr lang="en-US" noProof="1">
                <a:latin typeface="Arial" panose="020B0604020202020204" pitchFamily="34" charset="0"/>
                <a:cs typeface="Arial" panose="020B0604020202020204" pitchFamily="34" charset="0"/>
              </a:rPr>
              <a:t>Penerapan Domain Kinerja PMBOK® Edisi ke-7</a:t>
            </a:r>
          </a:p>
        </p:txBody>
      </p:sp>
      <p:graphicFrame>
        <p:nvGraphicFramePr>
          <p:cNvPr id="4" name="Table 3">
            <a:extLst>
              <a:ext uri="{FF2B5EF4-FFF2-40B4-BE49-F238E27FC236}">
                <a16:creationId xmlns:a16="http://schemas.microsoft.com/office/drawing/2014/main" id="{DFD500BD-94D5-63D7-C941-AA6E045C7BE9}"/>
              </a:ext>
            </a:extLst>
          </p:cNvPr>
          <p:cNvGraphicFramePr>
            <a:graphicFrameLocks noGrp="1"/>
          </p:cNvGraphicFramePr>
          <p:nvPr>
            <p:extLst>
              <p:ext uri="{D42A27DB-BD31-4B8C-83A1-F6EECF244321}">
                <p14:modId xmlns:p14="http://schemas.microsoft.com/office/powerpoint/2010/main" val="3397308623"/>
              </p:ext>
            </p:extLst>
          </p:nvPr>
        </p:nvGraphicFramePr>
        <p:xfrm>
          <a:off x="963542" y="2248535"/>
          <a:ext cx="10226428" cy="4240620"/>
        </p:xfrm>
        <a:graphic>
          <a:graphicData uri="http://schemas.openxmlformats.org/drawingml/2006/table">
            <a:tbl>
              <a:tblPr/>
              <a:tblGrid>
                <a:gridCol w="2922658">
                  <a:extLst>
                    <a:ext uri="{9D8B030D-6E8A-4147-A177-3AD203B41FA5}">
                      <a16:colId xmlns:a16="http://schemas.microsoft.com/office/drawing/2014/main" val="3190483927"/>
                    </a:ext>
                  </a:extLst>
                </a:gridCol>
                <a:gridCol w="7303770">
                  <a:extLst>
                    <a:ext uri="{9D8B030D-6E8A-4147-A177-3AD203B41FA5}">
                      <a16:colId xmlns:a16="http://schemas.microsoft.com/office/drawing/2014/main" val="2285672519"/>
                    </a:ext>
                  </a:extLst>
                </a:gridCol>
              </a:tblGrid>
              <a:tr h="440000">
                <a:tc>
                  <a:txBody>
                    <a:bodyPr/>
                    <a:lstStyle/>
                    <a:p>
                      <a:pPr algn="ctr">
                        <a:buNone/>
                      </a:pPr>
                      <a:r>
                        <a:rPr lang="en-US" sz="1500" b="1" noProof="1">
                          <a:latin typeface="Arial" panose="020B0604020202020204" pitchFamily="34" charset="0"/>
                          <a:cs typeface="Arial" panose="020B0604020202020204" pitchFamily="34" charset="0"/>
                        </a:rPr>
                        <a:t>Domain Kinerja</a:t>
                      </a:r>
                      <a:endParaRPr lang="en-US" sz="1800" noProof="1">
                        <a:latin typeface="Arial" panose="020B0604020202020204" pitchFamily="34" charset="0"/>
                        <a:cs typeface="Arial" panose="020B0604020202020204" pitchFamily="34" charset="0"/>
                      </a:endParaRP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b="1" noProof="1">
                          <a:latin typeface="Arial" panose="020B0604020202020204" pitchFamily="34" charset="0"/>
                          <a:cs typeface="Arial" panose="020B0604020202020204" pitchFamily="34" charset="0"/>
                        </a:rPr>
                        <a:t>Contoh Implementasi</a:t>
                      </a:r>
                      <a:endParaRPr lang="en-US" sz="1800" noProof="1">
                        <a:latin typeface="Arial" panose="020B0604020202020204" pitchFamily="34" charset="0"/>
                        <a:cs typeface="Arial" panose="020B0604020202020204" pitchFamily="34" charset="0"/>
                      </a:endParaRP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4817117"/>
                  </a:ext>
                </a:extLst>
              </a:tr>
              <a:tr h="440000">
                <a:tc>
                  <a:txBody>
                    <a:bodyPr/>
                    <a:lstStyle/>
                    <a:p>
                      <a:pPr>
                        <a:buNone/>
                      </a:pPr>
                      <a:r>
                        <a:rPr lang="en-US" sz="1500" noProof="1">
                          <a:latin typeface="Arial" panose="020B0604020202020204" pitchFamily="34" charset="0"/>
                          <a:cs typeface="Arial" panose="020B0604020202020204" pitchFamily="34" charset="0"/>
                        </a:rPr>
                        <a:t>Stakeholders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Melibatkan dokter dan admin rumah sakit dalam sprint review</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7620525"/>
                  </a:ext>
                </a:extLst>
              </a:tr>
              <a:tr h="440000">
                <a:tc>
                  <a:txBody>
                    <a:bodyPr/>
                    <a:lstStyle/>
                    <a:p>
                      <a:pPr>
                        <a:buNone/>
                      </a:pPr>
                      <a:r>
                        <a:rPr lang="en-US" sz="1500" noProof="1">
                          <a:latin typeface="Arial" panose="020B0604020202020204" pitchFamily="34" charset="0"/>
                          <a:cs typeface="Arial" panose="020B0604020202020204" pitchFamily="34" charset="0"/>
                        </a:rPr>
                        <a:t>Team</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Tim Agile untuk UI/UX, tim tradisional untuk infrastruktur</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9668814"/>
                  </a:ext>
                </a:extLst>
              </a:tr>
              <a:tr h="440000">
                <a:tc>
                  <a:txBody>
                    <a:bodyPr/>
                    <a:lstStyle/>
                    <a:p>
                      <a:pPr>
                        <a:buNone/>
                      </a:pPr>
                      <a:r>
                        <a:rPr lang="en-US" sz="1500" noProof="1">
                          <a:latin typeface="Arial" panose="020B0604020202020204" pitchFamily="34" charset="0"/>
                          <a:cs typeface="Arial" panose="020B0604020202020204" pitchFamily="34" charset="0"/>
                        </a:rPr>
                        <a:t>Development Approach &amp; Life Cycle</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Hybrid: waterfall untuk infrastruktur &amp; integrasi, Agile untuk antarmuka &amp; fitur</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8837631"/>
                  </a:ext>
                </a:extLst>
              </a:tr>
              <a:tr h="440000">
                <a:tc>
                  <a:txBody>
                    <a:bodyPr/>
                    <a:lstStyle/>
                    <a:p>
                      <a:pPr>
                        <a:buNone/>
                      </a:pPr>
                      <a:r>
                        <a:rPr lang="en-US" sz="1500" noProof="1">
                          <a:latin typeface="Arial" panose="020B0604020202020204" pitchFamily="34" charset="0"/>
                          <a:cs typeface="Arial" panose="020B0604020202020204" pitchFamily="34" charset="0"/>
                        </a:rPr>
                        <a:t>Planning</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Roadmap proyek disusun dengan milestone dan backlog</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7506837"/>
                  </a:ext>
                </a:extLst>
              </a:tr>
              <a:tr h="440000">
                <a:tc>
                  <a:txBody>
                    <a:bodyPr/>
                    <a:lstStyle/>
                    <a:p>
                      <a:pPr>
                        <a:buNone/>
                      </a:pPr>
                      <a:r>
                        <a:rPr lang="en-US" sz="1500" noProof="1">
                          <a:latin typeface="Arial" panose="020B0604020202020204" pitchFamily="34" charset="0"/>
                          <a:cs typeface="Arial" panose="020B0604020202020204" pitchFamily="34" charset="0"/>
                        </a:rPr>
                        <a:t>Project Work</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Koordinasi kerja harian lintas tim, pengadaan server, dan pengelolaan komunikasi tim</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2256105"/>
                  </a:ext>
                </a:extLst>
              </a:tr>
              <a:tr h="440000">
                <a:tc>
                  <a:txBody>
                    <a:bodyPr/>
                    <a:lstStyle/>
                    <a:p>
                      <a:pPr>
                        <a:buNone/>
                      </a:pPr>
                      <a:r>
                        <a:rPr lang="en-US" sz="1500" noProof="1">
                          <a:latin typeface="Arial" panose="020B0604020202020204" pitchFamily="34" charset="0"/>
                          <a:cs typeface="Arial" panose="020B0604020202020204" pitchFamily="34" charset="0"/>
                        </a:rPr>
                        <a:t>Delivery</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Fitur aplikasi dirilis bertahap, infrastruktur diselesaikan di awal</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4309817"/>
                  </a:ext>
                </a:extLst>
              </a:tr>
              <a:tr h="440000">
                <a:tc>
                  <a:txBody>
                    <a:bodyPr/>
                    <a:lstStyle/>
                    <a:p>
                      <a:pPr>
                        <a:buNone/>
                      </a:pPr>
                      <a:r>
                        <a:rPr lang="en-US" sz="1500" noProof="1">
                          <a:latin typeface="Arial" panose="020B0604020202020204" pitchFamily="34" charset="0"/>
                          <a:cs typeface="Arial" panose="020B0604020202020204" pitchFamily="34" charset="0"/>
                        </a:rPr>
                        <a:t>Measurement</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KPI: waktu respons sistem, kepuasan pengguna, uptime server; laporan berkala ke manajemen RS</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8681902"/>
                  </a:ext>
                </a:extLst>
              </a:tr>
              <a:tr h="440000">
                <a:tc>
                  <a:txBody>
                    <a:bodyPr/>
                    <a:lstStyle/>
                    <a:p>
                      <a:pPr>
                        <a:buNone/>
                      </a:pPr>
                      <a:r>
                        <a:rPr lang="en-US" sz="1500" noProof="1">
                          <a:latin typeface="Arial" panose="020B0604020202020204" pitchFamily="34" charset="0"/>
                          <a:cs typeface="Arial" panose="020B0604020202020204" pitchFamily="34" charset="0"/>
                        </a:rPr>
                        <a:t>Uncertainty</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Risiko regulasi dan perubahan kebutuhan pengguna dikelola secara adaptif</a:t>
                      </a:r>
                    </a:p>
                  </a:txBody>
                  <a:tcPr marL="76339" marR="76339" marT="38170" marB="381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8507354"/>
                  </a:ext>
                </a:extLst>
              </a:tr>
            </a:tbl>
          </a:graphicData>
        </a:graphic>
      </p:graphicFrame>
    </p:spTree>
    <p:extLst>
      <p:ext uri="{BB962C8B-B14F-4D97-AF65-F5344CB8AC3E}">
        <p14:creationId xmlns:p14="http://schemas.microsoft.com/office/powerpoint/2010/main" val="25377763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0B846-0930-5CD3-BF84-8E264B5E79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ECCE60-E2E2-8041-35BE-2EBB360BD88B}"/>
              </a:ext>
            </a:extLst>
          </p:cNvPr>
          <p:cNvSpPr>
            <a:spLocks noGrp="1"/>
          </p:cNvSpPr>
          <p:nvPr>
            <p:ph type="title"/>
          </p:nvPr>
        </p:nvSpPr>
        <p:spPr/>
        <p:txBody>
          <a:bodyPr/>
          <a:lstStyle/>
          <a:p>
            <a:pPr algn="ctr"/>
            <a:r>
              <a:rPr lang="en-US" noProof="1"/>
              <a:t>Apa yang Berjalan Baik? (1)</a:t>
            </a:r>
          </a:p>
        </p:txBody>
      </p:sp>
      <p:sp>
        <p:nvSpPr>
          <p:cNvPr id="3" name="Content Placeholder 2">
            <a:extLst>
              <a:ext uri="{FF2B5EF4-FFF2-40B4-BE49-F238E27FC236}">
                <a16:creationId xmlns:a16="http://schemas.microsoft.com/office/drawing/2014/main" id="{16B52018-BE4E-5664-16D5-61295443C3B6}"/>
              </a:ext>
            </a:extLst>
          </p:cNvPr>
          <p:cNvSpPr>
            <a:spLocks noGrp="1"/>
          </p:cNvSpPr>
          <p:nvPr>
            <p:ph idx="1"/>
          </p:nvPr>
        </p:nvSpPr>
        <p:spPr>
          <a:xfrm>
            <a:off x="849630" y="1814195"/>
            <a:ext cx="10515600" cy="4351338"/>
          </a:xfrm>
        </p:spPr>
        <p:txBody>
          <a:bodyPr>
            <a:normAutofit/>
          </a:bodyPr>
          <a:lstStyle/>
          <a:p>
            <a:pPr marL="0" indent="0">
              <a:buNone/>
            </a:pPr>
            <a:r>
              <a:rPr lang="en-US" sz="2400" b="1" noProof="1">
                <a:latin typeface="Arial" panose="020B0604020202020204" pitchFamily="34" charset="0"/>
                <a:cs typeface="Arial" panose="020B0604020202020204" pitchFamily="34" charset="0"/>
              </a:rPr>
              <a:t>Studi Kasus Keberhasilan Manajemen Proyek – AgênciaClick</a:t>
            </a:r>
            <a:endParaRPr lang="en-US" sz="2400" noProof="1">
              <a:latin typeface="Arial" panose="020B0604020202020204" pitchFamily="34" charset="0"/>
              <a:cs typeface="Arial" panose="020B0604020202020204" pitchFamily="34" charset="0"/>
            </a:endParaRPr>
          </a:p>
          <a:p>
            <a:r>
              <a:rPr lang="en-US" sz="2000" b="1" noProof="1">
                <a:latin typeface="Arial" panose="020B0604020202020204" pitchFamily="34" charset="0"/>
                <a:cs typeface="Arial" panose="020B0604020202020204" pitchFamily="34" charset="0"/>
              </a:rPr>
              <a:t>AgênciaClick</a:t>
            </a:r>
            <a:r>
              <a:rPr lang="en-US" sz="2000" noProof="1">
                <a:latin typeface="Arial" panose="020B0604020202020204" pitchFamily="34" charset="0"/>
                <a:cs typeface="Arial" panose="020B0604020202020204" pitchFamily="34" charset="0"/>
              </a:rPr>
              <a:t>, sebuah perusahaan </a:t>
            </a:r>
            <a:r>
              <a:rPr lang="en-US" sz="2000" b="1" noProof="1">
                <a:latin typeface="Arial" panose="020B0604020202020204" pitchFamily="34" charset="0"/>
                <a:cs typeface="Arial" panose="020B0604020202020204" pitchFamily="34" charset="0"/>
              </a:rPr>
              <a:t>periklanan interaktif</a:t>
            </a:r>
            <a:r>
              <a:rPr lang="en-US" sz="2000" noProof="1">
                <a:latin typeface="Arial" panose="020B0604020202020204" pitchFamily="34" charset="0"/>
                <a:cs typeface="Arial" panose="020B0604020202020204" pitchFamily="34" charset="0"/>
              </a:rPr>
              <a:t> dan </a:t>
            </a:r>
            <a:r>
              <a:rPr lang="en-US" sz="2000" b="1" noProof="1">
                <a:latin typeface="Arial" panose="020B0604020202020204" pitchFamily="34" charset="0"/>
                <a:cs typeface="Arial" panose="020B0604020202020204" pitchFamily="34" charset="0"/>
              </a:rPr>
              <a:t>komunikasi online</a:t>
            </a:r>
            <a:r>
              <a:rPr lang="en-US" sz="2000" noProof="1">
                <a:latin typeface="Arial" panose="020B0604020202020204" pitchFamily="34" charset="0"/>
                <a:cs typeface="Arial" panose="020B0604020202020204" pitchFamily="34" charset="0"/>
              </a:rPr>
              <a:t> yang berbasis di São Paulo, Brasil</a:t>
            </a:r>
          </a:p>
          <a:p>
            <a:r>
              <a:rPr lang="en-US" sz="2000" noProof="1">
                <a:latin typeface="Arial" panose="020B0604020202020204" pitchFamily="34" charset="0"/>
                <a:cs typeface="Arial" panose="020B0604020202020204" pitchFamily="34" charset="0"/>
              </a:rPr>
              <a:t>Industri periklanan digital sangat kompetitif dan cepat berubah.</a:t>
            </a:r>
          </a:p>
          <a:p>
            <a:r>
              <a:rPr lang="en-US" sz="2000" noProof="1">
                <a:latin typeface="Arial" panose="020B0604020202020204" pitchFamily="34" charset="0"/>
                <a:cs typeface="Arial" panose="020B0604020202020204" pitchFamily="34" charset="0"/>
              </a:rPr>
              <a:t>Tantangan utama:</a:t>
            </a:r>
          </a:p>
          <a:p>
            <a:pPr lvl="1"/>
            <a:r>
              <a:rPr lang="en-US" sz="2000" noProof="1">
                <a:latin typeface="Arial" panose="020B0604020202020204" pitchFamily="34" charset="0"/>
                <a:cs typeface="Arial" panose="020B0604020202020204" pitchFamily="34" charset="0"/>
              </a:rPr>
              <a:t>Perubahan teknologi dan platform (misalnya media sosial, mobile)</a:t>
            </a:r>
          </a:p>
          <a:p>
            <a:pPr lvl="1"/>
            <a:r>
              <a:rPr lang="en-US" sz="2000" noProof="1">
                <a:latin typeface="Arial" panose="020B0604020202020204" pitchFamily="34" charset="0"/>
                <a:cs typeface="Arial" panose="020B0604020202020204" pitchFamily="34" charset="0"/>
              </a:rPr>
              <a:t>Tuntutan klien yang dinamis</a:t>
            </a:r>
          </a:p>
          <a:p>
            <a:pPr lvl="1"/>
            <a:r>
              <a:rPr lang="en-US" sz="2000" noProof="1">
                <a:latin typeface="Arial" panose="020B0604020202020204" pitchFamily="34" charset="0"/>
                <a:cs typeface="Arial" panose="020B0604020202020204" pitchFamily="34" charset="0"/>
              </a:rPr>
              <a:t>Kolaborasi lintas tim (desain, teknologi, strategi)</a:t>
            </a:r>
          </a:p>
          <a:p>
            <a:r>
              <a:rPr lang="en-US" sz="2000" noProof="1">
                <a:latin typeface="Arial" panose="020B0604020202020204" pitchFamily="34" charset="0"/>
                <a:cs typeface="Arial" panose="020B0604020202020204" pitchFamily="34" charset="0"/>
              </a:rPr>
              <a:t>Pentingnya manajemen proyek:</a:t>
            </a:r>
          </a:p>
          <a:p>
            <a:pPr lvl="1"/>
            <a:r>
              <a:rPr lang="en-US" sz="2000" noProof="1">
                <a:latin typeface="Arial" panose="020B0604020202020204" pitchFamily="34" charset="0"/>
                <a:cs typeface="Arial" panose="020B0604020202020204" pitchFamily="34" charset="0"/>
              </a:rPr>
              <a:t>Menjaga efisiensi, kualitas, dan kepuasan klien</a:t>
            </a:r>
          </a:p>
          <a:p>
            <a:pPr lvl="1"/>
            <a:r>
              <a:rPr lang="en-US" sz="2000" noProof="1">
                <a:latin typeface="Arial" panose="020B0604020202020204" pitchFamily="34" charset="0"/>
                <a:cs typeface="Arial" panose="020B0604020202020204" pitchFamily="34" charset="0"/>
              </a:rPr>
              <a:t>Mengelola risiko dan perubahan dengan cepat</a:t>
            </a:r>
          </a:p>
        </p:txBody>
      </p:sp>
    </p:spTree>
    <p:extLst>
      <p:ext uri="{BB962C8B-B14F-4D97-AF65-F5344CB8AC3E}">
        <p14:creationId xmlns:p14="http://schemas.microsoft.com/office/powerpoint/2010/main" val="34296091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9ACF0-2D29-BB1D-6D40-F8542972BD44}"/>
              </a:ext>
            </a:extLst>
          </p:cNvPr>
          <p:cNvSpPr>
            <a:spLocks noGrp="1"/>
          </p:cNvSpPr>
          <p:nvPr>
            <p:ph type="title"/>
          </p:nvPr>
        </p:nvSpPr>
        <p:spPr/>
        <p:txBody>
          <a:bodyPr/>
          <a:lstStyle/>
          <a:p>
            <a:pPr algn="ctr"/>
            <a:r>
              <a:rPr lang="en-US" noProof="1"/>
              <a:t>Apa yang Berjalan Baik? (2)</a:t>
            </a:r>
          </a:p>
        </p:txBody>
      </p:sp>
      <p:sp>
        <p:nvSpPr>
          <p:cNvPr id="3" name="Content Placeholder 2">
            <a:extLst>
              <a:ext uri="{FF2B5EF4-FFF2-40B4-BE49-F238E27FC236}">
                <a16:creationId xmlns:a16="http://schemas.microsoft.com/office/drawing/2014/main" id="{43EA76BF-6542-3D14-BC1B-462D60050795}"/>
              </a:ext>
            </a:extLst>
          </p:cNvPr>
          <p:cNvSpPr>
            <a:spLocks noGrp="1"/>
          </p:cNvSpPr>
          <p:nvPr>
            <p:ph idx="1"/>
          </p:nvPr>
        </p:nvSpPr>
        <p:spPr>
          <a:xfrm>
            <a:off x="838200" y="1825625"/>
            <a:ext cx="5362575" cy="4351338"/>
          </a:xfrm>
        </p:spPr>
        <p:txBody>
          <a:bodyPr>
            <a:normAutofit/>
          </a:bodyPr>
          <a:lstStyle/>
          <a:p>
            <a:r>
              <a:rPr lang="en-US" sz="2000" b="1" noProof="1">
                <a:latin typeface="Arial" panose="020B0604020202020204" pitchFamily="34" charset="0"/>
                <a:cs typeface="Arial" panose="020B0604020202020204" pitchFamily="34" charset="0"/>
              </a:rPr>
              <a:t>Tahun 2007 </a:t>
            </a:r>
            <a:r>
              <a:rPr lang="en-US" sz="2000" noProof="1">
                <a:latin typeface="Arial" panose="020B0604020202020204" pitchFamily="34" charset="0"/>
                <a:cs typeface="Arial" panose="020B0604020202020204" pitchFamily="34" charset="0"/>
                <a:sym typeface="Wingdings" panose="05000000000000000000" pitchFamily="2" charset="2"/>
              </a:rPr>
              <a:t> </a:t>
            </a:r>
            <a:r>
              <a:rPr lang="en-US" sz="2000" b="1" noProof="1">
                <a:latin typeface="Arial" panose="020B0604020202020204" pitchFamily="34" charset="0"/>
                <a:cs typeface="Arial" panose="020B0604020202020204" pitchFamily="34" charset="0"/>
              </a:rPr>
              <a:t>AgênciaClick</a:t>
            </a:r>
            <a:r>
              <a:rPr lang="en-US" sz="2000" noProof="1">
                <a:latin typeface="Arial" panose="020B0604020202020204" pitchFamily="34" charset="0"/>
                <a:cs typeface="Arial" panose="020B0604020202020204" pitchFamily="34" charset="0"/>
              </a:rPr>
              <a:t>, diakui </a:t>
            </a:r>
            <a:r>
              <a:rPr lang="en-US" sz="2000" b="1" noProof="1">
                <a:latin typeface="Arial" panose="020B0604020202020204" pitchFamily="34" charset="0"/>
                <a:cs typeface="Arial" panose="020B0604020202020204" pitchFamily="34" charset="0"/>
              </a:rPr>
              <a:t>PMI (Project Management Institute) </a:t>
            </a:r>
            <a:r>
              <a:rPr lang="en-US" sz="2000" noProof="1">
                <a:latin typeface="Arial" panose="020B0604020202020204" pitchFamily="34" charset="0"/>
                <a:cs typeface="Arial" panose="020B0604020202020204" pitchFamily="34" charset="0"/>
              </a:rPr>
              <a:t>sebagai </a:t>
            </a:r>
            <a:r>
              <a:rPr lang="en-US" sz="2000" b="1" noProof="1">
                <a:latin typeface="Arial" panose="020B0604020202020204" pitchFamily="34" charset="0"/>
                <a:cs typeface="Arial" panose="020B0604020202020204" pitchFamily="34" charset="0"/>
              </a:rPr>
              <a:t>organisasi unggul dalam manajemen proyek</a:t>
            </a:r>
            <a:r>
              <a:rPr lang="en-US" sz="2000" noProof="1">
                <a:latin typeface="Arial" panose="020B0604020202020204" pitchFamily="34" charset="0"/>
                <a:cs typeface="Arial" panose="020B0604020202020204" pitchFamily="34" charset="0"/>
              </a:rPr>
              <a:t>.</a:t>
            </a:r>
          </a:p>
          <a:p>
            <a:r>
              <a:rPr lang="en-US" sz="2000" noProof="1">
                <a:latin typeface="Arial" panose="020B0604020202020204" pitchFamily="34" charset="0"/>
                <a:cs typeface="Arial" panose="020B0604020202020204" pitchFamily="34" charset="0"/>
              </a:rPr>
              <a:t>Pendapatan meningkat 132% sejak 2002 berkat </a:t>
            </a:r>
            <a:r>
              <a:rPr lang="en-US" sz="2000" b="1" noProof="1">
                <a:latin typeface="Arial" panose="020B0604020202020204" pitchFamily="34" charset="0"/>
                <a:cs typeface="Arial" panose="020B0604020202020204" pitchFamily="34" charset="0"/>
              </a:rPr>
              <a:t>fokus pada praktik manajemen proyek.</a:t>
            </a:r>
          </a:p>
          <a:p>
            <a:r>
              <a:rPr lang="en-US" sz="2000" noProof="1">
                <a:latin typeface="Arial" panose="020B0604020202020204" pitchFamily="34" charset="0"/>
                <a:cs typeface="Arial" panose="020B0604020202020204" pitchFamily="34" charset="0"/>
              </a:rPr>
              <a:t>Pertumbuhan pendapatan dari 2002 ke 2007 menunjukkan </a:t>
            </a:r>
            <a:r>
              <a:rPr lang="en-US" sz="2000" b="1" noProof="1">
                <a:latin typeface="Arial" panose="020B0604020202020204" pitchFamily="34" charset="0"/>
                <a:cs typeface="Arial" panose="020B0604020202020204" pitchFamily="34" charset="0"/>
              </a:rPr>
              <a:t>dampak nyata </a:t>
            </a:r>
            <a:r>
              <a:rPr lang="en-US" sz="2000" noProof="1">
                <a:latin typeface="Arial" panose="020B0604020202020204" pitchFamily="34" charset="0"/>
                <a:cs typeface="Arial" panose="020B0604020202020204" pitchFamily="34" charset="0"/>
              </a:rPr>
              <a:t>dari penerapan manajemen proyek.</a:t>
            </a:r>
          </a:p>
        </p:txBody>
      </p:sp>
      <p:pic>
        <p:nvPicPr>
          <p:cNvPr id="5122" name="Picture 2">
            <a:extLst>
              <a:ext uri="{FF2B5EF4-FFF2-40B4-BE49-F238E27FC236}">
                <a16:creationId xmlns:a16="http://schemas.microsoft.com/office/drawing/2014/main" id="{A4E42762-0D4E-AEB2-6AEB-2BEEDFF4D5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08" r="9220" b="7239"/>
          <a:stretch>
            <a:fillRect/>
          </a:stretch>
        </p:blipFill>
        <p:spPr bwMode="auto">
          <a:xfrm>
            <a:off x="6200775" y="1690688"/>
            <a:ext cx="5701665" cy="4710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6580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7F959-6CD6-64CA-7349-93D68ACFDC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88D44-14E4-BC9F-69A8-D17CE84A4F24}"/>
              </a:ext>
            </a:extLst>
          </p:cNvPr>
          <p:cNvSpPr>
            <a:spLocks noGrp="1"/>
          </p:cNvSpPr>
          <p:nvPr>
            <p:ph type="title"/>
          </p:nvPr>
        </p:nvSpPr>
        <p:spPr/>
        <p:txBody>
          <a:bodyPr/>
          <a:lstStyle/>
          <a:p>
            <a:pPr algn="ctr"/>
            <a:r>
              <a:rPr lang="en-US" noProof="1"/>
              <a:t>Apa yang Berjalan Baik? (4)</a:t>
            </a:r>
          </a:p>
        </p:txBody>
      </p:sp>
      <p:sp>
        <p:nvSpPr>
          <p:cNvPr id="3" name="Content Placeholder 2">
            <a:extLst>
              <a:ext uri="{FF2B5EF4-FFF2-40B4-BE49-F238E27FC236}">
                <a16:creationId xmlns:a16="http://schemas.microsoft.com/office/drawing/2014/main" id="{DC947E30-87A0-9BEC-7D42-9D7E4CF13E95}"/>
              </a:ext>
            </a:extLst>
          </p:cNvPr>
          <p:cNvSpPr>
            <a:spLocks noGrp="1"/>
          </p:cNvSpPr>
          <p:nvPr>
            <p:ph idx="1"/>
          </p:nvPr>
        </p:nvSpPr>
        <p:spPr/>
        <p:txBody>
          <a:bodyPr>
            <a:normAutofit/>
          </a:bodyPr>
          <a:lstStyle/>
          <a:p>
            <a:pPr marL="0" indent="0">
              <a:buNone/>
            </a:pPr>
            <a:r>
              <a:rPr lang="en-US" sz="2000" b="1" noProof="1">
                <a:latin typeface="Arial" panose="020B0604020202020204" pitchFamily="34" charset="0"/>
                <a:cs typeface="Arial" panose="020B0604020202020204" pitchFamily="34" charset="0"/>
              </a:rPr>
              <a:t>Pembelajaran dan Implikasi</a:t>
            </a:r>
          </a:p>
          <a:p>
            <a:r>
              <a:rPr lang="en-US" sz="2000" noProof="1">
                <a:latin typeface="Arial" panose="020B0604020202020204" pitchFamily="34" charset="0"/>
                <a:cs typeface="Arial" panose="020B0604020202020204" pitchFamily="34" charset="0"/>
              </a:rPr>
              <a:t>Manajemen proyek bukan hanya untuk </a:t>
            </a:r>
            <a:r>
              <a:rPr lang="en-US" sz="2000" b="1" noProof="1">
                <a:latin typeface="Arial" panose="020B0604020202020204" pitchFamily="34" charset="0"/>
                <a:cs typeface="Arial" panose="020B0604020202020204" pitchFamily="34" charset="0"/>
              </a:rPr>
              <a:t>proyek teknis</a:t>
            </a:r>
            <a:r>
              <a:rPr lang="en-US" sz="2000" noProof="1">
                <a:latin typeface="Arial" panose="020B0604020202020204" pitchFamily="34" charset="0"/>
                <a:cs typeface="Arial" panose="020B0604020202020204" pitchFamily="34" charset="0"/>
              </a:rPr>
              <a:t>, tapi juga </a:t>
            </a:r>
            <a:r>
              <a:rPr lang="en-US" sz="2000" b="1" noProof="1">
                <a:latin typeface="Arial" panose="020B0604020202020204" pitchFamily="34" charset="0"/>
                <a:cs typeface="Arial" panose="020B0604020202020204" pitchFamily="34" charset="0"/>
              </a:rPr>
              <a:t>kreatif</a:t>
            </a:r>
          </a:p>
          <a:p>
            <a:r>
              <a:rPr lang="en-US" sz="2000" noProof="1">
                <a:latin typeface="Arial" panose="020B0604020202020204" pitchFamily="34" charset="0"/>
                <a:cs typeface="Arial" panose="020B0604020202020204" pitchFamily="34" charset="0"/>
              </a:rPr>
              <a:t>Pendekatan terstruktur dapat meningkatkan performa bisnis secara signifikan</a:t>
            </a:r>
          </a:p>
          <a:p>
            <a:r>
              <a:rPr lang="en-US" sz="2000" noProof="1">
                <a:latin typeface="Arial" panose="020B0604020202020204" pitchFamily="34" charset="0"/>
                <a:cs typeface="Arial" panose="020B0604020202020204" pitchFamily="34" charset="0"/>
              </a:rPr>
              <a:t>Pentingnya </a:t>
            </a:r>
            <a:r>
              <a:rPr lang="en-US" sz="2000" b="1" noProof="1">
                <a:latin typeface="Arial" panose="020B0604020202020204" pitchFamily="34" charset="0"/>
                <a:cs typeface="Arial" panose="020B0604020202020204" pitchFamily="34" charset="0"/>
              </a:rPr>
              <a:t>komitmen jangka panjang</a:t>
            </a:r>
            <a:r>
              <a:rPr lang="en-US" sz="2000" noProof="1">
                <a:latin typeface="Arial" panose="020B0604020202020204" pitchFamily="34" charset="0"/>
                <a:cs typeface="Arial" panose="020B0604020202020204" pitchFamily="34" charset="0"/>
              </a:rPr>
              <a:t> dan adaptasi terhadap </a:t>
            </a:r>
            <a:r>
              <a:rPr lang="en-US" sz="2000" b="1" noProof="1">
                <a:latin typeface="Arial" panose="020B0604020202020204" pitchFamily="34" charset="0"/>
                <a:cs typeface="Arial" panose="020B0604020202020204" pitchFamily="34" charset="0"/>
              </a:rPr>
              <a:t>konteks industri</a:t>
            </a:r>
          </a:p>
        </p:txBody>
      </p:sp>
    </p:spTree>
    <p:extLst>
      <p:ext uri="{BB962C8B-B14F-4D97-AF65-F5344CB8AC3E}">
        <p14:creationId xmlns:p14="http://schemas.microsoft.com/office/powerpoint/2010/main" val="6945094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9CDBD-4ED3-F2B0-03C8-456A7203A55F}"/>
              </a:ext>
            </a:extLst>
          </p:cNvPr>
          <p:cNvSpPr>
            <a:spLocks noGrp="1"/>
          </p:cNvSpPr>
          <p:nvPr>
            <p:ph type="title"/>
          </p:nvPr>
        </p:nvSpPr>
        <p:spPr/>
        <p:txBody>
          <a:bodyPr/>
          <a:lstStyle/>
          <a:p>
            <a:pPr algn="ctr"/>
            <a:r>
              <a:rPr lang="en-US" noProof="1"/>
              <a:t>Studi Kasus: Situs Intranet Project Management JWD Consulting (1)</a:t>
            </a:r>
          </a:p>
        </p:txBody>
      </p:sp>
      <p:sp>
        <p:nvSpPr>
          <p:cNvPr id="3" name="Content Placeholder 2">
            <a:extLst>
              <a:ext uri="{FF2B5EF4-FFF2-40B4-BE49-F238E27FC236}">
                <a16:creationId xmlns:a16="http://schemas.microsoft.com/office/drawing/2014/main" id="{536CC0CC-C72D-6F69-7346-828C56D98572}"/>
              </a:ext>
            </a:extLst>
          </p:cNvPr>
          <p:cNvSpPr>
            <a:spLocks noGrp="1"/>
          </p:cNvSpPr>
          <p:nvPr>
            <p:ph idx="1"/>
          </p:nvPr>
        </p:nvSpPr>
        <p:spPr/>
        <p:txBody>
          <a:bodyPr>
            <a:normAutofit/>
          </a:bodyPr>
          <a:lstStyle/>
          <a:p>
            <a:pPr>
              <a:lnSpc>
                <a:spcPct val="100000"/>
              </a:lnSpc>
            </a:pPr>
            <a:r>
              <a:rPr lang="en-US" sz="2000" noProof="1">
                <a:latin typeface="Arial" panose="020B0604020202020204" pitchFamily="34" charset="0"/>
                <a:cs typeface="Arial" panose="020B0604020202020204" pitchFamily="34" charset="0"/>
              </a:rPr>
              <a:t>Studi kasus ini memberikan gambaran besar tentang pengelolaan proyek TI, mencakup lima proses utama dalam manajemen proyek:</a:t>
            </a:r>
          </a:p>
          <a:p>
            <a:pPr marL="914400" lvl="1" indent="-457200">
              <a:lnSpc>
                <a:spcPct val="100000"/>
              </a:lnSpc>
              <a:buFont typeface="+mj-lt"/>
              <a:buAutoNum type="arabicPeriod"/>
            </a:pPr>
            <a:r>
              <a:rPr lang="en-US" sz="2000" b="1" noProof="1">
                <a:latin typeface="Arial" panose="020B0604020202020204" pitchFamily="34" charset="0"/>
                <a:cs typeface="Arial" panose="020B0604020202020204" pitchFamily="34" charset="0"/>
              </a:rPr>
              <a:t>Initiating </a:t>
            </a:r>
            <a:r>
              <a:rPr lang="en-US" sz="1600" noProof="1">
                <a:latin typeface="Arial" panose="020B0604020202020204" pitchFamily="34" charset="0"/>
                <a:cs typeface="Arial" panose="020B0604020202020204" pitchFamily="34" charset="0"/>
                <a:sym typeface="Wingdings" panose="05000000000000000000" pitchFamily="2" charset="2"/>
              </a:rPr>
              <a:t></a:t>
            </a:r>
            <a:r>
              <a:rPr lang="en-US" sz="2000" noProof="1">
                <a:latin typeface="Arial" panose="020B0604020202020204" pitchFamily="34" charset="0"/>
                <a:cs typeface="Arial" panose="020B0604020202020204" pitchFamily="34" charset="0"/>
              </a:rPr>
              <a:t> Identifikasi kebutuhan dan stakeholder</a:t>
            </a:r>
          </a:p>
          <a:p>
            <a:pPr marL="914400" lvl="1" indent="-457200">
              <a:lnSpc>
                <a:spcPct val="100000"/>
              </a:lnSpc>
              <a:buFont typeface="+mj-lt"/>
              <a:buAutoNum type="arabicPeriod"/>
            </a:pPr>
            <a:r>
              <a:rPr lang="en-US" b="1" noProof="1"/>
              <a:t>Planning</a:t>
            </a:r>
            <a:r>
              <a:rPr lang="en-US" sz="2000" noProof="1">
                <a:latin typeface="Arial" panose="020B0604020202020204" pitchFamily="34" charset="0"/>
                <a:cs typeface="Arial" panose="020B0604020202020204" pitchFamily="34" charset="0"/>
              </a:rPr>
              <a:t> </a:t>
            </a:r>
            <a:r>
              <a:rPr lang="en-US" sz="1600" noProof="1">
                <a:latin typeface="Arial" panose="020B0604020202020204" pitchFamily="34" charset="0"/>
                <a:cs typeface="Arial" panose="020B0604020202020204" pitchFamily="34" charset="0"/>
                <a:sym typeface="Wingdings" panose="05000000000000000000" pitchFamily="2" charset="2"/>
              </a:rPr>
              <a:t></a:t>
            </a:r>
            <a:r>
              <a:rPr lang="en-US" sz="2000" noProof="1">
                <a:latin typeface="Arial" panose="020B0604020202020204" pitchFamily="34" charset="0"/>
                <a:cs typeface="Arial" panose="020B0604020202020204" pitchFamily="34" charset="0"/>
              </a:rPr>
              <a:t> Penjadwalan, anggaran, dan alokasi sumber daya</a:t>
            </a:r>
          </a:p>
          <a:p>
            <a:pPr marL="914400" lvl="1" indent="-457200">
              <a:lnSpc>
                <a:spcPct val="100000"/>
              </a:lnSpc>
              <a:buFont typeface="+mj-lt"/>
              <a:buAutoNum type="arabicPeriod"/>
            </a:pPr>
            <a:r>
              <a:rPr lang="en-US" sz="2000" b="1" noProof="1">
                <a:latin typeface="Arial" panose="020B0604020202020204" pitchFamily="34" charset="0"/>
                <a:cs typeface="Arial" panose="020B0604020202020204" pitchFamily="34" charset="0"/>
              </a:rPr>
              <a:t>Executing </a:t>
            </a:r>
            <a:r>
              <a:rPr lang="en-US" sz="1600" noProof="1">
                <a:latin typeface="Arial" panose="020B0604020202020204" pitchFamily="34" charset="0"/>
                <a:cs typeface="Arial" panose="020B0604020202020204" pitchFamily="34" charset="0"/>
                <a:sym typeface="Wingdings" panose="05000000000000000000" pitchFamily="2" charset="2"/>
              </a:rPr>
              <a:t></a:t>
            </a:r>
            <a:r>
              <a:rPr lang="en-US" sz="2000" noProof="1">
                <a:latin typeface="Arial" panose="020B0604020202020204" pitchFamily="34" charset="0"/>
                <a:cs typeface="Arial" panose="020B0604020202020204" pitchFamily="34" charset="0"/>
              </a:rPr>
              <a:t> Pengembangan situs dan pelaksanaan tugas</a:t>
            </a:r>
          </a:p>
          <a:p>
            <a:pPr marL="914400" lvl="1" indent="-457200">
              <a:lnSpc>
                <a:spcPct val="100000"/>
              </a:lnSpc>
              <a:buFont typeface="+mj-lt"/>
              <a:buAutoNum type="arabicPeriod"/>
            </a:pPr>
            <a:r>
              <a:rPr lang="en-US" sz="2000" b="1" noProof="1">
                <a:latin typeface="Arial" panose="020B0604020202020204" pitchFamily="34" charset="0"/>
                <a:cs typeface="Arial" panose="020B0604020202020204" pitchFamily="34" charset="0"/>
              </a:rPr>
              <a:t>Monitoring &amp; Controlling </a:t>
            </a:r>
            <a:r>
              <a:rPr lang="en-US" sz="1600" noProof="1">
                <a:latin typeface="Arial" panose="020B0604020202020204" pitchFamily="34" charset="0"/>
                <a:cs typeface="Arial" panose="020B0604020202020204" pitchFamily="34" charset="0"/>
                <a:sym typeface="Wingdings" panose="05000000000000000000" pitchFamily="2" charset="2"/>
              </a:rPr>
              <a:t></a:t>
            </a:r>
            <a:r>
              <a:rPr lang="en-US" sz="2000" noProof="1">
                <a:latin typeface="Arial" panose="020B0604020202020204" pitchFamily="34" charset="0"/>
                <a:cs typeface="Arial" panose="020B0604020202020204" pitchFamily="34" charset="0"/>
              </a:rPr>
              <a:t> Monitoring progres dan penyesuaian</a:t>
            </a:r>
          </a:p>
          <a:p>
            <a:pPr marL="914400" lvl="1" indent="-457200">
              <a:lnSpc>
                <a:spcPct val="100000"/>
              </a:lnSpc>
              <a:buFont typeface="+mj-lt"/>
              <a:buAutoNum type="arabicPeriod"/>
            </a:pPr>
            <a:r>
              <a:rPr lang="en-US" sz="2000" b="1" noProof="1">
                <a:latin typeface="Arial" panose="020B0604020202020204" pitchFamily="34" charset="0"/>
                <a:cs typeface="Arial" panose="020B0604020202020204" pitchFamily="34" charset="0"/>
              </a:rPr>
              <a:t>Closing </a:t>
            </a:r>
            <a:r>
              <a:rPr lang="en-US" sz="1600" noProof="1">
                <a:latin typeface="Arial" panose="020B0604020202020204" pitchFamily="34" charset="0"/>
                <a:cs typeface="Arial" panose="020B0604020202020204" pitchFamily="34" charset="0"/>
                <a:sym typeface="Wingdings" panose="05000000000000000000" pitchFamily="2" charset="2"/>
              </a:rPr>
              <a:t> </a:t>
            </a:r>
            <a:r>
              <a:rPr lang="en-US" sz="2000" noProof="1">
                <a:latin typeface="Arial" panose="020B0604020202020204" pitchFamily="34" charset="0"/>
                <a:cs typeface="Arial" panose="020B0604020202020204" pitchFamily="34" charset="0"/>
              </a:rPr>
              <a:t>Evaluasi dan dokumentasi akhir proyek</a:t>
            </a:r>
          </a:p>
          <a:p>
            <a:pPr>
              <a:lnSpc>
                <a:spcPct val="100000"/>
              </a:lnSpc>
            </a:pPr>
            <a:r>
              <a:rPr lang="en-US" sz="2000" b="1" noProof="1">
                <a:latin typeface="Arial" panose="020B0604020202020204" pitchFamily="34" charset="0"/>
                <a:cs typeface="Arial" panose="020B0604020202020204" pitchFamily="34" charset="0"/>
              </a:rPr>
              <a:t>Catatan:</a:t>
            </a:r>
            <a:r>
              <a:rPr lang="en-US" sz="2000" b="0" noProof="1">
                <a:latin typeface="Arial" panose="020B0604020202020204" pitchFamily="34" charset="0"/>
                <a:cs typeface="Arial" panose="020B0604020202020204" pitchFamily="34" charset="0"/>
              </a:rPr>
              <a:t> JWD adalah contoh klasik pendekatan prediktif (Schwalbe, 2010). Fokuslah pada dokumen apa yang dihasilkan tiap kelompok proses, bukan pada konteks proyeknya. Versi agile dibahas di akhir studi kasus.</a:t>
            </a:r>
          </a:p>
          <a:p>
            <a:pPr marL="0" indent="0">
              <a:lnSpc>
                <a:spcPct val="100000"/>
              </a:lnSpc>
              <a:buNone/>
            </a:pPr>
            <a:endParaRPr lang="en-US" sz="2000" noProof="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81877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80580-B9C1-B8E3-4DDB-C3ACADE0EFEA}"/>
              </a:ext>
            </a:extLst>
          </p:cNvPr>
          <p:cNvSpPr>
            <a:spLocks noGrp="1"/>
          </p:cNvSpPr>
          <p:nvPr>
            <p:ph type="title"/>
          </p:nvPr>
        </p:nvSpPr>
        <p:spPr/>
        <p:txBody>
          <a:bodyPr>
            <a:normAutofit/>
          </a:bodyPr>
          <a:lstStyle/>
          <a:p>
            <a:pPr algn="ctr"/>
            <a:r>
              <a:rPr lang="en-US" noProof="1"/>
              <a:t>Pra-Inisiasi Proyek (Project Pre-initiation)(1)</a:t>
            </a:r>
            <a:br>
              <a:rPr lang="en-US" noProof="1"/>
            </a:br>
            <a:r>
              <a:rPr lang="en-US" sz="3100" i="1" noProof="1"/>
              <a:t>Langkah-langkah awal sebelum proyek dimulai secara resmi</a:t>
            </a:r>
            <a:endParaRPr lang="en-US" i="1" noProof="1"/>
          </a:p>
        </p:txBody>
      </p:sp>
      <p:sp>
        <p:nvSpPr>
          <p:cNvPr id="3" name="Content Placeholder 2">
            <a:extLst>
              <a:ext uri="{FF2B5EF4-FFF2-40B4-BE49-F238E27FC236}">
                <a16:creationId xmlns:a16="http://schemas.microsoft.com/office/drawing/2014/main" id="{958845B3-B6E6-3BE8-7761-9800EFBF1C06}"/>
              </a:ext>
            </a:extLst>
          </p:cNvPr>
          <p:cNvSpPr>
            <a:spLocks noGrp="1"/>
          </p:cNvSpPr>
          <p:nvPr>
            <p:ph idx="1"/>
          </p:nvPr>
        </p:nvSpPr>
        <p:spPr>
          <a:xfrm>
            <a:off x="838200" y="1825625"/>
            <a:ext cx="7254240" cy="4351338"/>
          </a:xfrm>
        </p:spPr>
        <p:txBody>
          <a:bodyPr>
            <a:noAutofit/>
          </a:bodyPr>
          <a:lstStyle/>
          <a:p>
            <a:pPr>
              <a:lnSpc>
                <a:spcPct val="100000"/>
              </a:lnSpc>
            </a:pPr>
            <a:r>
              <a:rPr lang="en-US" sz="2000" noProof="1">
                <a:latin typeface="Arial" panose="020B0604020202020204" pitchFamily="34" charset="0"/>
                <a:cs typeface="Arial" panose="020B0604020202020204" pitchFamily="34" charset="0"/>
              </a:rPr>
              <a:t>Merupakan praktik yang baik untuk </a:t>
            </a:r>
            <a:r>
              <a:rPr lang="en-US" sz="2000" b="1" noProof="1">
                <a:latin typeface="Arial" panose="020B0604020202020204" pitchFamily="34" charset="0"/>
                <a:cs typeface="Arial" panose="020B0604020202020204" pitchFamily="34" charset="0"/>
              </a:rPr>
              <a:t>mempersiapkan fondasi proyek</a:t>
            </a:r>
            <a:r>
              <a:rPr lang="en-US" sz="2000" noProof="1">
                <a:latin typeface="Arial" panose="020B0604020202020204" pitchFamily="34" charset="0"/>
                <a:cs typeface="Arial" panose="020B0604020202020204" pitchFamily="34" charset="0"/>
              </a:rPr>
              <a:t> sebelum proyek </a:t>
            </a:r>
            <a:r>
              <a:rPr lang="en-US" sz="2000" b="1" noProof="1">
                <a:latin typeface="Arial" panose="020B0604020202020204" pitchFamily="34" charset="0"/>
                <a:cs typeface="Arial" panose="020B0604020202020204" pitchFamily="34" charset="0"/>
              </a:rPr>
              <a:t>resmi dimulai</a:t>
            </a:r>
            <a:r>
              <a:rPr lang="en-US" sz="2000" noProof="1">
                <a:latin typeface="Arial" panose="020B0604020202020204" pitchFamily="34" charset="0"/>
                <a:cs typeface="Arial" panose="020B0604020202020204" pitchFamily="34" charset="0"/>
              </a:rPr>
              <a:t>.</a:t>
            </a:r>
          </a:p>
          <a:p>
            <a:pPr>
              <a:lnSpc>
                <a:spcPct val="100000"/>
              </a:lnSpc>
            </a:pPr>
            <a:r>
              <a:rPr lang="en-US" sz="2000" noProof="1">
                <a:latin typeface="Arial" panose="020B0604020202020204" pitchFamily="34" charset="0"/>
                <a:cs typeface="Arial" panose="020B0604020202020204" pitchFamily="34" charset="0"/>
              </a:rPr>
              <a:t>Mengapa Tahap Pra-Inisiasi Penting?</a:t>
            </a:r>
          </a:p>
          <a:p>
            <a:pPr marL="914400" lvl="1" indent="-457200">
              <a:lnSpc>
                <a:spcPct val="100000"/>
              </a:lnSpc>
              <a:buFont typeface="+mj-lt"/>
              <a:buAutoNum type="arabicPeriod"/>
            </a:pPr>
            <a:r>
              <a:rPr lang="en-US" sz="2000" noProof="1">
                <a:latin typeface="Arial" panose="020B0604020202020204" pitchFamily="34" charset="0"/>
                <a:cs typeface="Arial" panose="020B0604020202020204" pitchFamily="34" charset="0"/>
              </a:rPr>
              <a:t>Menyiapkan fondasi proyek sebelum dimulai secara resmi.</a:t>
            </a:r>
          </a:p>
          <a:p>
            <a:pPr marL="914400" lvl="1" indent="-457200">
              <a:lnSpc>
                <a:spcPct val="100000"/>
              </a:lnSpc>
              <a:buFont typeface="+mj-lt"/>
              <a:buAutoNum type="arabicPeriod"/>
            </a:pPr>
            <a:r>
              <a:rPr lang="en-US" sz="2000" noProof="1">
                <a:latin typeface="Arial" panose="020B0604020202020204" pitchFamily="34" charset="0"/>
                <a:cs typeface="Arial" panose="020B0604020202020204" pitchFamily="34" charset="0"/>
              </a:rPr>
              <a:t>Memastikan arah, ekspektasi, dan struktur dasar proyek jelas.</a:t>
            </a:r>
          </a:p>
          <a:p>
            <a:pPr marL="914400" lvl="1" indent="-457200">
              <a:lnSpc>
                <a:spcPct val="100000"/>
              </a:lnSpc>
              <a:buFont typeface="+mj-lt"/>
              <a:buAutoNum type="arabicPeriod"/>
            </a:pPr>
            <a:r>
              <a:rPr lang="en-US" sz="2000" noProof="1">
                <a:latin typeface="Arial" panose="020B0604020202020204" pitchFamily="34" charset="0"/>
                <a:cs typeface="Arial" panose="020B0604020202020204" pitchFamily="34" charset="0"/>
              </a:rPr>
              <a:t>Mengurangi risiko kegagalan proyek sejak awal.</a:t>
            </a:r>
            <a:endParaRPr lang="en-US" sz="2000" b="1" noProof="1">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C4160AEB-D795-B0EE-3326-E5A8A9146F73}"/>
              </a:ext>
            </a:extLst>
          </p:cNvPr>
          <p:cNvPicPr>
            <a:picLocks noChangeAspect="1"/>
          </p:cNvPicPr>
          <p:nvPr/>
        </p:nvPicPr>
        <p:blipFill>
          <a:blip r:embed="rId2"/>
          <a:srcRect l="12750" t="16001" r="10916" b="16097"/>
          <a:stretch>
            <a:fillRect/>
          </a:stretch>
        </p:blipFill>
        <p:spPr>
          <a:xfrm>
            <a:off x="8423910" y="1825625"/>
            <a:ext cx="2626691" cy="3504883"/>
          </a:xfrm>
          <a:prstGeom prst="rect">
            <a:avLst/>
          </a:prstGeom>
        </p:spPr>
      </p:pic>
    </p:spTree>
    <p:extLst>
      <p:ext uri="{BB962C8B-B14F-4D97-AF65-F5344CB8AC3E}">
        <p14:creationId xmlns:p14="http://schemas.microsoft.com/office/powerpoint/2010/main" val="22444956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AE3A8-0427-27FE-6C00-C2D5D8DF6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80BC28-B05D-A5A6-50F9-85D9AB55D3FD}"/>
              </a:ext>
            </a:extLst>
          </p:cNvPr>
          <p:cNvSpPr>
            <a:spLocks noGrp="1"/>
          </p:cNvSpPr>
          <p:nvPr>
            <p:ph type="title"/>
          </p:nvPr>
        </p:nvSpPr>
        <p:spPr/>
        <p:txBody>
          <a:bodyPr>
            <a:normAutofit/>
          </a:bodyPr>
          <a:lstStyle/>
          <a:p>
            <a:pPr algn="ctr"/>
            <a:r>
              <a:rPr lang="en-US" noProof="1"/>
              <a:t>Pra-Inisiasi Proyek (Project Pre-initiation)(2)</a:t>
            </a:r>
            <a:br>
              <a:rPr lang="en-US" noProof="1"/>
            </a:br>
            <a:r>
              <a:rPr lang="en-US" sz="3100" i="1" noProof="1"/>
              <a:t>Langkah-langkah awal sebelum proyek dimulai secara resmi</a:t>
            </a:r>
            <a:endParaRPr lang="en-US" noProof="1"/>
          </a:p>
        </p:txBody>
      </p:sp>
      <p:sp>
        <p:nvSpPr>
          <p:cNvPr id="3" name="Content Placeholder 2">
            <a:extLst>
              <a:ext uri="{FF2B5EF4-FFF2-40B4-BE49-F238E27FC236}">
                <a16:creationId xmlns:a16="http://schemas.microsoft.com/office/drawing/2014/main" id="{9CEA9971-3665-0E2A-94AC-A752B81C433B}"/>
              </a:ext>
            </a:extLst>
          </p:cNvPr>
          <p:cNvSpPr>
            <a:spLocks noGrp="1"/>
          </p:cNvSpPr>
          <p:nvPr>
            <p:ph idx="1"/>
          </p:nvPr>
        </p:nvSpPr>
        <p:spPr>
          <a:xfrm>
            <a:off x="838200" y="1825625"/>
            <a:ext cx="10515600" cy="3649345"/>
          </a:xfrm>
        </p:spPr>
        <p:txBody>
          <a:bodyPr>
            <a:noAutofit/>
          </a:bodyPr>
          <a:lstStyle/>
          <a:p>
            <a:pPr>
              <a:lnSpc>
                <a:spcPct val="100000"/>
              </a:lnSpc>
            </a:pPr>
            <a:r>
              <a:rPr lang="en-US" sz="2000" b="1" noProof="1">
                <a:latin typeface="Arial" panose="020B0604020202020204" pitchFamily="34" charset="0"/>
                <a:cs typeface="Arial" panose="020B0604020202020204" pitchFamily="34" charset="0"/>
              </a:rPr>
              <a:t>Manajer senior</a:t>
            </a:r>
            <a:r>
              <a:rPr lang="en-US" sz="2000" noProof="1">
                <a:latin typeface="Arial" panose="020B0604020202020204" pitchFamily="34" charset="0"/>
                <a:cs typeface="Arial" panose="020B0604020202020204" pitchFamily="34" charset="0"/>
              </a:rPr>
              <a:t> sering melakukan beberapa </a:t>
            </a:r>
            <a:r>
              <a:rPr lang="en-US" sz="2000" b="1" noProof="1">
                <a:latin typeface="Arial" panose="020B0604020202020204" pitchFamily="34" charset="0"/>
                <a:cs typeface="Arial" panose="020B0604020202020204" pitchFamily="34" charset="0"/>
              </a:rPr>
              <a:t>tugas pra-inisiasi</a:t>
            </a:r>
            <a:r>
              <a:rPr lang="en-US" sz="2000" noProof="1">
                <a:latin typeface="Arial" panose="020B0604020202020204" pitchFamily="34" charset="0"/>
                <a:cs typeface="Arial" panose="020B0604020202020204" pitchFamily="34" charset="0"/>
              </a:rPr>
              <a:t>, antara lain:</a:t>
            </a:r>
          </a:p>
          <a:p>
            <a:pPr marL="914400" lvl="1" indent="-457200">
              <a:lnSpc>
                <a:spcPct val="100000"/>
              </a:lnSpc>
              <a:buFont typeface="+mj-lt"/>
              <a:buAutoNum type="arabicPeriod"/>
            </a:pPr>
            <a:r>
              <a:rPr lang="en-US" sz="2000" noProof="1">
                <a:latin typeface="Arial" panose="020B0604020202020204" pitchFamily="34" charset="0"/>
                <a:cs typeface="Arial" panose="020B0604020202020204" pitchFamily="34" charset="0"/>
              </a:rPr>
              <a:t>Menentukan batasan </a:t>
            </a:r>
            <a:r>
              <a:rPr lang="en-US" sz="2000" b="1" noProof="1">
                <a:latin typeface="Arial" panose="020B0604020202020204" pitchFamily="34" charset="0"/>
                <a:cs typeface="Arial" panose="020B0604020202020204" pitchFamily="34" charset="0"/>
              </a:rPr>
              <a:t>ruang lingkup (scope)</a:t>
            </a:r>
            <a:r>
              <a:rPr lang="en-US" sz="2000" noProof="1">
                <a:latin typeface="Arial" panose="020B0604020202020204" pitchFamily="34" charset="0"/>
                <a:cs typeface="Arial" panose="020B0604020202020204" pitchFamily="34" charset="0"/>
              </a:rPr>
              <a:t>, </a:t>
            </a:r>
            <a:r>
              <a:rPr lang="en-US" sz="2000" b="1" noProof="1">
                <a:latin typeface="Arial" panose="020B0604020202020204" pitchFamily="34" charset="0"/>
                <a:cs typeface="Arial" panose="020B0604020202020204" pitchFamily="34" charset="0"/>
              </a:rPr>
              <a:t>waktu (time)</a:t>
            </a:r>
            <a:r>
              <a:rPr lang="en-US" sz="2000" noProof="1">
                <a:latin typeface="Arial" panose="020B0604020202020204" pitchFamily="34" charset="0"/>
                <a:cs typeface="Arial" panose="020B0604020202020204" pitchFamily="34" charset="0"/>
              </a:rPr>
              <a:t>, dan </a:t>
            </a:r>
            <a:r>
              <a:rPr lang="en-US" sz="2000" b="1" noProof="1">
                <a:latin typeface="Arial" panose="020B0604020202020204" pitchFamily="34" charset="0"/>
                <a:cs typeface="Arial" panose="020B0604020202020204" pitchFamily="34" charset="0"/>
              </a:rPr>
              <a:t>biaya (cost)</a:t>
            </a:r>
            <a:r>
              <a:rPr lang="en-US" sz="2000" noProof="1">
                <a:latin typeface="Arial" panose="020B0604020202020204" pitchFamily="34" charset="0"/>
                <a:cs typeface="Arial" panose="020B0604020202020204" pitchFamily="34" charset="0"/>
              </a:rPr>
              <a:t> untuk proyek.</a:t>
            </a:r>
          </a:p>
          <a:p>
            <a:pPr marL="914400" lvl="1" indent="-457200">
              <a:lnSpc>
                <a:spcPct val="100000"/>
              </a:lnSpc>
              <a:buFont typeface="+mj-lt"/>
              <a:buAutoNum type="arabicPeriod"/>
            </a:pPr>
            <a:r>
              <a:rPr lang="en-US" sz="2000" noProof="1">
                <a:latin typeface="Arial" panose="020B0604020202020204" pitchFamily="34" charset="0"/>
                <a:cs typeface="Arial" panose="020B0604020202020204" pitchFamily="34" charset="0"/>
              </a:rPr>
              <a:t>Mengidentifikasi </a:t>
            </a:r>
            <a:r>
              <a:rPr lang="en-US" sz="2000" b="1" noProof="1">
                <a:latin typeface="Arial" panose="020B0604020202020204" pitchFamily="34" charset="0"/>
                <a:cs typeface="Arial" panose="020B0604020202020204" pitchFamily="34" charset="0"/>
              </a:rPr>
              <a:t>sponsor proyek (project sponsor)</a:t>
            </a:r>
            <a:r>
              <a:rPr lang="en-US" sz="2000" noProof="1">
                <a:latin typeface="Arial" panose="020B0604020202020204" pitchFamily="34" charset="0"/>
                <a:cs typeface="Arial" panose="020B0604020202020204" pitchFamily="34" charset="0"/>
              </a:rPr>
              <a:t>.</a:t>
            </a:r>
          </a:p>
          <a:p>
            <a:pPr marL="914400" lvl="1" indent="-457200">
              <a:lnSpc>
                <a:spcPct val="100000"/>
              </a:lnSpc>
              <a:buFont typeface="+mj-lt"/>
              <a:buAutoNum type="arabicPeriod"/>
            </a:pPr>
            <a:r>
              <a:rPr lang="en-US" sz="2000" noProof="1">
                <a:latin typeface="Arial" panose="020B0604020202020204" pitchFamily="34" charset="0"/>
                <a:cs typeface="Arial" panose="020B0604020202020204" pitchFamily="34" charset="0"/>
              </a:rPr>
              <a:t>Memilih </a:t>
            </a:r>
            <a:r>
              <a:rPr lang="en-US" sz="2000" b="1" noProof="1">
                <a:latin typeface="Arial" panose="020B0604020202020204" pitchFamily="34" charset="0"/>
                <a:cs typeface="Arial" panose="020B0604020202020204" pitchFamily="34" charset="0"/>
              </a:rPr>
              <a:t>manajer proyek (project manager)</a:t>
            </a:r>
            <a:r>
              <a:rPr lang="en-US" sz="2000" noProof="1">
                <a:latin typeface="Arial" panose="020B0604020202020204" pitchFamily="34" charset="0"/>
                <a:cs typeface="Arial" panose="020B0604020202020204" pitchFamily="34" charset="0"/>
              </a:rPr>
              <a:t>.</a:t>
            </a:r>
          </a:p>
          <a:p>
            <a:pPr marL="914400" lvl="1" indent="-457200">
              <a:lnSpc>
                <a:spcPct val="100000"/>
              </a:lnSpc>
              <a:buFont typeface="+mj-lt"/>
              <a:buAutoNum type="arabicPeriod"/>
            </a:pPr>
            <a:r>
              <a:rPr lang="en-US" sz="2000" noProof="1">
                <a:latin typeface="Arial" panose="020B0604020202020204" pitchFamily="34" charset="0"/>
                <a:cs typeface="Arial" panose="020B0604020202020204" pitchFamily="34" charset="0"/>
              </a:rPr>
              <a:t>Menyusun </a:t>
            </a:r>
            <a:r>
              <a:rPr lang="en-US" sz="2000" b="1" noProof="1">
                <a:latin typeface="Arial" panose="020B0604020202020204" pitchFamily="34" charset="0"/>
                <a:cs typeface="Arial" panose="020B0604020202020204" pitchFamily="34" charset="0"/>
              </a:rPr>
              <a:t>business case</a:t>
            </a:r>
            <a:r>
              <a:rPr lang="en-US" sz="2000" noProof="1">
                <a:latin typeface="Arial" panose="020B0604020202020204" pitchFamily="34" charset="0"/>
                <a:cs typeface="Arial" panose="020B0604020202020204" pitchFamily="34" charset="0"/>
              </a:rPr>
              <a:t> untuk proyek (lihat Tabel 3-2 sebagai contoh).</a:t>
            </a:r>
          </a:p>
          <a:p>
            <a:pPr marL="914400" lvl="1" indent="-457200">
              <a:lnSpc>
                <a:spcPct val="100000"/>
              </a:lnSpc>
              <a:buFont typeface="+mj-lt"/>
              <a:buAutoNum type="arabicPeriod"/>
            </a:pPr>
            <a:r>
              <a:rPr lang="en-US" sz="2000" noProof="1">
                <a:latin typeface="Arial" panose="020B0604020202020204" pitchFamily="34" charset="0"/>
                <a:cs typeface="Arial" panose="020B0604020202020204" pitchFamily="34" charset="0"/>
              </a:rPr>
              <a:t>Bertemu dengan </a:t>
            </a:r>
            <a:r>
              <a:rPr lang="en-US" sz="2000" b="1" noProof="1">
                <a:latin typeface="Arial" panose="020B0604020202020204" pitchFamily="34" charset="0"/>
                <a:cs typeface="Arial" panose="020B0604020202020204" pitchFamily="34" charset="0"/>
              </a:rPr>
              <a:t>manajer proyek</a:t>
            </a:r>
            <a:r>
              <a:rPr lang="en-US" sz="2000" noProof="1">
                <a:latin typeface="Arial" panose="020B0604020202020204" pitchFamily="34" charset="0"/>
                <a:cs typeface="Arial" panose="020B0604020202020204" pitchFamily="34" charset="0"/>
              </a:rPr>
              <a:t> untuk meninjau </a:t>
            </a:r>
            <a:r>
              <a:rPr lang="en-US" sz="2000" b="1" noProof="1">
                <a:latin typeface="Arial" panose="020B0604020202020204" pitchFamily="34" charset="0"/>
                <a:cs typeface="Arial" panose="020B0604020202020204" pitchFamily="34" charset="0"/>
              </a:rPr>
              <a:t>proses</a:t>
            </a:r>
            <a:r>
              <a:rPr lang="en-US" sz="2000" noProof="1">
                <a:latin typeface="Arial" panose="020B0604020202020204" pitchFamily="34" charset="0"/>
                <a:cs typeface="Arial" panose="020B0604020202020204" pitchFamily="34" charset="0"/>
              </a:rPr>
              <a:t> dan </a:t>
            </a:r>
            <a:r>
              <a:rPr lang="en-US" sz="2000" b="1" noProof="1">
                <a:latin typeface="Arial" panose="020B0604020202020204" pitchFamily="34" charset="0"/>
                <a:cs typeface="Arial" panose="020B0604020202020204" pitchFamily="34" charset="0"/>
              </a:rPr>
              <a:t>ekspektasi</a:t>
            </a:r>
            <a:r>
              <a:rPr lang="en-US" sz="2000" noProof="1">
                <a:latin typeface="Arial" panose="020B0604020202020204" pitchFamily="34" charset="0"/>
                <a:cs typeface="Arial" panose="020B0604020202020204" pitchFamily="34" charset="0"/>
              </a:rPr>
              <a:t> dalam pengelolaan proyek.</a:t>
            </a:r>
          </a:p>
          <a:p>
            <a:pPr marL="914400" lvl="1" indent="-457200">
              <a:lnSpc>
                <a:spcPct val="100000"/>
              </a:lnSpc>
              <a:buFont typeface="+mj-lt"/>
              <a:buAutoNum type="arabicPeriod"/>
            </a:pPr>
            <a:r>
              <a:rPr lang="en-US" sz="2000" noProof="1">
                <a:latin typeface="Arial" panose="020B0604020202020204" pitchFamily="34" charset="0"/>
                <a:cs typeface="Arial" panose="020B0604020202020204" pitchFamily="34" charset="0"/>
              </a:rPr>
              <a:t>Menentukan apakah proyek sebaiknya </a:t>
            </a:r>
            <a:r>
              <a:rPr lang="en-US" sz="2000" b="1" noProof="1">
                <a:latin typeface="Arial" panose="020B0604020202020204" pitchFamily="34" charset="0"/>
                <a:cs typeface="Arial" panose="020B0604020202020204" pitchFamily="34" charset="0"/>
              </a:rPr>
              <a:t>dibagi menjadi dua atau lebih proyek yang lebih kecil</a:t>
            </a:r>
            <a:r>
              <a:rPr lang="en-US" sz="2000" noProof="1">
                <a:latin typeface="Arial" panose="020B0604020202020204" pitchFamily="34" charset="0"/>
                <a:cs typeface="Arial" panose="020B0604020202020204" pitchFamily="34" charset="0"/>
              </a:rPr>
              <a:t>.</a:t>
            </a:r>
          </a:p>
          <a:p>
            <a:pPr marL="0" indent="0">
              <a:lnSpc>
                <a:spcPct val="100000"/>
              </a:lnSpc>
              <a:buNone/>
            </a:pPr>
            <a:endParaRPr lang="en-US" sz="2000" noProof="1">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FEF8572-DD31-BB20-0FAB-F6913F7288DB}"/>
              </a:ext>
            </a:extLst>
          </p:cNvPr>
          <p:cNvSpPr txBox="1"/>
          <p:nvPr/>
        </p:nvSpPr>
        <p:spPr>
          <a:xfrm>
            <a:off x="838200" y="5543550"/>
            <a:ext cx="10656570" cy="707886"/>
          </a:xfrm>
          <a:prstGeom prst="rect">
            <a:avLst/>
          </a:prstGeom>
          <a:noFill/>
        </p:spPr>
        <p:txBody>
          <a:bodyPr wrap="square">
            <a:spAutoFit/>
          </a:bodyPr>
          <a:lstStyle/>
          <a:p>
            <a:r>
              <a:rPr lang="en-US" sz="2000" noProof="1">
                <a:latin typeface="Arial" panose="020B0604020202020204" pitchFamily="34" charset="0"/>
                <a:cs typeface="Arial" panose="020B0604020202020204" pitchFamily="34" charset="0"/>
              </a:rPr>
              <a:t>"</a:t>
            </a:r>
            <a:r>
              <a:rPr lang="en-US" sz="2000" i="1" noProof="1">
                <a:latin typeface="Arial" panose="020B0604020202020204" pitchFamily="34" charset="0"/>
                <a:cs typeface="Arial" panose="020B0604020202020204" pitchFamily="34" charset="0"/>
              </a:rPr>
              <a:t>Setelah tahap pra-inisiasi selesai, proyek dapat masuk ke fase Inisiasi Proyek secara formal, dimulai dengan penyusunan Project Charter dan identifikasi pemangku kepentingan.</a:t>
            </a:r>
            <a:r>
              <a:rPr lang="en-US" sz="2000" noProof="1">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0410754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BFABC-B7FF-2344-D5CD-F80E6EF7D1FE}"/>
              </a:ext>
            </a:extLst>
          </p:cNvPr>
          <p:cNvSpPr>
            <a:spLocks noGrp="1"/>
          </p:cNvSpPr>
          <p:nvPr>
            <p:ph type="title"/>
          </p:nvPr>
        </p:nvSpPr>
        <p:spPr/>
        <p:txBody>
          <a:bodyPr/>
          <a:lstStyle/>
          <a:p>
            <a:pPr algn="ctr"/>
            <a:r>
              <a:rPr lang="en-US" noProof="1"/>
              <a:t>Pra-Inisiasi Proyek: Business Case (1)</a:t>
            </a:r>
          </a:p>
        </p:txBody>
      </p:sp>
      <p:sp>
        <p:nvSpPr>
          <p:cNvPr id="3" name="Content Placeholder 2">
            <a:extLst>
              <a:ext uri="{FF2B5EF4-FFF2-40B4-BE49-F238E27FC236}">
                <a16:creationId xmlns:a16="http://schemas.microsoft.com/office/drawing/2014/main" id="{82F09644-D83E-28D2-07F3-4A9680DD3744}"/>
              </a:ext>
            </a:extLst>
          </p:cNvPr>
          <p:cNvSpPr>
            <a:spLocks noGrp="1"/>
          </p:cNvSpPr>
          <p:nvPr>
            <p:ph idx="1"/>
          </p:nvPr>
        </p:nvSpPr>
        <p:spPr>
          <a:xfrm>
            <a:off x="838200" y="1574164"/>
            <a:ext cx="10515600" cy="5135245"/>
          </a:xfrm>
        </p:spPr>
        <p:txBody>
          <a:bodyPr>
            <a:noAutofit/>
          </a:bodyPr>
          <a:lstStyle/>
          <a:p>
            <a:pPr marL="0" indent="0">
              <a:lnSpc>
                <a:spcPct val="100000"/>
              </a:lnSpc>
              <a:buNone/>
            </a:pPr>
            <a:r>
              <a:rPr lang="en-US" sz="1800" b="1" noProof="1">
                <a:latin typeface="Arial" panose="020B0604020202020204" pitchFamily="34" charset="0"/>
                <a:cs typeface="Arial" panose="020B0604020202020204" pitchFamily="34" charset="0"/>
              </a:rPr>
              <a:t>Komponen Utama dalam Penyusunan Business Case pada Tahap Pra-Inisiasi</a:t>
            </a:r>
          </a:p>
          <a:p>
            <a:pPr marL="342900" indent="-342900">
              <a:lnSpc>
                <a:spcPct val="100000"/>
              </a:lnSpc>
              <a:buFont typeface="+mj-lt"/>
              <a:buAutoNum type="arabicPeriod"/>
            </a:pPr>
            <a:r>
              <a:rPr lang="en-US" sz="1800" noProof="1">
                <a:latin typeface="Arial" panose="020B0604020202020204" pitchFamily="34" charset="0"/>
                <a:cs typeface="Arial" panose="020B0604020202020204" pitchFamily="34" charset="0"/>
              </a:rPr>
              <a:t>Pendahuluan/Latar Belakang (Introduction/Background)</a:t>
            </a:r>
          </a:p>
          <a:p>
            <a:pPr marL="342900" indent="-342900">
              <a:lnSpc>
                <a:spcPct val="100000"/>
              </a:lnSpc>
              <a:buFont typeface="+mj-lt"/>
              <a:buAutoNum type="arabicPeriod"/>
            </a:pPr>
            <a:r>
              <a:rPr lang="en-US" sz="1800" noProof="1">
                <a:latin typeface="Arial" panose="020B0604020202020204" pitchFamily="34" charset="0"/>
                <a:cs typeface="Arial" panose="020B0604020202020204" pitchFamily="34" charset="0"/>
              </a:rPr>
              <a:t>Tujuan Bisnis (Business Objective)</a:t>
            </a:r>
          </a:p>
          <a:p>
            <a:pPr marL="342900" indent="-342900">
              <a:lnSpc>
                <a:spcPct val="100000"/>
              </a:lnSpc>
              <a:buFont typeface="+mj-lt"/>
              <a:buAutoNum type="arabicPeriod"/>
            </a:pPr>
            <a:r>
              <a:rPr lang="en-US" sz="1800" noProof="1">
                <a:latin typeface="Arial" panose="020B0604020202020204" pitchFamily="34" charset="0"/>
                <a:cs typeface="Arial" panose="020B0604020202020204" pitchFamily="34" charset="0"/>
              </a:rPr>
              <a:t>Situasi Saat Ini dan Pernyataan Masalah/Peluang (Current Situation and Problem/Opportunity Statement)</a:t>
            </a:r>
          </a:p>
          <a:p>
            <a:pPr marL="342900" indent="-342900">
              <a:lnSpc>
                <a:spcPct val="100000"/>
              </a:lnSpc>
              <a:buFont typeface="+mj-lt"/>
              <a:buAutoNum type="arabicPeriod"/>
            </a:pPr>
            <a:r>
              <a:rPr lang="en-US" sz="1800" noProof="1">
                <a:latin typeface="Arial" panose="020B0604020202020204" pitchFamily="34" charset="0"/>
                <a:cs typeface="Arial" panose="020B0604020202020204" pitchFamily="34" charset="0"/>
              </a:rPr>
              <a:t>Asumsi Kritis dan Kendala (Critical Assumption and Constraints)</a:t>
            </a:r>
          </a:p>
          <a:p>
            <a:pPr marL="342900" indent="-342900">
              <a:lnSpc>
                <a:spcPct val="100000"/>
              </a:lnSpc>
              <a:buFont typeface="+mj-lt"/>
              <a:buAutoNum type="arabicPeriod"/>
            </a:pPr>
            <a:r>
              <a:rPr lang="en-US" sz="1800" noProof="1">
                <a:latin typeface="Arial" panose="020B0604020202020204" pitchFamily="34" charset="0"/>
                <a:cs typeface="Arial" panose="020B0604020202020204" pitchFamily="34" charset="0"/>
              </a:rPr>
              <a:t>Analisis Opsi dan Rekomendasi (Analysis of Option and Recommendation)</a:t>
            </a:r>
          </a:p>
          <a:p>
            <a:pPr marL="342900" indent="-342900">
              <a:lnSpc>
                <a:spcPct val="100000"/>
              </a:lnSpc>
              <a:buFont typeface="+mj-lt"/>
              <a:buAutoNum type="arabicPeriod"/>
            </a:pPr>
            <a:r>
              <a:rPr lang="en-US" sz="1800" noProof="1">
                <a:latin typeface="Arial" panose="020B0604020202020204" pitchFamily="34" charset="0"/>
                <a:cs typeface="Arial" panose="020B0604020202020204" pitchFamily="34" charset="0"/>
              </a:rPr>
              <a:t>Kebutuhan Proyek Awal/Preliminary (Preliminary Project Requirements)</a:t>
            </a:r>
          </a:p>
          <a:p>
            <a:pPr marL="342900" indent="-342900">
              <a:lnSpc>
                <a:spcPct val="100000"/>
              </a:lnSpc>
              <a:buFont typeface="+mj-lt"/>
              <a:buAutoNum type="arabicPeriod"/>
            </a:pPr>
            <a:r>
              <a:rPr lang="en-US" sz="1800" noProof="1">
                <a:latin typeface="Arial" panose="020B0604020202020204" pitchFamily="34" charset="0"/>
                <a:cs typeface="Arial" panose="020B0604020202020204" pitchFamily="34" charset="0"/>
              </a:rPr>
              <a:t>Estimasi Anggaran dan Analisis Keuangan (Budget Estimate and Financial Analysis)</a:t>
            </a:r>
          </a:p>
          <a:p>
            <a:pPr marL="342900" indent="-342900">
              <a:lnSpc>
                <a:spcPct val="100000"/>
              </a:lnSpc>
              <a:buFont typeface="+mj-lt"/>
              <a:buAutoNum type="arabicPeriod"/>
            </a:pPr>
            <a:r>
              <a:rPr lang="en-US" sz="1800" noProof="1">
                <a:latin typeface="Arial" panose="020B0604020202020204" pitchFamily="34" charset="0"/>
                <a:cs typeface="Arial" panose="020B0604020202020204" pitchFamily="34" charset="0"/>
              </a:rPr>
              <a:t>Estimasi Jadwal (Schedule Estimate)</a:t>
            </a:r>
          </a:p>
          <a:p>
            <a:pPr marL="342900" indent="-342900">
              <a:lnSpc>
                <a:spcPct val="100000"/>
              </a:lnSpc>
              <a:buFont typeface="+mj-lt"/>
              <a:buAutoNum type="arabicPeriod"/>
            </a:pPr>
            <a:r>
              <a:rPr lang="en-US" sz="1800" noProof="1">
                <a:latin typeface="Arial" panose="020B0604020202020204" pitchFamily="34" charset="0"/>
                <a:cs typeface="Arial" panose="020B0604020202020204" pitchFamily="34" charset="0"/>
              </a:rPr>
              <a:t>Risiko Potensial (Potential Risks)</a:t>
            </a:r>
          </a:p>
          <a:p>
            <a:pPr marL="342900" indent="-342900">
              <a:lnSpc>
                <a:spcPct val="100000"/>
              </a:lnSpc>
              <a:buFont typeface="+mj-lt"/>
              <a:buAutoNum type="arabicPeriod"/>
            </a:pPr>
            <a:r>
              <a:rPr lang="en-US" sz="1800" noProof="1">
                <a:latin typeface="Arial" panose="020B0604020202020204" pitchFamily="34" charset="0"/>
                <a:cs typeface="Arial" panose="020B0604020202020204" pitchFamily="34" charset="0"/>
              </a:rPr>
              <a:t>Lampiran/Exhibits (Exhibits)</a:t>
            </a:r>
          </a:p>
          <a:p>
            <a:pPr marL="0" indent="0">
              <a:lnSpc>
                <a:spcPct val="100000"/>
              </a:lnSpc>
              <a:buNone/>
            </a:pPr>
            <a:r>
              <a:rPr lang="en-US" sz="1800" noProof="1">
                <a:latin typeface="Arial" panose="020B0604020202020204" pitchFamily="34" charset="0"/>
                <a:cs typeface="Arial" panose="020B0604020202020204" pitchFamily="34" charset="0"/>
              </a:rPr>
              <a:t>Catatan: hasil studi kelayakan (feasibility study) menjadi masukan bagi business case.</a:t>
            </a:r>
          </a:p>
          <a:p>
            <a:pPr marL="342900" indent="-342900">
              <a:lnSpc>
                <a:spcPct val="100000"/>
              </a:lnSpc>
              <a:buFont typeface="+mj-lt"/>
              <a:buAutoNum type="arabicPeriod"/>
            </a:pPr>
            <a:endParaRPr lang="en-US" sz="1800" noProof="1">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B0CC5CA2-3171-8882-DA02-0A494871195E}"/>
              </a:ext>
            </a:extLst>
          </p:cNvPr>
          <p:cNvSpPr txBox="1"/>
          <p:nvPr/>
        </p:nvSpPr>
        <p:spPr>
          <a:xfrm>
            <a:off x="6432233" y="5283836"/>
            <a:ext cx="5534977" cy="1015663"/>
          </a:xfrm>
          <a:prstGeom prst="rect">
            <a:avLst/>
          </a:prstGeom>
          <a:solidFill>
            <a:schemeClr val="accent4">
              <a:lumMod val="20000"/>
              <a:lumOff val="80000"/>
            </a:schemeClr>
          </a:solidFill>
          <a:ln>
            <a:solidFill>
              <a:schemeClr val="tx1"/>
            </a:solidFill>
            <a:prstDash val="dash"/>
          </a:ln>
        </p:spPr>
        <p:txBody>
          <a:bodyPr wrap="square">
            <a:spAutoFit/>
          </a:bodyPr>
          <a:lstStyle/>
          <a:p>
            <a:pPr algn="ctr"/>
            <a:r>
              <a:rPr lang="en-US" sz="2000" noProof="1"/>
              <a:t>"</a:t>
            </a:r>
            <a:r>
              <a:rPr lang="en-US" sz="2000" i="1" noProof="1"/>
              <a:t>Business Case yang kuat menjadi dasar pengambilan keputusan untuk melanjutkan ke tahap inisiasi proyek</a:t>
            </a:r>
            <a:r>
              <a:rPr lang="en-US" sz="2000" noProof="1"/>
              <a:t>"</a:t>
            </a:r>
          </a:p>
        </p:txBody>
      </p:sp>
    </p:spTree>
    <p:extLst>
      <p:ext uri="{BB962C8B-B14F-4D97-AF65-F5344CB8AC3E}">
        <p14:creationId xmlns:p14="http://schemas.microsoft.com/office/powerpoint/2010/main" val="11289941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7B15F-F26D-871D-17B5-B4ABF99C89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42180-93FF-9ADD-4E26-2693710CFCDC}"/>
              </a:ext>
            </a:extLst>
          </p:cNvPr>
          <p:cNvSpPr>
            <a:spLocks noGrp="1"/>
          </p:cNvSpPr>
          <p:nvPr>
            <p:ph type="title"/>
          </p:nvPr>
        </p:nvSpPr>
        <p:spPr/>
        <p:txBody>
          <a:bodyPr/>
          <a:lstStyle/>
          <a:p>
            <a:pPr algn="ctr"/>
            <a:r>
              <a:rPr lang="en-US" noProof="1"/>
              <a:t>Pra-Inisiasi Proyek: Business Case (2)</a:t>
            </a:r>
          </a:p>
        </p:txBody>
      </p:sp>
      <p:graphicFrame>
        <p:nvGraphicFramePr>
          <p:cNvPr id="4" name="Content Placeholder 3">
            <a:extLst>
              <a:ext uri="{FF2B5EF4-FFF2-40B4-BE49-F238E27FC236}">
                <a16:creationId xmlns:a16="http://schemas.microsoft.com/office/drawing/2014/main" id="{4920B02C-95A6-DA77-1BB7-0B21F45176A3}"/>
              </a:ext>
            </a:extLst>
          </p:cNvPr>
          <p:cNvGraphicFramePr>
            <a:graphicFrameLocks noGrp="1"/>
          </p:cNvGraphicFramePr>
          <p:nvPr>
            <p:ph idx="1"/>
            <p:extLst>
              <p:ext uri="{D42A27DB-BD31-4B8C-83A1-F6EECF244321}">
                <p14:modId xmlns:p14="http://schemas.microsoft.com/office/powerpoint/2010/main" val="1557219790"/>
              </p:ext>
            </p:extLst>
          </p:nvPr>
        </p:nvGraphicFramePr>
        <p:xfrm>
          <a:off x="320040" y="2205990"/>
          <a:ext cx="11658601" cy="4393131"/>
        </p:xfrm>
        <a:graphic>
          <a:graphicData uri="http://schemas.openxmlformats.org/drawingml/2006/table">
            <a:tbl>
              <a:tblPr/>
              <a:tblGrid>
                <a:gridCol w="4024172">
                  <a:extLst>
                    <a:ext uri="{9D8B030D-6E8A-4147-A177-3AD203B41FA5}">
                      <a16:colId xmlns:a16="http://schemas.microsoft.com/office/drawing/2014/main" val="1596350581"/>
                    </a:ext>
                  </a:extLst>
                </a:gridCol>
                <a:gridCol w="1953718">
                  <a:extLst>
                    <a:ext uri="{9D8B030D-6E8A-4147-A177-3AD203B41FA5}">
                      <a16:colId xmlns:a16="http://schemas.microsoft.com/office/drawing/2014/main" val="364912767"/>
                    </a:ext>
                  </a:extLst>
                </a:gridCol>
                <a:gridCol w="3622635">
                  <a:extLst>
                    <a:ext uri="{9D8B030D-6E8A-4147-A177-3AD203B41FA5}">
                      <a16:colId xmlns:a16="http://schemas.microsoft.com/office/drawing/2014/main" val="862886053"/>
                    </a:ext>
                  </a:extLst>
                </a:gridCol>
                <a:gridCol w="2058076">
                  <a:extLst>
                    <a:ext uri="{9D8B030D-6E8A-4147-A177-3AD203B41FA5}">
                      <a16:colId xmlns:a16="http://schemas.microsoft.com/office/drawing/2014/main" val="1778851610"/>
                    </a:ext>
                  </a:extLst>
                </a:gridCol>
              </a:tblGrid>
              <a:tr h="418670">
                <a:tc>
                  <a:txBody>
                    <a:bodyPr/>
                    <a:lstStyle/>
                    <a:p>
                      <a:pPr algn="ctr">
                        <a:buNone/>
                      </a:pPr>
                      <a:r>
                        <a:rPr lang="en-US" sz="1500" b="1" noProof="1">
                          <a:latin typeface="Arial" panose="020B0604020202020204" pitchFamily="34" charset="0"/>
                          <a:cs typeface="Arial" panose="020B0604020202020204" pitchFamily="34" charset="0"/>
                        </a:rPr>
                        <a:t>Aktivitas Pra-Inisiasi</a:t>
                      </a:r>
                      <a:endParaRPr lang="en-US" sz="1500" noProof="1">
                        <a:latin typeface="Arial" panose="020B0604020202020204" pitchFamily="34" charset="0"/>
                        <a:cs typeface="Arial" panose="020B0604020202020204" pitchFamily="34" charset="0"/>
                      </a:endParaRP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b="1" noProof="1">
                          <a:latin typeface="Arial" panose="020B0604020202020204" pitchFamily="34" charset="0"/>
                          <a:cs typeface="Arial" panose="020B0604020202020204" pitchFamily="34" charset="0"/>
                        </a:rPr>
                        <a:t>Termasuk dalam Business Case?</a:t>
                      </a:r>
                      <a:endParaRPr lang="en-US" sz="1500" noProof="1">
                        <a:latin typeface="Arial" panose="020B0604020202020204" pitchFamily="34" charset="0"/>
                        <a:cs typeface="Arial" panose="020B0604020202020204" pitchFamily="34" charset="0"/>
                      </a:endParaRP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b="1" noProof="1">
                          <a:latin typeface="Arial" panose="020B0604020202020204" pitchFamily="34" charset="0"/>
                          <a:cs typeface="Arial" panose="020B0604020202020204" pitchFamily="34" charset="0"/>
                        </a:rPr>
                        <a:t>Komponen Business Case Terkait</a:t>
                      </a:r>
                      <a:endParaRPr lang="en-US" sz="1500" noProof="1">
                        <a:latin typeface="Arial" panose="020B0604020202020204" pitchFamily="34" charset="0"/>
                        <a:cs typeface="Arial" panose="020B0604020202020204" pitchFamily="34" charset="0"/>
                      </a:endParaRP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b="1" noProof="1">
                          <a:latin typeface="Arial" panose="020B0604020202020204" pitchFamily="34" charset="0"/>
                          <a:cs typeface="Arial" panose="020B0604020202020204" pitchFamily="34" charset="0"/>
                        </a:rPr>
                        <a:t>Dokumen/Tempat Terdokumentasi</a:t>
                      </a:r>
                      <a:endParaRPr lang="en-US" sz="1500" noProof="1">
                        <a:latin typeface="Arial" panose="020B0604020202020204" pitchFamily="34" charset="0"/>
                        <a:cs typeface="Arial" panose="020B0604020202020204" pitchFamily="34" charset="0"/>
                      </a:endParaRP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7466087"/>
                  </a:ext>
                </a:extLst>
              </a:tr>
              <a:tr h="783908">
                <a:tc>
                  <a:txBody>
                    <a:bodyPr/>
                    <a:lstStyle/>
                    <a:p>
                      <a:pPr>
                        <a:buNone/>
                      </a:pPr>
                      <a:r>
                        <a:rPr lang="en-US" sz="1500" noProof="1">
                          <a:latin typeface="Arial" panose="020B0604020202020204" pitchFamily="34" charset="0"/>
                          <a:cs typeface="Arial" panose="020B0604020202020204" pitchFamily="34" charset="0"/>
                        </a:rPr>
                        <a:t>Menentukan batasan ruang lingkup (scope), waktu (time), dan biaya (cost) untuk proyek</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noProof="1">
                          <a:latin typeface="Arial" panose="020B0604020202020204" pitchFamily="34" charset="0"/>
                          <a:cs typeface="Arial" panose="020B0604020202020204" pitchFamily="34" charset="0"/>
                        </a:rPr>
                        <a:t>Ya</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 Preliminary Project Requirements</a:t>
                      </a:r>
                      <a:br>
                        <a:rPr lang="en-US" sz="1500" noProof="1">
                          <a:latin typeface="Arial" panose="020B0604020202020204" pitchFamily="34" charset="0"/>
                          <a:cs typeface="Arial" panose="020B0604020202020204" pitchFamily="34" charset="0"/>
                        </a:rPr>
                      </a:br>
                      <a:r>
                        <a:rPr lang="en-US" sz="1500" noProof="1">
                          <a:latin typeface="Arial" panose="020B0604020202020204" pitchFamily="34" charset="0"/>
                          <a:cs typeface="Arial" panose="020B0604020202020204" pitchFamily="34" charset="0"/>
                        </a:rPr>
                        <a:t>- Schedule Estimate</a:t>
                      </a:r>
                      <a:br>
                        <a:rPr lang="en-US" sz="1500" noProof="1">
                          <a:latin typeface="Arial" panose="020B0604020202020204" pitchFamily="34" charset="0"/>
                          <a:cs typeface="Arial" panose="020B0604020202020204" pitchFamily="34" charset="0"/>
                        </a:rPr>
                      </a:br>
                      <a:r>
                        <a:rPr lang="en-US" sz="1500" noProof="1">
                          <a:latin typeface="Arial" panose="020B0604020202020204" pitchFamily="34" charset="0"/>
                          <a:cs typeface="Arial" panose="020B0604020202020204" pitchFamily="34" charset="0"/>
                        </a:rPr>
                        <a:t>- Budget Estimate and Financial Analysis</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Business Case</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3878317"/>
                  </a:ext>
                </a:extLst>
              </a:tr>
              <a:tr h="548640">
                <a:tc>
                  <a:txBody>
                    <a:bodyPr/>
                    <a:lstStyle/>
                    <a:p>
                      <a:pPr>
                        <a:buNone/>
                      </a:pPr>
                      <a:r>
                        <a:rPr lang="en-US" sz="1500" noProof="1">
                          <a:latin typeface="Arial" panose="020B0604020202020204" pitchFamily="34" charset="0"/>
                          <a:cs typeface="Arial" panose="020B0604020202020204" pitchFamily="34" charset="0"/>
                        </a:rPr>
                        <a:t>Mengidentifikasi sponsor proyek (project sponsor)</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noProof="1">
                          <a:latin typeface="Arial" panose="020B0604020202020204" pitchFamily="34" charset="0"/>
                          <a:cs typeface="Arial" panose="020B0604020202020204" pitchFamily="34" charset="0"/>
                        </a:rPr>
                        <a:t>Terkadang</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 Introduction/Background (jika relevan)</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Catatan internal / Project Charter</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7069704"/>
                  </a:ext>
                </a:extLst>
              </a:tr>
              <a:tr h="484644">
                <a:tc>
                  <a:txBody>
                    <a:bodyPr/>
                    <a:lstStyle/>
                    <a:p>
                      <a:pPr>
                        <a:buNone/>
                      </a:pPr>
                      <a:r>
                        <a:rPr lang="en-US" sz="1500" noProof="1">
                          <a:latin typeface="Arial" panose="020B0604020202020204" pitchFamily="34" charset="0"/>
                          <a:cs typeface="Arial" panose="020B0604020202020204" pitchFamily="34" charset="0"/>
                        </a:rPr>
                        <a:t>Memilih manajer proyek (project manager)</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noProof="1">
                          <a:latin typeface="Arial" panose="020B0604020202020204" pitchFamily="34" charset="0"/>
                          <a:cs typeface="Arial" panose="020B0604020202020204" pitchFamily="34" charset="0"/>
                        </a:rPr>
                        <a:t>Tidak</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 Tidak termasuk</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Catatan internal / Project Charter</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6392044"/>
                  </a:ext>
                </a:extLst>
              </a:tr>
              <a:tr h="484644">
                <a:tc>
                  <a:txBody>
                    <a:bodyPr/>
                    <a:lstStyle/>
                    <a:p>
                      <a:pPr>
                        <a:buNone/>
                      </a:pPr>
                      <a:r>
                        <a:rPr lang="en-US" sz="1500" noProof="1">
                          <a:latin typeface="Arial" panose="020B0604020202020204" pitchFamily="34" charset="0"/>
                          <a:cs typeface="Arial" panose="020B0604020202020204" pitchFamily="34" charset="0"/>
                        </a:rPr>
                        <a:t>Menyusun business case untuk proyek</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noProof="1">
                          <a:latin typeface="Arial" panose="020B0604020202020204" pitchFamily="34" charset="0"/>
                          <a:cs typeface="Arial" panose="020B0604020202020204" pitchFamily="34" charset="0"/>
                        </a:rPr>
                        <a:t>Ya</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 Seluruh komponen business case (1–10)</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Business Case</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8386596"/>
                  </a:ext>
                </a:extLst>
              </a:tr>
              <a:tr h="691425">
                <a:tc>
                  <a:txBody>
                    <a:bodyPr/>
                    <a:lstStyle/>
                    <a:p>
                      <a:pPr>
                        <a:buNone/>
                      </a:pPr>
                      <a:r>
                        <a:rPr lang="en-US" sz="1500" noProof="1">
                          <a:latin typeface="Arial" panose="020B0604020202020204" pitchFamily="34" charset="0"/>
                          <a:cs typeface="Arial" panose="020B0604020202020204" pitchFamily="34" charset="0"/>
                        </a:rPr>
                        <a:t>Bertemu dengan manajer proyek untuk meninjau proses dan ekspektasi</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noProof="1">
                          <a:latin typeface="Arial" panose="020B0604020202020204" pitchFamily="34" charset="0"/>
                          <a:cs typeface="Arial" panose="020B0604020202020204" pitchFamily="34" charset="0"/>
                        </a:rPr>
                        <a:t>Tidak langsung</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 Tidak termasuk</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Notulen rapat / komunikasi internal</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3577779"/>
                  </a:ext>
                </a:extLst>
              </a:tr>
              <a:tr h="777532">
                <a:tc>
                  <a:txBody>
                    <a:bodyPr/>
                    <a:lstStyle/>
                    <a:p>
                      <a:pPr>
                        <a:buNone/>
                      </a:pPr>
                      <a:r>
                        <a:rPr lang="en-US" sz="1500" noProof="1">
                          <a:latin typeface="Arial" panose="020B0604020202020204" pitchFamily="34" charset="0"/>
                          <a:cs typeface="Arial" panose="020B0604020202020204" pitchFamily="34" charset="0"/>
                        </a:rPr>
                        <a:t>Menentukan apakah proyek sebaiknya dibagi menjadi dua atau lebih proyek yang lebih kecil</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500" noProof="1">
                          <a:latin typeface="Arial" panose="020B0604020202020204" pitchFamily="34" charset="0"/>
                          <a:cs typeface="Arial" panose="020B0604020202020204" pitchFamily="34" charset="0"/>
                        </a:rPr>
                        <a:t>Terkait</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 Analysis of Option and Recommendation</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Business Case</a:t>
                      </a:r>
                    </a:p>
                  </a:txBody>
                  <a:tcPr marL="73342" marR="73342" marT="36671" marB="3667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0610551"/>
                  </a:ext>
                </a:extLst>
              </a:tr>
            </a:tbl>
          </a:graphicData>
        </a:graphic>
      </p:graphicFrame>
      <p:sp>
        <p:nvSpPr>
          <p:cNvPr id="6" name="Rectangle 1">
            <a:extLst>
              <a:ext uri="{FF2B5EF4-FFF2-40B4-BE49-F238E27FC236}">
                <a16:creationId xmlns:a16="http://schemas.microsoft.com/office/drawing/2014/main" id="{DEC5CD22-8819-4AA4-B747-CB5C5FBAD526}"/>
              </a:ext>
            </a:extLst>
          </p:cNvPr>
          <p:cNvSpPr>
            <a:spLocks noChangeArrowheads="1"/>
          </p:cNvSpPr>
          <p:nvPr/>
        </p:nvSpPr>
        <p:spPr bwMode="auto">
          <a:xfrm>
            <a:off x="697230" y="1596123"/>
            <a:ext cx="1105281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noProof="1">
                <a:ln>
                  <a:noFill/>
                </a:ln>
                <a:solidFill>
                  <a:schemeClr val="tx1"/>
                </a:solidFill>
                <a:effectLst/>
                <a:latin typeface="Arial" panose="020B0604020202020204" pitchFamily="34" charset="0"/>
              </a:rPr>
              <a:t>Tabel Gabungan: Aktivitas Pra-Inisiasi, Keterkaitan dengan Business Case, dan Dokumentasinya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noProof="1">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255742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03612F-6CE6-DA49-32F3-F295024AAFAF}"/>
              </a:ext>
            </a:extLst>
          </p:cNvPr>
          <p:cNvSpPr>
            <a:spLocks noGrp="1"/>
          </p:cNvSpPr>
          <p:nvPr>
            <p:ph idx="1"/>
          </p:nvPr>
        </p:nvSpPr>
        <p:spPr>
          <a:xfrm>
            <a:off x="838200" y="240030"/>
            <a:ext cx="10515600" cy="6366510"/>
          </a:xfrm>
        </p:spPr>
        <p:txBody>
          <a:bodyPr>
            <a:noAutofit/>
          </a:bodyPr>
          <a:lstStyle/>
          <a:p>
            <a:pPr marL="0" indent="0">
              <a:lnSpc>
                <a:spcPct val="100000"/>
              </a:lnSpc>
              <a:buNone/>
            </a:pPr>
            <a:r>
              <a:rPr lang="en-US" sz="2000" b="1" noProof="1">
                <a:latin typeface="Arial" panose="020B0604020202020204" pitchFamily="34" charset="0"/>
                <a:cs typeface="Arial" panose="020B0604020202020204" pitchFamily="34" charset="0"/>
              </a:rPr>
              <a:t>CONTOH DOKUMEN: BUSINESS CASE JWD CONSULTING</a:t>
            </a:r>
            <a:endParaRPr lang="en-US" sz="2000" noProof="1">
              <a:latin typeface="Arial" panose="020B0604020202020204" pitchFamily="34" charset="0"/>
              <a:cs typeface="Arial" panose="020B0604020202020204" pitchFamily="34" charset="0"/>
            </a:endParaRPr>
          </a:p>
          <a:p>
            <a:pPr algn="just">
              <a:lnSpc>
                <a:spcPct val="100000"/>
              </a:lnSpc>
            </a:pPr>
            <a:r>
              <a:rPr lang="en-US" sz="1800" b="1" noProof="1">
                <a:highlight>
                  <a:srgbClr val="FFFF00"/>
                </a:highlight>
                <a:latin typeface="Arial" panose="020B0604020202020204" pitchFamily="34" charset="0"/>
                <a:cs typeface="Arial" panose="020B0604020202020204" pitchFamily="34" charset="0"/>
              </a:rPr>
              <a:t>1.0 Introduction/Background</a:t>
            </a:r>
          </a:p>
          <a:p>
            <a:pPr marL="263525" indent="0" algn="just">
              <a:lnSpc>
                <a:spcPct val="100000"/>
              </a:lnSpc>
              <a:buNone/>
            </a:pPr>
            <a:r>
              <a:rPr lang="en-US" sz="1800" noProof="1">
                <a:latin typeface="Arial" panose="020B0604020202020204" pitchFamily="34" charset="0"/>
                <a:cs typeface="Arial" panose="020B0604020202020204" pitchFamily="34" charset="0"/>
              </a:rPr>
              <a:t>Tujuan bisnis inti JWD Consulting adalah menyediakan layanan </a:t>
            </a:r>
            <a:r>
              <a:rPr lang="en-US" sz="1800" b="1" noProof="1">
                <a:latin typeface="Arial" panose="020B0604020202020204" pitchFamily="34" charset="0"/>
                <a:cs typeface="Arial" panose="020B0604020202020204" pitchFamily="34" charset="0"/>
              </a:rPr>
              <a:t>konsultansi manajemen proyek</a:t>
            </a:r>
            <a:r>
              <a:rPr lang="en-US" sz="1800" noProof="1">
                <a:latin typeface="Arial" panose="020B0604020202020204" pitchFamily="34" charset="0"/>
                <a:cs typeface="Arial" panose="020B0604020202020204" pitchFamily="34" charset="0"/>
              </a:rPr>
              <a:t> berkelas dunia untuk berbagai organisasi. </a:t>
            </a:r>
            <a:r>
              <a:rPr lang="en-US" sz="1800" b="1" noProof="1">
                <a:latin typeface="Arial" panose="020B0604020202020204" pitchFamily="34" charset="0"/>
                <a:cs typeface="Arial" panose="020B0604020202020204" pitchFamily="34" charset="0"/>
              </a:rPr>
              <a:t>CEO</a:t>
            </a:r>
            <a:r>
              <a:rPr lang="en-US" sz="1800" noProof="1">
                <a:latin typeface="Arial" panose="020B0604020202020204" pitchFamily="34" charset="0"/>
                <a:cs typeface="Arial" panose="020B0604020202020204" pitchFamily="34" charset="0"/>
              </a:rPr>
              <a:t>, Joe Fleming, meyakini perusahaan dapat </a:t>
            </a:r>
            <a:r>
              <a:rPr lang="en-US" sz="1800" b="1" noProof="1">
                <a:latin typeface="Arial" panose="020B0604020202020204" pitchFamily="34" charset="0"/>
                <a:cs typeface="Arial" panose="020B0604020202020204" pitchFamily="34" charset="0"/>
              </a:rPr>
              <a:t>mengefisienkan operasi</a:t>
            </a:r>
            <a:r>
              <a:rPr lang="en-US" sz="1800" noProof="1">
                <a:latin typeface="Arial" panose="020B0604020202020204" pitchFamily="34" charset="0"/>
                <a:cs typeface="Arial" panose="020B0604020202020204" pitchFamily="34" charset="0"/>
              </a:rPr>
              <a:t> dan </a:t>
            </a:r>
            <a:r>
              <a:rPr lang="en-US" sz="1800" b="1" noProof="1">
                <a:latin typeface="Arial" panose="020B0604020202020204" pitchFamily="34" charset="0"/>
                <a:cs typeface="Arial" panose="020B0604020202020204" pitchFamily="34" charset="0"/>
              </a:rPr>
              <a:t>meningkatkan bisnis</a:t>
            </a:r>
            <a:r>
              <a:rPr lang="en-US" sz="1800" noProof="1">
                <a:latin typeface="Arial" panose="020B0604020202020204" pitchFamily="34" charset="0"/>
                <a:cs typeface="Arial" panose="020B0604020202020204" pitchFamily="34" charset="0"/>
              </a:rPr>
              <a:t> dengan menyediakan informasi terkait </a:t>
            </a:r>
            <a:r>
              <a:rPr lang="en-US" sz="1800" b="1" noProof="1">
                <a:latin typeface="Arial" panose="020B0604020202020204" pitchFamily="34" charset="0"/>
                <a:cs typeface="Arial" panose="020B0604020202020204" pitchFamily="34" charset="0"/>
              </a:rPr>
              <a:t>project management</a:t>
            </a:r>
            <a:r>
              <a:rPr lang="en-US" sz="1800" noProof="1">
                <a:latin typeface="Arial" panose="020B0604020202020204" pitchFamily="34" charset="0"/>
                <a:cs typeface="Arial" panose="020B0604020202020204" pitchFamily="34" charset="0"/>
              </a:rPr>
              <a:t> pada </a:t>
            </a:r>
            <a:r>
              <a:rPr lang="en-US" sz="1800" b="1" noProof="1">
                <a:latin typeface="Arial" panose="020B0604020202020204" pitchFamily="34" charset="0"/>
                <a:cs typeface="Arial" panose="020B0604020202020204" pitchFamily="34" charset="0"/>
              </a:rPr>
              <a:t>situs intranet</a:t>
            </a:r>
            <a:r>
              <a:rPr lang="en-US" sz="1800" noProof="1">
                <a:latin typeface="Arial" panose="020B0604020202020204" pitchFamily="34" charset="0"/>
                <a:cs typeface="Arial" panose="020B0604020202020204" pitchFamily="34" charset="0"/>
              </a:rPr>
              <a:t> perusahaan, sehingga sebagian informasi dan layanan dapat diakses oleh klien saat ini maupun calon klien.</a:t>
            </a:r>
          </a:p>
          <a:p>
            <a:pPr algn="just">
              <a:lnSpc>
                <a:spcPct val="100000"/>
              </a:lnSpc>
            </a:pPr>
            <a:r>
              <a:rPr lang="en-US" sz="1800" b="1" noProof="1">
                <a:highlight>
                  <a:srgbClr val="FFFF00"/>
                </a:highlight>
                <a:latin typeface="Arial" panose="020B0604020202020204" pitchFamily="34" charset="0"/>
                <a:cs typeface="Arial" panose="020B0604020202020204" pitchFamily="34" charset="0"/>
              </a:rPr>
              <a:t>2.0 Business Objective</a:t>
            </a:r>
          </a:p>
          <a:p>
            <a:pPr marL="263525" indent="0" algn="just">
              <a:lnSpc>
                <a:spcPct val="100000"/>
              </a:lnSpc>
              <a:buNone/>
            </a:pPr>
            <a:r>
              <a:rPr lang="en-US" sz="1800" noProof="1">
                <a:latin typeface="Arial" panose="020B0604020202020204" pitchFamily="34" charset="0"/>
                <a:cs typeface="Arial" panose="020B0604020202020204" pitchFamily="34" charset="0"/>
              </a:rPr>
              <a:t>Tujuan strategis JWD Consulting mencakup </a:t>
            </a:r>
            <a:r>
              <a:rPr lang="en-US" sz="1800" b="1" noProof="1">
                <a:latin typeface="Arial" panose="020B0604020202020204" pitchFamily="34" charset="0"/>
                <a:cs typeface="Arial" panose="020B0604020202020204" pitchFamily="34" charset="0"/>
              </a:rPr>
              <a:t>pertumbuhan berkelanjutan</a:t>
            </a:r>
            <a:r>
              <a:rPr lang="en-US" sz="1800" noProof="1">
                <a:latin typeface="Arial" panose="020B0604020202020204" pitchFamily="34" charset="0"/>
                <a:cs typeface="Arial" panose="020B0604020202020204" pitchFamily="34" charset="0"/>
              </a:rPr>
              <a:t> dan </a:t>
            </a:r>
            <a:r>
              <a:rPr lang="en-US" sz="1800" b="1" noProof="1">
                <a:latin typeface="Arial" panose="020B0604020202020204" pitchFamily="34" charset="0"/>
                <a:cs typeface="Arial" panose="020B0604020202020204" pitchFamily="34" charset="0"/>
              </a:rPr>
              <a:t>profitabilitas</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Project Management Intranet Site Project</a:t>
            </a:r>
            <a:r>
              <a:rPr lang="en-US" sz="1800" noProof="1">
                <a:latin typeface="Arial" panose="020B0604020202020204" pitchFamily="34" charset="0"/>
                <a:cs typeface="Arial" panose="020B0604020202020204" pitchFamily="34" charset="0"/>
              </a:rPr>
              <a:t> akan mendukung tujuan tersebut dengan </a:t>
            </a:r>
            <a:r>
              <a:rPr lang="en-US" sz="1800" b="1" noProof="1">
                <a:latin typeface="Arial" panose="020B0604020202020204" pitchFamily="34" charset="0"/>
                <a:cs typeface="Arial" panose="020B0604020202020204" pitchFamily="34" charset="0"/>
              </a:rPr>
              <a:t>meningkatkan visibilitas</a:t>
            </a:r>
            <a:r>
              <a:rPr lang="en-US" sz="1800" noProof="1">
                <a:latin typeface="Arial" panose="020B0604020202020204" pitchFamily="34" charset="0"/>
                <a:cs typeface="Arial" panose="020B0604020202020204" pitchFamily="34" charset="0"/>
              </a:rPr>
              <a:t> keahlian perusahaan kepada klien saat ini dan calon klien melalui pemberian akses klien dan publik ke beberapa bagian intranet. Proyek ini juga akan </a:t>
            </a:r>
            <a:r>
              <a:rPr lang="en-US" sz="1800" b="1" noProof="1">
                <a:latin typeface="Arial" panose="020B0604020202020204" pitchFamily="34" charset="0"/>
                <a:cs typeface="Arial" panose="020B0604020202020204" pitchFamily="34" charset="0"/>
              </a:rPr>
              <a:t>meningkatkan profitabilitas</a:t>
            </a:r>
            <a:r>
              <a:rPr lang="en-US" sz="1800" noProof="1">
                <a:latin typeface="Arial" panose="020B0604020202020204" pitchFamily="34" charset="0"/>
                <a:cs typeface="Arial" panose="020B0604020202020204" pitchFamily="34" charset="0"/>
              </a:rPr>
              <a:t> dengan </a:t>
            </a:r>
            <a:r>
              <a:rPr lang="en-US" sz="1800" b="1" noProof="1">
                <a:latin typeface="Arial" panose="020B0604020202020204" pitchFamily="34" charset="0"/>
                <a:cs typeface="Arial" panose="020B0604020202020204" pitchFamily="34" charset="0"/>
              </a:rPr>
              <a:t>mengurangi biaya internal</a:t>
            </a:r>
            <a:r>
              <a:rPr lang="en-US" sz="1800" noProof="1">
                <a:latin typeface="Arial" panose="020B0604020202020204" pitchFamily="34" charset="0"/>
                <a:cs typeface="Arial" panose="020B0604020202020204" pitchFamily="34" charset="0"/>
              </a:rPr>
              <a:t> melalui penyediaan </a:t>
            </a:r>
            <a:r>
              <a:rPr lang="en-US" sz="1800" b="1" noProof="1">
                <a:latin typeface="Arial" panose="020B0604020202020204" pitchFamily="34" charset="0"/>
                <a:cs typeface="Arial" panose="020B0604020202020204" pitchFamily="34" charset="0"/>
              </a:rPr>
              <a:t>tools</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techniques</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templates</a:t>
            </a:r>
            <a:r>
              <a:rPr lang="en-US" sz="1800" noProof="1">
                <a:latin typeface="Arial" panose="020B0604020202020204" pitchFamily="34" charset="0"/>
                <a:cs typeface="Arial" panose="020B0604020202020204" pitchFamily="34" charset="0"/>
              </a:rPr>
              <a:t>, dan </a:t>
            </a:r>
            <a:r>
              <a:rPr lang="en-US" sz="1800" b="1" noProof="1">
                <a:latin typeface="Arial" panose="020B0604020202020204" pitchFamily="34" charset="0"/>
                <a:cs typeface="Arial" panose="020B0604020202020204" pitchFamily="34" charset="0"/>
              </a:rPr>
              <a:t>pengetahuan manajemen proyek</a:t>
            </a:r>
            <a:r>
              <a:rPr lang="en-US" sz="1800" noProof="1">
                <a:latin typeface="Arial" panose="020B0604020202020204" pitchFamily="34" charset="0"/>
                <a:cs typeface="Arial" panose="020B0604020202020204" pitchFamily="34" charset="0"/>
              </a:rPr>
              <a:t> standar bagi seluruh konsultan internal. Karena JWD Consulting berfokus pada </a:t>
            </a:r>
            <a:r>
              <a:rPr lang="en-US" sz="1800" b="1" noProof="1">
                <a:latin typeface="Arial" panose="020B0604020202020204" pitchFamily="34" charset="0"/>
                <a:cs typeface="Arial" panose="020B0604020202020204" pitchFamily="34" charset="0"/>
              </a:rPr>
              <a:t>identifikasi proyek yang menguntungkan</a:t>
            </a:r>
            <a:r>
              <a:rPr lang="en-US" sz="1800" noProof="1">
                <a:latin typeface="Arial" panose="020B0604020202020204" pitchFamily="34" charset="0"/>
                <a:cs typeface="Arial" panose="020B0604020202020204" pitchFamily="34" charset="0"/>
              </a:rPr>
              <a:t> dan </a:t>
            </a:r>
            <a:r>
              <a:rPr lang="en-US" sz="1800" b="1" noProof="1">
                <a:latin typeface="Arial" panose="020B0604020202020204" pitchFamily="34" charset="0"/>
                <a:cs typeface="Arial" panose="020B0604020202020204" pitchFamily="34" charset="0"/>
              </a:rPr>
              <a:t>pengukuran nilainya setelah selesai</a:t>
            </a:r>
            <a:r>
              <a:rPr lang="en-US" sz="1800" noProof="1">
                <a:latin typeface="Arial" panose="020B0604020202020204" pitchFamily="34" charset="0"/>
                <a:cs typeface="Arial" panose="020B0604020202020204" pitchFamily="34" charset="0"/>
              </a:rPr>
              <a:t>, proyek ini harus memenuhi kriteria tersebut.</a:t>
            </a:r>
          </a:p>
          <a:p>
            <a:pPr marL="0" indent="0">
              <a:lnSpc>
                <a:spcPct val="100000"/>
              </a:lnSpc>
              <a:buNone/>
            </a:pPr>
            <a:endParaRPr lang="en-US" sz="1800" noProof="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942452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3C76A-EDE1-91F4-5912-D107F14775C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DABCFB-3E60-5B96-9E75-CF44C6EE51A1}"/>
              </a:ext>
            </a:extLst>
          </p:cNvPr>
          <p:cNvSpPr>
            <a:spLocks noGrp="1"/>
          </p:cNvSpPr>
          <p:nvPr>
            <p:ph idx="1"/>
          </p:nvPr>
        </p:nvSpPr>
        <p:spPr>
          <a:xfrm>
            <a:off x="838200" y="365760"/>
            <a:ext cx="10515600" cy="6126480"/>
          </a:xfrm>
        </p:spPr>
        <p:txBody>
          <a:bodyPr>
            <a:normAutofit/>
          </a:bodyPr>
          <a:lstStyle/>
          <a:p>
            <a:pPr algn="just">
              <a:lnSpc>
                <a:spcPct val="100000"/>
              </a:lnSpc>
            </a:pPr>
            <a:r>
              <a:rPr lang="en-US" sz="1800" b="1" noProof="1">
                <a:highlight>
                  <a:srgbClr val="FFFF00"/>
                </a:highlight>
                <a:latin typeface="Arial" panose="020B0604020202020204" pitchFamily="34" charset="0"/>
                <a:cs typeface="Arial" panose="020B0604020202020204" pitchFamily="34" charset="0"/>
              </a:rPr>
              <a:t>3.0 Current Situation and Problem/Opportunity Statement</a:t>
            </a:r>
          </a:p>
          <a:p>
            <a:pPr marL="182563" indent="0" algn="just">
              <a:lnSpc>
                <a:spcPct val="100000"/>
              </a:lnSpc>
              <a:buNone/>
            </a:pPr>
            <a:r>
              <a:rPr lang="en-US" sz="1800" noProof="1">
                <a:latin typeface="Arial" panose="020B0604020202020204" pitchFamily="34" charset="0"/>
                <a:cs typeface="Arial" panose="020B0604020202020204" pitchFamily="34" charset="0"/>
              </a:rPr>
              <a:t>JWD Consulting memiliki </a:t>
            </a:r>
            <a:r>
              <a:rPr lang="en-US" sz="1800" b="1" noProof="1">
                <a:latin typeface="Arial" panose="020B0604020202020204" pitchFamily="34" charset="0"/>
                <a:cs typeface="Arial" panose="020B0604020202020204" pitchFamily="34" charset="0"/>
              </a:rPr>
              <a:t>situs web korporat</a:t>
            </a:r>
            <a:r>
              <a:rPr lang="en-US" sz="1800" noProof="1">
                <a:latin typeface="Arial" panose="020B0604020202020204" pitchFamily="34" charset="0"/>
                <a:cs typeface="Arial" panose="020B0604020202020204" pitchFamily="34" charset="0"/>
              </a:rPr>
              <a:t> sekaligus </a:t>
            </a:r>
            <a:r>
              <a:rPr lang="en-US" sz="1800" b="1" noProof="1">
                <a:latin typeface="Arial" panose="020B0604020202020204" pitchFamily="34" charset="0"/>
                <a:cs typeface="Arial" panose="020B0604020202020204" pitchFamily="34" charset="0"/>
              </a:rPr>
              <a:t>intranet</a:t>
            </a:r>
            <a:r>
              <a:rPr lang="en-US" sz="1800" noProof="1">
                <a:latin typeface="Arial" panose="020B0604020202020204" pitchFamily="34" charset="0"/>
                <a:cs typeface="Arial" panose="020B0604020202020204" pitchFamily="34" charset="0"/>
              </a:rPr>
              <a:t>. Saat ini, situs web digunakan untuk </a:t>
            </a:r>
            <a:r>
              <a:rPr lang="en-US" sz="1800" b="1" noProof="1">
                <a:latin typeface="Arial" panose="020B0604020202020204" pitchFamily="34" charset="0"/>
                <a:cs typeface="Arial" panose="020B0604020202020204" pitchFamily="34" charset="0"/>
              </a:rPr>
              <a:t>informasi pemasaran</a:t>
            </a:r>
            <a:r>
              <a:rPr lang="en-US" sz="1800" noProof="1">
                <a:latin typeface="Arial" panose="020B0604020202020204" pitchFamily="34" charset="0"/>
                <a:cs typeface="Arial" panose="020B0604020202020204" pitchFamily="34" charset="0"/>
              </a:rPr>
              <a:t>. Penggunaan utama intranet adalah untuk </a:t>
            </a:r>
            <a:r>
              <a:rPr lang="en-US" sz="1800" b="1" noProof="1">
                <a:latin typeface="Arial" panose="020B0604020202020204" pitchFamily="34" charset="0"/>
                <a:cs typeface="Arial" panose="020B0604020202020204" pitchFamily="34" charset="0"/>
              </a:rPr>
              <a:t>informasi sumber daya manusia (HR)</a:t>
            </a:r>
            <a:r>
              <a:rPr lang="en-US" sz="1800" noProof="1">
                <a:latin typeface="Arial" panose="020B0604020202020204" pitchFamily="34" charset="0"/>
                <a:cs typeface="Arial" panose="020B0604020202020204" pitchFamily="34" charset="0"/>
              </a:rPr>
              <a:t>, seperti tempat konsultan </a:t>
            </a:r>
            <a:r>
              <a:rPr lang="en-US" sz="1800" b="1" noProof="1">
                <a:latin typeface="Arial" panose="020B0604020202020204" pitchFamily="34" charset="0"/>
                <a:cs typeface="Arial" panose="020B0604020202020204" pitchFamily="34" charset="0"/>
              </a:rPr>
              <a:t>mencatat jam kerja</a:t>
            </a:r>
            <a:r>
              <a:rPr lang="en-US" sz="1800" noProof="1">
                <a:latin typeface="Arial" panose="020B0604020202020204" pitchFamily="34" charset="0"/>
                <a:cs typeface="Arial" panose="020B0604020202020204" pitchFamily="34" charset="0"/>
              </a:rPr>
              <a:t> pada berbagai proyek, </a:t>
            </a:r>
            <a:r>
              <a:rPr lang="en-US" sz="1800" b="1" noProof="1">
                <a:latin typeface="Arial" panose="020B0604020202020204" pitchFamily="34" charset="0"/>
                <a:cs typeface="Arial" panose="020B0604020202020204" pitchFamily="34" charset="0"/>
              </a:rPr>
              <a:t>mengubah dan melihat informasi benefit</a:t>
            </a:r>
            <a:r>
              <a:rPr lang="en-US" sz="1800" noProof="1">
                <a:latin typeface="Arial" panose="020B0604020202020204" pitchFamily="34" charset="0"/>
                <a:cs typeface="Arial" panose="020B0604020202020204" pitchFamily="34" charset="0"/>
              </a:rPr>
              <a:t>, mengakses </a:t>
            </a:r>
            <a:r>
              <a:rPr lang="en-US" sz="1800" b="1" noProof="1">
                <a:latin typeface="Arial" panose="020B0604020202020204" pitchFamily="34" charset="0"/>
                <a:cs typeface="Arial" panose="020B0604020202020204" pitchFamily="34" charset="0"/>
              </a:rPr>
              <a:t>direktori online</a:t>
            </a:r>
            <a:r>
              <a:rPr lang="en-US" sz="1800" noProof="1">
                <a:latin typeface="Arial" panose="020B0604020202020204" pitchFamily="34" charset="0"/>
                <a:cs typeface="Arial" panose="020B0604020202020204" pitchFamily="34" charset="0"/>
              </a:rPr>
              <a:t> dan </a:t>
            </a:r>
            <a:r>
              <a:rPr lang="en-US" sz="1800" b="1" noProof="1">
                <a:latin typeface="Arial" panose="020B0604020202020204" pitchFamily="34" charset="0"/>
                <a:cs typeface="Arial" panose="020B0604020202020204" pitchFamily="34" charset="0"/>
              </a:rPr>
              <a:t>sistem e-mail berbasis web</a:t>
            </a:r>
            <a:r>
              <a:rPr lang="en-US" sz="1800" noProof="1">
                <a:latin typeface="Arial" panose="020B0604020202020204" pitchFamily="34" charset="0"/>
                <a:cs typeface="Arial" panose="020B0604020202020204" pitchFamily="34" charset="0"/>
              </a:rPr>
              <a:t>, dan sebagainya. Perusahaan juga menggunakan </a:t>
            </a:r>
            <a:r>
              <a:rPr lang="en-US" sz="1800" b="1" noProof="1">
                <a:latin typeface="Arial" panose="020B0604020202020204" pitchFamily="34" charset="0"/>
                <a:cs typeface="Arial" panose="020B0604020202020204" pitchFamily="34" charset="0"/>
              </a:rPr>
              <a:t>enterprise-wide project management system</a:t>
            </a:r>
            <a:r>
              <a:rPr lang="en-US" sz="1800" noProof="1">
                <a:latin typeface="Arial" panose="020B0604020202020204" pitchFamily="34" charset="0"/>
                <a:cs typeface="Arial" panose="020B0604020202020204" pitchFamily="34" charset="0"/>
              </a:rPr>
              <a:t> untuk </a:t>
            </a:r>
            <a:r>
              <a:rPr lang="en-US" sz="1800" b="1" noProof="1">
                <a:latin typeface="Arial" panose="020B0604020202020204" pitchFamily="34" charset="0"/>
                <a:cs typeface="Arial" panose="020B0604020202020204" pitchFamily="34" charset="0"/>
              </a:rPr>
              <a:t>melacak seluruh informasi proyek</a:t>
            </a:r>
            <a:r>
              <a:rPr lang="en-US" sz="1800" noProof="1">
                <a:latin typeface="Arial" panose="020B0604020202020204" pitchFamily="34" charset="0"/>
                <a:cs typeface="Arial" panose="020B0604020202020204" pitchFamily="34" charset="0"/>
              </a:rPr>
              <a:t>, dengan fokus pada pelacakan </a:t>
            </a:r>
            <a:r>
              <a:rPr lang="en-US" sz="1800" b="1" noProof="1">
                <a:latin typeface="Arial" panose="020B0604020202020204" pitchFamily="34" charset="0"/>
                <a:cs typeface="Arial" panose="020B0604020202020204" pitchFamily="34" charset="0"/>
              </a:rPr>
              <a:t>deliverables (hasil kerja/produk kerja)</a:t>
            </a:r>
            <a:r>
              <a:rPr lang="en-US" sz="1800" noProof="1">
                <a:latin typeface="Arial" panose="020B0604020202020204" pitchFamily="34" charset="0"/>
                <a:cs typeface="Arial" panose="020B0604020202020204" pitchFamily="34" charset="0"/>
              </a:rPr>
              <a:t> serta pencapaian </a:t>
            </a:r>
            <a:r>
              <a:rPr lang="en-US" sz="1800" b="1" noProof="1">
                <a:latin typeface="Arial" panose="020B0604020202020204" pitchFamily="34" charset="0"/>
                <a:cs typeface="Arial" panose="020B0604020202020204" pitchFamily="34" charset="0"/>
              </a:rPr>
              <a:t>tujuan scope, time,</a:t>
            </a:r>
            <a:r>
              <a:rPr lang="en-US" sz="1800" noProof="1">
                <a:latin typeface="Arial" panose="020B0604020202020204" pitchFamily="34" charset="0"/>
                <a:cs typeface="Arial" panose="020B0604020202020204" pitchFamily="34" charset="0"/>
              </a:rPr>
              <a:t> dan </a:t>
            </a:r>
            <a:r>
              <a:rPr lang="en-US" sz="1800" b="1" noProof="1">
                <a:latin typeface="Arial" panose="020B0604020202020204" pitchFamily="34" charset="0"/>
                <a:cs typeface="Arial" panose="020B0604020202020204" pitchFamily="34" charset="0"/>
              </a:rPr>
              <a:t>cost</a:t>
            </a:r>
            <a:r>
              <a:rPr lang="en-US" sz="1800" noProof="1">
                <a:latin typeface="Arial" panose="020B0604020202020204" pitchFamily="34" charset="0"/>
                <a:cs typeface="Arial" panose="020B0604020202020204" pitchFamily="34" charset="0"/>
              </a:rPr>
              <a:t>. Ada peluang untuk membuat </a:t>
            </a:r>
            <a:r>
              <a:rPr lang="en-US" sz="1800" b="1" noProof="1">
                <a:latin typeface="Arial" panose="020B0604020202020204" pitchFamily="34" charset="0"/>
                <a:cs typeface="Arial" panose="020B0604020202020204" pitchFamily="34" charset="0"/>
              </a:rPr>
              <a:t>bagian baru di intranet</a:t>
            </a:r>
            <a:r>
              <a:rPr lang="en-US" sz="1800" noProof="1">
                <a:latin typeface="Arial" panose="020B0604020202020204" pitchFamily="34" charset="0"/>
                <a:cs typeface="Arial" panose="020B0604020202020204" pitchFamily="34" charset="0"/>
              </a:rPr>
              <a:t> yang didedikasikan untuk </a:t>
            </a:r>
            <a:r>
              <a:rPr lang="en-US" sz="1800" b="1" noProof="1">
                <a:latin typeface="Arial" panose="020B0604020202020204" pitchFamily="34" charset="0"/>
                <a:cs typeface="Arial" panose="020B0604020202020204" pitchFamily="34" charset="0"/>
              </a:rPr>
              <a:t>berbagi pengetahuan manajemen proyek</a:t>
            </a:r>
            <a:r>
              <a:rPr lang="en-US" sz="1800" noProof="1">
                <a:latin typeface="Arial" panose="020B0604020202020204" pitchFamily="34" charset="0"/>
                <a:cs typeface="Arial" panose="020B0604020202020204" pitchFamily="34" charset="0"/>
              </a:rPr>
              <a:t> para konsultan di seluruh organisasi. JWD Consulting hanya merekrut konsultan berpengalaman dan memberi mereka kebebasan mengelola proyek sebagaimana mereka anggap tepat. Namun seiring peningkatan pertumbuhan bisnis dan meningkatnya kompleksitas proyek, bahkan konsultan yang berpengalaman pun mulai menghadapi tantangan dalam mengakses informasi yang konsisten dan terkini. Kurangnya sistem terpusat untuk berbagi pengetahuan dan praktik terbaik menyebabkan duplikasi pekerjaan, ketidakefisienan, dan potensi kesalahan dalam pengelolaan proyek. Oleh karena itu, terdapat peluang strategis untuk mengembangkan sebuah portal intranet yang dapat menjadi pusat informasi manajemen proyek, mendukung kolaborasi antar konsultan, serta meningkatkan kualitas dan konsistensi layanan yang diberikan kepada klien.</a:t>
            </a:r>
          </a:p>
        </p:txBody>
      </p:sp>
    </p:spTree>
    <p:extLst>
      <p:ext uri="{BB962C8B-B14F-4D97-AF65-F5344CB8AC3E}">
        <p14:creationId xmlns:p14="http://schemas.microsoft.com/office/powerpoint/2010/main" val="30166367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9E5D16-C148-4683-4682-5B575DC3B17A}"/>
              </a:ext>
            </a:extLst>
          </p:cNvPr>
          <p:cNvSpPr>
            <a:spLocks noGrp="1"/>
          </p:cNvSpPr>
          <p:nvPr>
            <p:ph idx="1"/>
          </p:nvPr>
        </p:nvSpPr>
        <p:spPr>
          <a:xfrm>
            <a:off x="838200" y="377190"/>
            <a:ext cx="10515600" cy="6035040"/>
          </a:xfrm>
        </p:spPr>
        <p:txBody>
          <a:bodyPr>
            <a:normAutofit/>
          </a:bodyPr>
          <a:lstStyle/>
          <a:p>
            <a:pPr algn="just">
              <a:lnSpc>
                <a:spcPct val="100000"/>
              </a:lnSpc>
            </a:pPr>
            <a:r>
              <a:rPr lang="en-US" sz="1800" b="1" noProof="1">
                <a:highlight>
                  <a:srgbClr val="FFFF00"/>
                </a:highlight>
                <a:latin typeface="Arial" panose="020B0604020202020204" pitchFamily="34" charset="0"/>
                <a:cs typeface="Arial" panose="020B0604020202020204" pitchFamily="34" charset="0"/>
              </a:rPr>
              <a:t>4.0 Critical Assumption and Constraints (Asumsi Kritis dan Kendala)</a:t>
            </a:r>
          </a:p>
          <a:p>
            <a:pPr marL="182563" indent="0" algn="just">
              <a:lnSpc>
                <a:spcPct val="100000"/>
              </a:lnSpc>
              <a:buNone/>
            </a:pPr>
            <a:r>
              <a:rPr lang="en-US" sz="1800" noProof="1">
                <a:latin typeface="Arial" panose="020B0604020202020204" pitchFamily="34" charset="0"/>
                <a:cs typeface="Arial" panose="020B0604020202020204" pitchFamily="34" charset="0"/>
              </a:rPr>
              <a:t>Situs </a:t>
            </a:r>
            <a:r>
              <a:rPr lang="en-US" sz="1800" b="1" noProof="1">
                <a:latin typeface="Arial" panose="020B0604020202020204" pitchFamily="34" charset="0"/>
                <a:cs typeface="Arial" panose="020B0604020202020204" pitchFamily="34" charset="0"/>
              </a:rPr>
              <a:t>intranet</a:t>
            </a:r>
            <a:r>
              <a:rPr lang="en-US" sz="1800" noProof="1">
                <a:latin typeface="Arial" panose="020B0604020202020204" pitchFamily="34" charset="0"/>
                <a:cs typeface="Arial" panose="020B0604020202020204" pitchFamily="34" charset="0"/>
              </a:rPr>
              <a:t> yang diusulkan harus menjadi </a:t>
            </a:r>
            <a:r>
              <a:rPr lang="en-US" sz="1800" b="1" noProof="1">
                <a:latin typeface="Arial" panose="020B0604020202020204" pitchFamily="34" charset="0"/>
                <a:cs typeface="Arial" panose="020B0604020202020204" pitchFamily="34" charset="0"/>
              </a:rPr>
              <a:t>aset</a:t>
            </a:r>
            <a:r>
              <a:rPr lang="en-US" sz="1800" noProof="1">
                <a:latin typeface="Arial" panose="020B0604020202020204" pitchFamily="34" charset="0"/>
                <a:cs typeface="Arial" panose="020B0604020202020204" pitchFamily="34" charset="0"/>
              </a:rPr>
              <a:t> yang bernilai bagi </a:t>
            </a:r>
            <a:r>
              <a:rPr lang="en-US" sz="1800" b="1" noProof="1">
                <a:latin typeface="Arial" panose="020B0604020202020204" pitchFamily="34" charset="0"/>
                <a:cs typeface="Arial" panose="020B0604020202020204" pitchFamily="34" charset="0"/>
              </a:rPr>
              <a:t>JWD Consulting</a:t>
            </a:r>
            <a:r>
              <a:rPr lang="en-US" sz="1800" noProof="1">
                <a:latin typeface="Arial" panose="020B0604020202020204" pitchFamily="34" charset="0"/>
                <a:cs typeface="Arial" panose="020B0604020202020204" pitchFamily="34" charset="0"/>
              </a:rPr>
              <a:t>. Para konsultan dan klien saat ini harus </a:t>
            </a:r>
            <a:r>
              <a:rPr lang="en-US" sz="1800" b="1" noProof="1">
                <a:latin typeface="Arial" panose="020B0604020202020204" pitchFamily="34" charset="0"/>
                <a:cs typeface="Arial" panose="020B0604020202020204" pitchFamily="34" charset="0"/>
              </a:rPr>
              <a:t>secara aktif mendukung</a:t>
            </a:r>
            <a:r>
              <a:rPr lang="en-US" sz="1800" noProof="1">
                <a:latin typeface="Arial" panose="020B0604020202020204" pitchFamily="34" charset="0"/>
                <a:cs typeface="Arial" panose="020B0604020202020204" pitchFamily="34" charset="0"/>
              </a:rPr>
              <a:t> proyek ini, dan proyek harus </a:t>
            </a:r>
            <a:r>
              <a:rPr lang="en-US" sz="1800" b="1" noProof="1">
                <a:latin typeface="Arial" panose="020B0604020202020204" pitchFamily="34" charset="0"/>
                <a:cs typeface="Arial" panose="020B0604020202020204" pitchFamily="34" charset="0"/>
              </a:rPr>
              <a:t>balik modal dalam satu tahun</a:t>
            </a:r>
            <a:r>
              <a:rPr lang="en-US" sz="1800" noProof="1">
                <a:latin typeface="Arial" panose="020B0604020202020204" pitchFamily="34" charset="0"/>
                <a:cs typeface="Arial" panose="020B0604020202020204" pitchFamily="34" charset="0"/>
              </a:rPr>
              <a:t> melalui </a:t>
            </a:r>
            <a:r>
              <a:rPr lang="en-US" sz="1800" b="1" noProof="1">
                <a:latin typeface="Arial" panose="020B0604020202020204" pitchFamily="34" charset="0"/>
                <a:cs typeface="Arial" panose="020B0604020202020204" pitchFamily="34" charset="0"/>
              </a:rPr>
              <a:t>penurunan biaya operasional internal</a:t>
            </a:r>
            <a:r>
              <a:rPr lang="en-US" sz="1800" noProof="1">
                <a:latin typeface="Arial" panose="020B0604020202020204" pitchFamily="34" charset="0"/>
                <a:cs typeface="Arial" panose="020B0604020202020204" pitchFamily="34" charset="0"/>
              </a:rPr>
              <a:t> serta </a:t>
            </a:r>
            <a:r>
              <a:rPr lang="en-US" sz="1800" b="1" noProof="1">
                <a:latin typeface="Arial" panose="020B0604020202020204" pitchFamily="34" charset="0"/>
                <a:cs typeface="Arial" panose="020B0604020202020204" pitchFamily="34" charset="0"/>
              </a:rPr>
              <a:t>penciptaan bisnis baru</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Project Management Office (PMO) manager</a:t>
            </a:r>
            <a:r>
              <a:rPr lang="en-US" sz="1800" noProof="1">
                <a:latin typeface="Arial" panose="020B0604020202020204" pitchFamily="34" charset="0"/>
                <a:cs typeface="Arial" panose="020B0604020202020204" pitchFamily="34" charset="0"/>
              </a:rPr>
              <a:t> harus memimpin upaya ini, dan </a:t>
            </a:r>
            <a:r>
              <a:rPr lang="en-US" sz="1800" b="1" noProof="1">
                <a:latin typeface="Arial" panose="020B0604020202020204" pitchFamily="34" charset="0"/>
                <a:cs typeface="Arial" panose="020B0604020202020204" pitchFamily="34" charset="0"/>
              </a:rPr>
              <a:t>tim proyek</a:t>
            </a:r>
            <a:r>
              <a:rPr lang="en-US" sz="1800" noProof="1">
                <a:latin typeface="Arial" panose="020B0604020202020204" pitchFamily="34" charset="0"/>
                <a:cs typeface="Arial" panose="020B0604020202020204" pitchFamily="34" charset="0"/>
              </a:rPr>
              <a:t> harus mencakup peserta dari berbagai bagian perusahaan, serta dari organisasi klien saat ini. Sistem baru harus </a:t>
            </a:r>
            <a:r>
              <a:rPr lang="en-US" sz="1800" b="1" noProof="1">
                <a:latin typeface="Arial" panose="020B0604020202020204" pitchFamily="34" charset="0"/>
                <a:cs typeface="Arial" panose="020B0604020202020204" pitchFamily="34" charset="0"/>
              </a:rPr>
              <a:t>berjalan pada hardware dan software yang sudah ada</a:t>
            </a:r>
            <a:r>
              <a:rPr lang="en-US" sz="1800" noProof="1">
                <a:latin typeface="Arial" panose="020B0604020202020204" pitchFamily="34" charset="0"/>
                <a:cs typeface="Arial" panose="020B0604020202020204" pitchFamily="34" charset="0"/>
              </a:rPr>
              <a:t>, dan seharusnya hanya memerlukan </a:t>
            </a:r>
            <a:r>
              <a:rPr lang="en-US" sz="1800" b="1" noProof="1">
                <a:latin typeface="Arial" panose="020B0604020202020204" pitchFamily="34" charset="0"/>
                <a:cs typeface="Arial" panose="020B0604020202020204" pitchFamily="34" charset="0"/>
              </a:rPr>
              <a:t>dukungan teknis minimal</a:t>
            </a:r>
            <a:r>
              <a:rPr lang="en-US" sz="1800" noProof="1">
                <a:latin typeface="Arial" panose="020B0604020202020204" pitchFamily="34" charset="0"/>
                <a:cs typeface="Arial" panose="020B0604020202020204" pitchFamily="34" charset="0"/>
              </a:rPr>
              <a:t>. Sistem harus </a:t>
            </a:r>
            <a:r>
              <a:rPr lang="en-US" sz="1800" b="1" noProof="1">
                <a:latin typeface="Arial" panose="020B0604020202020204" pitchFamily="34" charset="0"/>
                <a:cs typeface="Arial" panose="020B0604020202020204" pitchFamily="34" charset="0"/>
              </a:rPr>
              <a:t>mudah diakses</a:t>
            </a:r>
            <a:r>
              <a:rPr lang="en-US" sz="1800" noProof="1">
                <a:latin typeface="Arial" panose="020B0604020202020204" pitchFamily="34" charset="0"/>
                <a:cs typeface="Arial" panose="020B0604020202020204" pitchFamily="34" charset="0"/>
              </a:rPr>
              <a:t> oleh konsultan dan klien serta </a:t>
            </a:r>
            <a:r>
              <a:rPr lang="en-US" sz="1800" b="1" noProof="1">
                <a:latin typeface="Arial" panose="020B0604020202020204" pitchFamily="34" charset="0"/>
                <a:cs typeface="Arial" panose="020B0604020202020204" pitchFamily="34" charset="0"/>
              </a:rPr>
              <a:t>aman dari pengguna yang tidak berwenang</a:t>
            </a:r>
            <a:r>
              <a:rPr lang="en-US" sz="1800" noProof="1">
                <a:latin typeface="Arial" panose="020B0604020202020204" pitchFamily="34" charset="0"/>
                <a:cs typeface="Arial" panose="020B0604020202020204" pitchFamily="34" charset="0"/>
              </a:rPr>
              <a:t>.</a:t>
            </a:r>
          </a:p>
          <a:p>
            <a:pPr>
              <a:lnSpc>
                <a:spcPct val="100000"/>
              </a:lnSpc>
            </a:pPr>
            <a:r>
              <a:rPr lang="en-US" sz="1800" b="1" noProof="1">
                <a:highlight>
                  <a:srgbClr val="FFFF00"/>
                </a:highlight>
                <a:latin typeface="Arial" panose="020B0604020202020204" pitchFamily="34" charset="0"/>
                <a:cs typeface="Arial" panose="020B0604020202020204" pitchFamily="34" charset="0"/>
              </a:rPr>
              <a:t>5.0 Analysis of Options and Recommendation (Analisis Opsi dan Rekomendasi)</a:t>
            </a:r>
            <a:br>
              <a:rPr lang="en-US" sz="1800" noProof="1">
                <a:latin typeface="Arial" panose="020B0604020202020204" pitchFamily="34" charset="0"/>
                <a:cs typeface="Arial" panose="020B0604020202020204" pitchFamily="34" charset="0"/>
              </a:rPr>
            </a:br>
            <a:r>
              <a:rPr lang="en-US" sz="1800" noProof="1">
                <a:latin typeface="Arial" panose="020B0604020202020204" pitchFamily="34" charset="0"/>
                <a:cs typeface="Arial" panose="020B0604020202020204" pitchFamily="34" charset="0"/>
              </a:rPr>
              <a:t>Terdapat </a:t>
            </a:r>
            <a:r>
              <a:rPr lang="en-US" sz="1800" b="1" noProof="1">
                <a:latin typeface="Arial" panose="020B0604020202020204" pitchFamily="34" charset="0"/>
                <a:cs typeface="Arial" panose="020B0604020202020204" pitchFamily="34" charset="0"/>
              </a:rPr>
              <a:t>tiga opsi</a:t>
            </a:r>
            <a:r>
              <a:rPr lang="en-US" sz="1800" noProof="1">
                <a:latin typeface="Arial" panose="020B0604020202020204" pitchFamily="34" charset="0"/>
                <a:cs typeface="Arial" panose="020B0604020202020204" pitchFamily="34" charset="0"/>
              </a:rPr>
              <a:t> untuk menangani peluang ini:</a:t>
            </a:r>
          </a:p>
          <a:p>
            <a:pPr marL="446088" lvl="1" indent="-182563" algn="just">
              <a:lnSpc>
                <a:spcPct val="100000"/>
              </a:lnSpc>
            </a:pPr>
            <a:r>
              <a:rPr lang="en-US" sz="1800" b="1" noProof="1">
                <a:latin typeface="Arial" panose="020B0604020202020204" pitchFamily="34" charset="0"/>
                <a:cs typeface="Arial" panose="020B0604020202020204" pitchFamily="34" charset="0"/>
              </a:rPr>
              <a:t>Opsi 1: Tidak melakukan apa-apa.</a:t>
            </a:r>
            <a:r>
              <a:rPr lang="en-US" sz="1800" noProof="1">
                <a:latin typeface="Arial" panose="020B0604020202020204" pitchFamily="34" charset="0"/>
                <a:cs typeface="Arial" panose="020B0604020202020204" pitchFamily="34" charset="0"/>
              </a:rPr>
              <a:t> Bisnis berjalan baik, dan kita dapat terus beroperasi tanpa proyek baru ini.</a:t>
            </a:r>
          </a:p>
          <a:p>
            <a:pPr marL="446088" lvl="1" indent="-182563" algn="just">
              <a:lnSpc>
                <a:spcPct val="100000"/>
              </a:lnSpc>
            </a:pPr>
            <a:r>
              <a:rPr lang="en-US" sz="1800" b="1" noProof="1">
                <a:latin typeface="Arial" panose="020B0604020202020204" pitchFamily="34" charset="0"/>
                <a:cs typeface="Arial" panose="020B0604020202020204" pitchFamily="34" charset="0"/>
              </a:rPr>
              <a:t>Opsi 2: Membeli akses ke specialized software</a:t>
            </a:r>
            <a:r>
              <a:rPr lang="en-US" sz="1800" noProof="1">
                <a:latin typeface="Arial" panose="020B0604020202020204" pitchFamily="34" charset="0"/>
                <a:cs typeface="Arial" panose="020B0604020202020204" pitchFamily="34" charset="0"/>
              </a:rPr>
              <a:t> untuk mendukung kapabilitas baru ini dengan </a:t>
            </a:r>
            <a:r>
              <a:rPr lang="en-US" sz="1800" b="1" noProof="1">
                <a:latin typeface="Arial" panose="020B0604020202020204" pitchFamily="34" charset="0"/>
                <a:cs typeface="Arial" panose="020B0604020202020204" pitchFamily="34" charset="0"/>
              </a:rPr>
              <a:t>pengembangan internal (in-house) yang minimal</a:t>
            </a:r>
            <a:r>
              <a:rPr lang="en-US" sz="1800" noProof="1">
                <a:latin typeface="Arial" panose="020B0604020202020204" pitchFamily="34" charset="0"/>
                <a:cs typeface="Arial" panose="020B0604020202020204" pitchFamily="34" charset="0"/>
              </a:rPr>
              <a:t>.</a:t>
            </a:r>
          </a:p>
          <a:p>
            <a:pPr marL="446088" lvl="1" indent="-182563" algn="just">
              <a:lnSpc>
                <a:spcPct val="100000"/>
              </a:lnSpc>
            </a:pPr>
            <a:r>
              <a:rPr lang="en-US" sz="1800" b="1" noProof="1">
                <a:latin typeface="Arial" panose="020B0604020202020204" pitchFamily="34" charset="0"/>
                <a:cs typeface="Arial" panose="020B0604020202020204" pitchFamily="34" charset="0"/>
              </a:rPr>
              <a:t>Opsi 3:</a:t>
            </a:r>
            <a:r>
              <a:rPr lang="en-US" sz="1800" b="0" noProof="1">
                <a:latin typeface="Arial" panose="020B0604020202020204" pitchFamily="34" charset="0"/>
                <a:cs typeface="Arial" panose="020B0604020202020204" pitchFamily="34" charset="0"/>
              </a:rPr>
              <a:t> Mengembangkan seluruh sistem secara internal (in-house). Fleksibel, tetapi memerlukan investasi awal, waktu, dan dukungan teknis yang lebih besar.</a:t>
            </a:r>
          </a:p>
          <a:p>
            <a:pPr marL="446088" lvl="1" indent="-182563" algn="just">
              <a:lnSpc>
                <a:spcPct val="100000"/>
              </a:lnSpc>
            </a:pPr>
            <a:r>
              <a:rPr lang="en-US" sz="1800" b="1" noProof="1">
                <a:latin typeface="Arial" panose="020B0604020202020204" pitchFamily="34" charset="0"/>
                <a:cs typeface="Arial" panose="020B0604020202020204" pitchFamily="34" charset="0"/>
              </a:rPr>
              <a:t>Rekomendasi: Opsi 2 — paling sesuai dengan kendala (berjalan pada hardware/software yang ada, dukungan teknis minimal) dan target balik modal dalam satu tahun.</a:t>
            </a:r>
          </a:p>
          <a:p>
            <a:pPr marL="0" indent="0">
              <a:lnSpc>
                <a:spcPct val="100000"/>
              </a:lnSpc>
              <a:buNone/>
            </a:pPr>
            <a:endParaRPr lang="en-US" sz="1800" noProof="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27413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FA15DF-0E0C-A7DF-BC1B-182223F7F434}"/>
              </a:ext>
            </a:extLst>
          </p:cNvPr>
          <p:cNvSpPr>
            <a:spLocks noGrp="1"/>
          </p:cNvSpPr>
          <p:nvPr>
            <p:ph idx="1"/>
          </p:nvPr>
        </p:nvSpPr>
        <p:spPr>
          <a:xfrm>
            <a:off x="838200" y="308610"/>
            <a:ext cx="10515600" cy="6309360"/>
          </a:xfrm>
        </p:spPr>
        <p:txBody>
          <a:bodyPr>
            <a:noAutofit/>
          </a:bodyPr>
          <a:lstStyle/>
          <a:p>
            <a:pPr>
              <a:lnSpc>
                <a:spcPct val="100000"/>
              </a:lnSpc>
              <a:spcBef>
                <a:spcPts val="0"/>
              </a:spcBef>
            </a:pPr>
            <a:r>
              <a:rPr lang="en-US" sz="1800" b="1" noProof="1">
                <a:highlight>
                  <a:srgbClr val="FFFF00"/>
                </a:highlight>
                <a:latin typeface="Arial" panose="020B0604020202020204" pitchFamily="34" charset="0"/>
                <a:cs typeface="Arial" panose="020B0604020202020204" pitchFamily="34" charset="0"/>
              </a:rPr>
              <a:t>6.0 Preliminary Project Requirements (Kebutuhan Proyek Awal)</a:t>
            </a:r>
            <a:br>
              <a:rPr lang="en-US" sz="1800" noProof="1">
                <a:latin typeface="Arial" panose="020B0604020202020204" pitchFamily="34" charset="0"/>
                <a:cs typeface="Arial" panose="020B0604020202020204" pitchFamily="34" charset="0"/>
              </a:rPr>
            </a:br>
            <a:r>
              <a:rPr lang="en-US" sz="1800" noProof="1">
                <a:latin typeface="Arial" panose="020B0604020202020204" pitchFamily="34" charset="0"/>
                <a:cs typeface="Arial" panose="020B0604020202020204" pitchFamily="34" charset="0"/>
              </a:rPr>
              <a:t>Fitur utama </a:t>
            </a:r>
            <a:r>
              <a:rPr lang="en-US" sz="1800" b="1" noProof="1">
                <a:latin typeface="Arial" panose="020B0604020202020204" pitchFamily="34" charset="0"/>
                <a:cs typeface="Arial" panose="020B0604020202020204" pitchFamily="34" charset="0"/>
              </a:rPr>
              <a:t>project management intranet site</a:t>
            </a:r>
            <a:r>
              <a:rPr lang="en-US" sz="1800" noProof="1">
                <a:latin typeface="Arial" panose="020B0604020202020204" pitchFamily="34" charset="0"/>
                <a:cs typeface="Arial" panose="020B0604020202020204" pitchFamily="34" charset="0"/>
              </a:rPr>
              <a:t> mencakup:</a:t>
            </a:r>
          </a:p>
          <a:p>
            <a:pPr marL="446088" indent="-182563" algn="just">
              <a:lnSpc>
                <a:spcPct val="100000"/>
              </a:lnSpc>
              <a:spcBef>
                <a:spcPts val="0"/>
              </a:spcBef>
            </a:pPr>
            <a:r>
              <a:rPr lang="en-US" sz="1800" b="1" noProof="1">
                <a:latin typeface="Arial" panose="020B0604020202020204" pitchFamily="34" charset="0"/>
                <a:cs typeface="Arial" panose="020B0604020202020204" pitchFamily="34" charset="0"/>
              </a:rPr>
              <a:t>Akses ke berbagai template dan tools manajemen proyek.</a:t>
            </a:r>
            <a:r>
              <a:rPr lang="en-US" sz="1800" noProof="1">
                <a:latin typeface="Arial" panose="020B0604020202020204" pitchFamily="34" charset="0"/>
                <a:cs typeface="Arial" panose="020B0604020202020204" pitchFamily="34" charset="0"/>
              </a:rPr>
              <a:t> Pengguna harus bisa mencari </a:t>
            </a:r>
            <a:r>
              <a:rPr lang="en-US" sz="1800" b="1" noProof="1">
                <a:latin typeface="Arial" panose="020B0604020202020204" pitchFamily="34" charset="0"/>
                <a:cs typeface="Arial" panose="020B0604020202020204" pitchFamily="34" charset="0"/>
              </a:rPr>
              <a:t>template</a:t>
            </a:r>
            <a:r>
              <a:rPr lang="en-US" sz="1800" noProof="1">
                <a:latin typeface="Arial" panose="020B0604020202020204" pitchFamily="34" charset="0"/>
                <a:cs typeface="Arial" panose="020B0604020202020204" pitchFamily="34" charset="0"/>
              </a:rPr>
              <a:t> dan </a:t>
            </a:r>
            <a:r>
              <a:rPr lang="en-US" sz="1800" b="1" noProof="1">
                <a:latin typeface="Arial" panose="020B0604020202020204" pitchFamily="34" charset="0"/>
                <a:cs typeface="Arial" panose="020B0604020202020204" pitchFamily="34" charset="0"/>
              </a:rPr>
              <a:t>tools</a:t>
            </a:r>
            <a:r>
              <a:rPr lang="en-US" sz="1800" noProof="1">
                <a:latin typeface="Arial" panose="020B0604020202020204" pitchFamily="34" charset="0"/>
                <a:cs typeface="Arial" panose="020B0604020202020204" pitchFamily="34" charset="0"/>
              </a:rPr>
              <a:t>, membaca instruksi penggunaannya, serta melihat contoh penerapan pada proyek nyata. Pengguna juga harus dapat mengajukan </a:t>
            </a:r>
            <a:r>
              <a:rPr lang="en-US" sz="1800" b="1" noProof="1">
                <a:latin typeface="Arial" panose="020B0604020202020204" pitchFamily="34" charset="0"/>
                <a:cs typeface="Arial" panose="020B0604020202020204" pitchFamily="34" charset="0"/>
              </a:rPr>
              <a:t>template/tools baru</a:t>
            </a:r>
            <a:r>
              <a:rPr lang="en-US" sz="1800" noProof="1">
                <a:latin typeface="Arial" panose="020B0604020202020204" pitchFamily="34" charset="0"/>
                <a:cs typeface="Arial" panose="020B0604020202020204" pitchFamily="34" charset="0"/>
              </a:rPr>
              <a:t>, yang terlebih dahulu </a:t>
            </a:r>
            <a:r>
              <a:rPr lang="en-US" sz="1800" b="1" noProof="1">
                <a:latin typeface="Arial" panose="020B0604020202020204" pitchFamily="34" charset="0"/>
                <a:cs typeface="Arial" panose="020B0604020202020204" pitchFamily="34" charset="0"/>
              </a:rPr>
              <a:t>disaring atau diedit oleh Project Management Office (PMO)</a:t>
            </a:r>
            <a:r>
              <a:rPr lang="en-US" sz="1800" noProof="1">
                <a:latin typeface="Arial" panose="020B0604020202020204" pitchFamily="34" charset="0"/>
                <a:cs typeface="Arial" panose="020B0604020202020204" pitchFamily="34" charset="0"/>
              </a:rPr>
              <a:t>.</a:t>
            </a:r>
          </a:p>
          <a:p>
            <a:pPr marL="446088" indent="-182563" algn="just">
              <a:lnSpc>
                <a:spcPct val="100000"/>
              </a:lnSpc>
              <a:spcBef>
                <a:spcPts val="0"/>
              </a:spcBef>
            </a:pPr>
            <a:r>
              <a:rPr lang="en-US" sz="1800" b="1" noProof="1">
                <a:latin typeface="Arial" panose="020B0604020202020204" pitchFamily="34" charset="0"/>
                <a:cs typeface="Arial" panose="020B0604020202020204" pitchFamily="34" charset="0"/>
              </a:rPr>
              <a:t>Akses ke artikel manajemen proyek yang relevan.</a:t>
            </a:r>
            <a:r>
              <a:rPr lang="en-US" sz="1800" noProof="1">
                <a:latin typeface="Arial" panose="020B0604020202020204" pitchFamily="34" charset="0"/>
                <a:cs typeface="Arial" panose="020B0604020202020204" pitchFamily="34" charset="0"/>
              </a:rPr>
              <a:t> Banyak konsultan dan klien mengalami </a:t>
            </a:r>
            <a:r>
              <a:rPr lang="en-US" sz="1800" b="1" noProof="1">
                <a:latin typeface="Arial" panose="020B0604020202020204" pitchFamily="34" charset="0"/>
                <a:cs typeface="Arial" panose="020B0604020202020204" pitchFamily="34" charset="0"/>
              </a:rPr>
              <a:t>information overload</a:t>
            </a:r>
            <a:r>
              <a:rPr lang="en-US" sz="1800" noProof="1">
                <a:latin typeface="Arial" panose="020B0604020202020204" pitchFamily="34" charset="0"/>
                <a:cs typeface="Arial" panose="020B0604020202020204" pitchFamily="34" charset="0"/>
              </a:rPr>
              <a:t> saat menelusuri informasi manajemen proyek, sehingga membuang waktu yang seharusnya untuk klien. Intranet baru harus menyediakan akses ke beberapa artikel penting pada berbagai topik manajemen proyek, </a:t>
            </a:r>
            <a:r>
              <a:rPr lang="en-US" sz="1800" b="1" noProof="1">
                <a:latin typeface="Arial" panose="020B0604020202020204" pitchFamily="34" charset="0"/>
                <a:cs typeface="Arial" panose="020B0604020202020204" pitchFamily="34" charset="0"/>
              </a:rPr>
              <a:t>dapat dicari per topik</a:t>
            </a:r>
            <a:r>
              <a:rPr lang="en-US" sz="1800" noProof="1">
                <a:latin typeface="Arial" panose="020B0604020202020204" pitchFamily="34" charset="0"/>
                <a:cs typeface="Arial" panose="020B0604020202020204" pitchFamily="34" charset="0"/>
              </a:rPr>
              <a:t>, serta memungkinkan pengguna </a:t>
            </a:r>
            <a:r>
              <a:rPr lang="en-US" sz="1800" b="1" noProof="1">
                <a:latin typeface="Arial" panose="020B0604020202020204" pitchFamily="34" charset="0"/>
                <a:cs typeface="Arial" panose="020B0604020202020204" pitchFamily="34" charset="0"/>
              </a:rPr>
              <a:t>meminta staf PMO</a:t>
            </a:r>
            <a:r>
              <a:rPr lang="en-US" sz="1800" noProof="1">
                <a:latin typeface="Arial" panose="020B0604020202020204" pitchFamily="34" charset="0"/>
                <a:cs typeface="Arial" panose="020B0604020202020204" pitchFamily="34" charset="0"/>
              </a:rPr>
              <a:t> untuk menemukan artikel tambahan sesuai kebutuhan.</a:t>
            </a:r>
          </a:p>
          <a:p>
            <a:pPr marL="446088" indent="-182563" algn="just">
              <a:lnSpc>
                <a:spcPct val="100000"/>
              </a:lnSpc>
              <a:spcBef>
                <a:spcPts val="0"/>
              </a:spcBef>
            </a:pPr>
            <a:r>
              <a:rPr lang="en-US" sz="1800" b="1" noProof="1">
                <a:latin typeface="Arial" panose="020B0604020202020204" pitchFamily="34" charset="0"/>
                <a:cs typeface="Arial" panose="020B0604020202020204" pitchFamily="34" charset="0"/>
              </a:rPr>
              <a:t>Tautan ke situs web lain yang up-to-date</a:t>
            </a:r>
            <a:r>
              <a:rPr lang="en-US" sz="1800" noProof="1">
                <a:latin typeface="Arial" panose="020B0604020202020204" pitchFamily="34" charset="0"/>
                <a:cs typeface="Arial" panose="020B0604020202020204" pitchFamily="34" charset="0"/>
              </a:rPr>
              <a:t>, disertai deskripsi singkat mengenai fitur utama dari </a:t>
            </a:r>
            <a:r>
              <a:rPr lang="en-US" sz="1800" b="1" noProof="1">
                <a:latin typeface="Arial" panose="020B0604020202020204" pitchFamily="34" charset="0"/>
                <a:cs typeface="Arial" panose="020B0604020202020204" pitchFamily="34" charset="0"/>
              </a:rPr>
              <a:t>external site</a:t>
            </a:r>
            <a:r>
              <a:rPr lang="en-US" sz="1800" noProof="1">
                <a:latin typeface="Arial" panose="020B0604020202020204" pitchFamily="34" charset="0"/>
                <a:cs typeface="Arial" panose="020B0604020202020204" pitchFamily="34" charset="0"/>
              </a:rPr>
              <a:t> tersebut.</a:t>
            </a:r>
          </a:p>
          <a:p>
            <a:pPr marL="446088" indent="-182563" algn="just">
              <a:lnSpc>
                <a:spcPct val="100000"/>
              </a:lnSpc>
              <a:spcBef>
                <a:spcPts val="0"/>
              </a:spcBef>
            </a:pPr>
            <a:r>
              <a:rPr lang="en-US" sz="1800" b="1" noProof="1">
                <a:latin typeface="Arial" panose="020B0604020202020204" pitchFamily="34" charset="0"/>
                <a:cs typeface="Arial" panose="020B0604020202020204" pitchFamily="34" charset="0"/>
              </a:rPr>
              <a:t>Fitur “Ask the Expert”</a:t>
            </a:r>
            <a:r>
              <a:rPr lang="en-US" sz="1800" noProof="1">
                <a:latin typeface="Arial" panose="020B0604020202020204" pitchFamily="34" charset="0"/>
                <a:cs typeface="Arial" panose="020B0604020202020204" pitchFamily="34" charset="0"/>
              </a:rPr>
              <a:t> untuk membantu membangun hubungan dengan klien saat ini dan calon klien, serta </a:t>
            </a:r>
            <a:r>
              <a:rPr lang="en-US" sz="1800" b="1" noProof="1">
                <a:latin typeface="Arial" panose="020B0604020202020204" pitchFamily="34" charset="0"/>
                <a:cs typeface="Arial" panose="020B0604020202020204" pitchFamily="34" charset="0"/>
              </a:rPr>
              <a:t>berbagi knowledge</a:t>
            </a:r>
            <a:r>
              <a:rPr lang="en-US" sz="1800" noProof="1">
                <a:latin typeface="Arial" panose="020B0604020202020204" pitchFamily="34" charset="0"/>
                <a:cs typeface="Arial" panose="020B0604020202020204" pitchFamily="34" charset="0"/>
              </a:rPr>
              <a:t> dengan konsultan internal.</a:t>
            </a:r>
          </a:p>
          <a:p>
            <a:pPr marL="446088" indent="-182563" algn="just">
              <a:lnSpc>
                <a:spcPct val="100000"/>
              </a:lnSpc>
              <a:spcBef>
                <a:spcPts val="0"/>
              </a:spcBef>
            </a:pPr>
            <a:r>
              <a:rPr lang="en-US" sz="1800" b="1" noProof="1">
                <a:latin typeface="Arial" panose="020B0604020202020204" pitchFamily="34" charset="0"/>
                <a:cs typeface="Arial" panose="020B0604020202020204" pitchFamily="34" charset="0"/>
              </a:rPr>
              <a:t>Keamanan yang memadai</a:t>
            </a:r>
            <a:r>
              <a:rPr lang="en-US" sz="1800" noProof="1">
                <a:latin typeface="Arial" panose="020B0604020202020204" pitchFamily="34" charset="0"/>
                <a:cs typeface="Arial" panose="020B0604020202020204" pitchFamily="34" charset="0"/>
              </a:rPr>
              <a:t> agar seluruh </a:t>
            </a:r>
            <a:r>
              <a:rPr lang="en-US" sz="1800" b="1" noProof="1">
                <a:latin typeface="Arial" panose="020B0604020202020204" pitchFamily="34" charset="0"/>
                <a:cs typeface="Arial" panose="020B0604020202020204" pitchFamily="34" charset="0"/>
              </a:rPr>
              <a:t>intranet site</a:t>
            </a:r>
            <a:r>
              <a:rPr lang="en-US" sz="1800" noProof="1">
                <a:latin typeface="Arial" panose="020B0604020202020204" pitchFamily="34" charset="0"/>
                <a:cs typeface="Arial" panose="020B0604020202020204" pitchFamily="34" charset="0"/>
              </a:rPr>
              <a:t> dapat diakses oleh konsultan internal, dan bagian tertentu </a:t>
            </a:r>
            <a:r>
              <a:rPr lang="en-US" sz="1800" b="1" noProof="1">
                <a:latin typeface="Arial" panose="020B0604020202020204" pitchFamily="34" charset="0"/>
                <a:cs typeface="Arial" panose="020B0604020202020204" pitchFamily="34" charset="0"/>
              </a:rPr>
              <a:t>dapat diakses pihak lain</a:t>
            </a:r>
            <a:r>
              <a:rPr lang="en-US" sz="1800" noProof="1">
                <a:latin typeface="Arial" panose="020B0604020202020204" pitchFamily="34" charset="0"/>
                <a:cs typeface="Arial" panose="020B0604020202020204" pitchFamily="34" charset="0"/>
              </a:rPr>
              <a:t> sesuai kewenangan.</a:t>
            </a:r>
          </a:p>
          <a:p>
            <a:pPr marL="446088" indent="-182563" algn="just">
              <a:lnSpc>
                <a:spcPct val="100000"/>
              </a:lnSpc>
              <a:spcBef>
                <a:spcPts val="0"/>
              </a:spcBef>
            </a:pPr>
            <a:r>
              <a:rPr lang="en-US" sz="1800" b="1" noProof="1">
                <a:latin typeface="Arial" panose="020B0604020202020204" pitchFamily="34" charset="0"/>
                <a:cs typeface="Arial" panose="020B0604020202020204" pitchFamily="34" charset="0"/>
              </a:rPr>
              <a:t>Kemampuan melakukan monetisasi (charging)</a:t>
            </a:r>
            <a:r>
              <a:rPr lang="en-US" sz="1800" noProof="1">
                <a:latin typeface="Arial" panose="020B0604020202020204" pitchFamily="34" charset="0"/>
                <a:cs typeface="Arial" panose="020B0604020202020204" pitchFamily="34" charset="0"/>
              </a:rPr>
              <a:t> untuk akses ke sebagian informasi. Beberapa informasi dan fitur di intranet harus mendorong </a:t>
            </a:r>
            <a:r>
              <a:rPr lang="en-US" sz="1800" b="1" noProof="1">
                <a:latin typeface="Arial" panose="020B0604020202020204" pitchFamily="34" charset="0"/>
                <a:cs typeface="Arial" panose="020B0604020202020204" pitchFamily="34" charset="0"/>
              </a:rPr>
              <a:t>external users</a:t>
            </a:r>
            <a:r>
              <a:rPr lang="en-US" sz="1800" noProof="1">
                <a:latin typeface="Arial" panose="020B0604020202020204" pitchFamily="34" charset="0"/>
                <a:cs typeface="Arial" panose="020B0604020202020204" pitchFamily="34" charset="0"/>
              </a:rPr>
              <a:t> untuk membayar informasi atau layanan tersebut. Opsi pembayaran mencakup </a:t>
            </a:r>
            <a:r>
              <a:rPr lang="en-US" sz="1800" b="1" noProof="1">
                <a:latin typeface="Arial" panose="020B0604020202020204" pitchFamily="34" charset="0"/>
                <a:cs typeface="Arial" panose="020B0604020202020204" pitchFamily="34" charset="0"/>
              </a:rPr>
              <a:t>kartu kredit</a:t>
            </a:r>
            <a:r>
              <a:rPr lang="en-US" sz="1800" noProof="1">
                <a:latin typeface="Arial" panose="020B0604020202020204" pitchFamily="34" charset="0"/>
                <a:cs typeface="Arial" panose="020B0604020202020204" pitchFamily="34" charset="0"/>
              </a:rPr>
              <a:t> atau transaksi pembayaran online sejenis. Setelah </a:t>
            </a:r>
            <a:r>
              <a:rPr lang="en-US" sz="1800" b="1" noProof="1">
                <a:latin typeface="Arial" panose="020B0604020202020204" pitchFamily="34" charset="0"/>
                <a:cs typeface="Arial" panose="020B0604020202020204" pitchFamily="34" charset="0"/>
              </a:rPr>
              <a:t>verifikasi pembayaran</a:t>
            </a:r>
            <a:r>
              <a:rPr lang="en-US" sz="1800" noProof="1">
                <a:latin typeface="Arial" panose="020B0604020202020204" pitchFamily="34" charset="0"/>
                <a:cs typeface="Arial" panose="020B0604020202020204" pitchFamily="34" charset="0"/>
              </a:rPr>
              <a:t> berhasil, pengguna dapat </a:t>
            </a:r>
            <a:r>
              <a:rPr lang="en-US" sz="1800" b="1" noProof="1">
                <a:latin typeface="Arial" panose="020B0604020202020204" pitchFamily="34" charset="0"/>
                <a:cs typeface="Arial" panose="020B0604020202020204" pitchFamily="34" charset="0"/>
              </a:rPr>
              <a:t>mengakses atau mengunduh</a:t>
            </a:r>
            <a:r>
              <a:rPr lang="en-US" sz="1800" noProof="1">
                <a:latin typeface="Arial" panose="020B0604020202020204" pitchFamily="34" charset="0"/>
                <a:cs typeface="Arial" panose="020B0604020202020204" pitchFamily="34" charset="0"/>
              </a:rPr>
              <a:t> informasi yang diinginkan.</a:t>
            </a:r>
          </a:p>
          <a:p>
            <a:pPr marL="446088" indent="-182563" algn="just">
              <a:lnSpc>
                <a:spcPct val="100000"/>
              </a:lnSpc>
              <a:spcBef>
                <a:spcPts val="0"/>
              </a:spcBef>
            </a:pPr>
            <a:r>
              <a:rPr lang="en-US" sz="1800" b="1" noProof="1">
                <a:latin typeface="Arial" panose="020B0604020202020204" pitchFamily="34" charset="0"/>
                <a:cs typeface="Arial" panose="020B0604020202020204" pitchFamily="34" charset="0"/>
              </a:rPr>
              <a:t>Fitur lain yang diusulkan pengguna</a:t>
            </a:r>
            <a:r>
              <a:rPr lang="en-US" sz="1800" noProof="1">
                <a:latin typeface="Arial" panose="020B0604020202020204" pitchFamily="34" charset="0"/>
                <a:cs typeface="Arial" panose="020B0604020202020204" pitchFamily="34" charset="0"/>
              </a:rPr>
              <a:t>, sepanjang </a:t>
            </a:r>
            <a:r>
              <a:rPr lang="en-US" sz="1800" b="1" noProof="1">
                <a:latin typeface="Arial" panose="020B0604020202020204" pitchFamily="34" charset="0"/>
                <a:cs typeface="Arial" panose="020B0604020202020204" pitchFamily="34" charset="0"/>
              </a:rPr>
              <a:t>menambah nilai</a:t>
            </a:r>
            <a:r>
              <a:rPr lang="en-US" sz="1800" noProof="1">
                <a:latin typeface="Arial" panose="020B0604020202020204" pitchFamily="34" charset="0"/>
                <a:cs typeface="Arial" panose="020B0604020202020204" pitchFamily="34" charset="0"/>
              </a:rPr>
              <a:t> bagi bisnis.</a:t>
            </a:r>
          </a:p>
          <a:p>
            <a:pPr marL="0" indent="0">
              <a:lnSpc>
                <a:spcPct val="100000"/>
              </a:lnSpc>
              <a:spcBef>
                <a:spcPts val="0"/>
              </a:spcBef>
              <a:buNone/>
            </a:pPr>
            <a:endParaRPr lang="en-US" sz="1800" noProof="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2465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82B984-E991-85B3-BF2D-A4DCD425C24F}"/>
              </a:ext>
            </a:extLst>
          </p:cNvPr>
          <p:cNvSpPr>
            <a:spLocks noGrp="1"/>
          </p:cNvSpPr>
          <p:nvPr>
            <p:ph idx="1"/>
          </p:nvPr>
        </p:nvSpPr>
        <p:spPr>
          <a:xfrm>
            <a:off x="838200" y="331470"/>
            <a:ext cx="10515600" cy="5845493"/>
          </a:xfrm>
        </p:spPr>
        <p:txBody>
          <a:bodyPr>
            <a:normAutofit fontScale="92500" lnSpcReduction="20000"/>
          </a:bodyPr>
          <a:lstStyle/>
          <a:p>
            <a:pPr>
              <a:lnSpc>
                <a:spcPct val="120000"/>
              </a:lnSpc>
            </a:pPr>
            <a:r>
              <a:rPr lang="en-US" sz="1800" b="1" noProof="1">
                <a:highlight>
                  <a:srgbClr val="FFFF00"/>
                </a:highlight>
                <a:latin typeface="Arial" panose="020B0604020202020204" pitchFamily="34" charset="0"/>
                <a:cs typeface="Arial" panose="020B0604020202020204" pitchFamily="34" charset="0"/>
              </a:rPr>
              <a:t>7.0 Estimasi Anggaran dan Analisis Keuangan</a:t>
            </a:r>
            <a:endParaRPr lang="en-US" sz="1800" noProof="1">
              <a:highlight>
                <a:srgbClr val="FFFF00"/>
              </a:highlight>
              <a:latin typeface="Arial" panose="020B0604020202020204" pitchFamily="34" charset="0"/>
              <a:cs typeface="Arial" panose="020B0604020202020204" pitchFamily="34" charset="0"/>
            </a:endParaRPr>
          </a:p>
          <a:p>
            <a:pPr marL="446088" algn="just">
              <a:lnSpc>
                <a:spcPct val="120000"/>
              </a:lnSpc>
            </a:pPr>
            <a:r>
              <a:rPr lang="en-US" sz="1800" noProof="1">
                <a:latin typeface="Arial" panose="020B0604020202020204" pitchFamily="34" charset="0"/>
                <a:cs typeface="Arial" panose="020B0604020202020204" pitchFamily="34" charset="0"/>
              </a:rPr>
              <a:t>Estimasi awal biaya untuk seluruh proyek adalah </a:t>
            </a:r>
            <a:r>
              <a:rPr lang="en-US" sz="1800" b="1" noProof="1">
                <a:latin typeface="Arial" panose="020B0604020202020204" pitchFamily="34" charset="0"/>
                <a:cs typeface="Arial" panose="020B0604020202020204" pitchFamily="34" charset="0"/>
              </a:rPr>
              <a:t>$140.000</a:t>
            </a:r>
            <a:r>
              <a:rPr lang="en-US" sz="1800" noProof="1">
                <a:latin typeface="Arial" panose="020B0604020202020204" pitchFamily="34" charset="0"/>
                <a:cs typeface="Arial" panose="020B0604020202020204" pitchFamily="34" charset="0"/>
              </a:rPr>
              <a:t>. Estimasi ini didasarkan pada </a:t>
            </a:r>
            <a:r>
              <a:rPr lang="en-US" sz="1800" b="1" noProof="1">
                <a:latin typeface="Arial" panose="020B0604020202020204" pitchFamily="34" charset="0"/>
                <a:cs typeface="Arial" panose="020B0604020202020204" pitchFamily="34" charset="0"/>
              </a:rPr>
              <a:t>project manager</a:t>
            </a:r>
            <a:r>
              <a:rPr lang="en-US" sz="1800" noProof="1">
                <a:latin typeface="Arial" panose="020B0604020202020204" pitchFamily="34" charset="0"/>
                <a:cs typeface="Arial" panose="020B0604020202020204" pitchFamily="34" charset="0"/>
              </a:rPr>
              <a:t> yang bekerja sekitar </a:t>
            </a:r>
            <a:r>
              <a:rPr lang="en-US" sz="1800" b="1" noProof="1">
                <a:latin typeface="Arial" panose="020B0604020202020204" pitchFamily="34" charset="0"/>
                <a:cs typeface="Arial" panose="020B0604020202020204" pitchFamily="34" charset="0"/>
              </a:rPr>
              <a:t>20 jam per minggu selama enam bulan</a:t>
            </a:r>
            <a:r>
              <a:rPr lang="en-US" sz="1800" noProof="1">
                <a:latin typeface="Arial" panose="020B0604020202020204" pitchFamily="34" charset="0"/>
                <a:cs typeface="Arial" panose="020B0604020202020204" pitchFamily="34" charset="0"/>
              </a:rPr>
              <a:t>, serta staf internal lain yang bekerja total sekitar </a:t>
            </a:r>
            <a:r>
              <a:rPr lang="en-US" sz="1800" b="1" noProof="1">
                <a:latin typeface="Arial" panose="020B0604020202020204" pitchFamily="34" charset="0"/>
                <a:cs typeface="Arial" panose="020B0604020202020204" pitchFamily="34" charset="0"/>
              </a:rPr>
              <a:t>60 jam per minggu selama enam bulan</a:t>
            </a:r>
            <a:r>
              <a:rPr lang="en-US" sz="1800" noProof="1">
                <a:latin typeface="Arial" panose="020B0604020202020204" pitchFamily="34" charset="0"/>
                <a:cs typeface="Arial" panose="020B0604020202020204" pitchFamily="34" charset="0"/>
              </a:rPr>
              <a:t>. Perwakilan </a:t>
            </a:r>
            <a:r>
              <a:rPr lang="en-US" sz="1800" b="1" noProof="1">
                <a:latin typeface="Arial" panose="020B0604020202020204" pitchFamily="34" charset="0"/>
                <a:cs typeface="Arial" panose="020B0604020202020204" pitchFamily="34" charset="0"/>
              </a:rPr>
              <a:t>customer</a:t>
            </a:r>
            <a:r>
              <a:rPr lang="en-US" sz="1800" noProof="1">
                <a:latin typeface="Arial" panose="020B0604020202020204" pitchFamily="34" charset="0"/>
                <a:cs typeface="Arial" panose="020B0604020202020204" pitchFamily="34" charset="0"/>
              </a:rPr>
              <a:t> tidak akan dibayar atas bantuannya. Seorang </a:t>
            </a:r>
            <a:r>
              <a:rPr lang="en-US" sz="1800" b="1" noProof="1">
                <a:latin typeface="Arial" panose="020B0604020202020204" pitchFamily="34" charset="0"/>
                <a:cs typeface="Arial" panose="020B0604020202020204" pitchFamily="34" charset="0"/>
              </a:rPr>
              <a:t>staff project manager</a:t>
            </a:r>
            <a:r>
              <a:rPr lang="en-US" sz="1800" noProof="1">
                <a:latin typeface="Arial" panose="020B0604020202020204" pitchFamily="34" charset="0"/>
                <a:cs typeface="Arial" panose="020B0604020202020204" pitchFamily="34" charset="0"/>
              </a:rPr>
              <a:t> akan memperoleh </a:t>
            </a:r>
            <a:r>
              <a:rPr lang="en-US" sz="1800" b="1" noProof="1">
                <a:latin typeface="Arial" panose="020B0604020202020204" pitchFamily="34" charset="0"/>
                <a:cs typeface="Arial" panose="020B0604020202020204" pitchFamily="34" charset="0"/>
              </a:rPr>
              <a:t>$50/jam</a:t>
            </a:r>
            <a:r>
              <a:rPr lang="en-US" sz="1800" noProof="1">
                <a:latin typeface="Arial" panose="020B0604020202020204" pitchFamily="34" charset="0"/>
                <a:cs typeface="Arial" panose="020B0604020202020204" pitchFamily="34" charset="0"/>
              </a:rPr>
              <a:t>. Tarif per jam untuk anggota </a:t>
            </a:r>
            <a:r>
              <a:rPr lang="en-US" sz="1800" b="1" noProof="1">
                <a:latin typeface="Arial" panose="020B0604020202020204" pitchFamily="34" charset="0"/>
                <a:cs typeface="Arial" panose="020B0604020202020204" pitchFamily="34" charset="0"/>
              </a:rPr>
              <a:t>tim proyek</a:t>
            </a:r>
            <a:r>
              <a:rPr lang="en-US" sz="1800" noProof="1">
                <a:latin typeface="Arial" panose="020B0604020202020204" pitchFamily="34" charset="0"/>
                <a:cs typeface="Arial" panose="020B0604020202020204" pitchFamily="34" charset="0"/>
              </a:rPr>
              <a:t> lainnya adalah </a:t>
            </a:r>
            <a:r>
              <a:rPr lang="en-US" sz="1800" b="1" noProof="1">
                <a:latin typeface="Arial" panose="020B0604020202020204" pitchFamily="34" charset="0"/>
                <a:cs typeface="Arial" panose="020B0604020202020204" pitchFamily="34" charset="0"/>
              </a:rPr>
              <a:t>$70/jam</a:t>
            </a:r>
            <a:r>
              <a:rPr lang="en-US" sz="1800" noProof="1">
                <a:latin typeface="Arial" panose="020B0604020202020204" pitchFamily="34" charset="0"/>
                <a:cs typeface="Arial" panose="020B0604020202020204" pitchFamily="34" charset="0"/>
              </a:rPr>
              <a:t>, karena beberapa jam yang biasanya ditagihkan ke klien mungkin diperlukan untuk proyek ini. Estimasi biaya awal juga mencakup </a:t>
            </a:r>
            <a:r>
              <a:rPr lang="en-US" sz="1800" b="1" noProof="1">
                <a:latin typeface="Arial" panose="020B0604020202020204" pitchFamily="34" charset="0"/>
                <a:cs typeface="Arial" panose="020B0604020202020204" pitchFamily="34" charset="0"/>
              </a:rPr>
              <a:t>$10.000</a:t>
            </a:r>
            <a:r>
              <a:rPr lang="en-US" sz="1800" noProof="1">
                <a:latin typeface="Arial" panose="020B0604020202020204" pitchFamily="34" charset="0"/>
                <a:cs typeface="Arial" panose="020B0604020202020204" pitchFamily="34" charset="0"/>
              </a:rPr>
              <a:t> untuk pembelian </a:t>
            </a:r>
            <a:r>
              <a:rPr lang="en-US" sz="1800" b="1" noProof="1">
                <a:latin typeface="Arial" panose="020B0604020202020204" pitchFamily="34" charset="0"/>
                <a:cs typeface="Arial" panose="020B0604020202020204" pitchFamily="34" charset="0"/>
              </a:rPr>
              <a:t>software</a:t>
            </a:r>
            <a:r>
              <a:rPr lang="en-US" sz="1800" noProof="1">
                <a:latin typeface="Arial" panose="020B0604020202020204" pitchFamily="34" charset="0"/>
                <a:cs typeface="Arial" panose="020B0604020202020204" pitchFamily="34" charset="0"/>
              </a:rPr>
              <a:t> dan layanan dari pemasok. Setelah proyek selesai, disertakan </a:t>
            </a:r>
            <a:r>
              <a:rPr lang="en-US" sz="1800" b="1" noProof="1">
                <a:latin typeface="Arial" panose="020B0604020202020204" pitchFamily="34" charset="0"/>
                <a:cs typeface="Arial" panose="020B0604020202020204" pitchFamily="34" charset="0"/>
              </a:rPr>
              <a:t>biaya pemeliharaan sebesar $40.000 per tahun</a:t>
            </a:r>
            <a:r>
              <a:rPr lang="en-US" sz="1800" noProof="1">
                <a:latin typeface="Arial" panose="020B0604020202020204" pitchFamily="34" charset="0"/>
                <a:cs typeface="Arial" panose="020B0604020202020204" pitchFamily="34" charset="0"/>
              </a:rPr>
              <a:t>, terutama untuk memperbarui informasi dan mengoordinasikan fitur </a:t>
            </a:r>
            <a:r>
              <a:rPr lang="en-US" sz="1800" b="1" noProof="1">
                <a:latin typeface="Arial" panose="020B0604020202020204" pitchFamily="34" charset="0"/>
                <a:cs typeface="Arial" panose="020B0604020202020204" pitchFamily="34" charset="0"/>
              </a:rPr>
              <a:t>“Ask the Expert”</a:t>
            </a:r>
            <a:r>
              <a:rPr lang="en-US" sz="1800" noProof="1">
                <a:latin typeface="Arial" panose="020B0604020202020204" pitchFamily="34" charset="0"/>
                <a:cs typeface="Arial" panose="020B0604020202020204" pitchFamily="34" charset="0"/>
              </a:rPr>
              <a:t> serta artikel daring.</a:t>
            </a:r>
          </a:p>
          <a:p>
            <a:pPr marL="446088" algn="just">
              <a:lnSpc>
                <a:spcPct val="120000"/>
              </a:lnSpc>
            </a:pPr>
            <a:r>
              <a:rPr lang="en-US" sz="1800" b="1" noProof="1">
                <a:latin typeface="Arial" panose="020B0604020202020204" pitchFamily="34" charset="0"/>
                <a:cs typeface="Arial" panose="020B0604020202020204" pitchFamily="34" charset="0"/>
              </a:rPr>
              <a:t>Projected benefits</a:t>
            </a:r>
            <a:r>
              <a:rPr lang="en-US" sz="1800" noProof="1">
                <a:latin typeface="Arial" panose="020B0604020202020204" pitchFamily="34" charset="0"/>
                <a:cs typeface="Arial" panose="020B0604020202020204" pitchFamily="34" charset="0"/>
              </a:rPr>
              <a:t> didasarkan pada pengurangan jam yang dihabiskan konsultan untuk menelusuri informasi </a:t>
            </a:r>
            <a:r>
              <a:rPr lang="en-US" sz="1800" b="1" noProof="1">
                <a:latin typeface="Arial" panose="020B0604020202020204" pitchFamily="34" charset="0"/>
                <a:cs typeface="Arial" panose="020B0604020202020204" pitchFamily="34" charset="0"/>
              </a:rPr>
              <a:t>project management</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tools</a:t>
            </a:r>
            <a:r>
              <a:rPr lang="en-US" sz="1800" noProof="1">
                <a:latin typeface="Arial" panose="020B0604020202020204" pitchFamily="34" charset="0"/>
                <a:cs typeface="Arial" panose="020B0604020202020204" pitchFamily="34" charset="0"/>
              </a:rPr>
              <a:t> dan </a:t>
            </a:r>
            <a:r>
              <a:rPr lang="en-US" sz="1800" b="1" noProof="1">
                <a:latin typeface="Arial" panose="020B0604020202020204" pitchFamily="34" charset="0"/>
                <a:cs typeface="Arial" panose="020B0604020202020204" pitchFamily="34" charset="0"/>
              </a:rPr>
              <a:t>templates</a:t>
            </a:r>
            <a:r>
              <a:rPr lang="en-US" sz="1800" noProof="1">
                <a:latin typeface="Arial" panose="020B0604020202020204" pitchFamily="34" charset="0"/>
                <a:cs typeface="Arial" panose="020B0604020202020204" pitchFamily="34" charset="0"/>
              </a:rPr>
              <a:t> yang sesuai, dan seterusnya. </a:t>
            </a:r>
            <a:r>
              <a:rPr lang="en-US" sz="1800" b="1" noProof="1">
                <a:latin typeface="Arial" panose="020B0604020202020204" pitchFamily="34" charset="0"/>
                <a:cs typeface="Arial" panose="020B0604020202020204" pitchFamily="34" charset="0"/>
              </a:rPr>
              <a:t>Projected benefits</a:t>
            </a:r>
            <a:r>
              <a:rPr lang="en-US" sz="1800" noProof="1">
                <a:latin typeface="Arial" panose="020B0604020202020204" pitchFamily="34" charset="0"/>
                <a:cs typeface="Arial" panose="020B0604020202020204" pitchFamily="34" charset="0"/>
              </a:rPr>
              <a:t> juga didasarkan pada peningkatan kecil </a:t>
            </a:r>
            <a:r>
              <a:rPr lang="en-US" sz="1800" b="1" noProof="1">
                <a:latin typeface="Arial" panose="020B0604020202020204" pitchFamily="34" charset="0"/>
                <a:cs typeface="Arial" panose="020B0604020202020204" pitchFamily="34" charset="0"/>
              </a:rPr>
              <a:t>profit</a:t>
            </a:r>
            <a:r>
              <a:rPr lang="en-US" sz="1800" noProof="1">
                <a:latin typeface="Arial" panose="020B0604020202020204" pitchFamily="34" charset="0"/>
                <a:cs typeface="Arial" panose="020B0604020202020204" pitchFamily="34" charset="0"/>
              </a:rPr>
              <a:t> karena adanya bisnis baru yang dihasilkan oleh proyek ini. Jika masing-masing dari lebih dari </a:t>
            </a:r>
            <a:r>
              <a:rPr lang="en-US" sz="1800" b="1" noProof="1">
                <a:latin typeface="Arial" panose="020B0604020202020204" pitchFamily="34" charset="0"/>
                <a:cs typeface="Arial" panose="020B0604020202020204" pitchFamily="34" charset="0"/>
              </a:rPr>
              <a:t>400 konsultan</a:t>
            </a:r>
            <a:r>
              <a:rPr lang="en-US" sz="1800" noProof="1">
                <a:latin typeface="Arial" panose="020B0604020202020204" pitchFamily="34" charset="0"/>
                <a:cs typeface="Arial" panose="020B0604020202020204" pitchFamily="34" charset="0"/>
              </a:rPr>
              <a:t> menghemat </a:t>
            </a:r>
            <a:r>
              <a:rPr lang="en-US" sz="1800" b="1" noProof="1">
                <a:latin typeface="Arial" panose="020B0604020202020204" pitchFamily="34" charset="0"/>
                <a:cs typeface="Arial" panose="020B0604020202020204" pitchFamily="34" charset="0"/>
              </a:rPr>
              <a:t>40 jam per tahun</a:t>
            </a:r>
            <a:r>
              <a:rPr lang="en-US" sz="1800" noProof="1">
                <a:latin typeface="Arial" panose="020B0604020202020204" pitchFamily="34" charset="0"/>
                <a:cs typeface="Arial" panose="020B0604020202020204" pitchFamily="34" charset="0"/>
              </a:rPr>
              <a:t> (kurang dari satu jam per minggu) dan jam tersebut dapat ditagihkan ke proyek lain yang menghasilkan laba konservatif </a:t>
            </a:r>
            <a:r>
              <a:rPr lang="en-US" sz="1800" b="1" noProof="1">
                <a:latin typeface="Arial" panose="020B0604020202020204" pitchFamily="34" charset="0"/>
                <a:cs typeface="Arial" panose="020B0604020202020204" pitchFamily="34" charset="0"/>
              </a:rPr>
              <a:t>$10/jam</a:t>
            </a:r>
            <a:r>
              <a:rPr lang="en-US" sz="1800" noProof="1">
                <a:latin typeface="Arial" panose="020B0604020202020204" pitchFamily="34" charset="0"/>
                <a:cs typeface="Arial" panose="020B0604020202020204" pitchFamily="34" charset="0"/>
              </a:rPr>
              <a:t>, maka </a:t>
            </a:r>
            <a:r>
              <a:rPr lang="en-US" sz="1800" b="1" noProof="1">
                <a:latin typeface="Arial" panose="020B0604020202020204" pitchFamily="34" charset="0"/>
                <a:cs typeface="Arial" panose="020B0604020202020204" pitchFamily="34" charset="0"/>
              </a:rPr>
              <a:t>manfaat yang diproyeksikan</a:t>
            </a:r>
            <a:r>
              <a:rPr lang="en-US" sz="1800" noProof="1">
                <a:latin typeface="Arial" panose="020B0604020202020204" pitchFamily="34" charset="0"/>
                <a:cs typeface="Arial" panose="020B0604020202020204" pitchFamily="34" charset="0"/>
              </a:rPr>
              <a:t> adalah </a:t>
            </a:r>
            <a:r>
              <a:rPr lang="en-US" sz="1800" b="1" noProof="1">
                <a:latin typeface="Arial" panose="020B0604020202020204" pitchFamily="34" charset="0"/>
                <a:cs typeface="Arial" panose="020B0604020202020204" pitchFamily="34" charset="0"/>
              </a:rPr>
              <a:t>$160.000 per tahun</a:t>
            </a:r>
            <a:r>
              <a:rPr lang="en-US" sz="1800" noProof="1">
                <a:latin typeface="Arial" panose="020B0604020202020204" pitchFamily="34" charset="0"/>
                <a:cs typeface="Arial" panose="020B0604020202020204" pitchFamily="34" charset="0"/>
              </a:rPr>
              <a:t>. Jika intranet baru meningkatkan bisnis </a:t>
            </a:r>
            <a:r>
              <a:rPr lang="en-US" sz="1800" b="1" noProof="1">
                <a:latin typeface="Arial" panose="020B0604020202020204" pitchFamily="34" charset="0"/>
                <a:cs typeface="Arial" panose="020B0604020202020204" pitchFamily="34" charset="0"/>
              </a:rPr>
              <a:t>hanya 1%</a:t>
            </a:r>
            <a:r>
              <a:rPr lang="en-US" sz="1800" noProof="1">
                <a:latin typeface="Arial" panose="020B0604020202020204" pitchFamily="34" charset="0"/>
                <a:cs typeface="Arial" panose="020B0604020202020204" pitchFamily="34" charset="0"/>
              </a:rPr>
              <a:t>, berdasarkan data profit historis perusahaan, maka tambahan </a:t>
            </a:r>
            <a:r>
              <a:rPr lang="en-US" sz="1800" b="1" noProof="1">
                <a:latin typeface="Arial" panose="020B0604020202020204" pitchFamily="34" charset="0"/>
                <a:cs typeface="Arial" panose="020B0604020202020204" pitchFamily="34" charset="0"/>
              </a:rPr>
              <a:t>keuntungan tahunan diperkirakan mencapai $40.000</a:t>
            </a:r>
            <a:r>
              <a:rPr lang="en-US" sz="1800" noProof="1">
                <a:latin typeface="Arial" panose="020B0604020202020204" pitchFamily="34" charset="0"/>
                <a:cs typeface="Arial" panose="020B0604020202020204" pitchFamily="34" charset="0"/>
              </a:rPr>
              <a:t>. Dengan demikian, total </a:t>
            </a:r>
            <a:r>
              <a:rPr lang="en-US" sz="1800" b="1" noProof="1">
                <a:latin typeface="Arial" panose="020B0604020202020204" pitchFamily="34" charset="0"/>
                <a:cs typeface="Arial" panose="020B0604020202020204" pitchFamily="34" charset="0"/>
              </a:rPr>
              <a:t>manfaat tahunan</a:t>
            </a:r>
            <a:r>
              <a:rPr lang="en-US" sz="1800" noProof="1">
                <a:latin typeface="Arial" panose="020B0604020202020204" pitchFamily="34" charset="0"/>
                <a:cs typeface="Arial" panose="020B0604020202020204" pitchFamily="34" charset="0"/>
              </a:rPr>
              <a:t> dari proyek ini dapat mencapai </a:t>
            </a:r>
            <a:r>
              <a:rPr lang="en-US" sz="1800" b="1" noProof="1">
                <a:latin typeface="Arial" panose="020B0604020202020204" pitchFamily="34" charset="0"/>
                <a:cs typeface="Arial" panose="020B0604020202020204" pitchFamily="34" charset="0"/>
              </a:rPr>
              <a:t>sekitar $200.000</a:t>
            </a:r>
            <a:r>
              <a:rPr lang="en-US" sz="1800" noProof="1">
                <a:latin typeface="Arial" panose="020B0604020202020204" pitchFamily="34" charset="0"/>
                <a:cs typeface="Arial" panose="020B0604020202020204" pitchFamily="34" charset="0"/>
              </a:rPr>
              <a:t>. Dibandingkan dengan estimasi </a:t>
            </a:r>
            <a:r>
              <a:rPr lang="en-US" sz="1800" b="1" noProof="1">
                <a:latin typeface="Arial" panose="020B0604020202020204" pitchFamily="34" charset="0"/>
                <a:cs typeface="Arial" panose="020B0604020202020204" pitchFamily="34" charset="0"/>
              </a:rPr>
              <a:t>biaya awal sebesar $140.000</a:t>
            </a:r>
            <a:r>
              <a:rPr lang="en-US" sz="1800" noProof="1">
                <a:latin typeface="Arial" panose="020B0604020202020204" pitchFamily="34" charset="0"/>
                <a:cs typeface="Arial" panose="020B0604020202020204" pitchFamily="34" charset="0"/>
              </a:rPr>
              <a:t>, proyek ini diperkirakan akan memberikan </a:t>
            </a:r>
            <a:r>
              <a:rPr lang="en-US" sz="1800" b="1" noProof="1">
                <a:latin typeface="Arial" panose="020B0604020202020204" pitchFamily="34" charset="0"/>
                <a:cs typeface="Arial" panose="020B0604020202020204" pitchFamily="34" charset="0"/>
              </a:rPr>
              <a:t>pengembalian investasi (ROI) positif </a:t>
            </a:r>
            <a:r>
              <a:rPr lang="en-US" sz="1800" noProof="1">
                <a:latin typeface="Arial" panose="020B0604020202020204" pitchFamily="34" charset="0"/>
                <a:cs typeface="Arial" panose="020B0604020202020204" pitchFamily="34" charset="0"/>
              </a:rPr>
              <a:t>dalam tahun pertama implementasi.</a:t>
            </a:r>
          </a:p>
          <a:p>
            <a:pPr marL="0" indent="0">
              <a:lnSpc>
                <a:spcPct val="120000"/>
              </a:lnSpc>
              <a:buNone/>
            </a:pPr>
            <a:endParaRPr lang="en-US" sz="1800" noProof="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85139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A6DFAD-179D-A24F-3FB1-B22749EBF530}"/>
              </a:ext>
            </a:extLst>
          </p:cNvPr>
          <p:cNvSpPr>
            <a:spLocks noGrp="1"/>
          </p:cNvSpPr>
          <p:nvPr>
            <p:ph idx="1"/>
          </p:nvPr>
        </p:nvSpPr>
        <p:spPr>
          <a:xfrm>
            <a:off x="838200" y="411480"/>
            <a:ext cx="10515600" cy="5765483"/>
          </a:xfrm>
        </p:spPr>
        <p:txBody>
          <a:bodyPr>
            <a:noAutofit/>
          </a:bodyPr>
          <a:lstStyle/>
          <a:p>
            <a:pPr algn="just">
              <a:lnSpc>
                <a:spcPct val="110000"/>
              </a:lnSpc>
            </a:pPr>
            <a:r>
              <a:rPr lang="en-US" sz="1800" b="1" noProof="1">
                <a:highlight>
                  <a:srgbClr val="FFFF00"/>
                </a:highlight>
                <a:latin typeface="Arial" panose="020B0604020202020204" pitchFamily="34" charset="0"/>
                <a:cs typeface="Arial" panose="020B0604020202020204" pitchFamily="34" charset="0"/>
              </a:rPr>
              <a:t>8.0 Estimasi Jadwal (Schedule Estimate)</a:t>
            </a:r>
          </a:p>
          <a:p>
            <a:pPr marL="182563" indent="0" algn="just">
              <a:lnSpc>
                <a:spcPct val="110000"/>
              </a:lnSpc>
              <a:buNone/>
            </a:pPr>
            <a:r>
              <a:rPr lang="en-US" sz="1800" noProof="1">
                <a:latin typeface="Arial" panose="020B0604020202020204" pitchFamily="34" charset="0"/>
                <a:cs typeface="Arial" panose="020B0604020202020204" pitchFamily="34" charset="0"/>
              </a:rPr>
              <a:t>Sponsor ingin proyek </a:t>
            </a:r>
            <a:r>
              <a:rPr lang="en-US" sz="1800" b="1" noProof="1">
                <a:latin typeface="Arial" panose="020B0604020202020204" pitchFamily="34" charset="0"/>
                <a:cs typeface="Arial" panose="020B0604020202020204" pitchFamily="34" charset="0"/>
              </a:rPr>
              <a:t>selesai dalam enam bulan</a:t>
            </a:r>
            <a:r>
              <a:rPr lang="en-US" sz="1800" noProof="1">
                <a:latin typeface="Arial" panose="020B0604020202020204" pitchFamily="34" charset="0"/>
                <a:cs typeface="Arial" panose="020B0604020202020204" pitchFamily="34" charset="0"/>
              </a:rPr>
              <a:t>, namun terdapat </a:t>
            </a:r>
            <a:r>
              <a:rPr lang="en-US" sz="1800" b="1" noProof="1">
                <a:latin typeface="Arial" panose="020B0604020202020204" pitchFamily="34" charset="0"/>
                <a:cs typeface="Arial" panose="020B0604020202020204" pitchFamily="34" charset="0"/>
              </a:rPr>
              <a:t>fleksibilitas</a:t>
            </a:r>
            <a:r>
              <a:rPr lang="en-US" sz="1800" noProof="1">
                <a:latin typeface="Arial" panose="020B0604020202020204" pitchFamily="34" charset="0"/>
                <a:cs typeface="Arial" panose="020B0604020202020204" pitchFamily="34" charset="0"/>
              </a:rPr>
              <a:t> pada jadwal. Kami juga </a:t>
            </a:r>
            <a:r>
              <a:rPr lang="en-US" sz="1800" b="1" noProof="1">
                <a:latin typeface="Arial" panose="020B0604020202020204" pitchFamily="34" charset="0"/>
                <a:cs typeface="Arial" panose="020B0604020202020204" pitchFamily="34" charset="0"/>
              </a:rPr>
              <a:t>berasumsi</a:t>
            </a:r>
            <a:r>
              <a:rPr lang="en-US" sz="1800" noProof="1">
                <a:latin typeface="Arial" panose="020B0604020202020204" pitchFamily="34" charset="0"/>
                <a:cs typeface="Arial" panose="020B0604020202020204" pitchFamily="34" charset="0"/>
              </a:rPr>
              <a:t> bahwa sistem baru ini akan memiliki </a:t>
            </a:r>
            <a:r>
              <a:rPr lang="en-US" sz="1800" b="1" noProof="1">
                <a:latin typeface="Arial" panose="020B0604020202020204" pitchFamily="34" charset="0"/>
                <a:cs typeface="Arial" panose="020B0604020202020204" pitchFamily="34" charset="0"/>
              </a:rPr>
              <a:t>umur manfaat</a:t>
            </a:r>
            <a:r>
              <a:rPr lang="en-US" sz="1800" noProof="1">
                <a:latin typeface="Arial" panose="020B0604020202020204" pitchFamily="34" charset="0"/>
                <a:cs typeface="Arial" panose="020B0604020202020204" pitchFamily="34" charset="0"/>
              </a:rPr>
              <a:t> setidaknya </a:t>
            </a:r>
            <a:r>
              <a:rPr lang="en-US" sz="1800" b="1" noProof="1">
                <a:latin typeface="Arial" panose="020B0604020202020204" pitchFamily="34" charset="0"/>
                <a:cs typeface="Arial" panose="020B0604020202020204" pitchFamily="34" charset="0"/>
              </a:rPr>
              <a:t>tiga tahun</a:t>
            </a:r>
            <a:r>
              <a:rPr lang="en-US" sz="1800" noProof="1">
                <a:latin typeface="Arial" panose="020B0604020202020204" pitchFamily="34" charset="0"/>
                <a:cs typeface="Arial" panose="020B0604020202020204" pitchFamily="34" charset="0"/>
              </a:rPr>
              <a:t>.</a:t>
            </a:r>
          </a:p>
          <a:p>
            <a:pPr>
              <a:lnSpc>
                <a:spcPct val="110000"/>
              </a:lnSpc>
            </a:pPr>
            <a:r>
              <a:rPr lang="en-US" sz="1800" b="1" noProof="1">
                <a:highlight>
                  <a:srgbClr val="FFFF00"/>
                </a:highlight>
                <a:latin typeface="Arial" panose="020B0604020202020204" pitchFamily="34" charset="0"/>
                <a:cs typeface="Arial" panose="020B0604020202020204" pitchFamily="34" charset="0"/>
              </a:rPr>
              <a:t>9.0 Risiko Potensial (Potential Risks)</a:t>
            </a:r>
            <a:endParaRPr lang="en-US" sz="1800" noProof="1">
              <a:latin typeface="Arial" panose="020B0604020202020204" pitchFamily="34" charset="0"/>
              <a:cs typeface="Arial" panose="020B0604020202020204" pitchFamily="34" charset="0"/>
            </a:endParaRPr>
          </a:p>
          <a:p>
            <a:pPr marL="182563" indent="0" algn="just">
              <a:lnSpc>
                <a:spcPct val="110000"/>
              </a:lnSpc>
              <a:buNone/>
            </a:pPr>
            <a:r>
              <a:rPr lang="en-US" sz="1800" noProof="1">
                <a:latin typeface="Arial" panose="020B0604020202020204" pitchFamily="34" charset="0"/>
                <a:cs typeface="Arial" panose="020B0604020202020204" pitchFamily="34" charset="0"/>
              </a:rPr>
              <a:t>Terdapat beberapa risiko terkait proyek ini. </a:t>
            </a:r>
            <a:r>
              <a:rPr lang="en-US" sz="1800" b="1" noProof="1">
                <a:latin typeface="Arial" panose="020B0604020202020204" pitchFamily="34" charset="0"/>
                <a:cs typeface="Arial" panose="020B0604020202020204" pitchFamily="34" charset="0"/>
              </a:rPr>
              <a:t>Risiko utama</a:t>
            </a:r>
            <a:r>
              <a:rPr lang="en-US" sz="1800" noProof="1">
                <a:latin typeface="Arial" panose="020B0604020202020204" pitchFamily="34" charset="0"/>
                <a:cs typeface="Arial" panose="020B0604020202020204" pitchFamily="34" charset="0"/>
              </a:rPr>
              <a:t> adalah </a:t>
            </a:r>
            <a:r>
              <a:rPr lang="en-US" sz="1800" b="1" noProof="1">
                <a:latin typeface="Arial" panose="020B0604020202020204" pitchFamily="34" charset="0"/>
                <a:cs typeface="Arial" panose="020B0604020202020204" pitchFamily="34" charset="0"/>
              </a:rPr>
              <a:t>kurangnya minat</a:t>
            </a:r>
            <a:r>
              <a:rPr lang="en-US" sz="1800" noProof="1">
                <a:latin typeface="Arial" panose="020B0604020202020204" pitchFamily="34" charset="0"/>
                <a:cs typeface="Arial" panose="020B0604020202020204" pitchFamily="34" charset="0"/>
              </a:rPr>
              <a:t> terhadap sistem baru dari </a:t>
            </a:r>
            <a:r>
              <a:rPr lang="en-US" sz="1800" b="1" noProof="1">
                <a:latin typeface="Arial" panose="020B0604020202020204" pitchFamily="34" charset="0"/>
                <a:cs typeface="Arial" panose="020B0604020202020204" pitchFamily="34" charset="0"/>
              </a:rPr>
              <a:t>konsultan internal</a:t>
            </a:r>
            <a:r>
              <a:rPr lang="en-US" sz="1800" noProof="1">
                <a:latin typeface="Arial" panose="020B0604020202020204" pitchFamily="34" charset="0"/>
                <a:cs typeface="Arial" panose="020B0604020202020204" pitchFamily="34" charset="0"/>
              </a:rPr>
              <a:t> dan </a:t>
            </a:r>
            <a:r>
              <a:rPr lang="en-US" sz="1800" b="1" noProof="1">
                <a:latin typeface="Arial" panose="020B0604020202020204" pitchFamily="34" charset="0"/>
                <a:cs typeface="Arial" panose="020B0604020202020204" pitchFamily="34" charset="0"/>
              </a:rPr>
              <a:t>klien eksternal</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Masukan pengguna (user inputs)</a:t>
            </a:r>
            <a:r>
              <a:rPr lang="en-US" sz="1800" noProof="1">
                <a:latin typeface="Arial" panose="020B0604020202020204" pitchFamily="34" charset="0"/>
                <a:cs typeface="Arial" panose="020B0604020202020204" pitchFamily="34" charset="0"/>
              </a:rPr>
              <a:t> sangat krusial untuk </a:t>
            </a:r>
            <a:r>
              <a:rPr lang="en-US" sz="1800" b="1" noProof="1">
                <a:latin typeface="Arial" panose="020B0604020202020204" pitchFamily="34" charset="0"/>
                <a:cs typeface="Arial" panose="020B0604020202020204" pitchFamily="34" charset="0"/>
              </a:rPr>
              <a:t>mengisi informasi</a:t>
            </a:r>
            <a:r>
              <a:rPr lang="en-US" sz="1800" noProof="1">
                <a:latin typeface="Arial" panose="020B0604020202020204" pitchFamily="34" charset="0"/>
                <a:cs typeface="Arial" panose="020B0604020202020204" pitchFamily="34" charset="0"/>
              </a:rPr>
              <a:t> ke dalam sistem dan </a:t>
            </a:r>
            <a:r>
              <a:rPr lang="en-US" sz="1800" b="1" noProof="1">
                <a:latin typeface="Arial" panose="020B0604020202020204" pitchFamily="34" charset="0"/>
                <a:cs typeface="Arial" panose="020B0604020202020204" pitchFamily="34" charset="0"/>
              </a:rPr>
              <a:t>mewujudkan manfaat potensial</a:t>
            </a:r>
            <a:r>
              <a:rPr lang="en-US" sz="1800" noProof="1">
                <a:latin typeface="Arial" panose="020B0604020202020204" pitchFamily="34" charset="0"/>
                <a:cs typeface="Arial" panose="020B0604020202020204" pitchFamily="34" charset="0"/>
              </a:rPr>
              <a:t> dari penggunaan sistem tersebut. Ada pula </a:t>
            </a:r>
            <a:r>
              <a:rPr lang="en-US" sz="1800" b="1" noProof="1">
                <a:latin typeface="Arial" panose="020B0604020202020204" pitchFamily="34" charset="0"/>
                <a:cs typeface="Arial" panose="020B0604020202020204" pitchFamily="34" charset="0"/>
              </a:rPr>
              <a:t>risiko teknis</a:t>
            </a:r>
            <a:r>
              <a:rPr lang="en-US" sz="1800" noProof="1">
                <a:latin typeface="Arial" panose="020B0604020202020204" pitchFamily="34" charset="0"/>
                <a:cs typeface="Arial" panose="020B0604020202020204" pitchFamily="34" charset="0"/>
              </a:rPr>
              <a:t> dalam memilih jenis </a:t>
            </a:r>
            <a:r>
              <a:rPr lang="en-US" sz="1800" b="1" noProof="1">
                <a:latin typeface="Arial" panose="020B0604020202020204" pitchFamily="34" charset="0"/>
                <a:cs typeface="Arial" panose="020B0604020202020204" pitchFamily="34" charset="0"/>
              </a:rPr>
              <a:t>software</a:t>
            </a:r>
            <a:r>
              <a:rPr lang="en-US" sz="1800" noProof="1">
                <a:latin typeface="Arial" panose="020B0604020202020204" pitchFamily="34" charset="0"/>
                <a:cs typeface="Arial" panose="020B0604020202020204" pitchFamily="34" charset="0"/>
              </a:rPr>
              <a:t> yang dipakai untuk </a:t>
            </a:r>
            <a:r>
              <a:rPr lang="en-US" sz="1800" b="1" noProof="1">
                <a:latin typeface="Arial" panose="020B0604020202020204" pitchFamily="34" charset="0"/>
                <a:cs typeface="Arial" panose="020B0604020202020204" pitchFamily="34" charset="0"/>
              </a:rPr>
              <a:t>pencarian</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pemeriksaan keamanan</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pemrosesan pembayaran</a:t>
            </a:r>
            <a:r>
              <a:rPr lang="en-US" sz="1800" noProof="1">
                <a:latin typeface="Arial" panose="020B0604020202020204" pitchFamily="34" charset="0"/>
                <a:cs typeface="Arial" panose="020B0604020202020204" pitchFamily="34" charset="0"/>
              </a:rPr>
              <a:t>, dan seterusnya; namun fitur-fitur sistem ini menggunakan </a:t>
            </a:r>
            <a:r>
              <a:rPr lang="en-US" sz="1800" b="1" noProof="1">
                <a:latin typeface="Arial" panose="020B0604020202020204" pitchFamily="34" charset="0"/>
                <a:cs typeface="Arial" panose="020B0604020202020204" pitchFamily="34" charset="0"/>
              </a:rPr>
              <a:t>teknologi yang telah terbukti</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Risiko bisnis</a:t>
            </a:r>
            <a:r>
              <a:rPr lang="en-US" sz="1800" noProof="1">
                <a:latin typeface="Arial" panose="020B0604020202020204" pitchFamily="34" charset="0"/>
                <a:cs typeface="Arial" panose="020B0604020202020204" pitchFamily="34" charset="0"/>
              </a:rPr>
              <a:t> yang paling besar adalah </a:t>
            </a:r>
            <a:r>
              <a:rPr lang="en-US" sz="1800" b="1" noProof="1">
                <a:latin typeface="Arial" panose="020B0604020202020204" pitchFamily="34" charset="0"/>
                <a:cs typeface="Arial" panose="020B0604020202020204" pitchFamily="34" charset="0"/>
              </a:rPr>
              <a:t>menginvestasikan waktu dan dana</a:t>
            </a:r>
            <a:r>
              <a:rPr lang="en-US" sz="1800" noProof="1">
                <a:latin typeface="Arial" panose="020B0604020202020204" pitchFamily="34" charset="0"/>
                <a:cs typeface="Arial" panose="020B0604020202020204" pitchFamily="34" charset="0"/>
              </a:rPr>
              <a:t> ke dalam proyek ini tetapi </a:t>
            </a:r>
            <a:r>
              <a:rPr lang="en-US" sz="1800" b="1" noProof="1">
                <a:latin typeface="Arial" panose="020B0604020202020204" pitchFamily="34" charset="0"/>
                <a:cs typeface="Arial" panose="020B0604020202020204" pitchFamily="34" charset="0"/>
              </a:rPr>
              <a:t>tidak memperoleh manfaat yang diproyeksikan</a:t>
            </a:r>
            <a:r>
              <a:rPr lang="en-US" sz="1800" noProof="1">
                <a:latin typeface="Arial" panose="020B0604020202020204" pitchFamily="34" charset="0"/>
                <a:cs typeface="Arial" panose="020B0604020202020204" pitchFamily="34" charset="0"/>
              </a:rPr>
              <a:t>.</a:t>
            </a:r>
          </a:p>
          <a:p>
            <a:pPr marL="0" indent="0">
              <a:lnSpc>
                <a:spcPct val="110000"/>
              </a:lnSpc>
              <a:buNone/>
            </a:pPr>
            <a:endParaRPr lang="en-US" sz="1800" noProof="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06665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FDD1962-F4D5-E656-EFE6-870D16E07CB6}"/>
              </a:ext>
            </a:extLst>
          </p:cNvPr>
          <p:cNvGraphicFramePr>
            <a:graphicFrameLocks noGrp="1"/>
          </p:cNvGraphicFramePr>
          <p:nvPr>
            <p:ph idx="1"/>
            <p:extLst>
              <p:ext uri="{D42A27DB-BD31-4B8C-83A1-F6EECF244321}">
                <p14:modId xmlns:p14="http://schemas.microsoft.com/office/powerpoint/2010/main" val="3367736708"/>
              </p:ext>
            </p:extLst>
          </p:nvPr>
        </p:nvGraphicFramePr>
        <p:xfrm>
          <a:off x="274320" y="217170"/>
          <a:ext cx="11670030" cy="6480800"/>
        </p:xfrm>
        <a:graphic>
          <a:graphicData uri="http://schemas.openxmlformats.org/drawingml/2006/table">
            <a:tbl>
              <a:tblPr>
                <a:tableStyleId>{5C22544A-7EE6-4342-B048-85BDC9FD1C3A}</a:tableStyleId>
              </a:tblPr>
              <a:tblGrid>
                <a:gridCol w="5203855">
                  <a:extLst>
                    <a:ext uri="{9D8B030D-6E8A-4147-A177-3AD203B41FA5}">
                      <a16:colId xmlns:a16="http://schemas.microsoft.com/office/drawing/2014/main" val="2510309929"/>
                    </a:ext>
                  </a:extLst>
                </a:gridCol>
                <a:gridCol w="1159276">
                  <a:extLst>
                    <a:ext uri="{9D8B030D-6E8A-4147-A177-3AD203B41FA5}">
                      <a16:colId xmlns:a16="http://schemas.microsoft.com/office/drawing/2014/main" val="2836644964"/>
                    </a:ext>
                  </a:extLst>
                </a:gridCol>
                <a:gridCol w="1081990">
                  <a:extLst>
                    <a:ext uri="{9D8B030D-6E8A-4147-A177-3AD203B41FA5}">
                      <a16:colId xmlns:a16="http://schemas.microsoft.com/office/drawing/2014/main" val="3311154474"/>
                    </a:ext>
                  </a:extLst>
                </a:gridCol>
                <a:gridCol w="1236558">
                  <a:extLst>
                    <a:ext uri="{9D8B030D-6E8A-4147-A177-3AD203B41FA5}">
                      <a16:colId xmlns:a16="http://schemas.microsoft.com/office/drawing/2014/main" val="4134263088"/>
                    </a:ext>
                  </a:extLst>
                </a:gridCol>
                <a:gridCol w="1751793">
                  <a:extLst>
                    <a:ext uri="{9D8B030D-6E8A-4147-A177-3AD203B41FA5}">
                      <a16:colId xmlns:a16="http://schemas.microsoft.com/office/drawing/2014/main" val="905425174"/>
                    </a:ext>
                  </a:extLst>
                </a:gridCol>
                <a:gridCol w="1236558">
                  <a:extLst>
                    <a:ext uri="{9D8B030D-6E8A-4147-A177-3AD203B41FA5}">
                      <a16:colId xmlns:a16="http://schemas.microsoft.com/office/drawing/2014/main" val="3664988061"/>
                    </a:ext>
                  </a:extLst>
                </a:gridCol>
              </a:tblGrid>
              <a:tr h="202525">
                <a:tc>
                  <a:txBody>
                    <a:bodyPr/>
                    <a:lstStyle/>
                    <a:p>
                      <a:pPr algn="l" fontAlgn="b">
                        <a:buNone/>
                      </a:pPr>
                      <a:r>
                        <a:rPr lang="en-US" sz="1200" u="none" strike="noStrike" noProof="1">
                          <a:effectLst/>
                          <a:latin typeface="Arial" panose="020B0604020202020204" pitchFamily="34" charset="0"/>
                          <a:cs typeface="Arial" panose="020B0604020202020204" pitchFamily="34" charset="0"/>
                        </a:rPr>
                        <a:t>10.0 Lampiran (Exhibits)</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69702545"/>
                  </a:ext>
                </a:extLst>
              </a:tr>
              <a:tr h="202525">
                <a:tc gridSpan="6">
                  <a:txBody>
                    <a:bodyPr/>
                    <a:lstStyle/>
                    <a:p>
                      <a:pPr algn="l" fontAlgn="b">
                        <a:buNone/>
                      </a:pPr>
                      <a:r>
                        <a:rPr lang="en-US" sz="1200" u="none" strike="noStrike" noProof="1">
                          <a:effectLst/>
                          <a:latin typeface="Arial" panose="020B0604020202020204" pitchFamily="34" charset="0"/>
                          <a:cs typeface="Arial" panose="020B0604020202020204" pitchFamily="34" charset="0"/>
                        </a:rPr>
                        <a:t>Exhibit A: Financial Analysis for Project Management Intranet Site Project</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extLst>
                  <a:ext uri="{0D108BD9-81ED-4DB2-BD59-A6C34878D82A}">
                    <a16:rowId xmlns:a16="http://schemas.microsoft.com/office/drawing/2014/main" val="4263001404"/>
                  </a:ext>
                </a:extLst>
              </a:tr>
              <a:tr h="202525">
                <a:tc>
                  <a:txBody>
                    <a:bodyPr/>
                    <a:lstStyle/>
                    <a:p>
                      <a:pPr algn="l" fontAlgn="b">
                        <a:buNone/>
                      </a:pP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2459916"/>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Tingkat Diskonto (Discount rate)</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200" u="none" strike="noStrike" noProof="1">
                          <a:effectLst/>
                          <a:latin typeface="Arial" panose="020B0604020202020204" pitchFamily="34" charset="0"/>
                          <a:cs typeface="Arial" panose="020B0604020202020204" pitchFamily="34" charset="0"/>
                        </a:rPr>
                        <a:t>8%</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6492046"/>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Asumsi Proyek selesai dalam ±6 bulan</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fontAlgn="ctr">
                        <a:buNone/>
                      </a:pPr>
                      <a:r>
                        <a:rPr lang="en-US" sz="1200" u="none" strike="noStrike" noProof="1">
                          <a:effectLst/>
                          <a:latin typeface="Arial" panose="020B0604020202020204" pitchFamily="34" charset="0"/>
                          <a:cs typeface="Arial" panose="020B0604020202020204" pitchFamily="34" charset="0"/>
                        </a:rPr>
                        <a:t>Year</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id-ID"/>
                    </a:p>
                  </a:txBody>
                  <a:tcPr/>
                </a:tc>
                <a:tc hMerge="1">
                  <a:txBody>
                    <a:bodyPr/>
                    <a:lstStyle/>
                    <a:p>
                      <a:endParaRPr lang="id-ID"/>
                    </a:p>
                  </a:txBody>
                  <a:tcPr/>
                </a:tc>
                <a:tc hMerge="1">
                  <a:txBody>
                    <a:bodyPr/>
                    <a:lstStyle/>
                    <a:p>
                      <a:endParaRPr lang="id-ID"/>
                    </a:p>
                  </a:txBody>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7447170"/>
                  </a:ext>
                </a:extLst>
              </a:tr>
              <a:tr h="202525">
                <a:tc>
                  <a:txBody>
                    <a:bodyPr/>
                    <a:lstStyle/>
                    <a:p>
                      <a:pPr algn="ctr" fontAlgn="ctr">
                        <a:buNone/>
                      </a:pPr>
                      <a:r>
                        <a:rPr lang="en-US" sz="1200" u="none" strike="noStrike" noProof="1">
                          <a:effectLst/>
                          <a:latin typeface="Arial" panose="020B0604020202020204" pitchFamily="34" charset="0"/>
                          <a:cs typeface="Arial" panose="020B0604020202020204" pitchFamily="34" charset="0"/>
                        </a:rPr>
                        <a:t>Item</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Year 0</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Year 1</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Year 2</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Year 3</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Total</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4230623"/>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Biaya (Costs)</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140,000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40,000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40,000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40,000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79990"/>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Faktor diskonto (Discount factor)</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0.93</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0.86</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0.79</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6942377"/>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Biaya terdiskonto (Discounted costs)</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140,000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37,037</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34,294</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31,753</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243,084</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052197"/>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 </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 </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5106979"/>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Manfaat (Benefits)</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200,000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200,000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200,000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4105406"/>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Faktor diskonto (Discount factor)</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0.93</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0.86</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0.79</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7630808"/>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Manfaat terdiskonto (Discounted benefits)</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185,185</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171,468</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158,766</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515,419</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0678872"/>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 </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 </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3343612"/>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Manfaat terdiskonto − biaya</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-140,000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148,148</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137,174</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127,013</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0470693"/>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Akumulasi (manfaat − biaya)</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-140,000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8,148</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145,322</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272,336</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 ← NPV</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571594"/>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 </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fontAlgn="ctr">
                        <a:buNone/>
                      </a:pPr>
                      <a:r>
                        <a:rPr lang="en-US" sz="1200" u="none" strike="noStrike" noProof="1">
                          <a:effectLst/>
                          <a:latin typeface="Arial" panose="020B0604020202020204" pitchFamily="34" charset="0"/>
                          <a:cs typeface="Arial" panose="020B0604020202020204" pitchFamily="34" charset="0"/>
                        </a:rPr>
                        <a:t>Payback in Year 1</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id-ID"/>
                    </a:p>
                  </a:txBody>
                  <a:tcPr/>
                </a:tc>
                <a:tc hMerge="1">
                  <a:txBody>
                    <a:bodyPr/>
                    <a:lstStyle/>
                    <a:p>
                      <a:endParaRPr lang="id-ID"/>
                    </a:p>
                  </a:txBody>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 </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3276368"/>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Discounted life-cycle ROI</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200" u="none" strike="noStrike" noProof="1">
                          <a:effectLst/>
                          <a:latin typeface="Arial" panose="020B0604020202020204" pitchFamily="34" charset="0"/>
                          <a:cs typeface="Arial" panose="020B0604020202020204" pitchFamily="34" charset="0"/>
                        </a:rPr>
                        <a:t>112%</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4200261"/>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 </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 </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1557489"/>
                  </a:ext>
                </a:extLst>
              </a:tr>
              <a:tr h="202525">
                <a:tc>
                  <a:txBody>
                    <a:bodyPr/>
                    <a:lstStyle/>
                    <a:p>
                      <a:pPr algn="l" fontAlgn="b">
                        <a:buNone/>
                      </a:pPr>
                      <a:r>
                        <a:rPr lang="en-US" sz="1200" u="none" strike="noStrike" noProof="1">
                          <a:effectLst/>
                          <a:latin typeface="Arial" panose="020B0604020202020204" pitchFamily="34" charset="0"/>
                          <a:cs typeface="Arial" panose="020B0604020202020204" pitchFamily="34" charset="0"/>
                        </a:rPr>
                        <a:t>Assumptions</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5139716"/>
                  </a:ext>
                </a:extLst>
              </a:tr>
              <a:tr h="202525">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Costs</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 jam</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150244"/>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PM (500 jam, $50/jam)</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25,000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8241718"/>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Staf (1,500 jam, $70/jam)</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105,000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7999858"/>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Software &amp; layanan outsourced</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10,000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716194"/>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Total biaya proyek (semua pada Year 0)</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140,000</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1857772"/>
                  </a:ext>
                </a:extLst>
              </a:tr>
              <a:tr h="202525">
                <a:tc>
                  <a:txBody>
                    <a:bodyPr/>
                    <a:lstStyle/>
                    <a:p>
                      <a:pPr algn="l" fontAlgn="b">
                        <a:buNone/>
                      </a:pPr>
                      <a:r>
                        <a:rPr lang="en-US" sz="1200" u="none" strike="noStrike" noProof="1">
                          <a:effectLst/>
                          <a:latin typeface="Arial" panose="020B0604020202020204" pitchFamily="34" charset="0"/>
                          <a:cs typeface="Arial" panose="020B0604020202020204" pitchFamily="34" charset="0"/>
                        </a:rPr>
                        <a:t>Benefits</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4058129"/>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Jumlah konsultan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400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2412227"/>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Jam yang dihemat (per konsultan/tahun)</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40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3071749"/>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$/jam profit</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10</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8741219"/>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Manfaat dari penghematan waktu</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160,000</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8774925"/>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Manfaat dari kenaikan profit 1%</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40,000</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2150343"/>
                  </a:ext>
                </a:extLst>
              </a:tr>
              <a:tr h="202525">
                <a:tc>
                  <a:txBody>
                    <a:bodyPr/>
                    <a:lstStyle/>
                    <a:p>
                      <a:pPr algn="l" fontAlgn="ctr">
                        <a:buNone/>
                      </a:pPr>
                      <a:r>
                        <a:rPr lang="en-US" sz="1200" u="none" strike="noStrike" noProof="1">
                          <a:effectLst/>
                          <a:latin typeface="Arial" panose="020B0604020202020204" pitchFamily="34" charset="0"/>
                          <a:cs typeface="Arial" panose="020B0604020202020204" pitchFamily="34" charset="0"/>
                        </a:rPr>
                        <a:t>Total manfaat tahunan yang diproyeksikan</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US" sz="1200" u="none" strike="noStrike" noProof="1">
                          <a:effectLst/>
                          <a:latin typeface="Arial" panose="020B0604020202020204" pitchFamily="34" charset="0"/>
                          <a:cs typeface="Arial" panose="020B0604020202020204" pitchFamily="34" charset="0"/>
                        </a:rPr>
                        <a:t>200,000</a:t>
                      </a:r>
                      <a:endParaRPr lang="en-US" sz="1200" b="1"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1200" u="none" strike="noStrike" noProof="1">
                          <a:effectLst/>
                          <a:latin typeface="Arial" panose="020B0604020202020204" pitchFamily="34" charset="0"/>
                          <a:cs typeface="Arial" panose="020B0604020202020204" pitchFamily="34" charset="0"/>
                        </a:rPr>
                        <a:t> </a:t>
                      </a:r>
                      <a:endParaRPr lang="en-US" sz="1200" b="0" i="0" u="none" strike="noStrike" noProof="1">
                        <a:solidFill>
                          <a:srgbClr val="000000"/>
                        </a:solidFill>
                        <a:effectLst/>
                        <a:latin typeface="Arial" panose="020B0604020202020204" pitchFamily="34" charset="0"/>
                        <a:cs typeface="Arial" panose="020B0604020202020204" pitchFamily="34" charset="0"/>
                      </a:endParaRPr>
                    </a:p>
                  </a:txBody>
                  <a:tcPr marL="4689" marR="4689" marT="4689"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8951270"/>
                  </a:ext>
                </a:extLst>
              </a:tr>
            </a:tbl>
          </a:graphicData>
        </a:graphic>
      </p:graphicFrame>
    </p:spTree>
    <p:extLst>
      <p:ext uri="{BB962C8B-B14F-4D97-AF65-F5344CB8AC3E}">
        <p14:creationId xmlns:p14="http://schemas.microsoft.com/office/powerpoint/2010/main" val="455441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noProof="1"/>
              <a:t>Business Case RME — RS Yogyakarta (1)</a:t>
            </a:r>
          </a:p>
        </p:txBody>
      </p:sp>
      <p:sp>
        <p:nvSpPr>
          <p:cNvPr id="3" name="TextBox 2"/>
          <p:cNvSpPr txBox="1"/>
          <p:nvPr/>
        </p:nvSpPr>
        <p:spPr>
          <a:xfrm>
            <a:off x="731520" y="1417320"/>
            <a:ext cx="5257800" cy="3524042"/>
          </a:xfrm>
          <a:prstGeom prst="rect">
            <a:avLst/>
          </a:prstGeom>
          <a:noFill/>
        </p:spPr>
        <p:txBody>
          <a:bodyPr wrap="square">
            <a:spAutoFit/>
          </a:bodyPr>
          <a:lstStyle/>
          <a:p>
            <a:pPr>
              <a:spcBef>
                <a:spcPts val="600"/>
              </a:spcBef>
              <a:spcAft>
                <a:spcPts val="200"/>
              </a:spcAft>
            </a:pPr>
            <a:r>
              <a:rPr lang="en-US" sz="1600" b="1" noProof="1">
                <a:latin typeface="Arial"/>
              </a:rPr>
              <a:t>Ringkasan Eksekutif</a:t>
            </a:r>
          </a:p>
          <a:p>
            <a:pPr>
              <a:spcAft>
                <a:spcPts val="400"/>
              </a:spcAft>
            </a:pPr>
            <a:r>
              <a:rPr lang="en-US" sz="1600" b="0" noProof="1">
                <a:latin typeface="Arial"/>
              </a:rPr>
              <a:t>RS Yogyakarta (fiktif; rumah sakit yang sama dengan studi kasus hybrid pada slide sebelum ini) akan membangun sistem informasi terintegrasi berbasis Rekam Medis Elektronik (RME), terhubung dengan BPJS dan SATUSEHAT.</a:t>
            </a:r>
          </a:p>
          <a:p>
            <a:pPr>
              <a:spcAft>
                <a:spcPts val="400"/>
              </a:spcAft>
            </a:pPr>
            <a:r>
              <a:rPr lang="en-US" sz="1600" b="0" noProof="1">
                <a:latin typeface="Arial"/>
              </a:rPr>
              <a:t>Investasi awal Rp2 miliar; NPV 5 tahun ±Rp1 miliar; payback pada tahun ke-4. Direkomendasikan, dimulai dengan pilot rawat jalan.</a:t>
            </a:r>
          </a:p>
          <a:p>
            <a:pPr>
              <a:spcBef>
                <a:spcPts val="600"/>
              </a:spcBef>
              <a:spcAft>
                <a:spcPts val="200"/>
              </a:spcAft>
            </a:pPr>
            <a:r>
              <a:rPr lang="en-US" sz="1600" b="1" noProof="1">
                <a:latin typeface="Arial"/>
              </a:rPr>
              <a:t>1. Latar Belakang</a:t>
            </a:r>
          </a:p>
          <a:p>
            <a:pPr marL="228600" indent="-228600">
              <a:spcAft>
                <a:spcPts val="400"/>
              </a:spcAft>
              <a:buChar char="•"/>
            </a:pPr>
            <a:r>
              <a:rPr lang="en-US" sz="1600" b="0" noProof="1">
                <a:latin typeface="Arial"/>
              </a:rPr>
              <a:t>Pencatatan masih berbasis kertas dan spreadsheet: duplikasi data, pencarian lambat, risiko dokumen hilang.</a:t>
            </a:r>
          </a:p>
        </p:txBody>
      </p:sp>
      <p:sp>
        <p:nvSpPr>
          <p:cNvPr id="4" name="TextBox 3"/>
          <p:cNvSpPr txBox="1"/>
          <p:nvPr/>
        </p:nvSpPr>
        <p:spPr>
          <a:xfrm>
            <a:off x="6263640" y="1417320"/>
            <a:ext cx="5193792" cy="4416594"/>
          </a:xfrm>
          <a:prstGeom prst="rect">
            <a:avLst/>
          </a:prstGeom>
          <a:noFill/>
        </p:spPr>
        <p:txBody>
          <a:bodyPr wrap="square">
            <a:spAutoFit/>
          </a:bodyPr>
          <a:lstStyle/>
          <a:p>
            <a:pPr>
              <a:spcBef>
                <a:spcPts val="600"/>
              </a:spcBef>
              <a:spcAft>
                <a:spcPts val="200"/>
              </a:spcAft>
            </a:pPr>
            <a:r>
              <a:rPr lang="en-US" sz="1600" b="1" noProof="1">
                <a:latin typeface="Arial"/>
              </a:rPr>
              <a:t>2. Tujuan Bisnis</a:t>
            </a:r>
          </a:p>
          <a:p>
            <a:pPr marL="228600" indent="-228600">
              <a:spcAft>
                <a:spcPts val="400"/>
              </a:spcAft>
              <a:buChar char="•"/>
            </a:pPr>
            <a:r>
              <a:rPr lang="en-US" sz="1600" b="0" noProof="1">
                <a:latin typeface="Arial"/>
              </a:rPr>
              <a:t>Memenuhi kewajiban RME dan interoperabilitas SATUSEHAT.</a:t>
            </a:r>
          </a:p>
          <a:p>
            <a:pPr marL="228600" indent="-228600">
              <a:spcAft>
                <a:spcPts val="400"/>
              </a:spcAft>
              <a:buChar char="•"/>
            </a:pPr>
            <a:r>
              <a:rPr lang="en-US" sz="1600" b="0" noProof="1">
                <a:latin typeface="Arial"/>
              </a:rPr>
              <a:t>Meningkatkan keselamatan pasien dan efisiensi pelayanan.</a:t>
            </a:r>
          </a:p>
          <a:p>
            <a:pPr marL="228600" indent="-228600">
              <a:spcAft>
                <a:spcPts val="400"/>
              </a:spcAft>
              <a:buChar char="•"/>
            </a:pPr>
            <a:r>
              <a:rPr lang="en-US" sz="1600" b="0" noProof="1">
                <a:latin typeface="Arial"/>
              </a:rPr>
              <a:t>Menurunkan klaim BPJS yang tertunda atau tidak terbayar.</a:t>
            </a:r>
          </a:p>
          <a:p>
            <a:pPr>
              <a:spcBef>
                <a:spcPts val="600"/>
              </a:spcBef>
              <a:spcAft>
                <a:spcPts val="200"/>
              </a:spcAft>
            </a:pPr>
            <a:r>
              <a:rPr lang="en-US" sz="1600" b="1" noProof="1">
                <a:latin typeface="Arial"/>
              </a:rPr>
              <a:t>3. Situasi Saat Ini &amp; Masalah/Peluang</a:t>
            </a:r>
          </a:p>
          <a:p>
            <a:pPr marL="228600" indent="-228600">
              <a:spcAft>
                <a:spcPts val="400"/>
              </a:spcAft>
              <a:buChar char="•"/>
            </a:pPr>
            <a:r>
              <a:rPr lang="en-US" sz="1600" b="0" noProof="1">
                <a:latin typeface="Arial"/>
              </a:rPr>
              <a:t>Permenkes No. 24 Tahun 2022 mewajibkan fasilitas kesehatan menyelenggarakan RME (tenggat penerapan akhir 2023) — status quo tidak patuh regulasi.</a:t>
            </a:r>
          </a:p>
          <a:p>
            <a:pPr marL="228600" indent="-228600">
              <a:spcAft>
                <a:spcPts val="400"/>
              </a:spcAft>
              <a:buChar char="•"/>
            </a:pPr>
            <a:r>
              <a:rPr lang="en-US" sz="1600" b="0" noProof="1">
                <a:latin typeface="Arial"/>
              </a:rPr>
              <a:t>Klaim BPJS sering tertunda karena dokumen medis tidak lengkap.</a:t>
            </a:r>
          </a:p>
          <a:p>
            <a:pPr marL="228600" indent="-228600">
              <a:spcAft>
                <a:spcPts val="400"/>
              </a:spcAft>
              <a:buChar char="•"/>
            </a:pPr>
            <a:r>
              <a:rPr lang="en-US" sz="1600" b="0" noProof="1">
                <a:latin typeface="Arial"/>
              </a:rPr>
              <a:t>Peluang: data klinis terintegrasi untuk peningkatan mutu layanan.</a:t>
            </a:r>
          </a:p>
        </p:txBody>
      </p:sp>
      <p:sp>
        <p:nvSpPr>
          <p:cNvPr id="5" name="Rounded Rectangle 4"/>
          <p:cNvSpPr/>
          <p:nvPr/>
        </p:nvSpPr>
        <p:spPr>
          <a:xfrm>
            <a:off x="731520" y="5858936"/>
            <a:ext cx="10725912" cy="731520"/>
          </a:xfrm>
          <a:prstGeom prst="roundRect">
            <a:avLst>
              <a:gd name="adj" fmla="val 10000"/>
            </a:avLst>
          </a:prstGeom>
          <a:solidFill>
            <a:schemeClr val="bg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ctr"/>
            <a:r>
              <a:rPr lang="en-US" sz="1400" b="1" noProof="1">
                <a:solidFill>
                  <a:srgbClr val="1F1F1F"/>
                </a:solidFill>
                <a:latin typeface="Arial"/>
              </a:rPr>
              <a:t>Proyek berbasis kepatuhan (compliance-driven): </a:t>
            </a:r>
            <a:r>
              <a:rPr lang="en-US" sz="1400" b="0" noProof="1">
                <a:solidFill>
                  <a:srgbClr val="1F1F1F"/>
                </a:solidFill>
                <a:latin typeface="Arial"/>
              </a:rPr>
              <a:t>opsi “tidak melakukan apa-apa” tidak tersedia, sehingga NPV bukan satu-satunya dasar keputusan.</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noProof="1"/>
              <a:t>Business Case RME (2): Asumsi &amp; Kebutuhan Awal</a:t>
            </a:r>
          </a:p>
        </p:txBody>
      </p:sp>
      <p:sp>
        <p:nvSpPr>
          <p:cNvPr id="3" name="TextBox 2"/>
          <p:cNvSpPr txBox="1"/>
          <p:nvPr/>
        </p:nvSpPr>
        <p:spPr>
          <a:xfrm>
            <a:off x="731520" y="1463040"/>
            <a:ext cx="5257800" cy="3852337"/>
          </a:xfrm>
          <a:prstGeom prst="rect">
            <a:avLst/>
          </a:prstGeom>
          <a:noFill/>
        </p:spPr>
        <p:txBody>
          <a:bodyPr wrap="square">
            <a:spAutoFit/>
          </a:bodyPr>
          <a:lstStyle/>
          <a:p>
            <a:pPr>
              <a:spcBef>
                <a:spcPts val="600"/>
              </a:spcBef>
              <a:spcAft>
                <a:spcPts val="200"/>
              </a:spcAft>
            </a:pPr>
            <a:r>
              <a:rPr lang="en-US" b="1" noProof="1">
                <a:latin typeface="Arial"/>
              </a:rPr>
              <a:t>4. Asumsi Kritis &amp; Kendala</a:t>
            </a:r>
          </a:p>
          <a:p>
            <a:pPr marL="228600" indent="-228600">
              <a:spcAft>
                <a:spcPts val="400"/>
              </a:spcAft>
              <a:buChar char="•"/>
            </a:pPr>
            <a:r>
              <a:rPr lang="en-US" sz="1600" b="0" noProof="1">
                <a:latin typeface="Arial"/>
              </a:rPr>
              <a:t>Jaringan antargedung sudah tersedia; perlu peningkatan server dan perangkat klien.</a:t>
            </a:r>
          </a:p>
          <a:p>
            <a:pPr marL="228600" indent="-228600">
              <a:spcAft>
                <a:spcPts val="400"/>
              </a:spcAft>
              <a:buChar char="•"/>
            </a:pPr>
            <a:r>
              <a:rPr lang="en-US" sz="1600" b="0" noProof="1">
                <a:latin typeface="Arial"/>
              </a:rPr>
              <a:t>Tim TI internal 5 orang, ditambah 3 pengembang selama proyek.</a:t>
            </a:r>
          </a:p>
          <a:p>
            <a:pPr marL="228600" indent="-228600">
              <a:spcAft>
                <a:spcPts val="400"/>
              </a:spcAft>
              <a:buChar char="•"/>
            </a:pPr>
            <a:r>
              <a:rPr lang="en-US" sz="1600" b="0" noProof="1">
                <a:latin typeface="Arial"/>
              </a:rPr>
              <a:t>Anggaran investasi maksimal Rp2 miliar; durasi proyek 12 bulan.</a:t>
            </a:r>
          </a:p>
          <a:p>
            <a:pPr marL="228600" indent="-228600">
              <a:spcAft>
                <a:spcPts val="400"/>
              </a:spcAft>
              <a:buChar char="•"/>
            </a:pPr>
            <a:r>
              <a:rPr lang="en-US" sz="1600" b="0" noProof="1">
                <a:latin typeface="Arial"/>
              </a:rPr>
              <a:t>Data pasien wajib dilindungi sesuai Permenkes 24/2022 dan UU No. 27 Tahun 2022 tentang Pelindungan Data Pribadi.</a:t>
            </a:r>
          </a:p>
          <a:p>
            <a:pPr marL="228600" indent="-228600">
              <a:spcAft>
                <a:spcPts val="400"/>
              </a:spcAft>
              <a:buChar char="•"/>
            </a:pPr>
            <a:r>
              <a:rPr lang="en-US" sz="1600" b="0" noProof="1">
                <a:latin typeface="Arial"/>
              </a:rPr>
              <a:t>Pelayanan pasien tidak boleh terhenti selama migrasi.</a:t>
            </a:r>
          </a:p>
          <a:p>
            <a:pPr marL="228600" indent="-228600">
              <a:spcAft>
                <a:spcPts val="400"/>
              </a:spcAft>
              <a:buChar char="•"/>
            </a:pPr>
            <a:r>
              <a:rPr lang="en-US" sz="1600" b="0" noProof="1">
                <a:latin typeface="Arial"/>
              </a:rPr>
              <a:t>Dokter dan perawat bersedia terlibat dalam desain dan pengujian.</a:t>
            </a:r>
          </a:p>
        </p:txBody>
      </p:sp>
      <p:sp>
        <p:nvSpPr>
          <p:cNvPr id="4" name="TextBox 3"/>
          <p:cNvSpPr txBox="1"/>
          <p:nvPr/>
        </p:nvSpPr>
        <p:spPr>
          <a:xfrm>
            <a:off x="6263640" y="1463040"/>
            <a:ext cx="5193792" cy="3113673"/>
          </a:xfrm>
          <a:prstGeom prst="rect">
            <a:avLst/>
          </a:prstGeom>
          <a:noFill/>
        </p:spPr>
        <p:txBody>
          <a:bodyPr wrap="square">
            <a:spAutoFit/>
          </a:bodyPr>
          <a:lstStyle/>
          <a:p>
            <a:pPr>
              <a:spcBef>
                <a:spcPts val="600"/>
              </a:spcBef>
              <a:spcAft>
                <a:spcPts val="200"/>
              </a:spcAft>
            </a:pPr>
            <a:r>
              <a:rPr lang="en-US" b="1" noProof="1">
                <a:latin typeface="Arial"/>
              </a:rPr>
              <a:t>5. Kebutuhan Awal Proyek</a:t>
            </a:r>
          </a:p>
          <a:p>
            <a:pPr marL="228600" indent="-228600">
              <a:spcAft>
                <a:spcPts val="400"/>
              </a:spcAft>
              <a:buChar char="•"/>
            </a:pPr>
            <a:r>
              <a:rPr lang="en-US" sz="1600" b="0" noProof="1">
                <a:latin typeface="Arial"/>
              </a:rPr>
              <a:t>RME rawat jalan dan rawat inap.</a:t>
            </a:r>
          </a:p>
          <a:p>
            <a:pPr marL="228600" indent="-228600">
              <a:spcAft>
                <a:spcPts val="400"/>
              </a:spcAft>
              <a:buChar char="•"/>
            </a:pPr>
            <a:r>
              <a:rPr lang="en-US" sz="1600" b="0" noProof="1">
                <a:latin typeface="Arial"/>
              </a:rPr>
              <a:t>Pendaftaran, manajemen pasien, dan penjadwalan dokter.</a:t>
            </a:r>
          </a:p>
          <a:p>
            <a:pPr marL="228600" indent="-228600">
              <a:spcAft>
                <a:spcPts val="400"/>
              </a:spcAft>
              <a:buChar char="•"/>
            </a:pPr>
            <a:r>
              <a:rPr lang="en-US" sz="1600" b="0" noProof="1">
                <a:latin typeface="Arial"/>
              </a:rPr>
              <a:t>Integrasi laboratorium, farmasi, radiologi, dan billing.</a:t>
            </a:r>
          </a:p>
          <a:p>
            <a:pPr marL="228600" indent="-228600">
              <a:spcAft>
                <a:spcPts val="400"/>
              </a:spcAft>
              <a:buChar char="•"/>
            </a:pPr>
            <a:r>
              <a:rPr lang="en-US" sz="1600" b="0" noProof="1">
                <a:latin typeface="Arial"/>
              </a:rPr>
              <a:t>Integrasi klaim BPJS dan pengiriman data ke SATUSEHAT.</a:t>
            </a:r>
          </a:p>
          <a:p>
            <a:pPr marL="228600" indent="-228600">
              <a:spcAft>
                <a:spcPts val="400"/>
              </a:spcAft>
              <a:buChar char="•"/>
            </a:pPr>
            <a:r>
              <a:rPr lang="en-US" sz="1600" b="0" noProof="1">
                <a:latin typeface="Arial"/>
              </a:rPr>
              <a:t>Migrasi data dari sistem lama dan pelatihan pengguna.</a:t>
            </a:r>
          </a:p>
          <a:p>
            <a:pPr marL="228600" indent="-228600">
              <a:spcAft>
                <a:spcPts val="400"/>
              </a:spcAft>
              <a:buChar char="•"/>
            </a:pPr>
            <a:r>
              <a:rPr lang="en-US" sz="1600" b="0" noProof="1">
                <a:latin typeface="Arial"/>
              </a:rPr>
              <a:t>Keamanan: kontrol akses berbasis peran, log audit, enkripsi, backup terpisah, dan uji pemulihan.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noProof="1"/>
              <a:t>Business Case RME (3): Analisis Opsi</a:t>
            </a:r>
          </a:p>
        </p:txBody>
      </p:sp>
      <p:sp>
        <p:nvSpPr>
          <p:cNvPr id="3" name="TextBox 2"/>
          <p:cNvSpPr txBox="1"/>
          <p:nvPr/>
        </p:nvSpPr>
        <p:spPr>
          <a:xfrm>
            <a:off x="731520" y="1371600"/>
            <a:ext cx="10725912" cy="1143000"/>
          </a:xfrm>
          <a:prstGeom prst="rect">
            <a:avLst/>
          </a:prstGeom>
          <a:noFill/>
        </p:spPr>
        <p:txBody>
          <a:bodyPr wrap="square">
            <a:spAutoFit/>
          </a:bodyPr>
          <a:lstStyle/>
          <a:p>
            <a:pPr>
              <a:spcAft>
                <a:spcPts val="400"/>
              </a:spcAft>
            </a:pPr>
            <a:r>
              <a:rPr lang="en-US" sz="1400" b="1" noProof="1">
                <a:solidFill>
                  <a:srgbClr val="1F1F1F"/>
                </a:solidFill>
                <a:latin typeface="Arial"/>
              </a:rPr>
              <a:t>Opsi 1 — Tetap manual + spreadsheet: </a:t>
            </a:r>
            <a:r>
              <a:rPr lang="en-US" sz="1400" b="0" noProof="1">
                <a:solidFill>
                  <a:srgbClr val="1F1F1F"/>
                </a:solidFill>
                <a:latin typeface="Arial"/>
              </a:rPr>
              <a:t>GUGUR, tidak memenuhi Permenkes 24/2022.</a:t>
            </a:r>
          </a:p>
          <a:p>
            <a:pPr>
              <a:spcAft>
                <a:spcPts val="400"/>
              </a:spcAft>
            </a:pPr>
            <a:r>
              <a:rPr lang="en-US" sz="1400" b="1" noProof="1">
                <a:solidFill>
                  <a:srgbClr val="1F1F1F"/>
                </a:solidFill>
                <a:latin typeface="Arial"/>
              </a:rPr>
              <a:t>Opsi 2 — Berlangganan SIMRS/RME vendor (SaaS): </a:t>
            </a:r>
            <a:r>
              <a:rPr lang="en-US" sz="1400" b="0" noProof="1">
                <a:solidFill>
                  <a:srgbClr val="1F1F1F"/>
                </a:solidFill>
                <a:latin typeface="Arial"/>
              </a:rPr>
              <a:t>cepat dan risiko teknis lebih rendah; biaya langganan tinggi, kustomisasi terbatas.</a:t>
            </a:r>
          </a:p>
          <a:p>
            <a:pPr>
              <a:spcAft>
                <a:spcPts val="400"/>
              </a:spcAft>
            </a:pPr>
            <a:r>
              <a:rPr lang="en-US" sz="1400" b="1" noProof="1">
                <a:solidFill>
                  <a:srgbClr val="1F1F1F"/>
                </a:solidFill>
                <a:latin typeface="Arial"/>
              </a:rPr>
              <a:t>Opsi 3 — Pengembangan in-house bertahap (hybrid): </a:t>
            </a:r>
            <a:r>
              <a:rPr lang="en-US" sz="1400" b="0" noProof="1">
                <a:solidFill>
                  <a:srgbClr val="1F1F1F"/>
                </a:solidFill>
                <a:latin typeface="Arial"/>
              </a:rPr>
              <a:t>sesuai kebutuhan lokal dan mandiri; investasi awal dan risiko implementasi lebih besar.</a:t>
            </a:r>
          </a:p>
        </p:txBody>
      </p:sp>
      <p:graphicFrame>
        <p:nvGraphicFramePr>
          <p:cNvPr id="4" name="Table 3"/>
          <p:cNvGraphicFramePr>
            <a:graphicFrameLocks noGrp="1"/>
          </p:cNvGraphicFramePr>
          <p:nvPr>
            <p:extLst>
              <p:ext uri="{D42A27DB-BD31-4B8C-83A1-F6EECF244321}">
                <p14:modId xmlns:p14="http://schemas.microsoft.com/office/powerpoint/2010/main" val="2802389333"/>
              </p:ext>
            </p:extLst>
          </p:nvPr>
        </p:nvGraphicFramePr>
        <p:xfrm>
          <a:off x="731520" y="2880360"/>
          <a:ext cx="10725912" cy="2414016"/>
        </p:xfrm>
        <a:graphic>
          <a:graphicData uri="http://schemas.openxmlformats.org/drawingml/2006/table">
            <a:tbl>
              <a:tblPr firstRow="1" bandRow="1">
                <a:tableStyleId>{5940675A-B579-460E-94D1-54222C63F5DA}</a:tableStyleId>
              </a:tblPr>
              <a:tblGrid>
                <a:gridCol w="5239512">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301752">
                <a:tc>
                  <a:txBody>
                    <a:bodyPr/>
                    <a:lstStyle/>
                    <a:p>
                      <a:pPr algn="ctr"/>
                      <a:r>
                        <a:rPr lang="en-US" sz="1400" b="1" noProof="1">
                          <a:solidFill>
                            <a:schemeClr val="bg1"/>
                          </a:solidFill>
                        </a:rPr>
                        <a:t>Kriteria</a:t>
                      </a:r>
                      <a:endParaRPr lang="en-US" sz="1400" b="1" noProof="1">
                        <a:solidFill>
                          <a:schemeClr val="bg1"/>
                        </a:solidFill>
                        <a:latin typeface="Arial"/>
                      </a:endParaRPr>
                    </a:p>
                  </a:txBody>
                  <a:tcPr marT="27432" marB="27432">
                    <a:solidFill>
                      <a:schemeClr val="tx1"/>
                    </a:solidFill>
                  </a:tcPr>
                </a:tc>
                <a:tc>
                  <a:txBody>
                    <a:bodyPr/>
                    <a:lstStyle/>
                    <a:p>
                      <a:pPr algn="ctr"/>
                      <a:r>
                        <a:rPr lang="en-US" sz="1400" b="1" noProof="1">
                          <a:solidFill>
                            <a:schemeClr val="bg1"/>
                          </a:solidFill>
                        </a:rPr>
                        <a:t>Bobot</a:t>
                      </a:r>
                      <a:endParaRPr lang="en-US" sz="1400" b="1" noProof="1">
                        <a:solidFill>
                          <a:schemeClr val="bg1"/>
                        </a:solidFill>
                        <a:latin typeface="Arial"/>
                      </a:endParaRPr>
                    </a:p>
                  </a:txBody>
                  <a:tcPr marT="27432" marB="27432">
                    <a:solidFill>
                      <a:schemeClr val="tx1"/>
                    </a:solidFill>
                  </a:tcPr>
                </a:tc>
                <a:tc>
                  <a:txBody>
                    <a:bodyPr/>
                    <a:lstStyle/>
                    <a:p>
                      <a:pPr algn="ctr"/>
                      <a:r>
                        <a:rPr lang="en-US" sz="1400" b="1" noProof="1">
                          <a:solidFill>
                            <a:schemeClr val="bg1"/>
                          </a:solidFill>
                        </a:rPr>
                        <a:t>Opsi 2: SaaS vendor</a:t>
                      </a:r>
                      <a:endParaRPr lang="en-US" sz="1400" b="1" noProof="1">
                        <a:solidFill>
                          <a:schemeClr val="bg1"/>
                        </a:solidFill>
                        <a:latin typeface="Arial"/>
                      </a:endParaRPr>
                    </a:p>
                  </a:txBody>
                  <a:tcPr marT="27432" marB="27432">
                    <a:solidFill>
                      <a:schemeClr val="tx1"/>
                    </a:solidFill>
                  </a:tcPr>
                </a:tc>
                <a:tc>
                  <a:txBody>
                    <a:bodyPr/>
                    <a:lstStyle/>
                    <a:p>
                      <a:pPr algn="ctr"/>
                      <a:r>
                        <a:rPr lang="en-US" sz="1400" b="1" noProof="1">
                          <a:solidFill>
                            <a:schemeClr val="bg1"/>
                          </a:solidFill>
                        </a:rPr>
                        <a:t>Opsi 3: In-house bertahap</a:t>
                      </a:r>
                      <a:endParaRPr lang="en-US" sz="1400" b="1" noProof="1">
                        <a:solidFill>
                          <a:schemeClr val="bg1"/>
                        </a:solidFill>
                        <a:latin typeface="Arial"/>
                      </a:endParaRPr>
                    </a:p>
                  </a:txBody>
                  <a:tcPr marT="27432" marB="27432">
                    <a:solidFill>
                      <a:schemeClr val="tx1"/>
                    </a:solidFill>
                  </a:tcPr>
                </a:tc>
                <a:extLst>
                  <a:ext uri="{0D108BD9-81ED-4DB2-BD59-A6C34878D82A}">
                    <a16:rowId xmlns:a16="http://schemas.microsoft.com/office/drawing/2014/main" val="10000"/>
                  </a:ext>
                </a:extLst>
              </a:tr>
              <a:tr h="301752">
                <a:tc>
                  <a:txBody>
                    <a:bodyPr/>
                    <a:lstStyle/>
                    <a:p>
                      <a:r>
                        <a:rPr lang="en-US" sz="1400" b="1" noProof="1"/>
                        <a:t>Syarat wajib: patuh Permenkes 24/2022 &amp; terintegrasi SATUSEHAT</a:t>
                      </a:r>
                      <a:endParaRPr lang="en-US" sz="1400" b="1" noProof="1">
                        <a:latin typeface="Arial"/>
                      </a:endParaRPr>
                    </a:p>
                  </a:txBody>
                  <a:tcPr marT="27432" marB="27432"/>
                </a:tc>
                <a:tc>
                  <a:txBody>
                    <a:bodyPr/>
                    <a:lstStyle/>
                    <a:p>
                      <a:pPr algn="ctr"/>
                      <a:r>
                        <a:rPr lang="en-US" sz="1400" b="0" noProof="1"/>
                        <a:t>—</a:t>
                      </a:r>
                      <a:endParaRPr lang="en-US" sz="1400" b="0" noProof="1">
                        <a:latin typeface="Arial"/>
                      </a:endParaRPr>
                    </a:p>
                  </a:txBody>
                  <a:tcPr marT="27432" marB="27432"/>
                </a:tc>
                <a:tc>
                  <a:txBody>
                    <a:bodyPr/>
                    <a:lstStyle/>
                    <a:p>
                      <a:pPr algn="ctr"/>
                      <a:r>
                        <a:rPr lang="en-US" sz="1400" b="0" noProof="1"/>
                        <a:t>Ya</a:t>
                      </a:r>
                      <a:endParaRPr lang="en-US" sz="1400" b="0" noProof="1">
                        <a:latin typeface="Arial"/>
                      </a:endParaRPr>
                    </a:p>
                  </a:txBody>
                  <a:tcPr marT="27432" marB="27432"/>
                </a:tc>
                <a:tc>
                  <a:txBody>
                    <a:bodyPr/>
                    <a:lstStyle/>
                    <a:p>
                      <a:pPr algn="ctr"/>
                      <a:r>
                        <a:rPr lang="en-US" sz="1400" b="0" noProof="1"/>
                        <a:t>Ya</a:t>
                      </a:r>
                      <a:endParaRPr lang="en-US" sz="1400" b="0" noProof="1">
                        <a:latin typeface="Arial"/>
                      </a:endParaRPr>
                    </a:p>
                  </a:txBody>
                  <a:tcPr marT="27432" marB="27432"/>
                </a:tc>
                <a:extLst>
                  <a:ext uri="{0D108BD9-81ED-4DB2-BD59-A6C34878D82A}">
                    <a16:rowId xmlns:a16="http://schemas.microsoft.com/office/drawing/2014/main" val="10001"/>
                  </a:ext>
                </a:extLst>
              </a:tr>
              <a:tr h="301752">
                <a:tc>
                  <a:txBody>
                    <a:bodyPr/>
                    <a:lstStyle/>
                    <a:p>
                      <a:r>
                        <a:rPr lang="en-US" sz="1400" b="1" noProof="1"/>
                        <a:t>NPV 5 tahun (ada di slide berikutnya)</a:t>
                      </a:r>
                      <a:endParaRPr lang="en-US" sz="1400" b="1" noProof="1">
                        <a:latin typeface="Arial"/>
                      </a:endParaRPr>
                    </a:p>
                  </a:txBody>
                  <a:tcPr marT="27432" marB="27432"/>
                </a:tc>
                <a:tc>
                  <a:txBody>
                    <a:bodyPr/>
                    <a:lstStyle/>
                    <a:p>
                      <a:pPr algn="ctr"/>
                      <a:r>
                        <a:rPr lang="en-US" sz="1400" b="0" noProof="1"/>
                        <a:t>30%</a:t>
                      </a:r>
                      <a:endParaRPr lang="en-US" sz="1400" b="0" noProof="1">
                        <a:latin typeface="Arial"/>
                      </a:endParaRPr>
                    </a:p>
                  </a:txBody>
                  <a:tcPr marT="27432" marB="27432"/>
                </a:tc>
                <a:tc>
                  <a:txBody>
                    <a:bodyPr/>
                    <a:lstStyle/>
                    <a:p>
                      <a:pPr algn="ctr"/>
                      <a:r>
                        <a:rPr lang="en-US" sz="1400" b="0" noProof="1"/>
                        <a:t>3</a:t>
                      </a:r>
                      <a:endParaRPr lang="en-US" sz="1400" b="0" noProof="1">
                        <a:latin typeface="Arial"/>
                      </a:endParaRPr>
                    </a:p>
                  </a:txBody>
                  <a:tcPr marT="27432" marB="27432"/>
                </a:tc>
                <a:tc>
                  <a:txBody>
                    <a:bodyPr/>
                    <a:lstStyle/>
                    <a:p>
                      <a:pPr algn="ctr"/>
                      <a:r>
                        <a:rPr lang="en-US" sz="1400" b="0" noProof="1"/>
                        <a:t>4</a:t>
                      </a:r>
                      <a:endParaRPr lang="en-US" sz="1400" b="0" noProof="1">
                        <a:latin typeface="Arial"/>
                      </a:endParaRPr>
                    </a:p>
                  </a:txBody>
                  <a:tcPr marT="27432" marB="27432"/>
                </a:tc>
                <a:extLst>
                  <a:ext uri="{0D108BD9-81ED-4DB2-BD59-A6C34878D82A}">
                    <a16:rowId xmlns:a16="http://schemas.microsoft.com/office/drawing/2014/main" val="10002"/>
                  </a:ext>
                </a:extLst>
              </a:tr>
              <a:tr h="301752">
                <a:tc>
                  <a:txBody>
                    <a:bodyPr/>
                    <a:lstStyle/>
                    <a:p>
                      <a:r>
                        <a:rPr lang="en-US" sz="1400" b="1" noProof="1"/>
                        <a:t>Kesesuaian kebutuhan &amp; integrasi lokal</a:t>
                      </a:r>
                      <a:endParaRPr lang="en-US" sz="1400" b="1" noProof="1">
                        <a:latin typeface="Arial"/>
                      </a:endParaRPr>
                    </a:p>
                  </a:txBody>
                  <a:tcPr marT="27432" marB="27432"/>
                </a:tc>
                <a:tc>
                  <a:txBody>
                    <a:bodyPr/>
                    <a:lstStyle/>
                    <a:p>
                      <a:pPr algn="ctr"/>
                      <a:r>
                        <a:rPr lang="en-US" sz="1400" b="0" noProof="1"/>
                        <a:t>25%</a:t>
                      </a:r>
                      <a:endParaRPr lang="en-US" sz="1400" b="0" noProof="1">
                        <a:latin typeface="Arial"/>
                      </a:endParaRPr>
                    </a:p>
                  </a:txBody>
                  <a:tcPr marT="27432" marB="27432"/>
                </a:tc>
                <a:tc>
                  <a:txBody>
                    <a:bodyPr/>
                    <a:lstStyle/>
                    <a:p>
                      <a:pPr algn="ctr"/>
                      <a:r>
                        <a:rPr lang="en-US" sz="1400" b="0" noProof="1"/>
                        <a:t>3</a:t>
                      </a:r>
                      <a:endParaRPr lang="en-US" sz="1400" b="0" noProof="1">
                        <a:latin typeface="Arial"/>
                      </a:endParaRPr>
                    </a:p>
                  </a:txBody>
                  <a:tcPr marT="27432" marB="27432"/>
                </a:tc>
                <a:tc>
                  <a:txBody>
                    <a:bodyPr/>
                    <a:lstStyle/>
                    <a:p>
                      <a:pPr algn="ctr"/>
                      <a:r>
                        <a:rPr lang="en-US" sz="1400" b="0" noProof="1"/>
                        <a:t>5</a:t>
                      </a:r>
                      <a:endParaRPr lang="en-US" sz="1400" b="0" noProof="1">
                        <a:latin typeface="Arial"/>
                      </a:endParaRPr>
                    </a:p>
                  </a:txBody>
                  <a:tcPr marT="27432" marB="27432"/>
                </a:tc>
                <a:extLst>
                  <a:ext uri="{0D108BD9-81ED-4DB2-BD59-A6C34878D82A}">
                    <a16:rowId xmlns:a16="http://schemas.microsoft.com/office/drawing/2014/main" val="10003"/>
                  </a:ext>
                </a:extLst>
              </a:tr>
              <a:tr h="301752">
                <a:tc>
                  <a:txBody>
                    <a:bodyPr/>
                    <a:lstStyle/>
                    <a:p>
                      <a:r>
                        <a:rPr lang="en-US" sz="1400" b="1" noProof="1"/>
                        <a:t>Kecepatan implementasi</a:t>
                      </a:r>
                      <a:endParaRPr lang="en-US" sz="1400" b="1" noProof="1">
                        <a:latin typeface="Arial"/>
                      </a:endParaRPr>
                    </a:p>
                  </a:txBody>
                  <a:tcPr marT="27432" marB="27432"/>
                </a:tc>
                <a:tc>
                  <a:txBody>
                    <a:bodyPr/>
                    <a:lstStyle/>
                    <a:p>
                      <a:pPr algn="ctr"/>
                      <a:r>
                        <a:rPr lang="en-US" sz="1400" b="0" noProof="1"/>
                        <a:t>15%</a:t>
                      </a:r>
                      <a:endParaRPr lang="en-US" sz="1400" b="0" noProof="1">
                        <a:latin typeface="Arial"/>
                      </a:endParaRPr>
                    </a:p>
                  </a:txBody>
                  <a:tcPr marT="27432" marB="27432"/>
                </a:tc>
                <a:tc>
                  <a:txBody>
                    <a:bodyPr/>
                    <a:lstStyle/>
                    <a:p>
                      <a:pPr algn="ctr"/>
                      <a:r>
                        <a:rPr lang="en-US" sz="1400" b="0" noProof="1"/>
                        <a:t>5</a:t>
                      </a:r>
                      <a:endParaRPr lang="en-US" sz="1400" b="0" noProof="1">
                        <a:latin typeface="Arial"/>
                      </a:endParaRPr>
                    </a:p>
                  </a:txBody>
                  <a:tcPr marT="27432" marB="27432"/>
                </a:tc>
                <a:tc>
                  <a:txBody>
                    <a:bodyPr/>
                    <a:lstStyle/>
                    <a:p>
                      <a:pPr algn="ctr"/>
                      <a:r>
                        <a:rPr lang="en-US" sz="1400" b="0" noProof="1"/>
                        <a:t>3</a:t>
                      </a:r>
                      <a:endParaRPr lang="en-US" sz="1400" b="0" noProof="1">
                        <a:latin typeface="Arial"/>
                      </a:endParaRPr>
                    </a:p>
                  </a:txBody>
                  <a:tcPr marT="27432" marB="27432"/>
                </a:tc>
                <a:extLst>
                  <a:ext uri="{0D108BD9-81ED-4DB2-BD59-A6C34878D82A}">
                    <a16:rowId xmlns:a16="http://schemas.microsoft.com/office/drawing/2014/main" val="10004"/>
                  </a:ext>
                </a:extLst>
              </a:tr>
              <a:tr h="301752">
                <a:tc>
                  <a:txBody>
                    <a:bodyPr/>
                    <a:lstStyle/>
                    <a:p>
                      <a:r>
                        <a:rPr lang="en-US" sz="1400" b="1" noProof="1"/>
                        <a:t>Risiko implementasi &amp; keamanan (5 = paling rendah)</a:t>
                      </a:r>
                      <a:endParaRPr lang="en-US" sz="1400" b="1" noProof="1">
                        <a:latin typeface="Arial"/>
                      </a:endParaRPr>
                    </a:p>
                  </a:txBody>
                  <a:tcPr marT="27432" marB="27432"/>
                </a:tc>
                <a:tc>
                  <a:txBody>
                    <a:bodyPr/>
                    <a:lstStyle/>
                    <a:p>
                      <a:pPr algn="ctr"/>
                      <a:r>
                        <a:rPr lang="en-US" sz="1400" b="0" noProof="1"/>
                        <a:t>20%</a:t>
                      </a:r>
                      <a:endParaRPr lang="en-US" sz="1400" b="0" noProof="1">
                        <a:latin typeface="Arial"/>
                      </a:endParaRPr>
                    </a:p>
                  </a:txBody>
                  <a:tcPr marT="27432" marB="27432"/>
                </a:tc>
                <a:tc>
                  <a:txBody>
                    <a:bodyPr/>
                    <a:lstStyle/>
                    <a:p>
                      <a:pPr algn="ctr"/>
                      <a:r>
                        <a:rPr lang="en-US" sz="1400" b="0" noProof="1"/>
                        <a:t>4</a:t>
                      </a:r>
                      <a:endParaRPr lang="en-US" sz="1400" b="0" noProof="1">
                        <a:latin typeface="Arial"/>
                      </a:endParaRPr>
                    </a:p>
                  </a:txBody>
                  <a:tcPr marT="27432" marB="27432"/>
                </a:tc>
                <a:tc>
                  <a:txBody>
                    <a:bodyPr/>
                    <a:lstStyle/>
                    <a:p>
                      <a:pPr algn="ctr"/>
                      <a:r>
                        <a:rPr lang="en-US" sz="1400" b="0" noProof="1"/>
                        <a:t>3</a:t>
                      </a:r>
                      <a:endParaRPr lang="en-US" sz="1400" b="0" noProof="1">
                        <a:latin typeface="Arial"/>
                      </a:endParaRPr>
                    </a:p>
                  </a:txBody>
                  <a:tcPr marT="27432" marB="27432"/>
                </a:tc>
                <a:extLst>
                  <a:ext uri="{0D108BD9-81ED-4DB2-BD59-A6C34878D82A}">
                    <a16:rowId xmlns:a16="http://schemas.microsoft.com/office/drawing/2014/main" val="10005"/>
                  </a:ext>
                </a:extLst>
              </a:tr>
              <a:tr h="301752">
                <a:tc>
                  <a:txBody>
                    <a:bodyPr/>
                    <a:lstStyle/>
                    <a:p>
                      <a:r>
                        <a:rPr lang="en-US" sz="1400" b="1" noProof="1"/>
                        <a:t>Kemandirian jangka panjang</a:t>
                      </a:r>
                      <a:endParaRPr lang="en-US" sz="1400" b="1" noProof="1">
                        <a:latin typeface="Arial"/>
                      </a:endParaRPr>
                    </a:p>
                  </a:txBody>
                  <a:tcPr marT="27432" marB="27432"/>
                </a:tc>
                <a:tc>
                  <a:txBody>
                    <a:bodyPr/>
                    <a:lstStyle/>
                    <a:p>
                      <a:pPr algn="ctr"/>
                      <a:r>
                        <a:rPr lang="en-US" sz="1400" b="0" noProof="1"/>
                        <a:t>10%</a:t>
                      </a:r>
                      <a:endParaRPr lang="en-US" sz="1400" b="0" noProof="1">
                        <a:latin typeface="Arial"/>
                      </a:endParaRPr>
                    </a:p>
                  </a:txBody>
                  <a:tcPr marT="27432" marB="27432"/>
                </a:tc>
                <a:tc>
                  <a:txBody>
                    <a:bodyPr/>
                    <a:lstStyle/>
                    <a:p>
                      <a:pPr algn="ctr"/>
                      <a:r>
                        <a:rPr lang="en-US" sz="1400" b="0" noProof="1"/>
                        <a:t>2</a:t>
                      </a:r>
                      <a:endParaRPr lang="en-US" sz="1400" b="0" noProof="1">
                        <a:latin typeface="Arial"/>
                      </a:endParaRPr>
                    </a:p>
                  </a:txBody>
                  <a:tcPr marT="27432" marB="27432"/>
                </a:tc>
                <a:tc>
                  <a:txBody>
                    <a:bodyPr/>
                    <a:lstStyle/>
                    <a:p>
                      <a:pPr algn="ctr"/>
                      <a:r>
                        <a:rPr lang="en-US" sz="1400" b="0" noProof="1"/>
                        <a:t>5</a:t>
                      </a:r>
                      <a:endParaRPr lang="en-US" sz="1400" b="0" noProof="1">
                        <a:latin typeface="Arial"/>
                      </a:endParaRPr>
                    </a:p>
                  </a:txBody>
                  <a:tcPr marT="27432" marB="27432"/>
                </a:tc>
                <a:extLst>
                  <a:ext uri="{0D108BD9-81ED-4DB2-BD59-A6C34878D82A}">
                    <a16:rowId xmlns:a16="http://schemas.microsoft.com/office/drawing/2014/main" val="10006"/>
                  </a:ext>
                </a:extLst>
              </a:tr>
              <a:tr h="301752">
                <a:tc>
                  <a:txBody>
                    <a:bodyPr/>
                    <a:lstStyle/>
                    <a:p>
                      <a:r>
                        <a:rPr lang="en-US" sz="1400" b="1" noProof="1"/>
                        <a:t>Skor tertimbang</a:t>
                      </a:r>
                      <a:endParaRPr lang="en-US" sz="1400" b="1" noProof="1">
                        <a:latin typeface="Arial"/>
                      </a:endParaRPr>
                    </a:p>
                  </a:txBody>
                  <a:tcPr marT="27432" marB="27432"/>
                </a:tc>
                <a:tc>
                  <a:txBody>
                    <a:bodyPr/>
                    <a:lstStyle/>
                    <a:p>
                      <a:pPr algn="ctr"/>
                      <a:r>
                        <a:rPr lang="en-US" sz="1400" b="1" noProof="1"/>
                        <a:t>100%</a:t>
                      </a:r>
                      <a:endParaRPr lang="en-US" sz="1400" b="1" noProof="1">
                        <a:latin typeface="Arial"/>
                      </a:endParaRPr>
                    </a:p>
                  </a:txBody>
                  <a:tcPr marT="27432" marB="27432"/>
                </a:tc>
                <a:tc>
                  <a:txBody>
                    <a:bodyPr/>
                    <a:lstStyle/>
                    <a:p>
                      <a:pPr algn="ctr"/>
                      <a:r>
                        <a:rPr lang="en-US" sz="1400" b="1" noProof="1"/>
                        <a:t>3,40</a:t>
                      </a:r>
                      <a:endParaRPr lang="en-US" sz="1400" b="1" noProof="1">
                        <a:latin typeface="Arial"/>
                      </a:endParaRPr>
                    </a:p>
                  </a:txBody>
                  <a:tcPr marT="27432" marB="27432"/>
                </a:tc>
                <a:tc>
                  <a:txBody>
                    <a:bodyPr/>
                    <a:lstStyle/>
                    <a:p>
                      <a:pPr algn="ctr"/>
                      <a:r>
                        <a:rPr lang="en-US" sz="1400" b="1" noProof="1"/>
                        <a:t>4,00</a:t>
                      </a:r>
                      <a:endParaRPr lang="en-US" sz="1400" b="1" noProof="1">
                        <a:latin typeface="Arial"/>
                      </a:endParaRPr>
                    </a:p>
                  </a:txBody>
                  <a:tcPr marT="27432" marB="27432"/>
                </a:tc>
                <a:extLst>
                  <a:ext uri="{0D108BD9-81ED-4DB2-BD59-A6C34878D82A}">
                    <a16:rowId xmlns:a16="http://schemas.microsoft.com/office/drawing/2014/main" val="10007"/>
                  </a:ext>
                </a:extLst>
              </a:tr>
            </a:tbl>
          </a:graphicData>
        </a:graphic>
      </p:graphicFrame>
      <p:sp>
        <p:nvSpPr>
          <p:cNvPr id="5" name="Rounded Rectangle 4"/>
          <p:cNvSpPr/>
          <p:nvPr/>
        </p:nvSpPr>
        <p:spPr>
          <a:xfrm>
            <a:off x="731520" y="5669280"/>
            <a:ext cx="10725912" cy="685800"/>
          </a:xfrm>
          <a:prstGeom prst="roundRect">
            <a:avLst>
              <a:gd name="adj" fmla="val 10000"/>
            </a:avLst>
          </a:prstGeom>
          <a:solidFill>
            <a:schemeClr val="bg1">
              <a:lumMod val="95000"/>
            </a:schemeClr>
          </a:solidFill>
          <a:ln>
            <a:solidFill>
              <a:srgbClr val="0B2E6B"/>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ctr"/>
            <a:r>
              <a:rPr lang="en-US" sz="1400" b="1" noProof="1">
                <a:solidFill>
                  <a:srgbClr val="1F1F1F"/>
                </a:solidFill>
                <a:latin typeface="Arial"/>
              </a:rPr>
              <a:t>Rekomendasi: Opsi 3, dimulai pilot rawat jalan. </a:t>
            </a:r>
            <a:r>
              <a:rPr lang="en-US" sz="1400" b="0" noProof="1">
                <a:solidFill>
                  <a:srgbClr val="1F1F1F"/>
                </a:solidFill>
                <a:latin typeface="Arial"/>
              </a:rPr>
              <a:t>Catatan: Opsi 2 unggul dalam kecepatan dan risiko; hasil ini sensitif terhadap bobot kriteria.</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noProof="1"/>
              <a:t>Business Case RME (4): Analisis Finansial Opsi 3</a:t>
            </a:r>
          </a:p>
        </p:txBody>
      </p:sp>
      <p:graphicFrame>
        <p:nvGraphicFramePr>
          <p:cNvPr id="3" name="Table 2"/>
          <p:cNvGraphicFramePr>
            <a:graphicFrameLocks noGrp="1"/>
          </p:cNvGraphicFramePr>
          <p:nvPr>
            <p:extLst>
              <p:ext uri="{D42A27DB-BD31-4B8C-83A1-F6EECF244321}">
                <p14:modId xmlns:p14="http://schemas.microsoft.com/office/powerpoint/2010/main" val="3767123894"/>
              </p:ext>
            </p:extLst>
          </p:nvPr>
        </p:nvGraphicFramePr>
        <p:xfrm>
          <a:off x="731520" y="1417320"/>
          <a:ext cx="10725912" cy="3127248"/>
        </p:xfrm>
        <a:graphic>
          <a:graphicData uri="http://schemas.openxmlformats.org/drawingml/2006/table">
            <a:tbl>
              <a:tblPr firstRow="1" bandRow="1">
                <a:tableStyleId>{5940675A-B579-460E-94D1-54222C63F5DA}</a:tableStyleId>
              </a:tblPr>
              <a:tblGrid>
                <a:gridCol w="2679192">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463040">
                  <a:extLst>
                    <a:ext uri="{9D8B030D-6E8A-4147-A177-3AD203B41FA5}">
                      <a16:colId xmlns:a16="http://schemas.microsoft.com/office/drawing/2014/main" val="20007"/>
                    </a:ext>
                  </a:extLst>
                </a:gridCol>
              </a:tblGrid>
              <a:tr h="347472">
                <a:tc>
                  <a:txBody>
                    <a:bodyPr/>
                    <a:lstStyle/>
                    <a:p>
                      <a:pPr algn="ctr"/>
                      <a:r>
                        <a:rPr lang="en-US" sz="1300" b="1" noProof="1">
                          <a:solidFill>
                            <a:schemeClr val="bg1"/>
                          </a:solidFill>
                        </a:rPr>
                        <a:t>Item (Rp juta)</a:t>
                      </a:r>
                      <a:endParaRPr lang="en-US" sz="1300" b="1" noProof="1">
                        <a:solidFill>
                          <a:schemeClr val="bg1"/>
                        </a:solidFill>
                        <a:latin typeface="Arial"/>
                      </a:endParaRPr>
                    </a:p>
                  </a:txBody>
                  <a:tcPr marT="27432" marB="27432">
                    <a:solidFill>
                      <a:schemeClr val="tx1"/>
                    </a:solidFill>
                  </a:tcPr>
                </a:tc>
                <a:tc>
                  <a:txBody>
                    <a:bodyPr/>
                    <a:lstStyle/>
                    <a:p>
                      <a:pPr algn="ctr"/>
                      <a:r>
                        <a:rPr lang="en-US" sz="1300" b="1" noProof="1">
                          <a:solidFill>
                            <a:schemeClr val="bg1"/>
                          </a:solidFill>
                        </a:rPr>
                        <a:t>Year 0</a:t>
                      </a:r>
                      <a:endParaRPr lang="en-US" sz="1300" b="1" noProof="1">
                        <a:solidFill>
                          <a:schemeClr val="bg1"/>
                        </a:solidFill>
                        <a:latin typeface="Arial"/>
                      </a:endParaRPr>
                    </a:p>
                  </a:txBody>
                  <a:tcPr marT="27432" marB="27432">
                    <a:solidFill>
                      <a:schemeClr val="tx1"/>
                    </a:solidFill>
                  </a:tcPr>
                </a:tc>
                <a:tc>
                  <a:txBody>
                    <a:bodyPr/>
                    <a:lstStyle/>
                    <a:p>
                      <a:pPr algn="ctr"/>
                      <a:r>
                        <a:rPr lang="en-US" sz="1300" b="1" noProof="1">
                          <a:solidFill>
                            <a:schemeClr val="bg1"/>
                          </a:solidFill>
                        </a:rPr>
                        <a:t>Year 1</a:t>
                      </a:r>
                      <a:endParaRPr lang="en-US" sz="1300" b="1" noProof="1">
                        <a:solidFill>
                          <a:schemeClr val="bg1"/>
                        </a:solidFill>
                        <a:latin typeface="Arial"/>
                      </a:endParaRPr>
                    </a:p>
                  </a:txBody>
                  <a:tcPr marT="27432" marB="27432">
                    <a:solidFill>
                      <a:schemeClr val="tx1"/>
                    </a:solidFill>
                  </a:tcPr>
                </a:tc>
                <a:tc>
                  <a:txBody>
                    <a:bodyPr/>
                    <a:lstStyle/>
                    <a:p>
                      <a:pPr algn="ctr"/>
                      <a:r>
                        <a:rPr lang="en-US" sz="1300" b="1" noProof="1">
                          <a:solidFill>
                            <a:schemeClr val="bg1"/>
                          </a:solidFill>
                        </a:rPr>
                        <a:t>Year 2</a:t>
                      </a:r>
                      <a:endParaRPr lang="en-US" sz="1300" b="1" noProof="1">
                        <a:solidFill>
                          <a:schemeClr val="bg1"/>
                        </a:solidFill>
                        <a:latin typeface="Arial"/>
                      </a:endParaRPr>
                    </a:p>
                  </a:txBody>
                  <a:tcPr marT="27432" marB="27432">
                    <a:solidFill>
                      <a:schemeClr val="tx1"/>
                    </a:solidFill>
                  </a:tcPr>
                </a:tc>
                <a:tc>
                  <a:txBody>
                    <a:bodyPr/>
                    <a:lstStyle/>
                    <a:p>
                      <a:pPr algn="ctr"/>
                      <a:r>
                        <a:rPr lang="en-US" sz="1300" b="1" noProof="1">
                          <a:solidFill>
                            <a:schemeClr val="bg1"/>
                          </a:solidFill>
                        </a:rPr>
                        <a:t>Year 3</a:t>
                      </a:r>
                      <a:endParaRPr lang="en-US" sz="1300" b="1" noProof="1">
                        <a:solidFill>
                          <a:schemeClr val="bg1"/>
                        </a:solidFill>
                        <a:latin typeface="Arial"/>
                      </a:endParaRPr>
                    </a:p>
                  </a:txBody>
                  <a:tcPr marT="27432" marB="27432">
                    <a:solidFill>
                      <a:schemeClr val="tx1"/>
                    </a:solidFill>
                  </a:tcPr>
                </a:tc>
                <a:tc>
                  <a:txBody>
                    <a:bodyPr/>
                    <a:lstStyle/>
                    <a:p>
                      <a:pPr algn="ctr"/>
                      <a:r>
                        <a:rPr lang="en-US" sz="1300" b="1" noProof="1">
                          <a:solidFill>
                            <a:schemeClr val="bg1"/>
                          </a:solidFill>
                        </a:rPr>
                        <a:t>Year 4</a:t>
                      </a:r>
                      <a:endParaRPr lang="en-US" sz="1300" b="1" noProof="1">
                        <a:solidFill>
                          <a:schemeClr val="bg1"/>
                        </a:solidFill>
                        <a:latin typeface="Arial"/>
                      </a:endParaRPr>
                    </a:p>
                  </a:txBody>
                  <a:tcPr marT="27432" marB="27432">
                    <a:solidFill>
                      <a:schemeClr val="tx1"/>
                    </a:solidFill>
                  </a:tcPr>
                </a:tc>
                <a:tc>
                  <a:txBody>
                    <a:bodyPr/>
                    <a:lstStyle/>
                    <a:p>
                      <a:pPr algn="ctr"/>
                      <a:r>
                        <a:rPr lang="en-US" sz="1300" b="1" noProof="1">
                          <a:solidFill>
                            <a:schemeClr val="bg1"/>
                          </a:solidFill>
                        </a:rPr>
                        <a:t>Year 5</a:t>
                      </a:r>
                      <a:endParaRPr lang="en-US" sz="1300" b="1" noProof="1">
                        <a:solidFill>
                          <a:schemeClr val="bg1"/>
                        </a:solidFill>
                        <a:latin typeface="Arial"/>
                      </a:endParaRPr>
                    </a:p>
                  </a:txBody>
                  <a:tcPr marT="27432" marB="27432">
                    <a:solidFill>
                      <a:schemeClr val="tx1"/>
                    </a:solidFill>
                  </a:tcPr>
                </a:tc>
                <a:tc>
                  <a:txBody>
                    <a:bodyPr/>
                    <a:lstStyle/>
                    <a:p>
                      <a:pPr algn="ctr"/>
                      <a:r>
                        <a:rPr lang="en-US" sz="1300" b="1" noProof="1">
                          <a:solidFill>
                            <a:schemeClr val="bg1"/>
                          </a:solidFill>
                        </a:rPr>
                        <a:t>Total</a:t>
                      </a:r>
                      <a:endParaRPr lang="en-US" sz="1300" b="1" noProof="1">
                        <a:solidFill>
                          <a:schemeClr val="bg1"/>
                        </a:solidFill>
                        <a:latin typeface="Arial"/>
                      </a:endParaRPr>
                    </a:p>
                  </a:txBody>
                  <a:tcPr marT="27432" marB="27432">
                    <a:solidFill>
                      <a:schemeClr val="tx1"/>
                    </a:solidFill>
                  </a:tcPr>
                </a:tc>
                <a:extLst>
                  <a:ext uri="{0D108BD9-81ED-4DB2-BD59-A6C34878D82A}">
                    <a16:rowId xmlns:a16="http://schemas.microsoft.com/office/drawing/2014/main" val="10000"/>
                  </a:ext>
                </a:extLst>
              </a:tr>
              <a:tr h="347472">
                <a:tc>
                  <a:txBody>
                    <a:bodyPr/>
                    <a:lstStyle/>
                    <a:p>
                      <a:r>
                        <a:rPr lang="en-US" sz="1300" b="1" noProof="1"/>
                        <a:t>Biaya</a:t>
                      </a:r>
                      <a:endParaRPr lang="en-US" sz="1300" b="1" noProof="1">
                        <a:latin typeface="Arial"/>
                      </a:endParaRPr>
                    </a:p>
                  </a:txBody>
                  <a:tcPr marT="27432" marB="27432"/>
                </a:tc>
                <a:tc>
                  <a:txBody>
                    <a:bodyPr/>
                    <a:lstStyle/>
                    <a:p>
                      <a:pPr algn="r"/>
                      <a:r>
                        <a:rPr lang="en-US" sz="1300" b="0" noProof="1"/>
                        <a:t>2.000</a:t>
                      </a:r>
                      <a:endParaRPr lang="en-US" sz="1300" b="0" noProof="1">
                        <a:latin typeface="Arial"/>
                      </a:endParaRPr>
                    </a:p>
                  </a:txBody>
                  <a:tcPr marT="27432" marB="27432"/>
                </a:tc>
                <a:tc>
                  <a:txBody>
                    <a:bodyPr/>
                    <a:lstStyle/>
                    <a:p>
                      <a:pPr algn="r"/>
                      <a:r>
                        <a:rPr lang="en-US" sz="1300" b="0" noProof="1"/>
                        <a:t>550</a:t>
                      </a:r>
                      <a:endParaRPr lang="en-US" sz="1300" b="0" noProof="1">
                        <a:latin typeface="Arial"/>
                      </a:endParaRPr>
                    </a:p>
                  </a:txBody>
                  <a:tcPr marT="27432" marB="27432"/>
                </a:tc>
                <a:tc>
                  <a:txBody>
                    <a:bodyPr/>
                    <a:lstStyle/>
                    <a:p>
                      <a:pPr algn="r"/>
                      <a:r>
                        <a:rPr lang="en-US" sz="1300" b="0" noProof="1"/>
                        <a:t>550</a:t>
                      </a:r>
                      <a:endParaRPr lang="en-US" sz="1300" b="0" noProof="1">
                        <a:latin typeface="Arial"/>
                      </a:endParaRPr>
                    </a:p>
                  </a:txBody>
                  <a:tcPr marT="27432" marB="27432"/>
                </a:tc>
                <a:tc>
                  <a:txBody>
                    <a:bodyPr/>
                    <a:lstStyle/>
                    <a:p>
                      <a:pPr algn="r"/>
                      <a:r>
                        <a:rPr lang="en-US" sz="1300" b="0" noProof="1"/>
                        <a:t>550</a:t>
                      </a:r>
                      <a:endParaRPr lang="en-US" sz="1300" b="0" noProof="1">
                        <a:latin typeface="Arial"/>
                      </a:endParaRPr>
                    </a:p>
                  </a:txBody>
                  <a:tcPr marT="27432" marB="27432"/>
                </a:tc>
                <a:tc>
                  <a:txBody>
                    <a:bodyPr/>
                    <a:lstStyle/>
                    <a:p>
                      <a:pPr algn="r"/>
                      <a:r>
                        <a:rPr lang="en-US" sz="1300" b="0" noProof="1"/>
                        <a:t>550</a:t>
                      </a:r>
                      <a:endParaRPr lang="en-US" sz="1300" b="0" noProof="1">
                        <a:latin typeface="Arial"/>
                      </a:endParaRPr>
                    </a:p>
                  </a:txBody>
                  <a:tcPr marT="27432" marB="27432"/>
                </a:tc>
                <a:tc>
                  <a:txBody>
                    <a:bodyPr/>
                    <a:lstStyle/>
                    <a:p>
                      <a:pPr algn="r"/>
                      <a:r>
                        <a:rPr lang="en-US" sz="1300" b="0" noProof="1"/>
                        <a:t>550</a:t>
                      </a:r>
                      <a:endParaRPr lang="en-US" sz="1300" b="0" noProof="1">
                        <a:latin typeface="Arial"/>
                      </a:endParaRPr>
                    </a:p>
                  </a:txBody>
                  <a:tcPr marT="27432" marB="27432"/>
                </a:tc>
                <a:tc>
                  <a:txBody>
                    <a:bodyPr/>
                    <a:lstStyle/>
                    <a:p>
                      <a:pPr algn="r"/>
                      <a:endParaRPr lang="en-US" noProof="1"/>
                    </a:p>
                  </a:txBody>
                  <a:tcPr marT="27432" marB="27432"/>
                </a:tc>
                <a:extLst>
                  <a:ext uri="{0D108BD9-81ED-4DB2-BD59-A6C34878D82A}">
                    <a16:rowId xmlns:a16="http://schemas.microsoft.com/office/drawing/2014/main" val="10001"/>
                  </a:ext>
                </a:extLst>
              </a:tr>
              <a:tr h="347472">
                <a:tc>
                  <a:txBody>
                    <a:bodyPr/>
                    <a:lstStyle/>
                    <a:p>
                      <a:r>
                        <a:rPr lang="en-US" sz="1300" b="1" noProof="1"/>
                        <a:t>Faktor diskonto (10%)</a:t>
                      </a:r>
                      <a:endParaRPr lang="en-US" sz="1300" b="1" noProof="1">
                        <a:latin typeface="Arial"/>
                      </a:endParaRPr>
                    </a:p>
                  </a:txBody>
                  <a:tcPr marT="27432" marB="27432"/>
                </a:tc>
                <a:tc>
                  <a:txBody>
                    <a:bodyPr/>
                    <a:lstStyle/>
                    <a:p>
                      <a:pPr algn="r"/>
                      <a:r>
                        <a:rPr lang="en-US" sz="1300" b="0" noProof="1"/>
                        <a:t>1,00</a:t>
                      </a:r>
                      <a:endParaRPr lang="en-US" sz="1300" b="0" noProof="1">
                        <a:latin typeface="Arial"/>
                      </a:endParaRPr>
                    </a:p>
                  </a:txBody>
                  <a:tcPr marT="27432" marB="27432"/>
                </a:tc>
                <a:tc>
                  <a:txBody>
                    <a:bodyPr/>
                    <a:lstStyle/>
                    <a:p>
                      <a:pPr algn="r"/>
                      <a:r>
                        <a:rPr lang="en-US" sz="1300" b="0" noProof="1"/>
                        <a:t>0,91</a:t>
                      </a:r>
                      <a:endParaRPr lang="en-US" sz="1300" b="0" noProof="1">
                        <a:latin typeface="Arial"/>
                      </a:endParaRPr>
                    </a:p>
                  </a:txBody>
                  <a:tcPr marT="27432" marB="27432"/>
                </a:tc>
                <a:tc>
                  <a:txBody>
                    <a:bodyPr/>
                    <a:lstStyle/>
                    <a:p>
                      <a:pPr algn="r"/>
                      <a:r>
                        <a:rPr lang="en-US" sz="1300" b="0" noProof="1"/>
                        <a:t>0,83</a:t>
                      </a:r>
                      <a:endParaRPr lang="en-US" sz="1300" b="0" noProof="1">
                        <a:latin typeface="Arial"/>
                      </a:endParaRPr>
                    </a:p>
                  </a:txBody>
                  <a:tcPr marT="27432" marB="27432"/>
                </a:tc>
                <a:tc>
                  <a:txBody>
                    <a:bodyPr/>
                    <a:lstStyle/>
                    <a:p>
                      <a:pPr algn="r"/>
                      <a:r>
                        <a:rPr lang="en-US" sz="1300" b="0" noProof="1"/>
                        <a:t>0,75</a:t>
                      </a:r>
                      <a:endParaRPr lang="en-US" sz="1300" b="0" noProof="1">
                        <a:latin typeface="Arial"/>
                      </a:endParaRPr>
                    </a:p>
                  </a:txBody>
                  <a:tcPr marT="27432" marB="27432"/>
                </a:tc>
                <a:tc>
                  <a:txBody>
                    <a:bodyPr/>
                    <a:lstStyle/>
                    <a:p>
                      <a:pPr algn="r"/>
                      <a:r>
                        <a:rPr lang="en-US" sz="1300" b="0" noProof="1"/>
                        <a:t>0,68</a:t>
                      </a:r>
                      <a:endParaRPr lang="en-US" sz="1300" b="0" noProof="1">
                        <a:latin typeface="Arial"/>
                      </a:endParaRPr>
                    </a:p>
                  </a:txBody>
                  <a:tcPr marT="27432" marB="27432"/>
                </a:tc>
                <a:tc>
                  <a:txBody>
                    <a:bodyPr/>
                    <a:lstStyle/>
                    <a:p>
                      <a:pPr algn="r"/>
                      <a:r>
                        <a:rPr lang="en-US" sz="1300" b="0" noProof="1"/>
                        <a:t>0,62</a:t>
                      </a:r>
                      <a:endParaRPr lang="en-US" sz="1300" b="0" noProof="1">
                        <a:latin typeface="Arial"/>
                      </a:endParaRPr>
                    </a:p>
                  </a:txBody>
                  <a:tcPr marT="27432" marB="27432"/>
                </a:tc>
                <a:tc>
                  <a:txBody>
                    <a:bodyPr/>
                    <a:lstStyle/>
                    <a:p>
                      <a:pPr algn="r"/>
                      <a:endParaRPr lang="en-US" noProof="1"/>
                    </a:p>
                  </a:txBody>
                  <a:tcPr marT="27432" marB="27432"/>
                </a:tc>
                <a:extLst>
                  <a:ext uri="{0D108BD9-81ED-4DB2-BD59-A6C34878D82A}">
                    <a16:rowId xmlns:a16="http://schemas.microsoft.com/office/drawing/2014/main" val="10002"/>
                  </a:ext>
                </a:extLst>
              </a:tr>
              <a:tr h="347472">
                <a:tc>
                  <a:txBody>
                    <a:bodyPr/>
                    <a:lstStyle/>
                    <a:p>
                      <a:r>
                        <a:rPr lang="en-US" sz="1300" b="1" noProof="1"/>
                        <a:t>Biaya terdiskonto</a:t>
                      </a:r>
                      <a:endParaRPr lang="en-US" sz="1300" b="1" noProof="1">
                        <a:latin typeface="Arial"/>
                      </a:endParaRPr>
                    </a:p>
                  </a:txBody>
                  <a:tcPr marT="27432" marB="27432"/>
                </a:tc>
                <a:tc>
                  <a:txBody>
                    <a:bodyPr/>
                    <a:lstStyle/>
                    <a:p>
                      <a:pPr algn="r"/>
                      <a:r>
                        <a:rPr lang="en-US" sz="1300" b="0" noProof="1"/>
                        <a:t>2.000</a:t>
                      </a:r>
                      <a:endParaRPr lang="en-US" sz="1300" b="0" noProof="1">
                        <a:latin typeface="Arial"/>
                      </a:endParaRPr>
                    </a:p>
                  </a:txBody>
                  <a:tcPr marT="27432" marB="27432"/>
                </a:tc>
                <a:tc>
                  <a:txBody>
                    <a:bodyPr/>
                    <a:lstStyle/>
                    <a:p>
                      <a:pPr algn="r"/>
                      <a:r>
                        <a:rPr lang="en-US" sz="1300" b="0" noProof="1"/>
                        <a:t>500</a:t>
                      </a:r>
                      <a:endParaRPr lang="en-US" sz="1300" b="0" noProof="1">
                        <a:latin typeface="Arial"/>
                      </a:endParaRPr>
                    </a:p>
                  </a:txBody>
                  <a:tcPr marT="27432" marB="27432"/>
                </a:tc>
                <a:tc>
                  <a:txBody>
                    <a:bodyPr/>
                    <a:lstStyle/>
                    <a:p>
                      <a:pPr algn="r"/>
                      <a:r>
                        <a:rPr lang="en-US" sz="1300" b="0" noProof="1"/>
                        <a:t>455</a:t>
                      </a:r>
                      <a:endParaRPr lang="en-US" sz="1300" b="0" noProof="1">
                        <a:latin typeface="Arial"/>
                      </a:endParaRPr>
                    </a:p>
                  </a:txBody>
                  <a:tcPr marT="27432" marB="27432"/>
                </a:tc>
                <a:tc>
                  <a:txBody>
                    <a:bodyPr/>
                    <a:lstStyle/>
                    <a:p>
                      <a:pPr algn="r"/>
                      <a:r>
                        <a:rPr lang="en-US" sz="1300" b="0" noProof="1"/>
                        <a:t>413</a:t>
                      </a:r>
                      <a:endParaRPr lang="en-US" sz="1300" b="0" noProof="1">
                        <a:latin typeface="Arial"/>
                      </a:endParaRPr>
                    </a:p>
                  </a:txBody>
                  <a:tcPr marT="27432" marB="27432"/>
                </a:tc>
                <a:tc>
                  <a:txBody>
                    <a:bodyPr/>
                    <a:lstStyle/>
                    <a:p>
                      <a:pPr algn="r"/>
                      <a:r>
                        <a:rPr lang="en-US" sz="1300" b="0" noProof="1"/>
                        <a:t>376</a:t>
                      </a:r>
                      <a:endParaRPr lang="en-US" sz="1300" b="0" noProof="1">
                        <a:latin typeface="Arial"/>
                      </a:endParaRPr>
                    </a:p>
                  </a:txBody>
                  <a:tcPr marT="27432" marB="27432"/>
                </a:tc>
                <a:tc>
                  <a:txBody>
                    <a:bodyPr/>
                    <a:lstStyle/>
                    <a:p>
                      <a:pPr algn="r"/>
                      <a:r>
                        <a:rPr lang="en-US" sz="1300" b="0" noProof="1"/>
                        <a:t>342</a:t>
                      </a:r>
                      <a:endParaRPr lang="en-US" sz="1300" b="0" noProof="1">
                        <a:latin typeface="Arial"/>
                      </a:endParaRPr>
                    </a:p>
                  </a:txBody>
                  <a:tcPr marT="27432" marB="27432"/>
                </a:tc>
                <a:tc>
                  <a:txBody>
                    <a:bodyPr/>
                    <a:lstStyle/>
                    <a:p>
                      <a:pPr algn="r"/>
                      <a:r>
                        <a:rPr lang="en-US" sz="1300" b="0" noProof="1"/>
                        <a:t>4.085</a:t>
                      </a:r>
                      <a:endParaRPr lang="en-US" sz="1300" b="0" noProof="1">
                        <a:latin typeface="Arial"/>
                      </a:endParaRPr>
                    </a:p>
                  </a:txBody>
                  <a:tcPr marT="27432" marB="27432"/>
                </a:tc>
                <a:extLst>
                  <a:ext uri="{0D108BD9-81ED-4DB2-BD59-A6C34878D82A}">
                    <a16:rowId xmlns:a16="http://schemas.microsoft.com/office/drawing/2014/main" val="10003"/>
                  </a:ext>
                </a:extLst>
              </a:tr>
              <a:tr h="347472">
                <a:tc>
                  <a:txBody>
                    <a:bodyPr/>
                    <a:lstStyle/>
                    <a:p>
                      <a:r>
                        <a:rPr lang="en-US" sz="1300" b="1" noProof="1"/>
                        <a:t>Manfaat</a:t>
                      </a:r>
                      <a:endParaRPr lang="en-US" sz="1300" b="1" noProof="1">
                        <a:latin typeface="Arial"/>
                      </a:endParaRPr>
                    </a:p>
                  </a:txBody>
                  <a:tcPr marT="27432" marB="27432"/>
                </a:tc>
                <a:tc>
                  <a:txBody>
                    <a:bodyPr/>
                    <a:lstStyle/>
                    <a:p>
                      <a:pPr algn="r"/>
                      <a:r>
                        <a:rPr lang="en-US" sz="1300" b="0" noProof="1"/>
                        <a:t>0</a:t>
                      </a:r>
                      <a:endParaRPr lang="en-US" sz="1300" b="0" noProof="1">
                        <a:latin typeface="Arial"/>
                      </a:endParaRPr>
                    </a:p>
                  </a:txBody>
                  <a:tcPr marT="27432" marB="27432"/>
                </a:tc>
                <a:tc>
                  <a:txBody>
                    <a:bodyPr/>
                    <a:lstStyle/>
                    <a:p>
                      <a:pPr algn="r"/>
                      <a:r>
                        <a:rPr lang="en-US" sz="1300" b="0" noProof="1"/>
                        <a:t>660</a:t>
                      </a:r>
                      <a:endParaRPr lang="en-US" sz="1300" b="0" noProof="1">
                        <a:latin typeface="Arial"/>
                      </a:endParaRPr>
                    </a:p>
                  </a:txBody>
                  <a:tcPr marT="27432" marB="27432"/>
                </a:tc>
                <a:tc>
                  <a:txBody>
                    <a:bodyPr/>
                    <a:lstStyle/>
                    <a:p>
                      <a:pPr algn="r"/>
                      <a:r>
                        <a:rPr lang="en-US" sz="1300" b="0" noProof="1"/>
                        <a:t>1.320</a:t>
                      </a:r>
                      <a:endParaRPr lang="en-US" sz="1300" b="0" noProof="1">
                        <a:latin typeface="Arial"/>
                      </a:endParaRPr>
                    </a:p>
                  </a:txBody>
                  <a:tcPr marT="27432" marB="27432"/>
                </a:tc>
                <a:tc>
                  <a:txBody>
                    <a:bodyPr/>
                    <a:lstStyle/>
                    <a:p>
                      <a:pPr algn="r"/>
                      <a:r>
                        <a:rPr lang="en-US" sz="1300" b="0" noProof="1"/>
                        <a:t>1.650</a:t>
                      </a:r>
                      <a:endParaRPr lang="en-US" sz="1300" b="0" noProof="1">
                        <a:latin typeface="Arial"/>
                      </a:endParaRPr>
                    </a:p>
                  </a:txBody>
                  <a:tcPr marT="27432" marB="27432"/>
                </a:tc>
                <a:tc>
                  <a:txBody>
                    <a:bodyPr/>
                    <a:lstStyle/>
                    <a:p>
                      <a:pPr algn="r"/>
                      <a:r>
                        <a:rPr lang="en-US" sz="1300" b="0" noProof="1"/>
                        <a:t>1.650</a:t>
                      </a:r>
                      <a:endParaRPr lang="en-US" sz="1300" b="0" noProof="1">
                        <a:latin typeface="Arial"/>
                      </a:endParaRPr>
                    </a:p>
                  </a:txBody>
                  <a:tcPr marT="27432" marB="27432"/>
                </a:tc>
                <a:tc>
                  <a:txBody>
                    <a:bodyPr/>
                    <a:lstStyle/>
                    <a:p>
                      <a:pPr algn="r"/>
                      <a:r>
                        <a:rPr lang="en-US" sz="1300" b="0" noProof="1"/>
                        <a:t>1.650</a:t>
                      </a:r>
                      <a:endParaRPr lang="en-US" sz="1300" b="0" noProof="1">
                        <a:latin typeface="Arial"/>
                      </a:endParaRPr>
                    </a:p>
                  </a:txBody>
                  <a:tcPr marT="27432" marB="27432"/>
                </a:tc>
                <a:tc>
                  <a:txBody>
                    <a:bodyPr/>
                    <a:lstStyle/>
                    <a:p>
                      <a:pPr algn="r"/>
                      <a:endParaRPr lang="en-US" noProof="1"/>
                    </a:p>
                  </a:txBody>
                  <a:tcPr marT="27432" marB="27432"/>
                </a:tc>
                <a:extLst>
                  <a:ext uri="{0D108BD9-81ED-4DB2-BD59-A6C34878D82A}">
                    <a16:rowId xmlns:a16="http://schemas.microsoft.com/office/drawing/2014/main" val="10004"/>
                  </a:ext>
                </a:extLst>
              </a:tr>
              <a:tr h="347472">
                <a:tc>
                  <a:txBody>
                    <a:bodyPr/>
                    <a:lstStyle/>
                    <a:p>
                      <a:r>
                        <a:rPr lang="en-US" sz="1300" b="1" noProof="1"/>
                        <a:t>Faktor diskonto (10%)</a:t>
                      </a:r>
                      <a:endParaRPr lang="en-US" sz="1300" b="1" noProof="1">
                        <a:latin typeface="Arial"/>
                      </a:endParaRPr>
                    </a:p>
                  </a:txBody>
                  <a:tcPr marT="27432" marB="27432"/>
                </a:tc>
                <a:tc>
                  <a:txBody>
                    <a:bodyPr/>
                    <a:lstStyle/>
                    <a:p>
                      <a:pPr algn="r"/>
                      <a:r>
                        <a:rPr lang="en-US" sz="1300" b="0" noProof="1"/>
                        <a:t>1,00</a:t>
                      </a:r>
                      <a:endParaRPr lang="en-US" sz="1300" b="0" noProof="1">
                        <a:latin typeface="Arial"/>
                      </a:endParaRPr>
                    </a:p>
                  </a:txBody>
                  <a:tcPr marT="27432" marB="27432"/>
                </a:tc>
                <a:tc>
                  <a:txBody>
                    <a:bodyPr/>
                    <a:lstStyle/>
                    <a:p>
                      <a:pPr algn="r"/>
                      <a:r>
                        <a:rPr lang="en-US" sz="1300" b="0" noProof="1"/>
                        <a:t>0,91</a:t>
                      </a:r>
                      <a:endParaRPr lang="en-US" sz="1300" b="0" noProof="1">
                        <a:latin typeface="Arial"/>
                      </a:endParaRPr>
                    </a:p>
                  </a:txBody>
                  <a:tcPr marT="27432" marB="27432"/>
                </a:tc>
                <a:tc>
                  <a:txBody>
                    <a:bodyPr/>
                    <a:lstStyle/>
                    <a:p>
                      <a:pPr algn="r"/>
                      <a:r>
                        <a:rPr lang="en-US" sz="1300" b="0" noProof="1"/>
                        <a:t>0,83</a:t>
                      </a:r>
                      <a:endParaRPr lang="en-US" sz="1300" b="0" noProof="1">
                        <a:latin typeface="Arial"/>
                      </a:endParaRPr>
                    </a:p>
                  </a:txBody>
                  <a:tcPr marT="27432" marB="27432"/>
                </a:tc>
                <a:tc>
                  <a:txBody>
                    <a:bodyPr/>
                    <a:lstStyle/>
                    <a:p>
                      <a:pPr algn="r"/>
                      <a:r>
                        <a:rPr lang="en-US" sz="1300" b="0" noProof="1"/>
                        <a:t>0,75</a:t>
                      </a:r>
                      <a:endParaRPr lang="en-US" sz="1300" b="0" noProof="1">
                        <a:latin typeface="Arial"/>
                      </a:endParaRPr>
                    </a:p>
                  </a:txBody>
                  <a:tcPr marT="27432" marB="27432"/>
                </a:tc>
                <a:tc>
                  <a:txBody>
                    <a:bodyPr/>
                    <a:lstStyle/>
                    <a:p>
                      <a:pPr algn="r"/>
                      <a:r>
                        <a:rPr lang="en-US" sz="1300" b="0" noProof="1"/>
                        <a:t>0,68</a:t>
                      </a:r>
                      <a:endParaRPr lang="en-US" sz="1300" b="0" noProof="1">
                        <a:latin typeface="Arial"/>
                      </a:endParaRPr>
                    </a:p>
                  </a:txBody>
                  <a:tcPr marT="27432" marB="27432"/>
                </a:tc>
                <a:tc>
                  <a:txBody>
                    <a:bodyPr/>
                    <a:lstStyle/>
                    <a:p>
                      <a:pPr algn="r"/>
                      <a:r>
                        <a:rPr lang="en-US" sz="1300" b="0" noProof="1"/>
                        <a:t>0,62</a:t>
                      </a:r>
                      <a:endParaRPr lang="en-US" sz="1300" b="0" noProof="1">
                        <a:latin typeface="Arial"/>
                      </a:endParaRPr>
                    </a:p>
                  </a:txBody>
                  <a:tcPr marT="27432" marB="27432"/>
                </a:tc>
                <a:tc>
                  <a:txBody>
                    <a:bodyPr/>
                    <a:lstStyle/>
                    <a:p>
                      <a:pPr algn="r"/>
                      <a:endParaRPr lang="en-US" noProof="1"/>
                    </a:p>
                  </a:txBody>
                  <a:tcPr marT="27432" marB="27432"/>
                </a:tc>
                <a:extLst>
                  <a:ext uri="{0D108BD9-81ED-4DB2-BD59-A6C34878D82A}">
                    <a16:rowId xmlns:a16="http://schemas.microsoft.com/office/drawing/2014/main" val="10005"/>
                  </a:ext>
                </a:extLst>
              </a:tr>
              <a:tr h="347472">
                <a:tc>
                  <a:txBody>
                    <a:bodyPr/>
                    <a:lstStyle/>
                    <a:p>
                      <a:r>
                        <a:rPr lang="en-US" sz="1300" b="1" noProof="1"/>
                        <a:t>Manfaat terdiskonto</a:t>
                      </a:r>
                      <a:endParaRPr lang="en-US" sz="1300" b="1" noProof="1">
                        <a:latin typeface="Arial"/>
                      </a:endParaRPr>
                    </a:p>
                  </a:txBody>
                  <a:tcPr marT="27432" marB="27432"/>
                </a:tc>
                <a:tc>
                  <a:txBody>
                    <a:bodyPr/>
                    <a:lstStyle/>
                    <a:p>
                      <a:pPr algn="r"/>
                      <a:r>
                        <a:rPr lang="en-US" sz="1300" b="0" noProof="1"/>
                        <a:t>0</a:t>
                      </a:r>
                      <a:endParaRPr lang="en-US" sz="1300" b="0" noProof="1">
                        <a:latin typeface="Arial"/>
                      </a:endParaRPr>
                    </a:p>
                  </a:txBody>
                  <a:tcPr marT="27432" marB="27432"/>
                </a:tc>
                <a:tc>
                  <a:txBody>
                    <a:bodyPr/>
                    <a:lstStyle/>
                    <a:p>
                      <a:pPr algn="r"/>
                      <a:r>
                        <a:rPr lang="en-US" sz="1300" b="0" noProof="1"/>
                        <a:t>600</a:t>
                      </a:r>
                      <a:endParaRPr lang="en-US" sz="1300" b="0" noProof="1">
                        <a:latin typeface="Arial"/>
                      </a:endParaRPr>
                    </a:p>
                  </a:txBody>
                  <a:tcPr marT="27432" marB="27432"/>
                </a:tc>
                <a:tc>
                  <a:txBody>
                    <a:bodyPr/>
                    <a:lstStyle/>
                    <a:p>
                      <a:pPr algn="r"/>
                      <a:r>
                        <a:rPr lang="en-US" sz="1300" b="0" noProof="1"/>
                        <a:t>1.091</a:t>
                      </a:r>
                      <a:endParaRPr lang="en-US" sz="1300" b="0" noProof="1">
                        <a:latin typeface="Arial"/>
                      </a:endParaRPr>
                    </a:p>
                  </a:txBody>
                  <a:tcPr marT="27432" marB="27432"/>
                </a:tc>
                <a:tc>
                  <a:txBody>
                    <a:bodyPr/>
                    <a:lstStyle/>
                    <a:p>
                      <a:pPr algn="r"/>
                      <a:r>
                        <a:rPr lang="en-US" sz="1300" b="0" noProof="1"/>
                        <a:t>1.240</a:t>
                      </a:r>
                      <a:endParaRPr lang="en-US" sz="1300" b="0" noProof="1">
                        <a:latin typeface="Arial"/>
                      </a:endParaRPr>
                    </a:p>
                  </a:txBody>
                  <a:tcPr marT="27432" marB="27432"/>
                </a:tc>
                <a:tc>
                  <a:txBody>
                    <a:bodyPr/>
                    <a:lstStyle/>
                    <a:p>
                      <a:pPr algn="r"/>
                      <a:r>
                        <a:rPr lang="en-US" sz="1300" b="0" noProof="1"/>
                        <a:t>1.127</a:t>
                      </a:r>
                      <a:endParaRPr lang="en-US" sz="1300" b="0" noProof="1">
                        <a:latin typeface="Arial"/>
                      </a:endParaRPr>
                    </a:p>
                  </a:txBody>
                  <a:tcPr marT="27432" marB="27432"/>
                </a:tc>
                <a:tc>
                  <a:txBody>
                    <a:bodyPr/>
                    <a:lstStyle/>
                    <a:p>
                      <a:pPr algn="r"/>
                      <a:r>
                        <a:rPr lang="en-US" sz="1300" b="0" noProof="1"/>
                        <a:t>1.025</a:t>
                      </a:r>
                      <a:endParaRPr lang="en-US" sz="1300" b="0" noProof="1">
                        <a:latin typeface="Arial"/>
                      </a:endParaRPr>
                    </a:p>
                  </a:txBody>
                  <a:tcPr marT="27432" marB="27432"/>
                </a:tc>
                <a:tc>
                  <a:txBody>
                    <a:bodyPr/>
                    <a:lstStyle/>
                    <a:p>
                      <a:pPr algn="r"/>
                      <a:r>
                        <a:rPr lang="en-US" sz="1300" b="0" noProof="1"/>
                        <a:t>5.082</a:t>
                      </a:r>
                      <a:endParaRPr lang="en-US" sz="1300" b="0" noProof="1">
                        <a:latin typeface="Arial"/>
                      </a:endParaRPr>
                    </a:p>
                  </a:txBody>
                  <a:tcPr marT="27432" marB="27432"/>
                </a:tc>
                <a:extLst>
                  <a:ext uri="{0D108BD9-81ED-4DB2-BD59-A6C34878D82A}">
                    <a16:rowId xmlns:a16="http://schemas.microsoft.com/office/drawing/2014/main" val="10006"/>
                  </a:ext>
                </a:extLst>
              </a:tr>
              <a:tr h="347472">
                <a:tc>
                  <a:txBody>
                    <a:bodyPr/>
                    <a:lstStyle/>
                    <a:p>
                      <a:r>
                        <a:rPr lang="en-US" sz="1300" b="1" noProof="1"/>
                        <a:t>Manfaat − biaya terdiskonto</a:t>
                      </a:r>
                      <a:endParaRPr lang="en-US" sz="1300" b="1" noProof="1">
                        <a:latin typeface="Arial"/>
                      </a:endParaRPr>
                    </a:p>
                  </a:txBody>
                  <a:tcPr marT="27432" marB="27432"/>
                </a:tc>
                <a:tc>
                  <a:txBody>
                    <a:bodyPr/>
                    <a:lstStyle/>
                    <a:p>
                      <a:pPr algn="r"/>
                      <a:r>
                        <a:rPr lang="en-US" sz="1300" b="0" noProof="1"/>
                        <a:t>-2.000</a:t>
                      </a:r>
                      <a:endParaRPr lang="en-US" sz="1300" b="0" noProof="1">
                        <a:latin typeface="Arial"/>
                      </a:endParaRPr>
                    </a:p>
                  </a:txBody>
                  <a:tcPr marT="27432" marB="27432"/>
                </a:tc>
                <a:tc>
                  <a:txBody>
                    <a:bodyPr/>
                    <a:lstStyle/>
                    <a:p>
                      <a:pPr algn="r"/>
                      <a:r>
                        <a:rPr lang="en-US" sz="1300" b="0" noProof="1"/>
                        <a:t>100</a:t>
                      </a:r>
                      <a:endParaRPr lang="en-US" sz="1300" b="0" noProof="1">
                        <a:latin typeface="Arial"/>
                      </a:endParaRPr>
                    </a:p>
                  </a:txBody>
                  <a:tcPr marT="27432" marB="27432"/>
                </a:tc>
                <a:tc>
                  <a:txBody>
                    <a:bodyPr/>
                    <a:lstStyle/>
                    <a:p>
                      <a:pPr algn="r"/>
                      <a:r>
                        <a:rPr lang="en-US" sz="1300" b="0" noProof="1"/>
                        <a:t>636</a:t>
                      </a:r>
                      <a:endParaRPr lang="en-US" sz="1300" b="0" noProof="1">
                        <a:latin typeface="Arial"/>
                      </a:endParaRPr>
                    </a:p>
                  </a:txBody>
                  <a:tcPr marT="27432" marB="27432"/>
                </a:tc>
                <a:tc>
                  <a:txBody>
                    <a:bodyPr/>
                    <a:lstStyle/>
                    <a:p>
                      <a:pPr algn="r"/>
                      <a:r>
                        <a:rPr lang="en-US" sz="1300" b="0" noProof="1"/>
                        <a:t>826</a:t>
                      </a:r>
                      <a:endParaRPr lang="en-US" sz="1300" b="0" noProof="1">
                        <a:latin typeface="Arial"/>
                      </a:endParaRPr>
                    </a:p>
                  </a:txBody>
                  <a:tcPr marT="27432" marB="27432"/>
                </a:tc>
                <a:tc>
                  <a:txBody>
                    <a:bodyPr/>
                    <a:lstStyle/>
                    <a:p>
                      <a:pPr algn="r"/>
                      <a:r>
                        <a:rPr lang="en-US" sz="1300" b="0" noProof="1"/>
                        <a:t>751</a:t>
                      </a:r>
                      <a:endParaRPr lang="en-US" sz="1300" b="0" noProof="1">
                        <a:latin typeface="Arial"/>
                      </a:endParaRPr>
                    </a:p>
                  </a:txBody>
                  <a:tcPr marT="27432" marB="27432"/>
                </a:tc>
                <a:tc>
                  <a:txBody>
                    <a:bodyPr/>
                    <a:lstStyle/>
                    <a:p>
                      <a:pPr algn="r"/>
                      <a:r>
                        <a:rPr lang="en-US" sz="1300" b="0" noProof="1"/>
                        <a:t>683</a:t>
                      </a:r>
                      <a:endParaRPr lang="en-US" sz="1300" b="0" noProof="1">
                        <a:latin typeface="Arial"/>
                      </a:endParaRPr>
                    </a:p>
                  </a:txBody>
                  <a:tcPr marT="27432" marB="27432"/>
                </a:tc>
                <a:tc>
                  <a:txBody>
                    <a:bodyPr/>
                    <a:lstStyle/>
                    <a:p>
                      <a:pPr algn="r"/>
                      <a:endParaRPr lang="en-US" noProof="1"/>
                    </a:p>
                  </a:txBody>
                  <a:tcPr marT="27432" marB="27432"/>
                </a:tc>
                <a:extLst>
                  <a:ext uri="{0D108BD9-81ED-4DB2-BD59-A6C34878D82A}">
                    <a16:rowId xmlns:a16="http://schemas.microsoft.com/office/drawing/2014/main" val="10007"/>
                  </a:ext>
                </a:extLst>
              </a:tr>
              <a:tr h="347472">
                <a:tc>
                  <a:txBody>
                    <a:bodyPr/>
                    <a:lstStyle/>
                    <a:p>
                      <a:r>
                        <a:rPr lang="en-US" sz="1300" b="1" noProof="1"/>
                        <a:t>Akumulasi</a:t>
                      </a:r>
                      <a:endParaRPr lang="en-US" sz="1300" b="1" noProof="1">
                        <a:latin typeface="Arial"/>
                      </a:endParaRPr>
                    </a:p>
                  </a:txBody>
                  <a:tcPr marT="27432" marB="27432"/>
                </a:tc>
                <a:tc>
                  <a:txBody>
                    <a:bodyPr/>
                    <a:lstStyle/>
                    <a:p>
                      <a:pPr algn="r"/>
                      <a:r>
                        <a:rPr lang="en-US" sz="1300" b="0" noProof="1"/>
                        <a:t>-2.000</a:t>
                      </a:r>
                      <a:endParaRPr lang="en-US" sz="1300" b="0" noProof="1">
                        <a:latin typeface="Arial"/>
                      </a:endParaRPr>
                    </a:p>
                  </a:txBody>
                  <a:tcPr marT="27432" marB="27432"/>
                </a:tc>
                <a:tc>
                  <a:txBody>
                    <a:bodyPr/>
                    <a:lstStyle/>
                    <a:p>
                      <a:pPr algn="r"/>
                      <a:r>
                        <a:rPr lang="en-US" sz="1300" b="0" noProof="1"/>
                        <a:t>-1.900</a:t>
                      </a:r>
                      <a:endParaRPr lang="en-US" sz="1300" b="0" noProof="1">
                        <a:latin typeface="Arial"/>
                      </a:endParaRPr>
                    </a:p>
                  </a:txBody>
                  <a:tcPr marT="27432" marB="27432"/>
                </a:tc>
                <a:tc>
                  <a:txBody>
                    <a:bodyPr/>
                    <a:lstStyle/>
                    <a:p>
                      <a:pPr algn="r"/>
                      <a:r>
                        <a:rPr lang="en-US" sz="1300" b="0" noProof="1"/>
                        <a:t>-1.264</a:t>
                      </a:r>
                      <a:endParaRPr lang="en-US" sz="1300" b="0" noProof="1">
                        <a:latin typeface="Arial"/>
                      </a:endParaRPr>
                    </a:p>
                  </a:txBody>
                  <a:tcPr marT="27432" marB="27432"/>
                </a:tc>
                <a:tc>
                  <a:txBody>
                    <a:bodyPr/>
                    <a:lstStyle/>
                    <a:p>
                      <a:pPr algn="r"/>
                      <a:r>
                        <a:rPr lang="en-US" sz="1300" b="0" noProof="1"/>
                        <a:t>-437</a:t>
                      </a:r>
                      <a:endParaRPr lang="en-US" sz="1300" b="0" noProof="1">
                        <a:latin typeface="Arial"/>
                      </a:endParaRPr>
                    </a:p>
                  </a:txBody>
                  <a:tcPr marT="27432" marB="27432"/>
                </a:tc>
                <a:tc>
                  <a:txBody>
                    <a:bodyPr/>
                    <a:lstStyle/>
                    <a:p>
                      <a:pPr algn="r"/>
                      <a:r>
                        <a:rPr lang="en-US" sz="1300" b="0" noProof="1"/>
                        <a:t>314</a:t>
                      </a:r>
                      <a:endParaRPr lang="en-US" sz="1300" b="0" noProof="1">
                        <a:latin typeface="Arial"/>
                      </a:endParaRPr>
                    </a:p>
                  </a:txBody>
                  <a:tcPr marT="27432" marB="27432"/>
                </a:tc>
                <a:tc>
                  <a:txBody>
                    <a:bodyPr/>
                    <a:lstStyle/>
                    <a:p>
                      <a:pPr algn="r"/>
                      <a:r>
                        <a:rPr lang="en-US" sz="1300" b="0" noProof="1"/>
                        <a:t>997</a:t>
                      </a:r>
                      <a:endParaRPr lang="en-US" sz="1300" b="0" noProof="1">
                        <a:latin typeface="Arial"/>
                      </a:endParaRPr>
                    </a:p>
                  </a:txBody>
                  <a:tcPr marT="27432" marB="27432"/>
                </a:tc>
                <a:tc>
                  <a:txBody>
                    <a:bodyPr/>
                    <a:lstStyle/>
                    <a:p>
                      <a:pPr algn="r"/>
                      <a:endParaRPr lang="en-US" noProof="1"/>
                    </a:p>
                  </a:txBody>
                  <a:tcPr marT="27432" marB="27432"/>
                </a:tc>
                <a:extLst>
                  <a:ext uri="{0D108BD9-81ED-4DB2-BD59-A6C34878D82A}">
                    <a16:rowId xmlns:a16="http://schemas.microsoft.com/office/drawing/2014/main" val="10008"/>
                  </a:ext>
                </a:extLst>
              </a:tr>
            </a:tbl>
          </a:graphicData>
        </a:graphic>
      </p:graphicFrame>
      <p:sp>
        <p:nvSpPr>
          <p:cNvPr id="4" name="Rounded Rectangle 3"/>
          <p:cNvSpPr/>
          <p:nvPr/>
        </p:nvSpPr>
        <p:spPr>
          <a:xfrm>
            <a:off x="731520" y="4754880"/>
            <a:ext cx="3447288" cy="868680"/>
          </a:xfrm>
          <a:prstGeom prst="roundRect">
            <a:avLst>
              <a:gd name="adj" fmla="val 10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noProof="1">
                <a:solidFill>
                  <a:schemeClr val="tx1"/>
                </a:solidFill>
                <a:latin typeface="Arial"/>
              </a:rPr>
              <a:t>Rp997 juta</a:t>
            </a:r>
          </a:p>
          <a:p>
            <a:pPr algn="ctr"/>
            <a:r>
              <a:rPr lang="en-US" sz="1200" b="0" noProof="1">
                <a:solidFill>
                  <a:schemeClr val="tx1"/>
                </a:solidFill>
                <a:latin typeface="Arial"/>
              </a:rPr>
              <a:t>NPV</a:t>
            </a:r>
          </a:p>
        </p:txBody>
      </p:sp>
      <p:sp>
        <p:nvSpPr>
          <p:cNvPr id="5" name="Rounded Rectangle 4"/>
          <p:cNvSpPr/>
          <p:nvPr/>
        </p:nvSpPr>
        <p:spPr>
          <a:xfrm>
            <a:off x="4370832" y="4754880"/>
            <a:ext cx="3447288" cy="868680"/>
          </a:xfrm>
          <a:prstGeom prst="roundRect">
            <a:avLst>
              <a:gd name="adj" fmla="val 10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noProof="1">
                <a:solidFill>
                  <a:schemeClr val="tx1"/>
                </a:solidFill>
                <a:latin typeface="Arial"/>
              </a:rPr>
              <a:t>24,4%</a:t>
            </a:r>
          </a:p>
          <a:p>
            <a:pPr algn="ctr"/>
            <a:r>
              <a:rPr lang="en-US" sz="1200" b="0" noProof="1">
                <a:solidFill>
                  <a:schemeClr val="tx1"/>
                </a:solidFill>
                <a:latin typeface="Arial"/>
              </a:rPr>
              <a:t>Discounted ROI</a:t>
            </a:r>
          </a:p>
        </p:txBody>
      </p:sp>
      <p:sp>
        <p:nvSpPr>
          <p:cNvPr id="6" name="Rounded Rectangle 5"/>
          <p:cNvSpPr/>
          <p:nvPr/>
        </p:nvSpPr>
        <p:spPr>
          <a:xfrm>
            <a:off x="8010144" y="4754880"/>
            <a:ext cx="3447288" cy="868680"/>
          </a:xfrm>
          <a:prstGeom prst="roundRect">
            <a:avLst>
              <a:gd name="adj" fmla="val 10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noProof="1">
                <a:solidFill>
                  <a:schemeClr val="tx1"/>
                </a:solidFill>
                <a:latin typeface="Arial"/>
              </a:rPr>
              <a:t>Tahun ke-4</a:t>
            </a:r>
          </a:p>
          <a:p>
            <a:pPr algn="ctr"/>
            <a:r>
              <a:rPr lang="en-US" sz="1200" b="0" noProof="1">
                <a:solidFill>
                  <a:schemeClr val="tx1"/>
                </a:solidFill>
                <a:latin typeface="Arial"/>
              </a:rPr>
              <a:t>Payback</a:t>
            </a:r>
          </a:p>
        </p:txBody>
      </p:sp>
      <p:sp>
        <p:nvSpPr>
          <p:cNvPr id="7" name="TextBox 6"/>
          <p:cNvSpPr txBox="1"/>
          <p:nvPr/>
        </p:nvSpPr>
        <p:spPr>
          <a:xfrm>
            <a:off x="731520" y="5760720"/>
            <a:ext cx="10725912" cy="640080"/>
          </a:xfrm>
          <a:prstGeom prst="rect">
            <a:avLst/>
          </a:prstGeom>
          <a:noFill/>
        </p:spPr>
        <p:txBody>
          <a:bodyPr wrap="square">
            <a:spAutoFit/>
          </a:bodyPr>
          <a:lstStyle/>
          <a:p>
            <a:pPr>
              <a:spcAft>
                <a:spcPts val="400"/>
              </a:spcAft>
            </a:pPr>
            <a:r>
              <a:rPr lang="en-US" sz="1300" b="1" noProof="1">
                <a:solidFill>
                  <a:srgbClr val="1F1F1F"/>
                </a:solidFill>
                <a:latin typeface="Arial"/>
              </a:rPr>
              <a:t>Bandingkan dengan versi sebelumnya: </a:t>
            </a:r>
            <a:r>
              <a:rPr lang="en-US" sz="1300" b="0" noProof="1">
                <a:solidFill>
                  <a:srgbClr val="1F1F1F"/>
                </a:solidFill>
                <a:latin typeface="Arial"/>
              </a:rPr>
              <a:t>ROI 89,5% karena tanpa biaya operasional dan dengan manfaat penuh sejak tahun pertama. Asumsi yang realistis menurunkan ROI, tetapi proyek tetap layak.</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noProof="1"/>
              <a:t>Business Case RME (5): Asumsi &amp; Opsi</a:t>
            </a:r>
          </a:p>
        </p:txBody>
      </p:sp>
      <p:sp>
        <p:nvSpPr>
          <p:cNvPr id="3" name="TextBox 2"/>
          <p:cNvSpPr txBox="1"/>
          <p:nvPr/>
        </p:nvSpPr>
        <p:spPr>
          <a:xfrm>
            <a:off x="731520" y="1371600"/>
            <a:ext cx="5257800" cy="1923604"/>
          </a:xfrm>
          <a:prstGeom prst="rect">
            <a:avLst/>
          </a:prstGeom>
          <a:noFill/>
        </p:spPr>
        <p:txBody>
          <a:bodyPr wrap="square">
            <a:spAutoFit/>
          </a:bodyPr>
          <a:lstStyle/>
          <a:p>
            <a:pPr>
              <a:spcBef>
                <a:spcPts val="600"/>
              </a:spcBef>
              <a:spcAft>
                <a:spcPts val="200"/>
              </a:spcAft>
            </a:pPr>
            <a:r>
              <a:rPr lang="en-US" b="1" noProof="1">
                <a:latin typeface="Arial"/>
              </a:rPr>
              <a:t>Biaya Opsi 3 (Rp juta)</a:t>
            </a:r>
          </a:p>
          <a:p>
            <a:pPr marL="228600" indent="-228600">
              <a:spcAft>
                <a:spcPts val="400"/>
              </a:spcAft>
              <a:buChar char="•"/>
            </a:pPr>
            <a:r>
              <a:rPr lang="en-US" sz="1600" b="0" noProof="1">
                <a:latin typeface="Arial"/>
              </a:rPr>
              <a:t>Investasi awal 2.000 = pengembangan &amp; integrasi 1.200 + perangkat keras &amp; jaringan 450 + migrasi data 150 + pelatihan 100 + keamanan 100</a:t>
            </a:r>
          </a:p>
          <a:p>
            <a:pPr marL="228600" indent="-228600">
              <a:spcAft>
                <a:spcPts val="400"/>
              </a:spcAft>
              <a:buChar char="•"/>
            </a:pPr>
            <a:r>
              <a:rPr lang="en-US" sz="1600" b="0" noProof="1">
                <a:latin typeface="Arial"/>
              </a:rPr>
              <a:t>Operasional 550/tahun = tim pengembangan lanjutan (3 orang) 360 + hosting, server &amp; lisensi 120 + audit keamanan &amp; backup 70</a:t>
            </a:r>
          </a:p>
        </p:txBody>
      </p:sp>
      <p:sp>
        <p:nvSpPr>
          <p:cNvPr id="4" name="TextBox 3"/>
          <p:cNvSpPr txBox="1"/>
          <p:nvPr/>
        </p:nvSpPr>
        <p:spPr>
          <a:xfrm>
            <a:off x="6263640" y="1371600"/>
            <a:ext cx="5193792" cy="2026196"/>
          </a:xfrm>
          <a:prstGeom prst="rect">
            <a:avLst/>
          </a:prstGeom>
          <a:noFill/>
        </p:spPr>
        <p:txBody>
          <a:bodyPr wrap="square">
            <a:spAutoFit/>
          </a:bodyPr>
          <a:lstStyle/>
          <a:p>
            <a:pPr>
              <a:spcBef>
                <a:spcPts val="600"/>
              </a:spcBef>
              <a:spcAft>
                <a:spcPts val="200"/>
              </a:spcAft>
            </a:pPr>
            <a:r>
              <a:rPr lang="en-US" b="1" noProof="1">
                <a:latin typeface="Arial"/>
              </a:rPr>
              <a:t>Manfaat penuh 1.650/tahun (Rp juta)</a:t>
            </a:r>
          </a:p>
          <a:p>
            <a:pPr marL="228600" indent="-228600">
              <a:spcAft>
                <a:spcPts val="400"/>
              </a:spcAft>
              <a:buChar char="•"/>
            </a:pPr>
            <a:r>
              <a:rPr lang="en-US" sz="1600" b="0" noProof="1">
                <a:latin typeface="Arial"/>
              </a:rPr>
              <a:t>Hemat waktu dokumentasi: 120 staf × 0,5 jam/hari × 300 hari × Rp50.000/jam = 900</a:t>
            </a:r>
          </a:p>
          <a:p>
            <a:pPr marL="228600" indent="-228600">
              <a:spcAft>
                <a:spcPts val="400"/>
              </a:spcAft>
              <a:buChar char="•"/>
            </a:pPr>
            <a:r>
              <a:rPr lang="en-US" sz="1600" b="0" noProof="1">
                <a:latin typeface="Arial"/>
              </a:rPr>
              <a:t>Klaim BPJS tidak terbayar turun 1% × pendapatan klaim Rp60 miliar = 600</a:t>
            </a:r>
          </a:p>
          <a:p>
            <a:pPr marL="228600" indent="-228600">
              <a:spcAft>
                <a:spcPts val="400"/>
              </a:spcAft>
              <a:buChar char="•"/>
            </a:pPr>
            <a:r>
              <a:rPr lang="en-US" sz="1600" b="0" noProof="1">
                <a:latin typeface="Arial"/>
              </a:rPr>
              <a:t>Kertas, cetak, dan arsip = 150</a:t>
            </a:r>
          </a:p>
          <a:p>
            <a:pPr marL="228600" indent="-228600">
              <a:spcAft>
                <a:spcPts val="400"/>
              </a:spcAft>
              <a:buChar char="•"/>
            </a:pPr>
            <a:r>
              <a:rPr lang="en-US" sz="1600" b="0" noProof="1">
                <a:latin typeface="Arial"/>
              </a:rPr>
              <a:t>Adopsi bertahap: 40% / 80% / 100% / 100% / 100%</a:t>
            </a:r>
          </a:p>
        </p:txBody>
      </p:sp>
      <p:graphicFrame>
        <p:nvGraphicFramePr>
          <p:cNvPr id="5" name="Table 4"/>
          <p:cNvGraphicFramePr>
            <a:graphicFrameLocks noGrp="1"/>
          </p:cNvGraphicFramePr>
          <p:nvPr>
            <p:extLst>
              <p:ext uri="{D42A27DB-BD31-4B8C-83A1-F6EECF244321}">
                <p14:modId xmlns:p14="http://schemas.microsoft.com/office/powerpoint/2010/main" val="4075491211"/>
              </p:ext>
            </p:extLst>
          </p:nvPr>
        </p:nvGraphicFramePr>
        <p:xfrm>
          <a:off x="731520" y="4069080"/>
          <a:ext cx="10725912" cy="1975104"/>
        </p:xfrm>
        <a:graphic>
          <a:graphicData uri="http://schemas.openxmlformats.org/drawingml/2006/table">
            <a:tbl>
              <a:tblPr firstRow="1" bandRow="1">
                <a:tableStyleId>{5940675A-B579-460E-94D1-54222C63F5DA}</a:tableStyleId>
              </a:tblPr>
              <a:tblGrid>
                <a:gridCol w="3410712">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29184">
                <a:tc>
                  <a:txBody>
                    <a:bodyPr/>
                    <a:lstStyle/>
                    <a:p>
                      <a:pPr algn="ctr"/>
                      <a:r>
                        <a:rPr lang="en-US" sz="1300" b="1" noProof="1">
                          <a:solidFill>
                            <a:schemeClr val="bg1"/>
                          </a:solidFill>
                        </a:rPr>
                        <a:t>Perbandingan (Rp juta)</a:t>
                      </a:r>
                      <a:endParaRPr lang="en-US" sz="1300" b="1" noProof="1">
                        <a:solidFill>
                          <a:schemeClr val="bg1"/>
                        </a:solidFill>
                        <a:latin typeface="Arial"/>
                      </a:endParaRPr>
                    </a:p>
                  </a:txBody>
                  <a:tcPr marT="27432" marB="27432">
                    <a:solidFill>
                      <a:schemeClr val="tx1"/>
                    </a:solidFill>
                  </a:tcPr>
                </a:tc>
                <a:tc>
                  <a:txBody>
                    <a:bodyPr/>
                    <a:lstStyle/>
                    <a:p>
                      <a:pPr algn="ctr"/>
                      <a:r>
                        <a:rPr lang="en-US" sz="1300" b="1" noProof="1">
                          <a:solidFill>
                            <a:schemeClr val="bg1"/>
                          </a:solidFill>
                        </a:rPr>
                        <a:t>Opsi 2: SaaS vendor</a:t>
                      </a:r>
                      <a:endParaRPr lang="en-US" sz="1300" b="1" noProof="1">
                        <a:solidFill>
                          <a:schemeClr val="bg1"/>
                        </a:solidFill>
                        <a:latin typeface="Arial"/>
                      </a:endParaRPr>
                    </a:p>
                  </a:txBody>
                  <a:tcPr marT="27432" marB="27432">
                    <a:solidFill>
                      <a:schemeClr val="tx1"/>
                    </a:solidFill>
                  </a:tcPr>
                </a:tc>
                <a:tc>
                  <a:txBody>
                    <a:bodyPr/>
                    <a:lstStyle/>
                    <a:p>
                      <a:pPr algn="ctr"/>
                      <a:r>
                        <a:rPr lang="en-US" sz="1300" b="1" noProof="1">
                          <a:solidFill>
                            <a:schemeClr val="bg1"/>
                          </a:solidFill>
                        </a:rPr>
                        <a:t>Opsi 3: In-house bertahap</a:t>
                      </a:r>
                      <a:endParaRPr lang="en-US" sz="1300" b="1" noProof="1">
                        <a:solidFill>
                          <a:schemeClr val="bg1"/>
                        </a:solidFill>
                        <a:latin typeface="Arial"/>
                      </a:endParaRPr>
                    </a:p>
                  </a:txBody>
                  <a:tcPr marT="27432" marB="27432">
                    <a:solidFill>
                      <a:schemeClr val="tx1"/>
                    </a:solidFill>
                  </a:tcPr>
                </a:tc>
                <a:extLst>
                  <a:ext uri="{0D108BD9-81ED-4DB2-BD59-A6C34878D82A}">
                    <a16:rowId xmlns:a16="http://schemas.microsoft.com/office/drawing/2014/main" val="10000"/>
                  </a:ext>
                </a:extLst>
              </a:tr>
              <a:tr h="329184">
                <a:tc>
                  <a:txBody>
                    <a:bodyPr/>
                    <a:lstStyle/>
                    <a:p>
                      <a:r>
                        <a:rPr lang="en-US" sz="1300" b="1" noProof="1"/>
                        <a:t>Investasi awal (Year 0)</a:t>
                      </a:r>
                      <a:endParaRPr lang="en-US" sz="1300" b="1" noProof="1">
                        <a:latin typeface="Arial"/>
                      </a:endParaRPr>
                    </a:p>
                  </a:txBody>
                  <a:tcPr marT="27432" marB="27432"/>
                </a:tc>
                <a:tc>
                  <a:txBody>
                    <a:bodyPr/>
                    <a:lstStyle/>
                    <a:p>
                      <a:r>
                        <a:rPr lang="en-US" sz="1300" b="0" noProof="1"/>
                        <a:t>700</a:t>
                      </a:r>
                      <a:endParaRPr lang="en-US" sz="1300" b="0" noProof="1">
                        <a:latin typeface="Arial"/>
                      </a:endParaRPr>
                    </a:p>
                  </a:txBody>
                  <a:tcPr marT="27432" marB="27432"/>
                </a:tc>
                <a:tc>
                  <a:txBody>
                    <a:bodyPr/>
                    <a:lstStyle/>
                    <a:p>
                      <a:r>
                        <a:rPr lang="en-US" sz="1300" b="0" noProof="1"/>
                        <a:t>2.000</a:t>
                      </a:r>
                      <a:endParaRPr lang="en-US" sz="1300" b="0" noProof="1">
                        <a:latin typeface="Arial"/>
                      </a:endParaRPr>
                    </a:p>
                  </a:txBody>
                  <a:tcPr marT="27432" marB="27432"/>
                </a:tc>
                <a:extLst>
                  <a:ext uri="{0D108BD9-81ED-4DB2-BD59-A6C34878D82A}">
                    <a16:rowId xmlns:a16="http://schemas.microsoft.com/office/drawing/2014/main" val="10001"/>
                  </a:ext>
                </a:extLst>
              </a:tr>
              <a:tr h="329184">
                <a:tc>
                  <a:txBody>
                    <a:bodyPr/>
                    <a:lstStyle/>
                    <a:p>
                      <a:r>
                        <a:rPr lang="en-US" sz="1300" b="1" noProof="1"/>
                        <a:t>Biaya tahunan</a:t>
                      </a:r>
                      <a:endParaRPr lang="en-US" sz="1300" b="1" noProof="1">
                        <a:latin typeface="Arial"/>
                      </a:endParaRPr>
                    </a:p>
                  </a:txBody>
                  <a:tcPr marT="27432" marB="27432"/>
                </a:tc>
                <a:tc>
                  <a:txBody>
                    <a:bodyPr/>
                    <a:lstStyle/>
                    <a:p>
                      <a:r>
                        <a:rPr lang="en-US" sz="1300" b="0" noProof="1"/>
                        <a:t>1.000 (langganan + kustomisasi)</a:t>
                      </a:r>
                      <a:endParaRPr lang="en-US" sz="1300" b="0" noProof="1">
                        <a:latin typeface="Arial"/>
                      </a:endParaRPr>
                    </a:p>
                  </a:txBody>
                  <a:tcPr marT="27432" marB="27432"/>
                </a:tc>
                <a:tc>
                  <a:txBody>
                    <a:bodyPr/>
                    <a:lstStyle/>
                    <a:p>
                      <a:r>
                        <a:rPr lang="en-US" sz="1300" b="0" noProof="1"/>
                        <a:t>550</a:t>
                      </a:r>
                      <a:endParaRPr lang="en-US" sz="1300" b="0" noProof="1">
                        <a:latin typeface="Arial"/>
                      </a:endParaRPr>
                    </a:p>
                  </a:txBody>
                  <a:tcPr marT="27432" marB="27432"/>
                </a:tc>
                <a:extLst>
                  <a:ext uri="{0D108BD9-81ED-4DB2-BD59-A6C34878D82A}">
                    <a16:rowId xmlns:a16="http://schemas.microsoft.com/office/drawing/2014/main" val="10002"/>
                  </a:ext>
                </a:extLst>
              </a:tr>
              <a:tr h="329184">
                <a:tc>
                  <a:txBody>
                    <a:bodyPr/>
                    <a:lstStyle/>
                    <a:p>
                      <a:r>
                        <a:rPr lang="en-US" sz="1300" b="1" noProof="1"/>
                        <a:t>Manfaat tahunan penuh</a:t>
                      </a:r>
                      <a:endParaRPr lang="en-US" sz="1300" b="1" noProof="1">
                        <a:latin typeface="Arial"/>
                      </a:endParaRPr>
                    </a:p>
                  </a:txBody>
                  <a:tcPr marT="27432" marB="27432"/>
                </a:tc>
                <a:tc>
                  <a:txBody>
                    <a:bodyPr/>
                    <a:lstStyle/>
                    <a:p>
                      <a:r>
                        <a:rPr lang="en-US" sz="1300" b="0" noProof="1"/>
                        <a:t>1.485 (±90%, kustomisasi terbatas)</a:t>
                      </a:r>
                      <a:endParaRPr lang="en-US" sz="1300" b="0" noProof="1">
                        <a:latin typeface="Arial"/>
                      </a:endParaRPr>
                    </a:p>
                  </a:txBody>
                  <a:tcPr marT="27432" marB="27432"/>
                </a:tc>
                <a:tc>
                  <a:txBody>
                    <a:bodyPr/>
                    <a:lstStyle/>
                    <a:p>
                      <a:r>
                        <a:rPr lang="en-US" sz="1300" b="0" noProof="1"/>
                        <a:t>1.650</a:t>
                      </a:r>
                      <a:endParaRPr lang="en-US" sz="1300" b="0" noProof="1">
                        <a:latin typeface="Arial"/>
                      </a:endParaRPr>
                    </a:p>
                  </a:txBody>
                  <a:tcPr marT="27432" marB="27432"/>
                </a:tc>
                <a:extLst>
                  <a:ext uri="{0D108BD9-81ED-4DB2-BD59-A6C34878D82A}">
                    <a16:rowId xmlns:a16="http://schemas.microsoft.com/office/drawing/2014/main" val="10003"/>
                  </a:ext>
                </a:extLst>
              </a:tr>
              <a:tr h="329184">
                <a:tc>
                  <a:txBody>
                    <a:bodyPr/>
                    <a:lstStyle/>
                    <a:p>
                      <a:r>
                        <a:rPr lang="en-US" sz="1300" b="1" noProof="1"/>
                        <a:t>NPV 5 tahun (10%)</a:t>
                      </a:r>
                      <a:endParaRPr lang="en-US" sz="1300" b="1" noProof="1">
                        <a:latin typeface="Arial"/>
                      </a:endParaRPr>
                    </a:p>
                  </a:txBody>
                  <a:tcPr marT="27432" marB="27432"/>
                </a:tc>
                <a:tc>
                  <a:txBody>
                    <a:bodyPr/>
                    <a:lstStyle/>
                    <a:p>
                      <a:r>
                        <a:rPr lang="en-US" sz="1300" b="1" noProof="1"/>
                        <a:t>734</a:t>
                      </a:r>
                      <a:endParaRPr lang="en-US" sz="1300" b="1" noProof="1">
                        <a:latin typeface="Arial"/>
                      </a:endParaRPr>
                    </a:p>
                  </a:txBody>
                  <a:tcPr marT="27432" marB="27432"/>
                </a:tc>
                <a:tc>
                  <a:txBody>
                    <a:bodyPr/>
                    <a:lstStyle/>
                    <a:p>
                      <a:r>
                        <a:rPr lang="en-US" sz="1300" b="1" noProof="1"/>
                        <a:t>997</a:t>
                      </a:r>
                      <a:endParaRPr lang="en-US" sz="1300" b="1" noProof="1">
                        <a:latin typeface="Arial"/>
                      </a:endParaRPr>
                    </a:p>
                  </a:txBody>
                  <a:tcPr marT="27432" marB="27432"/>
                </a:tc>
                <a:extLst>
                  <a:ext uri="{0D108BD9-81ED-4DB2-BD59-A6C34878D82A}">
                    <a16:rowId xmlns:a16="http://schemas.microsoft.com/office/drawing/2014/main" val="10004"/>
                  </a:ext>
                </a:extLst>
              </a:tr>
              <a:tr h="329184">
                <a:tc>
                  <a:txBody>
                    <a:bodyPr/>
                    <a:lstStyle/>
                    <a:p>
                      <a:r>
                        <a:rPr lang="en-US" sz="1300" b="1" noProof="1"/>
                        <a:t>Discounted ROI / payback</a:t>
                      </a:r>
                      <a:endParaRPr lang="en-US" sz="1300" b="1" noProof="1">
                        <a:latin typeface="Arial"/>
                      </a:endParaRPr>
                    </a:p>
                  </a:txBody>
                  <a:tcPr marT="27432" marB="27432"/>
                </a:tc>
                <a:tc>
                  <a:txBody>
                    <a:bodyPr/>
                    <a:lstStyle/>
                    <a:p>
                      <a:r>
                        <a:rPr lang="en-US" sz="1300" b="0" noProof="1"/>
                        <a:t>16,3% / tahun ke-3</a:t>
                      </a:r>
                      <a:endParaRPr lang="en-US" sz="1300" b="0" noProof="1">
                        <a:latin typeface="Arial"/>
                      </a:endParaRPr>
                    </a:p>
                  </a:txBody>
                  <a:tcPr marT="27432" marB="27432"/>
                </a:tc>
                <a:tc>
                  <a:txBody>
                    <a:bodyPr/>
                    <a:lstStyle/>
                    <a:p>
                      <a:r>
                        <a:rPr lang="en-US" sz="1300" b="0" noProof="1"/>
                        <a:t>24,4% / tahun ke-4</a:t>
                      </a:r>
                      <a:endParaRPr lang="en-US" sz="1300" b="0" noProof="1">
                        <a:latin typeface="Arial"/>
                      </a:endParaRPr>
                    </a:p>
                  </a:txBody>
                  <a:tcPr marT="27432" marB="27432"/>
                </a:tc>
                <a:extLst>
                  <a:ext uri="{0D108BD9-81ED-4DB2-BD59-A6C34878D82A}">
                    <a16:rowId xmlns:a16="http://schemas.microsoft.com/office/drawing/2014/main" val="10005"/>
                  </a:ext>
                </a:extLst>
              </a:tr>
            </a:tbl>
          </a:graphicData>
        </a:graphic>
      </p:graphicFrame>
      <p:sp>
        <p:nvSpPr>
          <p:cNvPr id="6" name="TextBox 5"/>
          <p:cNvSpPr txBox="1"/>
          <p:nvPr/>
        </p:nvSpPr>
        <p:spPr>
          <a:xfrm>
            <a:off x="731520" y="6355080"/>
            <a:ext cx="10698480" cy="320040"/>
          </a:xfrm>
          <a:prstGeom prst="rect">
            <a:avLst/>
          </a:prstGeom>
          <a:noFill/>
        </p:spPr>
        <p:txBody>
          <a:bodyPr wrap="square">
            <a:spAutoFit/>
          </a:bodyPr>
          <a:lstStyle/>
          <a:p>
            <a:pPr>
              <a:spcAft>
                <a:spcPts val="400"/>
              </a:spcAft>
            </a:pPr>
            <a:r>
              <a:rPr lang="en-US" sz="1100" b="0" noProof="1">
                <a:solidFill>
                  <a:srgbClr val="1F1F1F"/>
                </a:solidFill>
                <a:latin typeface="Arial"/>
              </a:rPr>
              <a:t>Semua angka ilustratif (fiktif) untuk latihan. Opsi 2: manfaat Year 1 = 1.040 karena go-live lebih cepat.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noProof="1"/>
              <a:t>Business Case RME (6): Jadwal &amp; Risiko</a:t>
            </a:r>
          </a:p>
        </p:txBody>
      </p:sp>
      <p:sp>
        <p:nvSpPr>
          <p:cNvPr id="3" name="TextBox 2"/>
          <p:cNvSpPr txBox="1"/>
          <p:nvPr/>
        </p:nvSpPr>
        <p:spPr>
          <a:xfrm>
            <a:off x="731520" y="1325880"/>
            <a:ext cx="10725912" cy="856645"/>
          </a:xfrm>
          <a:prstGeom prst="rect">
            <a:avLst/>
          </a:prstGeom>
          <a:noFill/>
        </p:spPr>
        <p:txBody>
          <a:bodyPr wrap="square">
            <a:spAutoFit/>
          </a:bodyPr>
          <a:lstStyle/>
          <a:p>
            <a:pPr>
              <a:spcBef>
                <a:spcPts val="600"/>
              </a:spcBef>
              <a:spcAft>
                <a:spcPts val="200"/>
              </a:spcAft>
            </a:pPr>
            <a:r>
              <a:rPr lang="en-US" sz="1600" b="1" noProof="1">
                <a:latin typeface="Arial"/>
              </a:rPr>
              <a:t>6. Estimasi Jadwal (12 bulan)</a:t>
            </a:r>
          </a:p>
          <a:p>
            <a:pPr>
              <a:spcAft>
                <a:spcPts val="400"/>
              </a:spcAft>
            </a:pPr>
            <a:r>
              <a:rPr lang="en-US" sz="1600" b="1" noProof="1">
                <a:latin typeface="Arial"/>
              </a:rPr>
              <a:t>Bulan 1–3: </a:t>
            </a:r>
            <a:r>
              <a:rPr lang="en-US" sz="1600" b="0" noProof="1">
                <a:latin typeface="Arial"/>
              </a:rPr>
              <a:t>analisis kebutuhan, desain, infrastruktur.  </a:t>
            </a:r>
            <a:r>
              <a:rPr lang="en-US" sz="1600" b="1" noProof="1">
                <a:latin typeface="Arial"/>
              </a:rPr>
              <a:t>Bulan 4–7: </a:t>
            </a:r>
            <a:r>
              <a:rPr lang="en-US" sz="1600" b="0" noProof="1">
                <a:latin typeface="Arial"/>
              </a:rPr>
              <a:t>pilot rawat jalan (RME inti, klaim BPJS).  </a:t>
            </a:r>
            <a:r>
              <a:rPr lang="en-US" sz="1600" b="1" noProof="1">
                <a:latin typeface="Arial"/>
              </a:rPr>
              <a:t>Bulan 8–12: </a:t>
            </a:r>
            <a:r>
              <a:rPr lang="en-US" sz="1600" b="0" noProof="1">
                <a:latin typeface="Arial"/>
              </a:rPr>
              <a:t>rawat inap, penunjang (lab, farmasi, radiologi), integrasi SATUSEHAT.</a:t>
            </a:r>
          </a:p>
        </p:txBody>
      </p:sp>
      <p:sp>
        <p:nvSpPr>
          <p:cNvPr id="4" name="TextBox 3"/>
          <p:cNvSpPr txBox="1"/>
          <p:nvPr/>
        </p:nvSpPr>
        <p:spPr>
          <a:xfrm>
            <a:off x="731520" y="2514600"/>
            <a:ext cx="10725912" cy="323165"/>
          </a:xfrm>
          <a:prstGeom prst="rect">
            <a:avLst/>
          </a:prstGeom>
          <a:noFill/>
        </p:spPr>
        <p:txBody>
          <a:bodyPr wrap="square">
            <a:spAutoFit/>
          </a:bodyPr>
          <a:lstStyle/>
          <a:p>
            <a:pPr>
              <a:spcBef>
                <a:spcPts val="600"/>
              </a:spcBef>
              <a:spcAft>
                <a:spcPts val="200"/>
              </a:spcAft>
            </a:pPr>
            <a:r>
              <a:rPr lang="en-US" sz="1500" b="1" noProof="1">
                <a:latin typeface="Arial"/>
              </a:rPr>
              <a:t>7. Risiko Potensial</a:t>
            </a:r>
          </a:p>
        </p:txBody>
      </p:sp>
      <p:graphicFrame>
        <p:nvGraphicFramePr>
          <p:cNvPr id="5" name="Table 4"/>
          <p:cNvGraphicFramePr>
            <a:graphicFrameLocks noGrp="1"/>
          </p:cNvGraphicFramePr>
          <p:nvPr>
            <p:extLst>
              <p:ext uri="{D42A27DB-BD31-4B8C-83A1-F6EECF244321}">
                <p14:modId xmlns:p14="http://schemas.microsoft.com/office/powerpoint/2010/main" val="4018865441"/>
              </p:ext>
            </p:extLst>
          </p:nvPr>
        </p:nvGraphicFramePr>
        <p:xfrm>
          <a:off x="731520" y="2946400"/>
          <a:ext cx="10725912" cy="3155696"/>
        </p:xfrm>
        <a:graphic>
          <a:graphicData uri="http://schemas.openxmlformats.org/drawingml/2006/table">
            <a:tbl>
              <a:tblPr firstRow="1" bandRow="1">
                <a:tableStyleId>{5940675A-B579-460E-94D1-54222C63F5DA}</a:tableStyleId>
              </a:tblPr>
              <a:tblGrid>
                <a:gridCol w="28346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5056632">
                  <a:extLst>
                    <a:ext uri="{9D8B030D-6E8A-4147-A177-3AD203B41FA5}">
                      <a16:colId xmlns:a16="http://schemas.microsoft.com/office/drawing/2014/main" val="20002"/>
                    </a:ext>
                  </a:extLst>
                </a:gridCol>
              </a:tblGrid>
              <a:tr h="482600">
                <a:tc>
                  <a:txBody>
                    <a:bodyPr/>
                    <a:lstStyle/>
                    <a:p>
                      <a:pPr algn="ctr"/>
                      <a:r>
                        <a:rPr lang="en-US" sz="1600" b="1" noProof="1">
                          <a:solidFill>
                            <a:schemeClr val="bg1"/>
                          </a:solidFill>
                        </a:rPr>
                        <a:t>Risiko</a:t>
                      </a:r>
                      <a:endParaRPr lang="en-US" sz="1600" b="1" noProof="1">
                        <a:solidFill>
                          <a:schemeClr val="bg1"/>
                        </a:solidFill>
                        <a:latin typeface="Arial"/>
                      </a:endParaRPr>
                    </a:p>
                  </a:txBody>
                  <a:tcPr marT="27432" marB="27432">
                    <a:solidFill>
                      <a:schemeClr val="tx1"/>
                    </a:solidFill>
                  </a:tcPr>
                </a:tc>
                <a:tc>
                  <a:txBody>
                    <a:bodyPr/>
                    <a:lstStyle/>
                    <a:p>
                      <a:pPr algn="ctr"/>
                      <a:r>
                        <a:rPr lang="en-US" sz="1600" b="1" noProof="1">
                          <a:solidFill>
                            <a:schemeClr val="bg1"/>
                          </a:solidFill>
                        </a:rPr>
                        <a:t>Dampak</a:t>
                      </a:r>
                      <a:endParaRPr lang="en-US" sz="1600" b="1" noProof="1">
                        <a:solidFill>
                          <a:schemeClr val="bg1"/>
                        </a:solidFill>
                        <a:latin typeface="Arial"/>
                      </a:endParaRPr>
                    </a:p>
                  </a:txBody>
                  <a:tcPr marT="27432" marB="27432">
                    <a:solidFill>
                      <a:schemeClr val="tx1"/>
                    </a:solidFill>
                  </a:tcPr>
                </a:tc>
                <a:tc>
                  <a:txBody>
                    <a:bodyPr/>
                    <a:lstStyle/>
                    <a:p>
                      <a:pPr algn="ctr"/>
                      <a:r>
                        <a:rPr lang="en-US" sz="1600" b="1" noProof="1">
                          <a:solidFill>
                            <a:schemeClr val="bg1"/>
                          </a:solidFill>
                        </a:rPr>
                        <a:t>Mitigasi</a:t>
                      </a:r>
                      <a:endParaRPr lang="en-US" sz="1600" b="1" noProof="1">
                        <a:solidFill>
                          <a:schemeClr val="bg1"/>
                        </a:solidFill>
                        <a:latin typeface="Arial"/>
                      </a:endParaRPr>
                    </a:p>
                  </a:txBody>
                  <a:tcPr marT="27432" marB="27432">
                    <a:solidFill>
                      <a:schemeClr val="tx1"/>
                    </a:solidFill>
                  </a:tcPr>
                </a:tc>
                <a:extLst>
                  <a:ext uri="{0D108BD9-81ED-4DB2-BD59-A6C34878D82A}">
                    <a16:rowId xmlns:a16="http://schemas.microsoft.com/office/drawing/2014/main" val="10000"/>
                  </a:ext>
                </a:extLst>
              </a:tr>
              <a:tr h="502920">
                <a:tc>
                  <a:txBody>
                    <a:bodyPr/>
                    <a:lstStyle/>
                    <a:p>
                      <a:r>
                        <a:rPr lang="en-US" sz="1600" b="1" noProof="1"/>
                        <a:t>Resistensi tenaga medis</a:t>
                      </a:r>
                      <a:endParaRPr lang="en-US" sz="1600" b="1" noProof="1">
                        <a:latin typeface="Arial"/>
                      </a:endParaRPr>
                    </a:p>
                  </a:txBody>
                  <a:tcPr marT="27432" marB="27432"/>
                </a:tc>
                <a:tc>
                  <a:txBody>
                    <a:bodyPr/>
                    <a:lstStyle/>
                    <a:p>
                      <a:r>
                        <a:rPr lang="en-US" sz="1600" b="0" noProof="1"/>
                        <a:t>Adopsi rendah, manfaat tidak tercapai</a:t>
                      </a:r>
                      <a:endParaRPr lang="en-US" sz="1600" b="0" noProof="1">
                        <a:latin typeface="Arial"/>
                      </a:endParaRPr>
                    </a:p>
                  </a:txBody>
                  <a:tcPr marT="27432" marB="27432"/>
                </a:tc>
                <a:tc>
                  <a:txBody>
                    <a:bodyPr/>
                    <a:lstStyle/>
                    <a:p>
                      <a:r>
                        <a:rPr lang="en-US" sz="1600" b="0" noProof="1"/>
                        <a:t>Libatkan dokter sejak desain dan sprint review; champion per unit; pelatihan</a:t>
                      </a:r>
                      <a:endParaRPr lang="en-US" sz="1600" b="0" noProof="1">
                        <a:latin typeface="Arial"/>
                      </a:endParaRPr>
                    </a:p>
                  </a:txBody>
                  <a:tcPr marT="27432" marB="27432"/>
                </a:tc>
                <a:extLst>
                  <a:ext uri="{0D108BD9-81ED-4DB2-BD59-A6C34878D82A}">
                    <a16:rowId xmlns:a16="http://schemas.microsoft.com/office/drawing/2014/main" val="10001"/>
                  </a:ext>
                </a:extLst>
              </a:tr>
              <a:tr h="502920">
                <a:tc>
                  <a:txBody>
                    <a:bodyPr/>
                    <a:lstStyle/>
                    <a:p>
                      <a:r>
                        <a:rPr lang="en-US" sz="1600" b="1" noProof="1"/>
                        <a:t>Gangguan layanan saat migrasi</a:t>
                      </a:r>
                      <a:endParaRPr lang="en-US" sz="1600" b="1" noProof="1">
                        <a:latin typeface="Arial"/>
                      </a:endParaRPr>
                    </a:p>
                  </a:txBody>
                  <a:tcPr marT="27432" marB="27432"/>
                </a:tc>
                <a:tc>
                  <a:txBody>
                    <a:bodyPr/>
                    <a:lstStyle/>
                    <a:p>
                      <a:r>
                        <a:rPr lang="en-US" sz="1600" b="0" noProof="1"/>
                        <a:t>Pelayanan pasien terganggu</a:t>
                      </a:r>
                      <a:endParaRPr lang="en-US" sz="1600" b="0" noProof="1">
                        <a:latin typeface="Arial"/>
                      </a:endParaRPr>
                    </a:p>
                  </a:txBody>
                  <a:tcPr marT="27432" marB="27432"/>
                </a:tc>
                <a:tc>
                  <a:txBody>
                    <a:bodyPr/>
                    <a:lstStyle/>
                    <a:p>
                      <a:r>
                        <a:rPr lang="en-US" sz="1600" b="0" noProof="1"/>
                        <a:t>Migrasi bertahap, operasi paralel, rencana fallback</a:t>
                      </a:r>
                      <a:endParaRPr lang="en-US" sz="1600" b="0" noProof="1">
                        <a:latin typeface="Arial"/>
                      </a:endParaRPr>
                    </a:p>
                  </a:txBody>
                  <a:tcPr marT="27432" marB="27432"/>
                </a:tc>
                <a:extLst>
                  <a:ext uri="{0D108BD9-81ED-4DB2-BD59-A6C34878D82A}">
                    <a16:rowId xmlns:a16="http://schemas.microsoft.com/office/drawing/2014/main" val="10002"/>
                  </a:ext>
                </a:extLst>
              </a:tr>
              <a:tr h="502920">
                <a:tc>
                  <a:txBody>
                    <a:bodyPr/>
                    <a:lstStyle/>
                    <a:p>
                      <a:r>
                        <a:rPr lang="en-US" sz="1600" b="1" noProof="1"/>
                        <a:t>Kegagalan integrasi BPJS/SATUSEHAT</a:t>
                      </a:r>
                      <a:endParaRPr lang="en-US" sz="1600" b="1" noProof="1">
                        <a:latin typeface="Arial"/>
                      </a:endParaRPr>
                    </a:p>
                  </a:txBody>
                  <a:tcPr marT="27432" marB="27432"/>
                </a:tc>
                <a:tc>
                  <a:txBody>
                    <a:bodyPr/>
                    <a:lstStyle/>
                    <a:p>
                      <a:r>
                        <a:rPr lang="en-US" sz="1600" b="0" noProof="1"/>
                        <a:t>Klaim tertunda, tidak patuh regulasi</a:t>
                      </a:r>
                      <a:endParaRPr lang="en-US" sz="1600" b="0" noProof="1">
                        <a:latin typeface="Arial"/>
                      </a:endParaRPr>
                    </a:p>
                  </a:txBody>
                  <a:tcPr marT="27432" marB="27432"/>
                </a:tc>
                <a:tc>
                  <a:txBody>
                    <a:bodyPr/>
                    <a:lstStyle/>
                    <a:p>
                      <a:r>
                        <a:rPr lang="en-US" sz="1600" b="0" noProof="1"/>
                        <a:t>Uji di lingkungan uji (sandbox), buffer waktu integrasi</a:t>
                      </a:r>
                      <a:endParaRPr lang="en-US" sz="1600" b="0" noProof="1">
                        <a:latin typeface="Arial"/>
                      </a:endParaRPr>
                    </a:p>
                  </a:txBody>
                  <a:tcPr marT="27432" marB="27432"/>
                </a:tc>
                <a:extLst>
                  <a:ext uri="{0D108BD9-81ED-4DB2-BD59-A6C34878D82A}">
                    <a16:rowId xmlns:a16="http://schemas.microsoft.com/office/drawing/2014/main" val="10003"/>
                  </a:ext>
                </a:extLst>
              </a:tr>
              <a:tr h="502920">
                <a:tc>
                  <a:txBody>
                    <a:bodyPr/>
                    <a:lstStyle/>
                    <a:p>
                      <a:r>
                        <a:rPr lang="en-US" sz="1600" b="1" noProof="1"/>
                        <a:t>Ransomware dan kebocoran data pasien</a:t>
                      </a:r>
                      <a:endParaRPr lang="en-US" sz="1600" b="1" noProof="1">
                        <a:latin typeface="Arial"/>
                      </a:endParaRPr>
                    </a:p>
                  </a:txBody>
                  <a:tcPr marT="27432" marB="27432"/>
                </a:tc>
                <a:tc>
                  <a:txBody>
                    <a:bodyPr/>
                    <a:lstStyle/>
                    <a:p>
                      <a:r>
                        <a:rPr lang="en-US" sz="1600" b="0" noProof="1"/>
                        <a:t>Layanan lumpuh, sanksi UU PDP</a:t>
                      </a:r>
                      <a:endParaRPr lang="en-US" sz="1600" b="0" noProof="1">
                        <a:latin typeface="Arial"/>
                      </a:endParaRPr>
                    </a:p>
                  </a:txBody>
                  <a:tcPr marT="27432" marB="27432"/>
                </a:tc>
                <a:tc>
                  <a:txBody>
                    <a:bodyPr/>
                    <a:lstStyle/>
                    <a:p>
                      <a:r>
                        <a:rPr lang="en-US" sz="1600" b="0" noProof="1"/>
                        <a:t>Backup terpisah dan uji pemulihan berkala, enkripsi, kontrol akses, pentest (pelajaran PDNS 2)</a:t>
                      </a:r>
                      <a:endParaRPr lang="en-US" sz="1600" b="0" noProof="1">
                        <a:latin typeface="Arial"/>
                      </a:endParaRPr>
                    </a:p>
                  </a:txBody>
                  <a:tcPr marT="27432" marB="27432"/>
                </a:tc>
                <a:extLst>
                  <a:ext uri="{0D108BD9-81ED-4DB2-BD59-A6C34878D82A}">
                    <a16:rowId xmlns:a16="http://schemas.microsoft.com/office/drawing/2014/main" val="10004"/>
                  </a:ext>
                </a:extLst>
              </a:tr>
              <a:tr h="502920">
                <a:tc>
                  <a:txBody>
                    <a:bodyPr/>
                    <a:lstStyle/>
                    <a:p>
                      <a:r>
                        <a:rPr lang="en-US" sz="1600" b="1" noProof="1"/>
                        <a:t>Manfaat tidak terealisasi</a:t>
                      </a:r>
                      <a:endParaRPr lang="en-US" sz="1600" b="1" noProof="1">
                        <a:latin typeface="Arial"/>
                      </a:endParaRPr>
                    </a:p>
                  </a:txBody>
                  <a:tcPr marT="27432" marB="27432"/>
                </a:tc>
                <a:tc>
                  <a:txBody>
                    <a:bodyPr/>
                    <a:lstStyle/>
                    <a:p>
                      <a:r>
                        <a:rPr lang="en-US" sz="1600" b="0" noProof="1"/>
                        <a:t>NPV turun</a:t>
                      </a:r>
                      <a:endParaRPr lang="en-US" sz="1600" b="0" noProof="1">
                        <a:latin typeface="Arial"/>
                      </a:endParaRPr>
                    </a:p>
                  </a:txBody>
                  <a:tcPr marT="27432" marB="27432"/>
                </a:tc>
                <a:tc>
                  <a:txBody>
                    <a:bodyPr/>
                    <a:lstStyle/>
                    <a:p>
                      <a:r>
                        <a:rPr lang="en-US" sz="1600" b="0" noProof="1"/>
                        <a:t>Ukur baseline KPI sebelum go-live; review manfaat tiap kuartal</a:t>
                      </a:r>
                      <a:endParaRPr lang="en-US" sz="1600" b="0" noProof="1">
                        <a:latin typeface="Arial"/>
                      </a:endParaRPr>
                    </a:p>
                  </a:txBody>
                  <a:tcPr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E7A2D-E0B3-B8AA-CBAA-89EBE36936FD}"/>
              </a:ext>
            </a:extLst>
          </p:cNvPr>
          <p:cNvSpPr>
            <a:spLocks noGrp="1"/>
          </p:cNvSpPr>
          <p:nvPr>
            <p:ph type="title"/>
          </p:nvPr>
        </p:nvSpPr>
        <p:spPr/>
        <p:txBody>
          <a:bodyPr/>
          <a:lstStyle/>
          <a:p>
            <a:pPr algn="ctr"/>
            <a:r>
              <a:rPr lang="en-US" noProof="1"/>
              <a:t>Tahap Inisiasi Proyek dan Output Utama</a:t>
            </a:r>
            <a:br>
              <a:rPr lang="en-US" noProof="1"/>
            </a:br>
            <a:r>
              <a:rPr lang="en-US" sz="3600" noProof="1"/>
              <a:t>(</a:t>
            </a:r>
            <a:r>
              <a:rPr lang="en-US" sz="3600" i="1" noProof="1"/>
              <a:t>Project Initiation Phase and Key Output</a:t>
            </a:r>
            <a:r>
              <a:rPr lang="en-US" sz="3600" noProof="1"/>
              <a:t>)</a:t>
            </a:r>
          </a:p>
        </p:txBody>
      </p:sp>
      <p:sp>
        <p:nvSpPr>
          <p:cNvPr id="3" name="Content Placeholder 2">
            <a:extLst>
              <a:ext uri="{FF2B5EF4-FFF2-40B4-BE49-F238E27FC236}">
                <a16:creationId xmlns:a16="http://schemas.microsoft.com/office/drawing/2014/main" id="{FA8C92EB-DDEB-888F-1F84-8E46376FF058}"/>
              </a:ext>
            </a:extLst>
          </p:cNvPr>
          <p:cNvSpPr>
            <a:spLocks noGrp="1"/>
          </p:cNvSpPr>
          <p:nvPr>
            <p:ph idx="1"/>
          </p:nvPr>
        </p:nvSpPr>
        <p:spPr/>
        <p:txBody>
          <a:bodyPr>
            <a:normAutofit/>
          </a:bodyPr>
          <a:lstStyle/>
          <a:p>
            <a:r>
              <a:rPr lang="en-US" sz="2000" noProof="1">
                <a:latin typeface="Arial" panose="020B0604020202020204" pitchFamily="34" charset="0"/>
                <a:cs typeface="Arial" panose="020B0604020202020204" pitchFamily="34" charset="0"/>
              </a:rPr>
              <a:t>Tahap inisiasi proyek mencakup proses </a:t>
            </a:r>
            <a:r>
              <a:rPr lang="en-US" sz="2000" b="1" noProof="1">
                <a:latin typeface="Arial" panose="020B0604020202020204" pitchFamily="34" charset="0"/>
                <a:cs typeface="Arial" panose="020B0604020202020204" pitchFamily="34" charset="0"/>
              </a:rPr>
              <a:t>mengenali</a:t>
            </a:r>
            <a:r>
              <a:rPr lang="en-US" sz="2000" noProof="1">
                <a:latin typeface="Arial" panose="020B0604020202020204" pitchFamily="34" charset="0"/>
                <a:cs typeface="Arial" panose="020B0604020202020204" pitchFamily="34" charset="0"/>
              </a:rPr>
              <a:t> dan </a:t>
            </a:r>
            <a:r>
              <a:rPr lang="en-US" sz="2000" b="1" noProof="1">
                <a:latin typeface="Arial" panose="020B0604020202020204" pitchFamily="34" charset="0"/>
                <a:cs typeface="Arial" panose="020B0604020202020204" pitchFamily="34" charset="0"/>
              </a:rPr>
              <a:t>memulai proyek baru</a:t>
            </a:r>
            <a:r>
              <a:rPr lang="en-US" sz="2000" noProof="1">
                <a:latin typeface="Arial" panose="020B0604020202020204" pitchFamily="34" charset="0"/>
                <a:cs typeface="Arial" panose="020B0604020202020204" pitchFamily="34" charset="0"/>
              </a:rPr>
              <a:t> atau fase proyek.</a:t>
            </a:r>
          </a:p>
          <a:p>
            <a:r>
              <a:rPr lang="en-US" sz="2000" noProof="1">
                <a:latin typeface="Arial" panose="020B0604020202020204" pitchFamily="34" charset="0"/>
                <a:cs typeface="Arial" panose="020B0604020202020204" pitchFamily="34" charset="0"/>
              </a:rPr>
              <a:t>Tujuan utamanya adalah </a:t>
            </a:r>
            <a:r>
              <a:rPr lang="en-US" sz="2000" b="1" noProof="1">
                <a:latin typeface="Arial" panose="020B0604020202020204" pitchFamily="34" charset="0"/>
                <a:cs typeface="Arial" panose="020B0604020202020204" pitchFamily="34" charset="0"/>
              </a:rPr>
              <a:t>memilih proyek secara formal</a:t>
            </a:r>
            <a:r>
              <a:rPr lang="en-US" sz="2000" noProof="1">
                <a:latin typeface="Arial" panose="020B0604020202020204" pitchFamily="34" charset="0"/>
                <a:cs typeface="Arial" panose="020B0604020202020204" pitchFamily="34" charset="0"/>
              </a:rPr>
              <a:t> dan </a:t>
            </a:r>
            <a:r>
              <a:rPr lang="en-US" sz="2000" b="1" noProof="1">
                <a:latin typeface="Arial" panose="020B0604020202020204" pitchFamily="34" charset="0"/>
                <a:cs typeface="Arial" panose="020B0604020202020204" pitchFamily="34" charset="0"/>
              </a:rPr>
              <a:t>menetapkan dasar pelaksanaan</a:t>
            </a:r>
            <a:r>
              <a:rPr lang="en-US" sz="2000" noProof="1">
                <a:latin typeface="Arial" panose="020B0604020202020204" pitchFamily="34" charset="0"/>
                <a:cs typeface="Arial" panose="020B0604020202020204" pitchFamily="34" charset="0"/>
              </a:rPr>
              <a:t> proyek melalui dokumen resmi.</a:t>
            </a:r>
          </a:p>
          <a:p>
            <a:pPr marL="0" indent="0">
              <a:buNone/>
            </a:pPr>
            <a:r>
              <a:rPr lang="en-US" sz="2000" b="1" noProof="1">
                <a:latin typeface="Arial" panose="020B0604020202020204" pitchFamily="34" charset="0"/>
                <a:cs typeface="Arial" panose="020B0604020202020204" pitchFamily="34" charset="0"/>
              </a:rPr>
              <a:t>Tabel Area Pengetahuan, Proses Inisiasi, dan Output</a:t>
            </a:r>
            <a:endParaRPr lang="en-US" sz="2000" noProof="1">
              <a:latin typeface="Arial" panose="020B0604020202020204" pitchFamily="34" charset="0"/>
              <a:cs typeface="Arial" panose="020B0604020202020204" pitchFamily="34" charset="0"/>
            </a:endParaRPr>
          </a:p>
          <a:p>
            <a:pPr marL="0" indent="0">
              <a:buNone/>
            </a:pPr>
            <a:endParaRPr lang="en-US" sz="2000" noProof="1">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68284CB0-071F-89D3-316B-2C08C89C668D}"/>
              </a:ext>
            </a:extLst>
          </p:cNvPr>
          <p:cNvGraphicFramePr>
            <a:graphicFrameLocks noGrp="1"/>
          </p:cNvGraphicFramePr>
          <p:nvPr>
            <p:extLst>
              <p:ext uri="{D42A27DB-BD31-4B8C-83A1-F6EECF244321}">
                <p14:modId xmlns:p14="http://schemas.microsoft.com/office/powerpoint/2010/main" val="2772188064"/>
              </p:ext>
            </p:extLst>
          </p:nvPr>
        </p:nvGraphicFramePr>
        <p:xfrm>
          <a:off x="384313" y="3767228"/>
          <a:ext cx="11595652" cy="2839649"/>
        </p:xfrm>
        <a:graphic>
          <a:graphicData uri="http://schemas.openxmlformats.org/drawingml/2006/table">
            <a:tbl>
              <a:tblPr>
                <a:tableStyleId>{616DA210-FB5B-4158-B5E0-FEB733F419BA}</a:tableStyleId>
              </a:tblPr>
              <a:tblGrid>
                <a:gridCol w="2898913">
                  <a:extLst>
                    <a:ext uri="{9D8B030D-6E8A-4147-A177-3AD203B41FA5}">
                      <a16:colId xmlns:a16="http://schemas.microsoft.com/office/drawing/2014/main" val="3572073900"/>
                    </a:ext>
                  </a:extLst>
                </a:gridCol>
                <a:gridCol w="2898913">
                  <a:extLst>
                    <a:ext uri="{9D8B030D-6E8A-4147-A177-3AD203B41FA5}">
                      <a16:colId xmlns:a16="http://schemas.microsoft.com/office/drawing/2014/main" val="1926281023"/>
                    </a:ext>
                  </a:extLst>
                </a:gridCol>
                <a:gridCol w="2898913">
                  <a:extLst>
                    <a:ext uri="{9D8B030D-6E8A-4147-A177-3AD203B41FA5}">
                      <a16:colId xmlns:a16="http://schemas.microsoft.com/office/drawing/2014/main" val="1284645640"/>
                    </a:ext>
                  </a:extLst>
                </a:gridCol>
                <a:gridCol w="2898913">
                  <a:extLst>
                    <a:ext uri="{9D8B030D-6E8A-4147-A177-3AD203B41FA5}">
                      <a16:colId xmlns:a16="http://schemas.microsoft.com/office/drawing/2014/main" val="595090193"/>
                    </a:ext>
                  </a:extLst>
                </a:gridCol>
              </a:tblGrid>
              <a:tr h="522257">
                <a:tc>
                  <a:txBody>
                    <a:bodyPr/>
                    <a:lstStyle/>
                    <a:p>
                      <a:pPr algn="ctr">
                        <a:buNone/>
                      </a:pPr>
                      <a:r>
                        <a:rPr lang="en-US" sz="1600" b="1" noProof="1">
                          <a:latin typeface="Arial" panose="020B0604020202020204" pitchFamily="34" charset="0"/>
                          <a:cs typeface="Arial" panose="020B0604020202020204" pitchFamily="34" charset="0"/>
                        </a:rPr>
                        <a:t>Knowledge Area </a:t>
                      </a:r>
                    </a:p>
                    <a:p>
                      <a:pPr algn="ctr">
                        <a:buNone/>
                      </a:pPr>
                      <a:r>
                        <a:rPr lang="en-US" sz="1600" b="1" noProof="1">
                          <a:latin typeface="Arial" panose="020B0604020202020204" pitchFamily="34" charset="0"/>
                          <a:cs typeface="Arial" panose="020B0604020202020204" pitchFamily="34" charset="0"/>
                        </a:rPr>
                        <a:t>(Area Pengetahuan)</a:t>
                      </a:r>
                      <a:endParaRPr lang="en-US" sz="1600" noProof="1">
                        <a:latin typeface="Arial" panose="020B0604020202020204" pitchFamily="34" charset="0"/>
                        <a:cs typeface="Arial" panose="020B0604020202020204" pitchFamily="34" charset="0"/>
                      </a:endParaRPr>
                    </a:p>
                  </a:txBody>
                  <a:tcPr anchor="ctr"/>
                </a:tc>
                <a:tc>
                  <a:txBody>
                    <a:bodyPr/>
                    <a:lstStyle/>
                    <a:p>
                      <a:pPr algn="ctr">
                        <a:buNone/>
                      </a:pPr>
                      <a:r>
                        <a:rPr lang="en-US" sz="1600" b="1" noProof="1">
                          <a:latin typeface="Arial" panose="020B0604020202020204" pitchFamily="34" charset="0"/>
                          <a:cs typeface="Arial" panose="020B0604020202020204" pitchFamily="34" charset="0"/>
                        </a:rPr>
                        <a:t>Initiating Process (Proses Inisiasi)</a:t>
                      </a:r>
                      <a:endParaRPr lang="en-US" sz="1600" noProof="1">
                        <a:latin typeface="Arial" panose="020B0604020202020204" pitchFamily="34" charset="0"/>
                        <a:cs typeface="Arial" panose="020B0604020202020204" pitchFamily="34" charset="0"/>
                      </a:endParaRPr>
                    </a:p>
                  </a:txBody>
                  <a:tcPr anchor="ctr"/>
                </a:tc>
                <a:tc>
                  <a:txBody>
                    <a:bodyPr/>
                    <a:lstStyle/>
                    <a:p>
                      <a:pPr algn="ctr">
                        <a:buNone/>
                      </a:pPr>
                      <a:r>
                        <a:rPr lang="en-US" sz="1600" b="1" noProof="1">
                          <a:latin typeface="Arial" panose="020B0604020202020204" pitchFamily="34" charset="0"/>
                          <a:cs typeface="Arial" panose="020B0604020202020204" pitchFamily="34" charset="0"/>
                        </a:rPr>
                        <a:t>Outputs (Output)</a:t>
                      </a:r>
                      <a:endParaRPr lang="en-US" sz="1600" noProof="1">
                        <a:latin typeface="Arial" panose="020B0604020202020204" pitchFamily="34" charset="0"/>
                        <a:cs typeface="Arial" panose="020B0604020202020204" pitchFamily="34" charset="0"/>
                      </a:endParaRPr>
                    </a:p>
                  </a:txBody>
                  <a:tcPr anchor="ctr"/>
                </a:tc>
                <a:tc>
                  <a:txBody>
                    <a:bodyPr/>
                    <a:lstStyle/>
                    <a:p>
                      <a:pPr algn="ctr">
                        <a:buNone/>
                      </a:pPr>
                      <a:r>
                        <a:rPr lang="en-US" sz="1600" b="1" noProof="1">
                          <a:latin typeface="Arial" panose="020B0604020202020204" pitchFamily="34" charset="0"/>
                          <a:cs typeface="Arial" panose="020B0604020202020204" pitchFamily="34" charset="0"/>
                        </a:rPr>
                        <a:t>Penjelasan Output</a:t>
                      </a:r>
                    </a:p>
                  </a:txBody>
                  <a:tcPr anchor="ctr"/>
                </a:tc>
                <a:extLst>
                  <a:ext uri="{0D108BD9-81ED-4DB2-BD59-A6C34878D82A}">
                    <a16:rowId xmlns:a16="http://schemas.microsoft.com/office/drawing/2014/main" val="2445116448"/>
                  </a:ext>
                </a:extLst>
              </a:tr>
              <a:tr h="969905">
                <a:tc>
                  <a:txBody>
                    <a:bodyPr/>
                    <a:lstStyle/>
                    <a:p>
                      <a:pPr>
                        <a:buNone/>
                      </a:pPr>
                      <a:r>
                        <a:rPr lang="en-US" sz="1600" b="1" noProof="1">
                          <a:latin typeface="Arial" panose="020B0604020202020204" pitchFamily="34" charset="0"/>
                          <a:cs typeface="Arial" panose="020B0604020202020204" pitchFamily="34" charset="0"/>
                        </a:rPr>
                        <a:t>Project Integration Management</a:t>
                      </a:r>
                      <a:r>
                        <a:rPr lang="en-US" sz="1600" noProof="1">
                          <a:latin typeface="Arial" panose="020B0604020202020204" pitchFamily="34" charset="0"/>
                          <a:cs typeface="Arial" panose="020B0604020202020204" pitchFamily="34" charset="0"/>
                        </a:rPr>
                        <a:t> (Manajemen Integrasi Proyek)</a:t>
                      </a:r>
                    </a:p>
                  </a:txBody>
                  <a:tcPr anchor="ctr"/>
                </a:tc>
                <a:tc>
                  <a:txBody>
                    <a:bodyPr/>
                    <a:lstStyle/>
                    <a:p>
                      <a:pPr>
                        <a:buNone/>
                      </a:pPr>
                      <a:r>
                        <a:rPr lang="en-US" sz="1600" b="1" noProof="1">
                          <a:latin typeface="Arial" panose="020B0604020202020204" pitchFamily="34" charset="0"/>
                          <a:cs typeface="Arial" panose="020B0604020202020204" pitchFamily="34" charset="0"/>
                        </a:rPr>
                        <a:t>Develop project charter</a:t>
                      </a:r>
                      <a:r>
                        <a:rPr lang="en-US" sz="1600" noProof="1">
                          <a:latin typeface="Arial" panose="020B0604020202020204" pitchFamily="34" charset="0"/>
                          <a:cs typeface="Arial" panose="020B0604020202020204" pitchFamily="34" charset="0"/>
                        </a:rPr>
                        <a:t> (Mengembangkan project charter)</a:t>
                      </a:r>
                    </a:p>
                  </a:txBody>
                  <a:tcPr anchor="ctr"/>
                </a:tc>
                <a:tc>
                  <a:txBody>
                    <a:bodyPr/>
                    <a:lstStyle/>
                    <a:p>
                      <a:pPr marL="285750" indent="-285750">
                        <a:buFont typeface="Arial" panose="020B0604020202020204" pitchFamily="34" charset="0"/>
                        <a:buChar char="•"/>
                      </a:pPr>
                      <a:r>
                        <a:rPr lang="en-US" sz="1600" b="1" noProof="1">
                          <a:latin typeface="Arial" panose="020B0604020202020204" pitchFamily="34" charset="0"/>
                          <a:cs typeface="Arial" panose="020B0604020202020204" pitchFamily="34" charset="0"/>
                        </a:rPr>
                        <a:t>Project charter</a:t>
                      </a:r>
                      <a:endParaRPr lang="en-US" sz="1600" noProof="1">
                        <a:latin typeface="Arial" panose="020B0604020202020204" pitchFamily="34" charset="0"/>
                        <a:cs typeface="Arial" panose="020B0604020202020204" pitchFamily="34" charset="0"/>
                      </a:endParaRPr>
                    </a:p>
                  </a:txBody>
                  <a:tcPr anchor="ctr"/>
                </a:tc>
                <a:tc>
                  <a:txBody>
                    <a:bodyPr/>
                    <a:lstStyle/>
                    <a:p>
                      <a:pPr>
                        <a:buNone/>
                      </a:pPr>
                      <a:r>
                        <a:rPr lang="en-US" sz="1600" noProof="1">
                          <a:latin typeface="Arial" panose="020B0604020202020204" pitchFamily="34" charset="0"/>
                          <a:cs typeface="Arial" panose="020B0604020202020204" pitchFamily="34" charset="0"/>
                        </a:rPr>
                        <a:t>Dokumen resmi yang menyetujui proyek dan menetapkan otoritas manajer proyek</a:t>
                      </a:r>
                    </a:p>
                  </a:txBody>
                  <a:tcPr anchor="ctr"/>
                </a:tc>
                <a:extLst>
                  <a:ext uri="{0D108BD9-81ED-4DB2-BD59-A6C34878D82A}">
                    <a16:rowId xmlns:a16="http://schemas.microsoft.com/office/drawing/2014/main" val="1862011147"/>
                  </a:ext>
                </a:extLst>
              </a:tr>
              <a:tr h="1193729">
                <a:tc>
                  <a:txBody>
                    <a:bodyPr/>
                    <a:lstStyle/>
                    <a:p>
                      <a:pPr>
                        <a:buNone/>
                      </a:pPr>
                      <a:r>
                        <a:rPr lang="en-US" sz="1600" b="1" noProof="1">
                          <a:latin typeface="Arial" panose="020B0604020202020204" pitchFamily="34" charset="0"/>
                          <a:cs typeface="Arial" panose="020B0604020202020204" pitchFamily="34" charset="0"/>
                        </a:rPr>
                        <a:t>Project Communications Management</a:t>
                      </a:r>
                      <a:r>
                        <a:rPr lang="en-US" sz="1600" noProof="1">
                          <a:latin typeface="Arial" panose="020B0604020202020204" pitchFamily="34" charset="0"/>
                          <a:cs typeface="Arial" panose="020B0604020202020204" pitchFamily="34" charset="0"/>
                        </a:rPr>
                        <a:t> (Manajemen Komunikasi Proyek)</a:t>
                      </a:r>
                    </a:p>
                  </a:txBody>
                  <a:tcPr anchor="ctr"/>
                </a:tc>
                <a:tc>
                  <a:txBody>
                    <a:bodyPr/>
                    <a:lstStyle/>
                    <a:p>
                      <a:pPr>
                        <a:buNone/>
                      </a:pPr>
                      <a:r>
                        <a:rPr lang="en-US" sz="1600" b="1" noProof="1">
                          <a:latin typeface="Arial" panose="020B0604020202020204" pitchFamily="34" charset="0"/>
                          <a:cs typeface="Arial" panose="020B0604020202020204" pitchFamily="34" charset="0"/>
                        </a:rPr>
                        <a:t>Identify stakeholders</a:t>
                      </a:r>
                      <a:r>
                        <a:rPr lang="en-US" sz="1600" noProof="1">
                          <a:latin typeface="Arial" panose="020B0604020202020204" pitchFamily="34" charset="0"/>
                          <a:cs typeface="Arial" panose="020B0604020202020204" pitchFamily="34" charset="0"/>
                        </a:rPr>
                        <a:t> (Mengidentifikasi stakeholder)</a:t>
                      </a:r>
                    </a:p>
                  </a:txBody>
                  <a:tcPr anchor="ctr"/>
                </a:tc>
                <a:tc>
                  <a:txBody>
                    <a:bodyPr/>
                    <a:lstStyle/>
                    <a:p>
                      <a:pPr marL="285750" indent="-285750">
                        <a:buFont typeface="Arial" panose="020B0604020202020204" pitchFamily="34" charset="0"/>
                        <a:buChar char="•"/>
                      </a:pPr>
                      <a:r>
                        <a:rPr lang="en-US" sz="1600" b="1" noProof="1">
                          <a:latin typeface="Arial" panose="020B0604020202020204" pitchFamily="34" charset="0"/>
                          <a:cs typeface="Arial" panose="020B0604020202020204" pitchFamily="34" charset="0"/>
                        </a:rPr>
                        <a:t>Stakeholder register</a:t>
                      </a:r>
                    </a:p>
                    <a:p>
                      <a:pPr marL="285750" indent="-285750">
                        <a:buFont typeface="Arial" panose="020B0604020202020204" pitchFamily="34" charset="0"/>
                        <a:buChar char="•"/>
                      </a:pPr>
                      <a:r>
                        <a:rPr lang="en-US" sz="1600" b="1" noProof="1">
                          <a:latin typeface="Arial" panose="020B0604020202020204" pitchFamily="34" charset="0"/>
                          <a:cs typeface="Arial" panose="020B0604020202020204" pitchFamily="34" charset="0"/>
                        </a:rPr>
                        <a:t>Stakeholder management strategy</a:t>
                      </a:r>
                      <a:endParaRPr lang="en-US" sz="1600" noProof="1">
                        <a:latin typeface="Arial" panose="020B0604020202020204" pitchFamily="34" charset="0"/>
                        <a:cs typeface="Arial" panose="020B0604020202020204" pitchFamily="34" charset="0"/>
                      </a:endParaRPr>
                    </a:p>
                  </a:txBody>
                  <a:tcPr anchor="ctr"/>
                </a:tc>
                <a:tc>
                  <a:txBody>
                    <a:bodyPr/>
                    <a:lstStyle/>
                    <a:p>
                      <a:pPr>
                        <a:buNone/>
                      </a:pPr>
                      <a:r>
                        <a:rPr lang="en-US" sz="1600" noProof="1">
                          <a:latin typeface="Arial" panose="020B0604020202020204" pitchFamily="34" charset="0"/>
                          <a:cs typeface="Arial" panose="020B0604020202020204" pitchFamily="34" charset="0"/>
                        </a:rPr>
                        <a:t>Daftar pihak terkait proyek dan strategi komunikasi untuk mengelola ekspektasi mereka</a:t>
                      </a:r>
                    </a:p>
                  </a:txBody>
                  <a:tcPr anchor="ctr"/>
                </a:tc>
                <a:extLst>
                  <a:ext uri="{0D108BD9-81ED-4DB2-BD59-A6C34878D82A}">
                    <a16:rowId xmlns:a16="http://schemas.microsoft.com/office/drawing/2014/main" val="1897301034"/>
                  </a:ext>
                </a:extLst>
              </a:tr>
            </a:tbl>
          </a:graphicData>
        </a:graphic>
      </p:graphicFrame>
    </p:spTree>
    <p:extLst>
      <p:ext uri="{BB962C8B-B14F-4D97-AF65-F5344CB8AC3E}">
        <p14:creationId xmlns:p14="http://schemas.microsoft.com/office/powerpoint/2010/main" val="5069060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6D16C-1303-1866-59DC-84915CD4E19F}"/>
              </a:ext>
            </a:extLst>
          </p:cNvPr>
          <p:cNvSpPr>
            <a:spLocks noGrp="1"/>
          </p:cNvSpPr>
          <p:nvPr>
            <p:ph type="title"/>
          </p:nvPr>
        </p:nvSpPr>
        <p:spPr/>
        <p:txBody>
          <a:bodyPr/>
          <a:lstStyle/>
          <a:p>
            <a:pPr algn="ctr"/>
            <a:r>
              <a:rPr lang="en-US" noProof="1"/>
              <a:t>Project Communications Management</a:t>
            </a:r>
            <a:br>
              <a:rPr lang="en-US" noProof="1"/>
            </a:br>
            <a:r>
              <a:rPr lang="en-US" sz="3600" noProof="1"/>
              <a:t>Contoh: Stakeholder Register (1)</a:t>
            </a:r>
            <a:endParaRPr lang="en-US" noProof="1"/>
          </a:p>
        </p:txBody>
      </p:sp>
      <p:graphicFrame>
        <p:nvGraphicFramePr>
          <p:cNvPr id="4" name="Content Placeholder 3">
            <a:extLst>
              <a:ext uri="{FF2B5EF4-FFF2-40B4-BE49-F238E27FC236}">
                <a16:creationId xmlns:a16="http://schemas.microsoft.com/office/drawing/2014/main" id="{6F004A26-79D2-9EAC-8E53-E5C22B8A22E3}"/>
              </a:ext>
            </a:extLst>
          </p:cNvPr>
          <p:cNvGraphicFramePr>
            <a:graphicFrameLocks noGrp="1"/>
          </p:cNvGraphicFramePr>
          <p:nvPr>
            <p:ph idx="1"/>
            <p:extLst>
              <p:ext uri="{D42A27DB-BD31-4B8C-83A1-F6EECF244321}">
                <p14:modId xmlns:p14="http://schemas.microsoft.com/office/powerpoint/2010/main" val="2168520003"/>
              </p:ext>
            </p:extLst>
          </p:nvPr>
        </p:nvGraphicFramePr>
        <p:xfrm>
          <a:off x="388622" y="1837860"/>
          <a:ext cx="11564839" cy="3929944"/>
        </p:xfrm>
        <a:graphic>
          <a:graphicData uri="http://schemas.openxmlformats.org/drawingml/2006/table">
            <a:tbl>
              <a:tblPr>
                <a:tableStyleId>{616DA210-FB5B-4158-B5E0-FEB733F419BA}</a:tableStyleId>
              </a:tblPr>
              <a:tblGrid>
                <a:gridCol w="1123895">
                  <a:extLst>
                    <a:ext uri="{9D8B030D-6E8A-4147-A177-3AD203B41FA5}">
                      <a16:colId xmlns:a16="http://schemas.microsoft.com/office/drawing/2014/main" val="3686365000"/>
                    </a:ext>
                  </a:extLst>
                </a:gridCol>
                <a:gridCol w="1548735">
                  <a:extLst>
                    <a:ext uri="{9D8B030D-6E8A-4147-A177-3AD203B41FA5}">
                      <a16:colId xmlns:a16="http://schemas.microsoft.com/office/drawing/2014/main" val="4180959263"/>
                    </a:ext>
                  </a:extLst>
                </a:gridCol>
                <a:gridCol w="1146681">
                  <a:extLst>
                    <a:ext uri="{9D8B030D-6E8A-4147-A177-3AD203B41FA5}">
                      <a16:colId xmlns:a16="http://schemas.microsoft.com/office/drawing/2014/main" val="1070035862"/>
                    </a:ext>
                  </a:extLst>
                </a:gridCol>
                <a:gridCol w="1583267">
                  <a:extLst>
                    <a:ext uri="{9D8B030D-6E8A-4147-A177-3AD203B41FA5}">
                      <a16:colId xmlns:a16="http://schemas.microsoft.com/office/drawing/2014/main" val="3169663641"/>
                    </a:ext>
                  </a:extLst>
                </a:gridCol>
                <a:gridCol w="2663687">
                  <a:extLst>
                    <a:ext uri="{9D8B030D-6E8A-4147-A177-3AD203B41FA5}">
                      <a16:colId xmlns:a16="http://schemas.microsoft.com/office/drawing/2014/main" val="1962333988"/>
                    </a:ext>
                  </a:extLst>
                </a:gridCol>
                <a:gridCol w="1510748">
                  <a:extLst>
                    <a:ext uri="{9D8B030D-6E8A-4147-A177-3AD203B41FA5}">
                      <a16:colId xmlns:a16="http://schemas.microsoft.com/office/drawing/2014/main" val="1634003969"/>
                    </a:ext>
                  </a:extLst>
                </a:gridCol>
                <a:gridCol w="1987826">
                  <a:extLst>
                    <a:ext uri="{9D8B030D-6E8A-4147-A177-3AD203B41FA5}">
                      <a16:colId xmlns:a16="http://schemas.microsoft.com/office/drawing/2014/main" val="1638090726"/>
                    </a:ext>
                  </a:extLst>
                </a:gridCol>
              </a:tblGrid>
              <a:tr h="706557">
                <a:tc>
                  <a:txBody>
                    <a:bodyPr/>
                    <a:lstStyle/>
                    <a:p>
                      <a:pPr algn="ctr">
                        <a:buNone/>
                      </a:pPr>
                      <a:r>
                        <a:rPr lang="en-US" sz="1600" b="1" noProof="1">
                          <a:latin typeface="Arial" panose="020B0604020202020204" pitchFamily="34" charset="0"/>
                          <a:cs typeface="Arial" panose="020B0604020202020204" pitchFamily="34" charset="0"/>
                        </a:rPr>
                        <a:t>Nama</a:t>
                      </a:r>
                      <a:endParaRPr lang="en-US" sz="1600" noProof="1">
                        <a:latin typeface="Arial" panose="020B0604020202020204" pitchFamily="34" charset="0"/>
                        <a:cs typeface="Arial" panose="020B0604020202020204" pitchFamily="34" charset="0"/>
                      </a:endParaRPr>
                    </a:p>
                  </a:txBody>
                  <a:tcPr/>
                </a:tc>
                <a:tc>
                  <a:txBody>
                    <a:bodyPr/>
                    <a:lstStyle/>
                    <a:p>
                      <a:pPr algn="ctr">
                        <a:buNone/>
                      </a:pPr>
                      <a:r>
                        <a:rPr lang="en-US" sz="1600" b="1" noProof="1">
                          <a:latin typeface="Arial" panose="020B0604020202020204" pitchFamily="34" charset="0"/>
                          <a:cs typeface="Arial" panose="020B0604020202020204" pitchFamily="34" charset="0"/>
                        </a:rPr>
                        <a:t>Jabatan (Position)</a:t>
                      </a:r>
                      <a:endParaRPr lang="en-US" sz="1600" noProof="1">
                        <a:latin typeface="Arial" panose="020B0604020202020204" pitchFamily="34" charset="0"/>
                        <a:cs typeface="Arial" panose="020B0604020202020204" pitchFamily="34" charset="0"/>
                      </a:endParaRPr>
                    </a:p>
                  </a:txBody>
                  <a:tcPr/>
                </a:tc>
                <a:tc>
                  <a:txBody>
                    <a:bodyPr/>
                    <a:lstStyle/>
                    <a:p>
                      <a:pPr algn="ctr">
                        <a:buNone/>
                      </a:pPr>
                      <a:r>
                        <a:rPr lang="en-US" sz="1600" b="1" noProof="1">
                          <a:latin typeface="Arial" panose="020B0604020202020204" pitchFamily="34" charset="0"/>
                          <a:cs typeface="Arial" panose="020B0604020202020204" pitchFamily="34" charset="0"/>
                        </a:rPr>
                        <a:t>Internal/</a:t>
                      </a:r>
                    </a:p>
                    <a:p>
                      <a:pPr algn="ctr">
                        <a:buNone/>
                      </a:pPr>
                      <a:r>
                        <a:rPr lang="en-US" sz="1600" b="1" noProof="1">
                          <a:latin typeface="Arial" panose="020B0604020202020204" pitchFamily="34" charset="0"/>
                          <a:cs typeface="Arial" panose="020B0604020202020204" pitchFamily="34" charset="0"/>
                        </a:rPr>
                        <a:t>Eksternal</a:t>
                      </a:r>
                      <a:endParaRPr lang="en-US" sz="1600" noProof="1">
                        <a:latin typeface="Arial" panose="020B0604020202020204" pitchFamily="34" charset="0"/>
                        <a:cs typeface="Arial" panose="020B0604020202020204" pitchFamily="34" charset="0"/>
                      </a:endParaRPr>
                    </a:p>
                  </a:txBody>
                  <a:tcPr/>
                </a:tc>
                <a:tc>
                  <a:txBody>
                    <a:bodyPr/>
                    <a:lstStyle/>
                    <a:p>
                      <a:pPr algn="ctr">
                        <a:buNone/>
                      </a:pPr>
                      <a:r>
                        <a:rPr lang="en-US" sz="1600" b="1" noProof="1">
                          <a:latin typeface="Arial" panose="020B0604020202020204" pitchFamily="34" charset="0"/>
                          <a:cs typeface="Arial" panose="020B0604020202020204" pitchFamily="34" charset="0"/>
                        </a:rPr>
                        <a:t>Peran Proyek (Project Role)</a:t>
                      </a:r>
                      <a:endParaRPr lang="en-US" sz="1600" noProof="1">
                        <a:latin typeface="Arial" panose="020B0604020202020204" pitchFamily="34" charset="0"/>
                        <a:cs typeface="Arial" panose="020B0604020202020204" pitchFamily="34" charset="0"/>
                      </a:endParaRPr>
                    </a:p>
                  </a:txBody>
                  <a:tcPr/>
                </a:tc>
                <a:tc>
                  <a:txBody>
                    <a:bodyPr/>
                    <a:lstStyle/>
                    <a:p>
                      <a:pPr algn="ctr">
                        <a:buNone/>
                      </a:pPr>
                      <a:r>
                        <a:rPr lang="en-US" sz="1600" b="1" noProof="1">
                          <a:latin typeface="Arial" panose="020B0604020202020204" pitchFamily="34" charset="0"/>
                          <a:cs typeface="Arial" panose="020B0604020202020204" pitchFamily="34" charset="0"/>
                        </a:rPr>
                        <a:t>Informasi Kontak</a:t>
                      </a:r>
                      <a:endParaRPr lang="en-US" sz="1600" noProof="1">
                        <a:latin typeface="Arial" panose="020B0604020202020204" pitchFamily="34" charset="0"/>
                        <a:cs typeface="Arial" panose="020B0604020202020204" pitchFamily="34" charset="0"/>
                      </a:endParaRPr>
                    </a:p>
                  </a:txBody>
                  <a:tcPr/>
                </a:tc>
                <a:tc>
                  <a:txBody>
                    <a:bodyPr/>
                    <a:lstStyle/>
                    <a:p>
                      <a:pPr algn="ctr" fontAlgn="t">
                        <a:buNone/>
                      </a:pPr>
                      <a:r>
                        <a:rPr lang="en-US" sz="1600" b="1" i="0" u="none" strike="noStrike" noProof="1">
                          <a:solidFill>
                            <a:srgbClr val="000000"/>
                          </a:solidFill>
                          <a:effectLst/>
                          <a:latin typeface="Calibri" panose="020F0502020204030204" pitchFamily="34" charset="0"/>
                        </a:rPr>
                        <a:t>Kepentingan terhadap Proyek</a:t>
                      </a:r>
                    </a:p>
                  </a:txBody>
                  <a:tcPr marL="6350" marR="6350" marT="6350" marB="0"/>
                </a:tc>
                <a:tc>
                  <a:txBody>
                    <a:bodyPr/>
                    <a:lstStyle/>
                    <a:p>
                      <a:pPr algn="ctr" fontAlgn="t">
                        <a:buNone/>
                      </a:pPr>
                      <a:r>
                        <a:rPr lang="en-US" sz="1600" b="1" i="0" u="none" strike="noStrike" noProof="1">
                          <a:solidFill>
                            <a:srgbClr val="000000"/>
                          </a:solidFill>
                          <a:effectLst/>
                          <a:latin typeface="Calibri" panose="020F0502020204030204" pitchFamily="34" charset="0"/>
                        </a:rPr>
                        <a:t>Pengaruh terhadap Proyek</a:t>
                      </a:r>
                    </a:p>
                  </a:txBody>
                  <a:tcPr marL="6350" marR="6350" marT="6350" marB="0"/>
                </a:tc>
                <a:extLst>
                  <a:ext uri="{0D108BD9-81ED-4DB2-BD59-A6C34878D82A}">
                    <a16:rowId xmlns:a16="http://schemas.microsoft.com/office/drawing/2014/main" val="3599076294"/>
                  </a:ext>
                </a:extLst>
              </a:tr>
              <a:tr h="575647">
                <a:tc>
                  <a:txBody>
                    <a:bodyPr/>
                    <a:lstStyle/>
                    <a:p>
                      <a:pPr>
                        <a:buNone/>
                      </a:pPr>
                      <a:r>
                        <a:rPr lang="en-US" sz="1600" noProof="1">
                          <a:latin typeface="Arial" panose="020B0604020202020204" pitchFamily="34" charset="0"/>
                          <a:cs typeface="Arial" panose="020B0604020202020204" pitchFamily="34" charset="0"/>
                        </a:rPr>
                        <a:t>Joe Fleming</a:t>
                      </a:r>
                    </a:p>
                  </a:txBody>
                  <a:tcPr/>
                </a:tc>
                <a:tc>
                  <a:txBody>
                    <a:bodyPr/>
                    <a:lstStyle/>
                    <a:p>
                      <a:pPr>
                        <a:buNone/>
                      </a:pPr>
                      <a:r>
                        <a:rPr lang="en-US" sz="1600" noProof="1">
                          <a:latin typeface="Arial" panose="020B0604020202020204" pitchFamily="34" charset="0"/>
                          <a:cs typeface="Arial" panose="020B0604020202020204" pitchFamily="34" charset="0"/>
                        </a:rPr>
                        <a:t>CEO</a:t>
                      </a:r>
                    </a:p>
                  </a:txBody>
                  <a:tcPr/>
                </a:tc>
                <a:tc>
                  <a:txBody>
                    <a:bodyPr/>
                    <a:lstStyle/>
                    <a:p>
                      <a:pPr>
                        <a:buNone/>
                      </a:pPr>
                      <a:r>
                        <a:rPr lang="en-US" sz="1600" noProof="1">
                          <a:latin typeface="Arial" panose="020B0604020202020204" pitchFamily="34" charset="0"/>
                          <a:cs typeface="Arial" panose="020B0604020202020204" pitchFamily="34" charset="0"/>
                        </a:rPr>
                        <a:t>Internal</a:t>
                      </a:r>
                    </a:p>
                  </a:txBody>
                  <a:tcPr/>
                </a:tc>
                <a:tc>
                  <a:txBody>
                    <a:bodyPr/>
                    <a:lstStyle/>
                    <a:p>
                      <a:pPr>
                        <a:buNone/>
                      </a:pPr>
                      <a:r>
                        <a:rPr lang="en-US" sz="1600" noProof="1">
                          <a:latin typeface="Arial" panose="020B0604020202020204" pitchFamily="34" charset="0"/>
                          <a:cs typeface="Arial" panose="020B0604020202020204" pitchFamily="34" charset="0"/>
                        </a:rPr>
                        <a:t>Sponsor</a:t>
                      </a:r>
                    </a:p>
                  </a:txBody>
                  <a:tcPr/>
                </a:tc>
                <a:tc>
                  <a:txBody>
                    <a:bodyPr/>
                    <a:lstStyle/>
                    <a:p>
                      <a:pPr>
                        <a:buNone/>
                      </a:pPr>
                      <a:r>
                        <a:rPr lang="en-US" sz="1600" noProof="1">
                          <a:latin typeface="Arial" panose="020B0604020202020204" pitchFamily="34" charset="0"/>
                          <a:cs typeface="Arial" panose="020B0604020202020204" pitchFamily="34" charset="0"/>
                          <a:hlinkClick r:id="rId2"/>
                        </a:rPr>
                        <a:t>joe_fleming@jwdconsulting.com</a:t>
                      </a:r>
                      <a:endParaRPr lang="en-US" sz="1600" noProof="1">
                        <a:latin typeface="Arial" panose="020B0604020202020204" pitchFamily="34" charset="0"/>
                        <a:cs typeface="Arial" panose="020B0604020202020204" pitchFamily="34" charset="0"/>
                      </a:endParaRPr>
                    </a:p>
                  </a:txBody>
                  <a:tcPr/>
                </a:tc>
                <a:tc>
                  <a:txBody>
                    <a:bodyPr/>
                    <a:lstStyle/>
                    <a:p>
                      <a:pPr algn="ctr" fontAlgn="b">
                        <a:buNone/>
                      </a:pPr>
                      <a:r>
                        <a:rPr lang="en-US" sz="1600" b="0" i="0" u="none" strike="noStrike" noProof="1">
                          <a:solidFill>
                            <a:srgbClr val="000000"/>
                          </a:solidFill>
                          <a:effectLst/>
                          <a:latin typeface="Calibri" panose="020F0502020204030204" pitchFamily="34" charset="0"/>
                        </a:rPr>
                        <a:t>Tinggi</a:t>
                      </a:r>
                    </a:p>
                  </a:txBody>
                  <a:tcPr marL="6350" marR="6350" marT="6350" marB="0"/>
                </a:tc>
                <a:tc>
                  <a:txBody>
                    <a:bodyPr/>
                    <a:lstStyle/>
                    <a:p>
                      <a:pPr algn="ctr" fontAlgn="b">
                        <a:buNone/>
                      </a:pPr>
                      <a:r>
                        <a:rPr lang="en-US" sz="1600" b="0" i="0" u="none" strike="noStrike" noProof="1">
                          <a:solidFill>
                            <a:srgbClr val="000000"/>
                          </a:solidFill>
                          <a:effectLst/>
                          <a:latin typeface="Calibri" panose="020F0502020204030204" pitchFamily="34" charset="0"/>
                        </a:rPr>
                        <a:t>Tinggi</a:t>
                      </a:r>
                    </a:p>
                  </a:txBody>
                  <a:tcPr marL="6350" marR="6350" marT="6350" marB="0"/>
                </a:tc>
                <a:extLst>
                  <a:ext uri="{0D108BD9-81ED-4DB2-BD59-A6C34878D82A}">
                    <a16:rowId xmlns:a16="http://schemas.microsoft.com/office/drawing/2014/main" val="3075555929"/>
                  </a:ext>
                </a:extLst>
              </a:tr>
              <a:tr h="575647">
                <a:tc>
                  <a:txBody>
                    <a:bodyPr/>
                    <a:lstStyle/>
                    <a:p>
                      <a:pPr>
                        <a:buNone/>
                      </a:pPr>
                      <a:r>
                        <a:rPr lang="en-US" sz="1600" noProof="1">
                          <a:latin typeface="Arial" panose="020B0604020202020204" pitchFamily="34" charset="0"/>
                          <a:cs typeface="Arial" panose="020B0604020202020204" pitchFamily="34" charset="0"/>
                        </a:rPr>
                        <a:t>Erica Bell</a:t>
                      </a:r>
                    </a:p>
                  </a:txBody>
                  <a:tcPr/>
                </a:tc>
                <a:tc>
                  <a:txBody>
                    <a:bodyPr/>
                    <a:lstStyle/>
                    <a:p>
                      <a:pPr>
                        <a:buNone/>
                      </a:pPr>
                      <a:r>
                        <a:rPr lang="en-US" sz="1600" noProof="1">
                          <a:latin typeface="Arial" panose="020B0604020202020204" pitchFamily="34" charset="0"/>
                          <a:cs typeface="Arial" panose="020B0604020202020204" pitchFamily="34" charset="0"/>
                        </a:rPr>
                        <a:t>PMO Director</a:t>
                      </a:r>
                    </a:p>
                  </a:txBody>
                  <a:tcPr/>
                </a:tc>
                <a:tc>
                  <a:txBody>
                    <a:bodyPr/>
                    <a:lstStyle/>
                    <a:p>
                      <a:pPr>
                        <a:buNone/>
                      </a:pPr>
                      <a:r>
                        <a:rPr lang="en-US" sz="1600" noProof="1">
                          <a:latin typeface="Arial" panose="020B0604020202020204" pitchFamily="34" charset="0"/>
                          <a:cs typeface="Arial" panose="020B0604020202020204" pitchFamily="34" charset="0"/>
                        </a:rPr>
                        <a:t>Internal</a:t>
                      </a:r>
                    </a:p>
                  </a:txBody>
                  <a:tcPr/>
                </a:tc>
                <a:tc>
                  <a:txBody>
                    <a:bodyPr/>
                    <a:lstStyle/>
                    <a:p>
                      <a:pPr>
                        <a:buNone/>
                      </a:pPr>
                      <a:r>
                        <a:rPr lang="en-US" sz="1600" noProof="1">
                          <a:latin typeface="Arial" panose="020B0604020202020204" pitchFamily="34" charset="0"/>
                          <a:cs typeface="Arial" panose="020B0604020202020204" pitchFamily="34" charset="0"/>
                        </a:rPr>
                        <a:t>Project manager</a:t>
                      </a:r>
                    </a:p>
                  </a:txBody>
                  <a:tcPr/>
                </a:tc>
                <a:tc>
                  <a:txBody>
                    <a:bodyPr/>
                    <a:lstStyle/>
                    <a:p>
                      <a:pPr>
                        <a:buNone/>
                      </a:pPr>
                      <a:r>
                        <a:rPr lang="en-US" sz="1600" noProof="1">
                          <a:latin typeface="Arial" panose="020B0604020202020204" pitchFamily="34" charset="0"/>
                          <a:cs typeface="Arial" panose="020B0604020202020204" pitchFamily="34" charset="0"/>
                          <a:hlinkClick r:id="rId3"/>
                        </a:rPr>
                        <a:t>erica_bell@jwdconsulting.com</a:t>
                      </a:r>
                      <a:endParaRPr lang="en-US" sz="1600" noProof="1">
                        <a:latin typeface="Arial" panose="020B0604020202020204" pitchFamily="34" charset="0"/>
                        <a:cs typeface="Arial" panose="020B0604020202020204" pitchFamily="34" charset="0"/>
                      </a:endParaRPr>
                    </a:p>
                  </a:txBody>
                  <a:tcPr/>
                </a:tc>
                <a:tc>
                  <a:txBody>
                    <a:bodyPr/>
                    <a:lstStyle/>
                    <a:p>
                      <a:pPr algn="ctr" fontAlgn="b">
                        <a:buNone/>
                      </a:pPr>
                      <a:r>
                        <a:rPr lang="en-US" sz="1600" b="0" i="0" u="none" strike="noStrike" noProof="1">
                          <a:solidFill>
                            <a:srgbClr val="000000"/>
                          </a:solidFill>
                          <a:effectLst/>
                          <a:latin typeface="Calibri" panose="020F0502020204030204" pitchFamily="34" charset="0"/>
                        </a:rPr>
                        <a:t>Tinggi</a:t>
                      </a:r>
                    </a:p>
                  </a:txBody>
                  <a:tcPr marL="6350" marR="6350" marT="6350" marB="0"/>
                </a:tc>
                <a:tc>
                  <a:txBody>
                    <a:bodyPr/>
                    <a:lstStyle/>
                    <a:p>
                      <a:pPr algn="ctr" fontAlgn="b">
                        <a:buNone/>
                      </a:pPr>
                      <a:r>
                        <a:rPr lang="en-US" sz="1600" b="0" i="0" u="none" strike="noStrike" noProof="1">
                          <a:solidFill>
                            <a:srgbClr val="000000"/>
                          </a:solidFill>
                          <a:effectLst/>
                          <a:latin typeface="Calibri" panose="020F0502020204030204" pitchFamily="34" charset="0"/>
                        </a:rPr>
                        <a:t>Tinggi</a:t>
                      </a:r>
                    </a:p>
                  </a:txBody>
                  <a:tcPr marL="6350" marR="6350" marT="6350" marB="0"/>
                </a:tc>
                <a:extLst>
                  <a:ext uri="{0D108BD9-81ED-4DB2-BD59-A6C34878D82A}">
                    <a16:rowId xmlns:a16="http://schemas.microsoft.com/office/drawing/2014/main" val="492063638"/>
                  </a:ext>
                </a:extLst>
              </a:tr>
              <a:tr h="906907">
                <a:tc>
                  <a:txBody>
                    <a:bodyPr/>
                    <a:lstStyle/>
                    <a:p>
                      <a:pPr>
                        <a:buNone/>
                      </a:pPr>
                      <a:r>
                        <a:rPr lang="en-US" sz="1600" noProof="1">
                          <a:latin typeface="Arial" panose="020B0604020202020204" pitchFamily="34" charset="0"/>
                          <a:cs typeface="Arial" panose="020B0604020202020204" pitchFamily="34" charset="0"/>
                        </a:rPr>
                        <a:t>Michael Chen</a:t>
                      </a:r>
                    </a:p>
                  </a:txBody>
                  <a:tcPr/>
                </a:tc>
                <a:tc>
                  <a:txBody>
                    <a:bodyPr/>
                    <a:lstStyle/>
                    <a:p>
                      <a:pPr>
                        <a:buNone/>
                      </a:pPr>
                      <a:r>
                        <a:rPr lang="en-US" sz="1600" noProof="1">
                          <a:latin typeface="Arial" panose="020B0604020202020204" pitchFamily="34" charset="0"/>
                          <a:cs typeface="Arial" panose="020B0604020202020204" pitchFamily="34" charset="0"/>
                        </a:rPr>
                        <a:t>Team member</a:t>
                      </a:r>
                    </a:p>
                  </a:txBody>
                  <a:tcPr/>
                </a:tc>
                <a:tc>
                  <a:txBody>
                    <a:bodyPr/>
                    <a:lstStyle/>
                    <a:p>
                      <a:pPr>
                        <a:buNone/>
                      </a:pPr>
                      <a:r>
                        <a:rPr lang="en-US" sz="1600" noProof="1">
                          <a:latin typeface="Arial" panose="020B0604020202020204" pitchFamily="34" charset="0"/>
                          <a:cs typeface="Arial" panose="020B0604020202020204" pitchFamily="34" charset="0"/>
                        </a:rPr>
                        <a:t>Internal</a:t>
                      </a:r>
                    </a:p>
                  </a:txBody>
                  <a:tcPr/>
                </a:tc>
                <a:tc>
                  <a:txBody>
                    <a:bodyPr/>
                    <a:lstStyle/>
                    <a:p>
                      <a:pPr>
                        <a:buNone/>
                      </a:pPr>
                      <a:r>
                        <a:rPr lang="en-US" sz="1600" noProof="1">
                          <a:latin typeface="Arial" panose="020B0604020202020204" pitchFamily="34" charset="0"/>
                          <a:cs typeface="Arial" panose="020B0604020202020204" pitchFamily="34" charset="0"/>
                        </a:rPr>
                        <a:t>Team member</a:t>
                      </a:r>
                    </a:p>
                  </a:txBody>
                  <a:tcPr/>
                </a:tc>
                <a:tc>
                  <a:txBody>
                    <a:bodyPr/>
                    <a:lstStyle/>
                    <a:p>
                      <a:pPr>
                        <a:buNone/>
                      </a:pPr>
                      <a:r>
                        <a:rPr lang="en-US" sz="1600" noProof="1">
                          <a:latin typeface="Arial" panose="020B0604020202020204" pitchFamily="34" charset="0"/>
                          <a:cs typeface="Arial" panose="020B0604020202020204" pitchFamily="34" charset="0"/>
                          <a:hlinkClick r:id="rId4"/>
                        </a:rPr>
                        <a:t>michael_chen@jwdconsulting.com</a:t>
                      </a:r>
                      <a:endParaRPr lang="en-US" sz="1600" noProof="1">
                        <a:latin typeface="Arial" panose="020B0604020202020204" pitchFamily="34" charset="0"/>
                        <a:cs typeface="Arial" panose="020B0604020202020204" pitchFamily="34" charset="0"/>
                      </a:endParaRPr>
                    </a:p>
                  </a:txBody>
                  <a:tcPr/>
                </a:tc>
                <a:tc>
                  <a:txBody>
                    <a:bodyPr/>
                    <a:lstStyle/>
                    <a:p>
                      <a:pPr algn="ctr" fontAlgn="b">
                        <a:buNone/>
                      </a:pPr>
                      <a:r>
                        <a:rPr lang="en-US" sz="1600" b="0" i="0" u="none" strike="noStrike" noProof="1">
                          <a:solidFill>
                            <a:srgbClr val="000000"/>
                          </a:solidFill>
                          <a:effectLst/>
                          <a:latin typeface="Calibri" panose="020F0502020204030204" pitchFamily="34" charset="0"/>
                        </a:rPr>
                        <a:t>Sedang</a:t>
                      </a:r>
                    </a:p>
                  </a:txBody>
                  <a:tcPr marL="6350" marR="6350" marT="6350" marB="0"/>
                </a:tc>
                <a:tc>
                  <a:txBody>
                    <a:bodyPr/>
                    <a:lstStyle/>
                    <a:p>
                      <a:pPr algn="ctr" fontAlgn="b">
                        <a:buNone/>
                      </a:pPr>
                      <a:r>
                        <a:rPr lang="en-US" sz="1600" b="0" i="0" u="none" strike="noStrike" noProof="1">
                          <a:solidFill>
                            <a:srgbClr val="000000"/>
                          </a:solidFill>
                          <a:effectLst/>
                          <a:latin typeface="Calibri" panose="020F0502020204030204" pitchFamily="34" charset="0"/>
                        </a:rPr>
                        <a:t>Sedang</a:t>
                      </a:r>
                    </a:p>
                  </a:txBody>
                  <a:tcPr marL="6350" marR="6350" marT="6350" marB="0"/>
                </a:tc>
                <a:extLst>
                  <a:ext uri="{0D108BD9-81ED-4DB2-BD59-A6C34878D82A}">
                    <a16:rowId xmlns:a16="http://schemas.microsoft.com/office/drawing/2014/main" val="894442945"/>
                  </a:ext>
                </a:extLst>
              </a:tr>
              <a:tr h="575647">
                <a:tc>
                  <a:txBody>
                    <a:bodyPr/>
                    <a:lstStyle/>
                    <a:p>
                      <a:pPr>
                        <a:buNone/>
                      </a:pPr>
                      <a:r>
                        <a:rPr lang="en-US" sz="1600" noProof="1">
                          <a:latin typeface="Arial" panose="020B0604020202020204" pitchFamily="34" charset="0"/>
                          <a:cs typeface="Arial" panose="020B0604020202020204" pitchFamily="34" charset="0"/>
                        </a:rPr>
                        <a:t>Kim Phuong</a:t>
                      </a:r>
                    </a:p>
                  </a:txBody>
                  <a:tcPr/>
                </a:tc>
                <a:tc>
                  <a:txBody>
                    <a:bodyPr/>
                    <a:lstStyle/>
                    <a:p>
                      <a:pPr>
                        <a:buNone/>
                      </a:pPr>
                      <a:r>
                        <a:rPr lang="en-US" sz="1600" noProof="1">
                          <a:latin typeface="Arial" panose="020B0604020202020204" pitchFamily="34" charset="0"/>
                          <a:cs typeface="Arial" panose="020B0604020202020204" pitchFamily="34" charset="0"/>
                        </a:rPr>
                        <a:t>Business analyst</a:t>
                      </a:r>
                    </a:p>
                  </a:txBody>
                  <a:tcPr/>
                </a:tc>
                <a:tc>
                  <a:txBody>
                    <a:bodyPr/>
                    <a:lstStyle/>
                    <a:p>
                      <a:pPr>
                        <a:buNone/>
                      </a:pPr>
                      <a:r>
                        <a:rPr lang="en-US" sz="1600" noProof="1">
                          <a:latin typeface="Arial" panose="020B0604020202020204" pitchFamily="34" charset="0"/>
                          <a:cs typeface="Arial" panose="020B0604020202020204" pitchFamily="34" charset="0"/>
                        </a:rPr>
                        <a:t>External</a:t>
                      </a:r>
                    </a:p>
                  </a:txBody>
                  <a:tcPr/>
                </a:tc>
                <a:tc>
                  <a:txBody>
                    <a:bodyPr/>
                    <a:lstStyle/>
                    <a:p>
                      <a:pPr>
                        <a:buNone/>
                      </a:pPr>
                      <a:r>
                        <a:rPr lang="en-US" sz="1600" noProof="1">
                          <a:latin typeface="Arial" panose="020B0604020202020204" pitchFamily="34" charset="0"/>
                          <a:cs typeface="Arial" panose="020B0604020202020204" pitchFamily="34" charset="0"/>
                        </a:rPr>
                        <a:t>Advisor</a:t>
                      </a:r>
                    </a:p>
                  </a:txBody>
                  <a:tcPr/>
                </a:tc>
                <a:tc>
                  <a:txBody>
                    <a:bodyPr/>
                    <a:lstStyle/>
                    <a:p>
                      <a:pPr>
                        <a:buNone/>
                      </a:pPr>
                      <a:r>
                        <a:rPr lang="en-US" sz="1600" noProof="1">
                          <a:latin typeface="Arial" panose="020B0604020202020204" pitchFamily="34" charset="0"/>
                          <a:cs typeface="Arial" panose="020B0604020202020204" pitchFamily="34" charset="0"/>
                          <a:hlinkClick r:id="rId5"/>
                        </a:rPr>
                        <a:t>kim_phuong@client1.com</a:t>
                      </a:r>
                      <a:endParaRPr lang="en-US" sz="1600" noProof="1">
                        <a:latin typeface="Arial" panose="020B0604020202020204" pitchFamily="34" charset="0"/>
                        <a:cs typeface="Arial" panose="020B0604020202020204" pitchFamily="34" charset="0"/>
                      </a:endParaRPr>
                    </a:p>
                  </a:txBody>
                  <a:tcPr/>
                </a:tc>
                <a:tc>
                  <a:txBody>
                    <a:bodyPr/>
                    <a:lstStyle/>
                    <a:p>
                      <a:pPr algn="ctr" fontAlgn="b">
                        <a:buNone/>
                      </a:pPr>
                      <a:r>
                        <a:rPr lang="en-US" sz="1600" b="0" i="0" u="none" strike="noStrike" noProof="1">
                          <a:solidFill>
                            <a:srgbClr val="000000"/>
                          </a:solidFill>
                          <a:effectLst/>
                          <a:latin typeface="Calibri" panose="020F0502020204030204" pitchFamily="34" charset="0"/>
                        </a:rPr>
                        <a:t>Tinggi</a:t>
                      </a:r>
                    </a:p>
                  </a:txBody>
                  <a:tcPr marL="6350" marR="6350" marT="6350" marB="0"/>
                </a:tc>
                <a:tc>
                  <a:txBody>
                    <a:bodyPr/>
                    <a:lstStyle/>
                    <a:p>
                      <a:pPr algn="ctr" fontAlgn="b">
                        <a:buNone/>
                      </a:pPr>
                      <a:r>
                        <a:rPr lang="en-US" sz="1600" b="0" i="0" u="none" strike="noStrike" noProof="1">
                          <a:solidFill>
                            <a:srgbClr val="000000"/>
                          </a:solidFill>
                          <a:effectLst/>
                          <a:latin typeface="Calibri" panose="020F0502020204030204" pitchFamily="34" charset="0"/>
                        </a:rPr>
                        <a:t>Sedang</a:t>
                      </a:r>
                    </a:p>
                  </a:txBody>
                  <a:tcPr marL="6350" marR="6350" marT="6350" marB="0"/>
                </a:tc>
                <a:extLst>
                  <a:ext uri="{0D108BD9-81ED-4DB2-BD59-A6C34878D82A}">
                    <a16:rowId xmlns:a16="http://schemas.microsoft.com/office/drawing/2014/main" val="2815986145"/>
                  </a:ext>
                </a:extLst>
              </a:tr>
              <a:tr h="575647">
                <a:tc>
                  <a:txBody>
                    <a:bodyPr/>
                    <a:lstStyle/>
                    <a:p>
                      <a:pPr>
                        <a:buNone/>
                      </a:pPr>
                      <a:r>
                        <a:rPr lang="en-US" sz="1600" noProof="1">
                          <a:latin typeface="Arial" panose="020B0604020202020204" pitchFamily="34" charset="0"/>
                          <a:cs typeface="Arial" panose="020B0604020202020204" pitchFamily="34" charset="0"/>
                        </a:rPr>
                        <a:t>Louise Mills</a:t>
                      </a:r>
                    </a:p>
                  </a:txBody>
                  <a:tcPr/>
                </a:tc>
                <a:tc>
                  <a:txBody>
                    <a:bodyPr/>
                    <a:lstStyle/>
                    <a:p>
                      <a:pPr>
                        <a:buNone/>
                      </a:pPr>
                      <a:r>
                        <a:rPr lang="en-US" sz="1600" noProof="1">
                          <a:latin typeface="Arial" panose="020B0604020202020204" pitchFamily="34" charset="0"/>
                          <a:cs typeface="Arial" panose="020B0604020202020204" pitchFamily="34" charset="0"/>
                        </a:rPr>
                        <a:t>PR Director</a:t>
                      </a:r>
                    </a:p>
                  </a:txBody>
                  <a:tcPr/>
                </a:tc>
                <a:tc>
                  <a:txBody>
                    <a:bodyPr/>
                    <a:lstStyle/>
                    <a:p>
                      <a:pPr>
                        <a:buNone/>
                      </a:pPr>
                      <a:r>
                        <a:rPr lang="en-US" sz="1600" noProof="1">
                          <a:latin typeface="Arial" panose="020B0604020202020204" pitchFamily="34" charset="0"/>
                          <a:cs typeface="Arial" panose="020B0604020202020204" pitchFamily="34" charset="0"/>
                        </a:rPr>
                        <a:t>Internal</a:t>
                      </a:r>
                    </a:p>
                  </a:txBody>
                  <a:tcPr/>
                </a:tc>
                <a:tc>
                  <a:txBody>
                    <a:bodyPr/>
                    <a:lstStyle/>
                    <a:p>
                      <a:pPr>
                        <a:buNone/>
                      </a:pPr>
                      <a:r>
                        <a:rPr lang="en-US" sz="1600" noProof="1">
                          <a:latin typeface="Arial" panose="020B0604020202020204" pitchFamily="34" charset="0"/>
                          <a:cs typeface="Arial" panose="020B0604020202020204" pitchFamily="34" charset="0"/>
                        </a:rPr>
                        <a:t>Advisor</a:t>
                      </a:r>
                    </a:p>
                  </a:txBody>
                  <a:tcPr/>
                </a:tc>
                <a:tc>
                  <a:txBody>
                    <a:bodyPr/>
                    <a:lstStyle/>
                    <a:p>
                      <a:pPr>
                        <a:buNone/>
                      </a:pPr>
                      <a:r>
                        <a:rPr lang="en-US" sz="1600" noProof="1">
                          <a:latin typeface="Arial" panose="020B0604020202020204" pitchFamily="34" charset="0"/>
                          <a:cs typeface="Arial" panose="020B0604020202020204" pitchFamily="34" charset="0"/>
                          <a:hlinkClick r:id="rId6"/>
                        </a:rPr>
                        <a:t>louise_mills@jwdconsulting.com</a:t>
                      </a:r>
                      <a:endParaRPr lang="en-US" sz="1600" noProof="1">
                        <a:latin typeface="Arial" panose="020B0604020202020204" pitchFamily="34" charset="0"/>
                        <a:cs typeface="Arial" panose="020B0604020202020204" pitchFamily="34" charset="0"/>
                      </a:endParaRPr>
                    </a:p>
                  </a:txBody>
                  <a:tcPr/>
                </a:tc>
                <a:tc>
                  <a:txBody>
                    <a:bodyPr/>
                    <a:lstStyle/>
                    <a:p>
                      <a:pPr algn="ctr" fontAlgn="b">
                        <a:buNone/>
                      </a:pPr>
                      <a:r>
                        <a:rPr lang="en-US" sz="1600" b="0" i="0" u="none" strike="noStrike" noProof="1">
                          <a:solidFill>
                            <a:srgbClr val="000000"/>
                          </a:solidFill>
                          <a:effectLst/>
                          <a:latin typeface="Calibri" panose="020F0502020204030204" pitchFamily="34" charset="0"/>
                        </a:rPr>
                        <a:t>Sedang</a:t>
                      </a:r>
                    </a:p>
                  </a:txBody>
                  <a:tcPr marL="6350" marR="6350" marT="6350" marB="0"/>
                </a:tc>
                <a:tc>
                  <a:txBody>
                    <a:bodyPr/>
                    <a:lstStyle/>
                    <a:p>
                      <a:pPr algn="ctr" fontAlgn="b">
                        <a:buNone/>
                      </a:pPr>
                      <a:r>
                        <a:rPr lang="en-US" sz="1600" b="0" i="0" u="none" strike="noStrike" noProof="1">
                          <a:solidFill>
                            <a:srgbClr val="000000"/>
                          </a:solidFill>
                          <a:effectLst/>
                          <a:latin typeface="Calibri" panose="020F0502020204030204" pitchFamily="34" charset="0"/>
                        </a:rPr>
                        <a:t>Rendah</a:t>
                      </a:r>
                    </a:p>
                  </a:txBody>
                  <a:tcPr marL="6350" marR="6350" marT="6350" marB="0"/>
                </a:tc>
                <a:extLst>
                  <a:ext uri="{0D108BD9-81ED-4DB2-BD59-A6C34878D82A}">
                    <a16:rowId xmlns:a16="http://schemas.microsoft.com/office/drawing/2014/main" val="3401898560"/>
                  </a:ext>
                </a:extLst>
              </a:tr>
            </a:tbl>
          </a:graphicData>
        </a:graphic>
      </p:graphicFrame>
    </p:spTree>
    <p:extLst>
      <p:ext uri="{BB962C8B-B14F-4D97-AF65-F5344CB8AC3E}">
        <p14:creationId xmlns:p14="http://schemas.microsoft.com/office/powerpoint/2010/main" val="2399818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68B10-6267-A102-853F-3A52D3544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DD8302-9EF4-90C7-AC46-F4339F86510E}"/>
              </a:ext>
            </a:extLst>
          </p:cNvPr>
          <p:cNvSpPr>
            <a:spLocks noGrp="1"/>
          </p:cNvSpPr>
          <p:nvPr>
            <p:ph type="title"/>
          </p:nvPr>
        </p:nvSpPr>
        <p:spPr/>
        <p:txBody>
          <a:bodyPr/>
          <a:lstStyle/>
          <a:p>
            <a:pPr algn="ctr"/>
            <a:r>
              <a:rPr lang="en-US" noProof="1"/>
              <a:t>Project Communications Management</a:t>
            </a:r>
            <a:br>
              <a:rPr lang="en-US" noProof="1"/>
            </a:br>
            <a:r>
              <a:rPr lang="en-US" sz="3600" noProof="1"/>
              <a:t>Contoh: Stakeholder Register (2)</a:t>
            </a:r>
            <a:endParaRPr lang="en-US" noProof="1"/>
          </a:p>
        </p:txBody>
      </p:sp>
      <p:sp>
        <p:nvSpPr>
          <p:cNvPr id="5" name="Content Placeholder 4">
            <a:extLst>
              <a:ext uri="{FF2B5EF4-FFF2-40B4-BE49-F238E27FC236}">
                <a16:creationId xmlns:a16="http://schemas.microsoft.com/office/drawing/2014/main" id="{2D5A4536-8BE4-63B7-A59A-4B999D329DDF}"/>
              </a:ext>
            </a:extLst>
          </p:cNvPr>
          <p:cNvSpPr>
            <a:spLocks noGrp="1"/>
          </p:cNvSpPr>
          <p:nvPr>
            <p:ph idx="1"/>
          </p:nvPr>
        </p:nvSpPr>
        <p:spPr/>
        <p:txBody>
          <a:bodyPr>
            <a:normAutofit/>
          </a:bodyPr>
          <a:lstStyle/>
          <a:p>
            <a:pPr>
              <a:lnSpc>
                <a:spcPct val="100000"/>
              </a:lnSpc>
            </a:pPr>
            <a:r>
              <a:rPr lang="en-US" sz="2000" b="1" noProof="1">
                <a:latin typeface="Arial" panose="020B0604020202020204" pitchFamily="34" charset="0"/>
                <a:cs typeface="Arial" panose="020B0604020202020204" pitchFamily="34" charset="0"/>
              </a:rPr>
              <a:t>Stakeholder Register</a:t>
            </a:r>
            <a:r>
              <a:rPr lang="en-US" sz="2000" noProof="1">
                <a:latin typeface="Arial" panose="020B0604020202020204" pitchFamily="34" charset="0"/>
                <a:cs typeface="Arial" panose="020B0604020202020204" pitchFamily="34" charset="0"/>
              </a:rPr>
              <a:t>, yaitu daftar resmi pemangku kepentingan proyek. </a:t>
            </a:r>
          </a:p>
          <a:p>
            <a:pPr>
              <a:lnSpc>
                <a:spcPct val="100000"/>
              </a:lnSpc>
            </a:pPr>
            <a:r>
              <a:rPr lang="en-US" sz="2000" noProof="1">
                <a:latin typeface="Arial" panose="020B0604020202020204" pitchFamily="34" charset="0"/>
                <a:cs typeface="Arial" panose="020B0604020202020204" pitchFamily="34" charset="0"/>
              </a:rPr>
              <a:t>Tujuannya adalah untuk:</a:t>
            </a:r>
          </a:p>
          <a:p>
            <a:pPr lvl="1">
              <a:lnSpc>
                <a:spcPct val="100000"/>
              </a:lnSpc>
            </a:pPr>
            <a:r>
              <a:rPr lang="en-US" sz="2000" b="1" noProof="1">
                <a:latin typeface="Arial" panose="020B0604020202020204" pitchFamily="34" charset="0"/>
                <a:cs typeface="Arial" panose="020B0604020202020204" pitchFamily="34" charset="0"/>
              </a:rPr>
              <a:t>Mengidentifikasi siapa saja yang terlibat atau terpengaruh oleh proyek</a:t>
            </a:r>
            <a:endParaRPr lang="en-US" sz="2000" noProof="1">
              <a:latin typeface="Arial" panose="020B0604020202020204" pitchFamily="34" charset="0"/>
              <a:cs typeface="Arial" panose="020B0604020202020204" pitchFamily="34" charset="0"/>
            </a:endParaRPr>
          </a:p>
          <a:p>
            <a:pPr lvl="1">
              <a:lnSpc>
                <a:spcPct val="100000"/>
              </a:lnSpc>
            </a:pPr>
            <a:r>
              <a:rPr lang="en-US" sz="2000" b="1" noProof="1">
                <a:latin typeface="Arial" panose="020B0604020202020204" pitchFamily="34" charset="0"/>
                <a:cs typeface="Arial" panose="020B0604020202020204" pitchFamily="34" charset="0"/>
              </a:rPr>
              <a:t>Menentukan peran, tingkat kepentingan, dan pengaruh masing-masing stakeholder</a:t>
            </a:r>
            <a:endParaRPr lang="en-US" sz="2000" noProof="1">
              <a:latin typeface="Arial" panose="020B0604020202020204" pitchFamily="34" charset="0"/>
              <a:cs typeface="Arial" panose="020B0604020202020204" pitchFamily="34" charset="0"/>
            </a:endParaRPr>
          </a:p>
          <a:p>
            <a:pPr lvl="1">
              <a:lnSpc>
                <a:spcPct val="100000"/>
              </a:lnSpc>
            </a:pPr>
            <a:r>
              <a:rPr lang="en-US" sz="2000" b="1" noProof="1">
                <a:latin typeface="Arial" panose="020B0604020202020204" pitchFamily="34" charset="0"/>
                <a:cs typeface="Arial" panose="020B0604020202020204" pitchFamily="34" charset="0"/>
              </a:rPr>
              <a:t>Mendukung strategi komunikasi dan manajemen stakeholder selama proyek berlangsung</a:t>
            </a:r>
            <a:endParaRPr lang="en-US" sz="2000" noProof="1">
              <a:latin typeface="Arial" panose="020B0604020202020204" pitchFamily="34" charset="0"/>
              <a:cs typeface="Arial" panose="020B0604020202020204" pitchFamily="34" charset="0"/>
            </a:endParaRPr>
          </a:p>
          <a:p>
            <a:pPr>
              <a:lnSpc>
                <a:spcPct val="100000"/>
              </a:lnSpc>
            </a:pPr>
            <a:r>
              <a:rPr lang="en-US" sz="2000" noProof="1">
                <a:latin typeface="Arial" panose="020B0604020202020204" pitchFamily="34" charset="0"/>
                <a:cs typeface="Arial" panose="020B0604020202020204" pitchFamily="34" charset="0"/>
              </a:rPr>
              <a:t>Informasi ini sangat penting dalam tahap </a:t>
            </a:r>
            <a:r>
              <a:rPr lang="en-US" sz="2000" b="1" noProof="1">
                <a:latin typeface="Arial" panose="020B0604020202020204" pitchFamily="34" charset="0"/>
                <a:cs typeface="Arial" panose="020B0604020202020204" pitchFamily="34" charset="0"/>
              </a:rPr>
              <a:t>inisiasi proyek</a:t>
            </a:r>
            <a:r>
              <a:rPr lang="en-US" sz="2000" noProof="1">
                <a:latin typeface="Arial" panose="020B0604020202020204" pitchFamily="34" charset="0"/>
                <a:cs typeface="Arial" panose="020B0604020202020204" pitchFamily="34" charset="0"/>
              </a:rPr>
              <a:t>, khususnya dalam proses </a:t>
            </a:r>
            <a:r>
              <a:rPr lang="en-US" sz="2000" i="1" noProof="1">
                <a:latin typeface="Arial" panose="020B0604020202020204" pitchFamily="34" charset="0"/>
                <a:cs typeface="Arial" panose="020B0604020202020204" pitchFamily="34" charset="0"/>
              </a:rPr>
              <a:t>Identify Stakeholders</a:t>
            </a:r>
            <a:r>
              <a:rPr lang="en-US" sz="2000" noProof="1">
                <a:latin typeface="Arial" panose="020B0604020202020204" pitchFamily="34" charset="0"/>
                <a:cs typeface="Arial" panose="020B0604020202020204" pitchFamily="34" charset="0"/>
              </a:rPr>
              <a:t> sesuai standar manajemen proyek seperti PMBOK.</a:t>
            </a:r>
          </a:p>
          <a:p>
            <a:pPr>
              <a:lnSpc>
                <a:spcPct val="100000"/>
              </a:lnSpc>
            </a:pPr>
            <a:endParaRPr lang="en-US" sz="2000" noProof="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14304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32BDD-5C80-F960-FECB-9D70DBAF1F7D}"/>
              </a:ext>
            </a:extLst>
          </p:cNvPr>
          <p:cNvSpPr>
            <a:spLocks noGrp="1"/>
          </p:cNvSpPr>
          <p:nvPr>
            <p:ph type="title"/>
          </p:nvPr>
        </p:nvSpPr>
        <p:spPr/>
        <p:txBody>
          <a:bodyPr>
            <a:normAutofit/>
          </a:bodyPr>
          <a:lstStyle/>
          <a:p>
            <a:pPr algn="ctr"/>
            <a:r>
              <a:rPr lang="en-US" sz="4000" noProof="1"/>
              <a:t>Project Communications Management</a:t>
            </a:r>
            <a:br>
              <a:rPr lang="en-US" sz="4000" noProof="1"/>
            </a:br>
            <a:r>
              <a:rPr lang="en-US" sz="3200" noProof="1"/>
              <a:t>Contoh: Stakeholder Management Strategy (1)</a:t>
            </a:r>
          </a:p>
        </p:txBody>
      </p:sp>
      <p:graphicFrame>
        <p:nvGraphicFramePr>
          <p:cNvPr id="6" name="Content Placeholder 5">
            <a:extLst>
              <a:ext uri="{FF2B5EF4-FFF2-40B4-BE49-F238E27FC236}">
                <a16:creationId xmlns:a16="http://schemas.microsoft.com/office/drawing/2014/main" id="{BBD07E6E-E418-3517-A90D-C92E91D30B1C}"/>
              </a:ext>
            </a:extLst>
          </p:cNvPr>
          <p:cNvGraphicFramePr>
            <a:graphicFrameLocks noGrp="1"/>
          </p:cNvGraphicFramePr>
          <p:nvPr>
            <p:ph idx="1"/>
            <p:extLst>
              <p:ext uri="{D42A27DB-BD31-4B8C-83A1-F6EECF244321}">
                <p14:modId xmlns:p14="http://schemas.microsoft.com/office/powerpoint/2010/main" val="2126837693"/>
              </p:ext>
            </p:extLst>
          </p:nvPr>
        </p:nvGraphicFramePr>
        <p:xfrm>
          <a:off x="838200" y="1698625"/>
          <a:ext cx="10664685" cy="4759131"/>
        </p:xfrm>
        <a:graphic>
          <a:graphicData uri="http://schemas.openxmlformats.org/drawingml/2006/table">
            <a:tbl>
              <a:tblPr/>
              <a:tblGrid>
                <a:gridCol w="1666461">
                  <a:extLst>
                    <a:ext uri="{9D8B030D-6E8A-4147-A177-3AD203B41FA5}">
                      <a16:colId xmlns:a16="http://schemas.microsoft.com/office/drawing/2014/main" val="660898919"/>
                    </a:ext>
                  </a:extLst>
                </a:gridCol>
                <a:gridCol w="1550504">
                  <a:extLst>
                    <a:ext uri="{9D8B030D-6E8A-4147-A177-3AD203B41FA5}">
                      <a16:colId xmlns:a16="http://schemas.microsoft.com/office/drawing/2014/main" val="2744289790"/>
                    </a:ext>
                  </a:extLst>
                </a:gridCol>
                <a:gridCol w="1895061">
                  <a:extLst>
                    <a:ext uri="{9D8B030D-6E8A-4147-A177-3AD203B41FA5}">
                      <a16:colId xmlns:a16="http://schemas.microsoft.com/office/drawing/2014/main" val="940724563"/>
                    </a:ext>
                  </a:extLst>
                </a:gridCol>
                <a:gridCol w="1881809">
                  <a:extLst>
                    <a:ext uri="{9D8B030D-6E8A-4147-A177-3AD203B41FA5}">
                      <a16:colId xmlns:a16="http://schemas.microsoft.com/office/drawing/2014/main" val="1417720243"/>
                    </a:ext>
                  </a:extLst>
                </a:gridCol>
                <a:gridCol w="3670850">
                  <a:extLst>
                    <a:ext uri="{9D8B030D-6E8A-4147-A177-3AD203B41FA5}">
                      <a16:colId xmlns:a16="http://schemas.microsoft.com/office/drawing/2014/main" val="1725257653"/>
                    </a:ext>
                  </a:extLst>
                </a:gridCol>
              </a:tblGrid>
              <a:tr h="630629">
                <a:tc>
                  <a:txBody>
                    <a:bodyPr/>
                    <a:lstStyle/>
                    <a:p>
                      <a:pPr algn="ctr">
                        <a:buNone/>
                      </a:pPr>
                      <a:r>
                        <a:rPr lang="en-US" sz="1600" b="1" noProof="1">
                          <a:latin typeface="Arial" panose="020B0604020202020204" pitchFamily="34" charset="0"/>
                          <a:cs typeface="Arial" panose="020B0604020202020204" pitchFamily="34" charset="0"/>
                        </a:rPr>
                        <a:t>Nama</a:t>
                      </a:r>
                      <a:endParaRPr lang="en-US" sz="1600" noProof="1">
                        <a:latin typeface="Arial" panose="020B0604020202020204" pitchFamily="34" charset="0"/>
                        <a:cs typeface="Arial" panose="020B0604020202020204" pitchFamily="34" charset="0"/>
                      </a:endParaRPr>
                    </a:p>
                  </a:txBody>
                  <a:tcPr marL="63063" marR="63063" marT="31531" marB="315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noProof="1">
                          <a:latin typeface="Arial" panose="020B0604020202020204" pitchFamily="34" charset="0"/>
                          <a:cs typeface="Arial" panose="020B0604020202020204" pitchFamily="34" charset="0"/>
                        </a:rPr>
                        <a:t>Tingkat Kepentingan</a:t>
                      </a:r>
                      <a:br>
                        <a:rPr lang="en-US" sz="1600" b="1" noProof="1">
                          <a:latin typeface="Arial" panose="020B0604020202020204" pitchFamily="34" charset="0"/>
                          <a:cs typeface="Arial" panose="020B0604020202020204" pitchFamily="34" charset="0"/>
                        </a:rPr>
                      </a:br>
                      <a:r>
                        <a:rPr lang="en-US" sz="1600" b="1" noProof="1">
                          <a:latin typeface="Arial" panose="020B0604020202020204" pitchFamily="34" charset="0"/>
                          <a:cs typeface="Arial" panose="020B0604020202020204" pitchFamily="34" charset="0"/>
                        </a:rPr>
                        <a:t>(Level of Interest)</a:t>
                      </a:r>
                      <a:endParaRPr lang="en-US" sz="1600" noProof="1">
                        <a:latin typeface="Arial" panose="020B0604020202020204" pitchFamily="34" charset="0"/>
                        <a:cs typeface="Arial" panose="020B0604020202020204" pitchFamily="34" charset="0"/>
                      </a:endParaRPr>
                    </a:p>
                  </a:txBody>
                  <a:tcPr marL="63063" marR="63063" marT="31531" marB="315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noProof="1">
                          <a:latin typeface="Arial" panose="020B0604020202020204" pitchFamily="34" charset="0"/>
                          <a:cs typeface="Arial" panose="020B0604020202020204" pitchFamily="34" charset="0"/>
                        </a:rPr>
                        <a:t>Tingkat Pengaruh</a:t>
                      </a:r>
                      <a:br>
                        <a:rPr lang="en-US" sz="1600" b="1" noProof="1">
                          <a:latin typeface="Arial" panose="020B0604020202020204" pitchFamily="34" charset="0"/>
                          <a:cs typeface="Arial" panose="020B0604020202020204" pitchFamily="34" charset="0"/>
                        </a:rPr>
                      </a:br>
                      <a:r>
                        <a:rPr lang="en-US" sz="1600" b="1" noProof="1">
                          <a:latin typeface="Arial" panose="020B0604020202020204" pitchFamily="34" charset="0"/>
                          <a:cs typeface="Arial" panose="020B0604020202020204" pitchFamily="34" charset="0"/>
                        </a:rPr>
                        <a:t>(Level of Influence)</a:t>
                      </a:r>
                      <a:endParaRPr lang="en-US" sz="1600" noProof="1">
                        <a:latin typeface="Arial" panose="020B0604020202020204" pitchFamily="34" charset="0"/>
                        <a:cs typeface="Arial" panose="020B0604020202020204" pitchFamily="34" charset="0"/>
                      </a:endParaRPr>
                    </a:p>
                  </a:txBody>
                  <a:tcPr marL="63063" marR="63063" marT="31531" marB="315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noProof="1">
                          <a:latin typeface="Arial" panose="020B0604020202020204" pitchFamily="34" charset="0"/>
                          <a:cs typeface="Arial" panose="020B0604020202020204" pitchFamily="34" charset="0"/>
                        </a:rPr>
                        <a:t>Kategori Stakeholder</a:t>
                      </a:r>
                      <a:endParaRPr lang="en-US" sz="1600" noProof="1">
                        <a:latin typeface="Arial" panose="020B0604020202020204" pitchFamily="34" charset="0"/>
                        <a:cs typeface="Arial" panose="020B0604020202020204" pitchFamily="34" charset="0"/>
                      </a:endParaRPr>
                    </a:p>
                  </a:txBody>
                  <a:tcPr marL="63063" marR="63063" marT="31531" marB="315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noProof="1">
                          <a:latin typeface="Arial" panose="020B0604020202020204" pitchFamily="34" charset="0"/>
                          <a:cs typeface="Arial" panose="020B0604020202020204" pitchFamily="34" charset="0"/>
                        </a:rPr>
                        <a:t>Strategi Manajemen Potensial</a:t>
                      </a:r>
                      <a:endParaRPr lang="en-US" sz="1600" noProof="1">
                        <a:latin typeface="Arial" panose="020B0604020202020204" pitchFamily="34" charset="0"/>
                        <a:cs typeface="Arial" panose="020B0604020202020204" pitchFamily="34" charset="0"/>
                      </a:endParaRPr>
                    </a:p>
                  </a:txBody>
                  <a:tcPr marL="63063" marR="63063" marT="31531" marB="315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9079019"/>
                  </a:ext>
                </a:extLst>
              </a:tr>
              <a:tr h="819817">
                <a:tc>
                  <a:txBody>
                    <a:bodyPr/>
                    <a:lstStyle/>
                    <a:p>
                      <a:pPr>
                        <a:buNone/>
                      </a:pPr>
                      <a:r>
                        <a:rPr lang="en-US" sz="1600" noProof="1">
                          <a:latin typeface="Arial" panose="020B0604020202020204" pitchFamily="34" charset="0"/>
                          <a:cs typeface="Arial" panose="020B0604020202020204" pitchFamily="34" charset="0"/>
                        </a:rPr>
                        <a:t>Joe Fleming</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Tinggi</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Tinggi</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600" b="0" i="0" u="none" strike="noStrike" noProof="1">
                          <a:solidFill>
                            <a:srgbClr val="000000"/>
                          </a:solidFill>
                          <a:effectLst/>
                          <a:latin typeface="Calibri" panose="020F0502020204030204" pitchFamily="34" charset="0"/>
                        </a:rPr>
                        <a:t>Key Player</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Kelola secara intensif dan libatkan dalam pengambilan keputusan</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7464262"/>
                  </a:ext>
                </a:extLst>
              </a:tr>
              <a:tr h="819817">
                <a:tc>
                  <a:txBody>
                    <a:bodyPr/>
                    <a:lstStyle/>
                    <a:p>
                      <a:pPr>
                        <a:buNone/>
                      </a:pPr>
                      <a:r>
                        <a:rPr lang="en-US" sz="1600" noProof="1">
                          <a:latin typeface="Arial" panose="020B0604020202020204" pitchFamily="34" charset="0"/>
                          <a:cs typeface="Arial" panose="020B0604020202020204" pitchFamily="34" charset="0"/>
                        </a:rPr>
                        <a:t>Erica Bell</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Tinggi</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Tinggi</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600" b="0" i="0" u="none" strike="noStrike" noProof="1">
                          <a:solidFill>
                            <a:srgbClr val="000000"/>
                          </a:solidFill>
                          <a:effectLst/>
                          <a:latin typeface="Calibri" panose="020F0502020204030204" pitchFamily="34" charset="0"/>
                        </a:rPr>
                        <a:t>Key Player</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Libatkan secara rutin dan berikan peran kepemimpinan</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5410312"/>
                  </a:ext>
                </a:extLst>
              </a:tr>
              <a:tr h="630629">
                <a:tc>
                  <a:txBody>
                    <a:bodyPr/>
                    <a:lstStyle/>
                    <a:p>
                      <a:pPr>
                        <a:buNone/>
                      </a:pPr>
                      <a:r>
                        <a:rPr lang="en-US" sz="1600" noProof="1">
                          <a:latin typeface="Arial" panose="020B0604020202020204" pitchFamily="34" charset="0"/>
                          <a:cs typeface="Arial" panose="020B0604020202020204" pitchFamily="34" charset="0"/>
                        </a:rPr>
                        <a:t>Michael Chen</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Sedang</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Sedang</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600" b="0" i="0" u="none" strike="noStrike" noProof="1">
                          <a:solidFill>
                            <a:srgbClr val="000000"/>
                          </a:solidFill>
                          <a:effectLst/>
                          <a:latin typeface="Calibri" panose="020F0502020204030204" pitchFamily="34" charset="0"/>
                        </a:rPr>
                        <a:t>Keep Informed</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Berikan pembaruan dan minta umpan balik secara berkala</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7323944"/>
                  </a:ext>
                </a:extLst>
              </a:tr>
              <a:tr h="819817">
                <a:tc>
                  <a:txBody>
                    <a:bodyPr/>
                    <a:lstStyle/>
                    <a:p>
                      <a:pPr>
                        <a:buNone/>
                      </a:pPr>
                      <a:r>
                        <a:rPr lang="en-US" sz="1600" noProof="1">
                          <a:latin typeface="Arial" panose="020B0604020202020204" pitchFamily="34" charset="0"/>
                          <a:cs typeface="Arial" panose="020B0604020202020204" pitchFamily="34" charset="0"/>
                        </a:rPr>
                        <a:t>Kim Phuong</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Tinggi</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Sedang</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600" b="0" i="0" u="none" strike="noStrike" noProof="1">
                          <a:solidFill>
                            <a:srgbClr val="000000"/>
                          </a:solidFill>
                          <a:effectLst/>
                          <a:latin typeface="Calibri" panose="020F0502020204030204" pitchFamily="34" charset="0"/>
                        </a:rPr>
                        <a:t>Keep Informed</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Beri pembaruan rutin dan libatkan dalam diskusi kebutuhan pengguna</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4730610"/>
                  </a:ext>
                </a:extLst>
              </a:tr>
              <a:tr h="630629">
                <a:tc>
                  <a:txBody>
                    <a:bodyPr/>
                    <a:lstStyle/>
                    <a:p>
                      <a:pPr>
                        <a:buNone/>
                      </a:pPr>
                      <a:r>
                        <a:rPr lang="en-US" sz="1600" noProof="1">
                          <a:latin typeface="Arial" panose="020B0604020202020204" pitchFamily="34" charset="0"/>
                          <a:cs typeface="Arial" panose="020B0604020202020204" pitchFamily="34" charset="0"/>
                        </a:rPr>
                        <a:t>Louise Mills</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Sedang</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Rendah</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600" b="0" i="0" u="none" strike="noStrike" noProof="1">
                          <a:solidFill>
                            <a:srgbClr val="000000"/>
                          </a:solidFill>
                          <a:effectLst/>
                          <a:latin typeface="Calibri" panose="020F0502020204030204" pitchFamily="34" charset="0"/>
                        </a:rPr>
                        <a:t>Minimal Effort</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Pantau dan beri informasi seperlunya</a:t>
                      </a:r>
                    </a:p>
                  </a:txBody>
                  <a:tcPr marL="63063" marR="63063" marT="31531" marB="315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8815573"/>
                  </a:ext>
                </a:extLst>
              </a:tr>
            </a:tbl>
          </a:graphicData>
        </a:graphic>
      </p:graphicFrame>
    </p:spTree>
    <p:extLst>
      <p:ext uri="{BB962C8B-B14F-4D97-AF65-F5344CB8AC3E}">
        <p14:creationId xmlns:p14="http://schemas.microsoft.com/office/powerpoint/2010/main" val="22535293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D5DE0-1829-318F-50D9-C54B56756F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74AF13-79DB-226B-C1AC-FDA4C4373FB7}"/>
              </a:ext>
            </a:extLst>
          </p:cNvPr>
          <p:cNvSpPr>
            <a:spLocks noGrp="1"/>
          </p:cNvSpPr>
          <p:nvPr>
            <p:ph type="title"/>
          </p:nvPr>
        </p:nvSpPr>
        <p:spPr/>
        <p:txBody>
          <a:bodyPr>
            <a:normAutofit/>
          </a:bodyPr>
          <a:lstStyle/>
          <a:p>
            <a:pPr algn="ctr"/>
            <a:r>
              <a:rPr lang="en-US" sz="4000" noProof="1"/>
              <a:t>Project Communications Management</a:t>
            </a:r>
            <a:br>
              <a:rPr lang="en-US" sz="4000" noProof="1"/>
            </a:br>
            <a:r>
              <a:rPr lang="en-US" sz="3200" noProof="1"/>
              <a:t>Contoh: Stakeholder Management Strategy (2)</a:t>
            </a:r>
          </a:p>
        </p:txBody>
      </p:sp>
      <p:sp>
        <p:nvSpPr>
          <p:cNvPr id="4" name="Content Placeholder 3">
            <a:extLst>
              <a:ext uri="{FF2B5EF4-FFF2-40B4-BE49-F238E27FC236}">
                <a16:creationId xmlns:a16="http://schemas.microsoft.com/office/drawing/2014/main" id="{495EE037-7316-E43A-AD1D-003C6D3E900C}"/>
              </a:ext>
            </a:extLst>
          </p:cNvPr>
          <p:cNvSpPr>
            <a:spLocks noGrp="1"/>
          </p:cNvSpPr>
          <p:nvPr>
            <p:ph idx="1"/>
          </p:nvPr>
        </p:nvSpPr>
        <p:spPr/>
        <p:txBody>
          <a:bodyPr>
            <a:normAutofit/>
          </a:bodyPr>
          <a:lstStyle/>
          <a:p>
            <a:pPr>
              <a:lnSpc>
                <a:spcPct val="100000"/>
              </a:lnSpc>
            </a:pPr>
            <a:r>
              <a:rPr lang="en-US" sz="2000" b="1" noProof="1">
                <a:latin typeface="Arial" panose="020B0604020202020204" pitchFamily="34" charset="0"/>
                <a:cs typeface="Arial" panose="020B0604020202020204" pitchFamily="34" charset="0"/>
              </a:rPr>
              <a:t>Fungsi utama Strategi manajemen pemangku kepentingan (Stakeholder Management Strategy)</a:t>
            </a:r>
            <a:r>
              <a:rPr lang="en-US" sz="2000" noProof="1">
                <a:latin typeface="Arial" panose="020B0604020202020204" pitchFamily="34" charset="0"/>
                <a:cs typeface="Arial" panose="020B0604020202020204" pitchFamily="34" charset="0"/>
              </a:rPr>
              <a:t> dalam proyek adalah:</a:t>
            </a:r>
          </a:p>
          <a:p>
            <a:pPr lvl="1">
              <a:lnSpc>
                <a:spcPct val="100000"/>
              </a:lnSpc>
            </a:pPr>
            <a:r>
              <a:rPr lang="en-US" sz="2000" b="1" noProof="1">
                <a:latin typeface="Arial" panose="020B0604020202020204" pitchFamily="34" charset="0"/>
                <a:cs typeface="Arial" panose="020B0604020202020204" pitchFamily="34" charset="0"/>
              </a:rPr>
              <a:t>Mengelompokkan stakeholder</a:t>
            </a:r>
            <a:r>
              <a:rPr lang="en-US" sz="2000" noProof="1">
                <a:latin typeface="Arial" panose="020B0604020202020204" pitchFamily="34" charset="0"/>
                <a:cs typeface="Arial" panose="020B0604020202020204" pitchFamily="34" charset="0"/>
              </a:rPr>
              <a:t> berdasarkan tingkat kepentingan dan pengaruh mereka terhadap proyek.</a:t>
            </a:r>
          </a:p>
          <a:p>
            <a:pPr lvl="1">
              <a:lnSpc>
                <a:spcPct val="100000"/>
              </a:lnSpc>
            </a:pPr>
            <a:r>
              <a:rPr lang="en-US" sz="2000" b="1" noProof="1">
                <a:latin typeface="Arial" panose="020B0604020202020204" pitchFamily="34" charset="0"/>
                <a:cs typeface="Arial" panose="020B0604020202020204" pitchFamily="34" charset="0"/>
              </a:rPr>
              <a:t>Menentukan kategori stakeholder</a:t>
            </a:r>
            <a:r>
              <a:rPr lang="en-US" sz="2000" noProof="1">
                <a:latin typeface="Arial" panose="020B0604020202020204" pitchFamily="34" charset="0"/>
                <a:cs typeface="Arial" panose="020B0604020202020204" pitchFamily="34" charset="0"/>
              </a:rPr>
              <a:t> seperti </a:t>
            </a:r>
            <a:r>
              <a:rPr lang="en-US" sz="2000" i="1" noProof="1">
                <a:latin typeface="Arial" panose="020B0604020202020204" pitchFamily="34" charset="0"/>
                <a:cs typeface="Arial" panose="020B0604020202020204" pitchFamily="34" charset="0"/>
              </a:rPr>
              <a:t>Key Player</a:t>
            </a:r>
            <a:r>
              <a:rPr lang="en-US" sz="2000" noProof="1">
                <a:latin typeface="Arial" panose="020B0604020202020204" pitchFamily="34" charset="0"/>
                <a:cs typeface="Arial" panose="020B0604020202020204" pitchFamily="34" charset="0"/>
              </a:rPr>
              <a:t>, </a:t>
            </a:r>
            <a:r>
              <a:rPr lang="en-US" sz="2000" i="1" noProof="1">
                <a:latin typeface="Arial" panose="020B0604020202020204" pitchFamily="34" charset="0"/>
                <a:cs typeface="Arial" panose="020B0604020202020204" pitchFamily="34" charset="0"/>
              </a:rPr>
              <a:t>Keep Satisfied</a:t>
            </a:r>
            <a:r>
              <a:rPr lang="en-US" sz="2000" noProof="1">
                <a:latin typeface="Arial" panose="020B0604020202020204" pitchFamily="34" charset="0"/>
                <a:cs typeface="Arial" panose="020B0604020202020204" pitchFamily="34" charset="0"/>
              </a:rPr>
              <a:t>, </a:t>
            </a:r>
            <a:r>
              <a:rPr lang="en-US" sz="2000" i="1" noProof="1">
                <a:latin typeface="Arial" panose="020B0604020202020204" pitchFamily="34" charset="0"/>
                <a:cs typeface="Arial" panose="020B0604020202020204" pitchFamily="34" charset="0"/>
              </a:rPr>
              <a:t>Keep Informed</a:t>
            </a:r>
            <a:r>
              <a:rPr lang="en-US" sz="2000" noProof="1">
                <a:latin typeface="Arial" panose="020B0604020202020204" pitchFamily="34" charset="0"/>
                <a:cs typeface="Arial" panose="020B0604020202020204" pitchFamily="34" charset="0"/>
              </a:rPr>
              <a:t>, dan </a:t>
            </a:r>
            <a:r>
              <a:rPr lang="en-US" sz="2000" i="1" noProof="1">
                <a:latin typeface="Arial" panose="020B0604020202020204" pitchFamily="34" charset="0"/>
                <a:cs typeface="Arial" panose="020B0604020202020204" pitchFamily="34" charset="0"/>
              </a:rPr>
              <a:t>Minimal Effort</a:t>
            </a:r>
            <a:r>
              <a:rPr lang="en-US" sz="2000" noProof="1">
                <a:latin typeface="Arial" panose="020B0604020202020204" pitchFamily="34" charset="0"/>
                <a:cs typeface="Arial" panose="020B0604020202020204" pitchFamily="34" charset="0"/>
              </a:rPr>
              <a:t>.</a:t>
            </a:r>
          </a:p>
          <a:p>
            <a:pPr lvl="1">
              <a:lnSpc>
                <a:spcPct val="100000"/>
              </a:lnSpc>
            </a:pPr>
            <a:r>
              <a:rPr lang="en-US" sz="2000" b="1" noProof="1">
                <a:latin typeface="Arial" panose="020B0604020202020204" pitchFamily="34" charset="0"/>
                <a:cs typeface="Arial" panose="020B0604020202020204" pitchFamily="34" charset="0"/>
              </a:rPr>
              <a:t>Merumuskan strategi komunikasi dan keterlibatan</a:t>
            </a:r>
            <a:r>
              <a:rPr lang="en-US" sz="2000" noProof="1">
                <a:latin typeface="Arial" panose="020B0604020202020204" pitchFamily="34" charset="0"/>
                <a:cs typeface="Arial" panose="020B0604020202020204" pitchFamily="34" charset="0"/>
              </a:rPr>
              <a:t> yang sesuai untuk masing-masing stakeholder agar proyek berjalan efektif dan dukungan tetap terjaga.</a:t>
            </a:r>
          </a:p>
          <a:p>
            <a:pPr>
              <a:lnSpc>
                <a:spcPct val="100000"/>
              </a:lnSpc>
            </a:pPr>
            <a:r>
              <a:rPr lang="en-US" sz="2000" noProof="1">
                <a:latin typeface="Arial" panose="020B0604020202020204" pitchFamily="34" charset="0"/>
                <a:cs typeface="Arial" panose="020B0604020202020204" pitchFamily="34" charset="0"/>
              </a:rPr>
              <a:t>Sangat penting dalam tahap perencanaan proyek, khususnya untuk memastikan bahwa semua pihak yang terlibat dikelola dengan pendekatan yang tepat sesuai peran dan pengaruhnya.</a:t>
            </a:r>
          </a:p>
          <a:p>
            <a:pPr>
              <a:lnSpc>
                <a:spcPct val="100000"/>
              </a:lnSpc>
            </a:pPr>
            <a:endParaRPr lang="en-US" sz="2000" noProof="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31808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70A43-06F0-606D-549F-3DDE15D2C7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43A765-3020-FF8B-B3FA-6C0D815DB059}"/>
              </a:ext>
            </a:extLst>
          </p:cNvPr>
          <p:cNvSpPr>
            <a:spLocks noGrp="1"/>
          </p:cNvSpPr>
          <p:nvPr>
            <p:ph type="title"/>
          </p:nvPr>
        </p:nvSpPr>
        <p:spPr/>
        <p:txBody>
          <a:bodyPr>
            <a:normAutofit/>
          </a:bodyPr>
          <a:lstStyle/>
          <a:p>
            <a:pPr algn="ctr"/>
            <a:r>
              <a:rPr lang="en-US" sz="4000" noProof="1"/>
              <a:t>Project Communications Management</a:t>
            </a:r>
            <a:br>
              <a:rPr lang="en-US" sz="4000" noProof="1"/>
            </a:br>
            <a:r>
              <a:rPr lang="en-US" sz="3200" noProof="1"/>
              <a:t>Contoh: Stakeholder Management Strategy (3)</a:t>
            </a:r>
          </a:p>
        </p:txBody>
      </p:sp>
      <p:sp>
        <p:nvSpPr>
          <p:cNvPr id="4" name="Content Placeholder 3">
            <a:extLst>
              <a:ext uri="{FF2B5EF4-FFF2-40B4-BE49-F238E27FC236}">
                <a16:creationId xmlns:a16="http://schemas.microsoft.com/office/drawing/2014/main" id="{19B4B7F9-C25B-B915-9CEE-C0E9F4376629}"/>
              </a:ext>
            </a:extLst>
          </p:cNvPr>
          <p:cNvSpPr>
            <a:spLocks noGrp="1"/>
          </p:cNvSpPr>
          <p:nvPr>
            <p:ph idx="1"/>
          </p:nvPr>
        </p:nvSpPr>
        <p:spPr>
          <a:xfrm>
            <a:off x="838200" y="1825625"/>
            <a:ext cx="10515600" cy="438309"/>
          </a:xfrm>
        </p:spPr>
        <p:txBody>
          <a:bodyPr>
            <a:normAutofit/>
          </a:bodyPr>
          <a:lstStyle/>
          <a:p>
            <a:pPr>
              <a:lnSpc>
                <a:spcPct val="100000"/>
              </a:lnSpc>
            </a:pPr>
            <a:r>
              <a:rPr lang="en-US" sz="2000" noProof="1">
                <a:latin typeface="Arial" panose="020B0604020202020204" pitchFamily="34" charset="0"/>
                <a:cs typeface="Arial" panose="020B0604020202020204" pitchFamily="34" charset="0"/>
              </a:rPr>
              <a:t>Kategori Stakeholder dan Perbedaannya</a:t>
            </a:r>
          </a:p>
          <a:p>
            <a:pPr>
              <a:lnSpc>
                <a:spcPct val="100000"/>
              </a:lnSpc>
            </a:pPr>
            <a:endParaRPr lang="en-US" sz="2000" noProof="1">
              <a:latin typeface="Arial" panose="020B0604020202020204" pitchFamily="34" charset="0"/>
              <a:cs typeface="Arial" panose="020B0604020202020204" pitchFamily="34" charset="0"/>
            </a:endParaRPr>
          </a:p>
          <a:p>
            <a:pPr>
              <a:lnSpc>
                <a:spcPct val="100000"/>
              </a:lnSpc>
            </a:pPr>
            <a:endParaRPr lang="en-US" sz="2000" noProof="1">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FFADEA-3993-BA80-9C58-39E3C89B6EA8}"/>
              </a:ext>
            </a:extLst>
          </p:cNvPr>
          <p:cNvGraphicFramePr>
            <a:graphicFrameLocks noGrp="1"/>
          </p:cNvGraphicFramePr>
          <p:nvPr>
            <p:extLst>
              <p:ext uri="{D42A27DB-BD31-4B8C-83A1-F6EECF244321}">
                <p14:modId xmlns:p14="http://schemas.microsoft.com/office/powerpoint/2010/main" val="3830619338"/>
              </p:ext>
            </p:extLst>
          </p:nvPr>
        </p:nvGraphicFramePr>
        <p:xfrm>
          <a:off x="838200" y="2263934"/>
          <a:ext cx="10515600" cy="3200400"/>
        </p:xfrm>
        <a:graphic>
          <a:graphicData uri="http://schemas.openxmlformats.org/drawingml/2006/table">
            <a:tbl>
              <a:tblPr/>
              <a:tblGrid>
                <a:gridCol w="1930400">
                  <a:extLst>
                    <a:ext uri="{9D8B030D-6E8A-4147-A177-3AD203B41FA5}">
                      <a16:colId xmlns:a16="http://schemas.microsoft.com/office/drawing/2014/main" val="3606194762"/>
                    </a:ext>
                  </a:extLst>
                </a:gridCol>
                <a:gridCol w="5080000">
                  <a:extLst>
                    <a:ext uri="{9D8B030D-6E8A-4147-A177-3AD203B41FA5}">
                      <a16:colId xmlns:a16="http://schemas.microsoft.com/office/drawing/2014/main" val="2789327587"/>
                    </a:ext>
                  </a:extLst>
                </a:gridCol>
                <a:gridCol w="3505200">
                  <a:extLst>
                    <a:ext uri="{9D8B030D-6E8A-4147-A177-3AD203B41FA5}">
                      <a16:colId xmlns:a16="http://schemas.microsoft.com/office/drawing/2014/main" val="2060632517"/>
                    </a:ext>
                  </a:extLst>
                </a:gridCol>
              </a:tblGrid>
              <a:tr h="0">
                <a:tc>
                  <a:txBody>
                    <a:bodyPr/>
                    <a:lstStyle/>
                    <a:p>
                      <a:pPr>
                        <a:buNone/>
                      </a:pPr>
                      <a:r>
                        <a:rPr lang="en-US" b="1" noProof="1">
                          <a:latin typeface="Arial" panose="020B0604020202020204" pitchFamily="34" charset="0"/>
                          <a:cs typeface="Arial" panose="020B0604020202020204" pitchFamily="34" charset="0"/>
                        </a:rPr>
                        <a:t>Kategori</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Deskripsi</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Strategi Manajemen</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3276406"/>
                  </a:ext>
                </a:extLst>
              </a:tr>
              <a:tr h="0">
                <a:tc>
                  <a:txBody>
                    <a:bodyPr/>
                    <a:lstStyle/>
                    <a:p>
                      <a:pPr>
                        <a:buNone/>
                      </a:pPr>
                      <a:r>
                        <a:rPr lang="en-US" b="1" noProof="1">
                          <a:latin typeface="Arial" panose="020B0604020202020204" pitchFamily="34" charset="0"/>
                          <a:cs typeface="Arial" panose="020B0604020202020204" pitchFamily="34" charset="0"/>
                        </a:rPr>
                        <a:t>Key Player</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Stakeholder dengan </a:t>
                      </a:r>
                      <a:r>
                        <a:rPr lang="en-US" b="1" noProof="1">
                          <a:latin typeface="Arial" panose="020B0604020202020204" pitchFamily="34" charset="0"/>
                          <a:cs typeface="Arial" panose="020B0604020202020204" pitchFamily="34" charset="0"/>
                        </a:rPr>
                        <a:t>kepentingan tinggi</a:t>
                      </a:r>
                      <a:r>
                        <a:rPr lang="en-US" noProof="1">
                          <a:latin typeface="Arial" panose="020B0604020202020204" pitchFamily="34" charset="0"/>
                          <a:cs typeface="Arial" panose="020B0604020202020204" pitchFamily="34" charset="0"/>
                        </a:rPr>
                        <a:t> dan </a:t>
                      </a:r>
                      <a:r>
                        <a:rPr lang="en-US" b="1" noProof="1">
                          <a:latin typeface="Arial" panose="020B0604020202020204" pitchFamily="34" charset="0"/>
                          <a:cs typeface="Arial" panose="020B0604020202020204" pitchFamily="34" charset="0"/>
                        </a:rPr>
                        <a:t>pengaruh tinggi</a:t>
                      </a:r>
                      <a:r>
                        <a:rPr lang="en-US" noProof="1">
                          <a:latin typeface="Arial" panose="020B0604020202020204" pitchFamily="34" charset="0"/>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Libatkan secara aktif, konsultasikan keputusan penting.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4358946"/>
                  </a:ext>
                </a:extLst>
              </a:tr>
              <a:tr h="0">
                <a:tc>
                  <a:txBody>
                    <a:bodyPr/>
                    <a:lstStyle/>
                    <a:p>
                      <a:pPr>
                        <a:buNone/>
                      </a:pPr>
                      <a:r>
                        <a:rPr lang="en-US" b="1" noProof="1">
                          <a:latin typeface="Arial" panose="020B0604020202020204" pitchFamily="34" charset="0"/>
                          <a:cs typeface="Arial" panose="020B0604020202020204" pitchFamily="34" charset="0"/>
                        </a:rPr>
                        <a:t>Keep Satisfied</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Stakeholder dengan </a:t>
                      </a:r>
                      <a:r>
                        <a:rPr lang="en-US" b="1" noProof="1">
                          <a:latin typeface="Arial" panose="020B0604020202020204" pitchFamily="34" charset="0"/>
                          <a:cs typeface="Arial" panose="020B0604020202020204" pitchFamily="34" charset="0"/>
                        </a:rPr>
                        <a:t>pengaruh tinggi</a:t>
                      </a:r>
                      <a:r>
                        <a:rPr lang="en-US" noProof="1">
                          <a:latin typeface="Arial" panose="020B0604020202020204" pitchFamily="34" charset="0"/>
                          <a:cs typeface="Arial" panose="020B0604020202020204" pitchFamily="34" charset="0"/>
                        </a:rPr>
                        <a:t> tapi </a:t>
                      </a:r>
                      <a:r>
                        <a:rPr lang="en-US" b="1" noProof="1">
                          <a:latin typeface="Arial" panose="020B0604020202020204" pitchFamily="34" charset="0"/>
                          <a:cs typeface="Arial" panose="020B0604020202020204" pitchFamily="34" charset="0"/>
                        </a:rPr>
                        <a:t>kepentingan rendah/sedang</a:t>
                      </a:r>
                      <a:r>
                        <a:rPr lang="en-US" noProof="1">
                          <a:latin typeface="Arial" panose="020B0604020202020204" pitchFamily="34" charset="0"/>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Jaga hubungan baik, beri informasi strategis.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3443603"/>
                  </a:ext>
                </a:extLst>
              </a:tr>
              <a:tr h="0">
                <a:tc>
                  <a:txBody>
                    <a:bodyPr/>
                    <a:lstStyle/>
                    <a:p>
                      <a:pPr>
                        <a:buNone/>
                      </a:pPr>
                      <a:r>
                        <a:rPr lang="en-US" b="1" noProof="1">
                          <a:latin typeface="Arial" panose="020B0604020202020204" pitchFamily="34" charset="0"/>
                          <a:cs typeface="Arial" panose="020B0604020202020204" pitchFamily="34" charset="0"/>
                        </a:rPr>
                        <a:t>Keep Informed</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Stakeholder dengan </a:t>
                      </a:r>
                      <a:r>
                        <a:rPr lang="en-US" b="1" noProof="1">
                          <a:latin typeface="Arial" panose="020B0604020202020204" pitchFamily="34" charset="0"/>
                          <a:cs typeface="Arial" panose="020B0604020202020204" pitchFamily="34" charset="0"/>
                        </a:rPr>
                        <a:t>kepentingan tinggi</a:t>
                      </a:r>
                      <a:r>
                        <a:rPr lang="en-US" noProof="1">
                          <a:latin typeface="Arial" panose="020B0604020202020204" pitchFamily="34" charset="0"/>
                          <a:cs typeface="Arial" panose="020B0604020202020204" pitchFamily="34" charset="0"/>
                        </a:rPr>
                        <a:t> tapi </a:t>
                      </a:r>
                      <a:r>
                        <a:rPr lang="en-US" b="1" noProof="1">
                          <a:latin typeface="Arial" panose="020B0604020202020204" pitchFamily="34" charset="0"/>
                          <a:cs typeface="Arial" panose="020B0604020202020204" pitchFamily="34" charset="0"/>
                        </a:rPr>
                        <a:t>pengaruh rendah/sedang</a:t>
                      </a:r>
                      <a:r>
                        <a:rPr lang="en-US" noProof="1">
                          <a:latin typeface="Arial" panose="020B0604020202020204" pitchFamily="34" charset="0"/>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Beri pembaruan rutin, libatkan dalam diskusi terbatas.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7342830"/>
                  </a:ext>
                </a:extLst>
              </a:tr>
              <a:tr h="0">
                <a:tc>
                  <a:txBody>
                    <a:bodyPr/>
                    <a:lstStyle/>
                    <a:p>
                      <a:pPr>
                        <a:buNone/>
                      </a:pPr>
                      <a:r>
                        <a:rPr lang="en-US" b="1" noProof="1">
                          <a:latin typeface="Arial" panose="020B0604020202020204" pitchFamily="34" charset="0"/>
                          <a:cs typeface="Arial" panose="020B0604020202020204" pitchFamily="34" charset="0"/>
                        </a:rPr>
                        <a:t>Minimal Effort</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Stakeholder dengan </a:t>
                      </a:r>
                      <a:r>
                        <a:rPr lang="en-US" b="1" noProof="1">
                          <a:latin typeface="Arial" panose="020B0604020202020204" pitchFamily="34" charset="0"/>
                          <a:cs typeface="Arial" panose="020B0604020202020204" pitchFamily="34" charset="0"/>
                        </a:rPr>
                        <a:t>kepentingan dan pengaruh rendah</a:t>
                      </a:r>
                      <a:r>
                        <a:rPr lang="en-US" noProof="1">
                          <a:latin typeface="Arial" panose="020B0604020202020204" pitchFamily="34" charset="0"/>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Pantau seperlunya, beri informasi umum.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1358406"/>
                  </a:ext>
                </a:extLst>
              </a:tr>
            </a:tbl>
          </a:graphicData>
        </a:graphic>
      </p:graphicFrame>
      <p:sp>
        <p:nvSpPr>
          <p:cNvPr id="6" name="TextBox 5">
            <a:extLst>
              <a:ext uri="{FF2B5EF4-FFF2-40B4-BE49-F238E27FC236}">
                <a16:creationId xmlns:a16="http://schemas.microsoft.com/office/drawing/2014/main" id="{3A1E93D0-FF5F-CFA9-8D1A-4FB30A5C1F27}"/>
              </a:ext>
            </a:extLst>
          </p:cNvPr>
          <p:cNvSpPr txBox="1"/>
          <p:nvPr/>
        </p:nvSpPr>
        <p:spPr>
          <a:xfrm>
            <a:off x="711200" y="5569545"/>
            <a:ext cx="10642600" cy="646331"/>
          </a:xfrm>
          <a:prstGeom prst="rect">
            <a:avLst/>
          </a:prstGeom>
          <a:noFill/>
        </p:spPr>
        <p:txBody>
          <a:bodyPr wrap="square">
            <a:spAutoFit/>
          </a:bodyPr>
          <a:lstStyle/>
          <a:p>
            <a:r>
              <a:rPr lang="en-US" noProof="1">
                <a:latin typeface="Arial" panose="020B0604020202020204" pitchFamily="34" charset="0"/>
                <a:cs typeface="Arial" panose="020B0604020202020204" pitchFamily="34" charset="0"/>
              </a:rPr>
              <a:t>Kategori ini membantu tim proyek menentukan </a:t>
            </a:r>
            <a:r>
              <a:rPr lang="en-US" b="1" noProof="1">
                <a:latin typeface="Arial" panose="020B0604020202020204" pitchFamily="34" charset="0"/>
                <a:cs typeface="Arial" panose="020B0604020202020204" pitchFamily="34" charset="0"/>
              </a:rPr>
              <a:t>cara berkomunikasi dan melibatkan stakeholder secara efektif</a:t>
            </a:r>
            <a:r>
              <a:rPr lang="en-US" noProof="1">
                <a:latin typeface="Arial" panose="020B0604020202020204" pitchFamily="34" charset="0"/>
                <a:cs typeface="Arial" panose="020B0604020202020204" pitchFamily="34" charset="0"/>
              </a:rPr>
              <a:t>, agar proyek berjalan lancar dan dukungan tetap terjaga.</a:t>
            </a:r>
          </a:p>
        </p:txBody>
      </p:sp>
    </p:spTree>
    <p:extLst>
      <p:ext uri="{BB962C8B-B14F-4D97-AF65-F5344CB8AC3E}">
        <p14:creationId xmlns:p14="http://schemas.microsoft.com/office/powerpoint/2010/main" val="6652431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AF5AB-CF05-A82F-5A80-420DF306755A}"/>
              </a:ext>
            </a:extLst>
          </p:cNvPr>
          <p:cNvSpPr>
            <a:spLocks noGrp="1"/>
          </p:cNvSpPr>
          <p:nvPr>
            <p:ph type="title"/>
          </p:nvPr>
        </p:nvSpPr>
        <p:spPr/>
        <p:txBody>
          <a:bodyPr/>
          <a:lstStyle/>
          <a:p>
            <a:pPr algn="ctr"/>
            <a:r>
              <a:rPr lang="en-US" noProof="1"/>
              <a:t>Project Integration Management</a:t>
            </a:r>
            <a:br>
              <a:rPr lang="en-US" noProof="1"/>
            </a:br>
            <a:r>
              <a:rPr lang="en-US" sz="3600" noProof="1"/>
              <a:t>Project Charters and Kick-off Meetings</a:t>
            </a:r>
          </a:p>
        </p:txBody>
      </p:sp>
      <p:sp>
        <p:nvSpPr>
          <p:cNvPr id="3" name="Content Placeholder 2">
            <a:extLst>
              <a:ext uri="{FF2B5EF4-FFF2-40B4-BE49-F238E27FC236}">
                <a16:creationId xmlns:a16="http://schemas.microsoft.com/office/drawing/2014/main" id="{E89D2A52-BF05-AC3D-8214-5CD25DC6C36F}"/>
              </a:ext>
            </a:extLst>
          </p:cNvPr>
          <p:cNvSpPr>
            <a:spLocks noGrp="1"/>
          </p:cNvSpPr>
          <p:nvPr>
            <p:ph idx="1"/>
          </p:nvPr>
        </p:nvSpPr>
        <p:spPr/>
        <p:txBody>
          <a:bodyPr>
            <a:normAutofit lnSpcReduction="10000"/>
          </a:bodyPr>
          <a:lstStyle/>
          <a:p>
            <a:pPr marL="457200" indent="-457200">
              <a:buFont typeface="+mj-lt"/>
              <a:buAutoNum type="arabicPeriod"/>
            </a:pPr>
            <a:r>
              <a:rPr lang="en-US" sz="2000" b="1" noProof="1">
                <a:latin typeface="Arial" panose="020B0604020202020204" pitchFamily="34" charset="0"/>
                <a:cs typeface="Arial" panose="020B0604020202020204" pitchFamily="34" charset="0"/>
              </a:rPr>
              <a:t>Project Charter</a:t>
            </a:r>
          </a:p>
          <a:p>
            <a:pPr lvl="1"/>
            <a:r>
              <a:rPr lang="en-US" sz="2000" noProof="1">
                <a:latin typeface="Arial" panose="020B0604020202020204" pitchFamily="34" charset="0"/>
                <a:cs typeface="Arial" panose="020B0604020202020204" pitchFamily="34" charset="0"/>
              </a:rPr>
              <a:t>Merupakan dokumen formal yang menginisiasi proyek.</a:t>
            </a:r>
          </a:p>
          <a:p>
            <a:pPr lvl="1"/>
            <a:r>
              <a:rPr lang="en-US" sz="2000" noProof="1">
                <a:latin typeface="Arial" panose="020B0604020202020204" pitchFamily="34" charset="0"/>
                <a:cs typeface="Arial" panose="020B0604020202020204" pitchFamily="34" charset="0"/>
              </a:rPr>
              <a:t>Memberikan otoritas kepada manajer proyek untuk menggunakan sumber daya organisasi.</a:t>
            </a:r>
          </a:p>
          <a:p>
            <a:pPr lvl="1"/>
            <a:r>
              <a:rPr lang="en-US" sz="2000" noProof="1">
                <a:latin typeface="Arial" panose="020B0604020202020204" pitchFamily="34" charset="0"/>
                <a:cs typeface="Arial" panose="020B0604020202020204" pitchFamily="34" charset="0"/>
              </a:rPr>
              <a:t>Umumnya singkat dan mencakup:  (1) Tujuan proyek (2) Ruang lingkup awal (3) Stakeholder utama (4) Manajer proyek yang ditunjuk (5) Tanda tangan sponsor proyek</a:t>
            </a:r>
          </a:p>
          <a:p>
            <a:pPr lvl="1"/>
            <a:r>
              <a:rPr lang="en-US" sz="2000" noProof="1">
                <a:latin typeface="Arial" panose="020B0604020202020204" pitchFamily="34" charset="0"/>
                <a:cs typeface="Arial" panose="020B0604020202020204" pitchFamily="34" charset="0"/>
              </a:rPr>
              <a:t>Lihat Tabel 3-6 untuk contoh project charter.</a:t>
            </a:r>
          </a:p>
          <a:p>
            <a:pPr marL="457200" indent="-457200">
              <a:buFont typeface="+mj-lt"/>
              <a:buAutoNum type="arabicPeriod" startAt="2"/>
            </a:pPr>
            <a:r>
              <a:rPr lang="en-US" sz="2000" b="1" noProof="1">
                <a:latin typeface="Arial" panose="020B0604020202020204" pitchFamily="34" charset="0"/>
                <a:cs typeface="Arial" panose="020B0604020202020204" pitchFamily="34" charset="0"/>
              </a:rPr>
              <a:t>Kick-off Meeting</a:t>
            </a:r>
          </a:p>
          <a:p>
            <a:pPr lvl="1"/>
            <a:r>
              <a:rPr lang="en-US" sz="2000" noProof="1">
                <a:latin typeface="Arial" panose="020B0604020202020204" pitchFamily="34" charset="0"/>
                <a:cs typeface="Arial" panose="020B0604020202020204" pitchFamily="34" charset="0"/>
              </a:rPr>
              <a:t>Dilaksanakan di awal proyek sebagai praktik terbaik.</a:t>
            </a:r>
          </a:p>
          <a:p>
            <a:pPr lvl="1"/>
            <a:r>
              <a:rPr lang="en-US" sz="2000" noProof="1">
                <a:latin typeface="Arial" panose="020B0604020202020204" pitchFamily="34" charset="0"/>
                <a:cs typeface="Arial" panose="020B0604020202020204" pitchFamily="34" charset="0"/>
              </a:rPr>
              <a:t>Tujuan utama: (1) Memperkenalkan tim dan stakeholder (2) Menyelaraskan ekspektasi dan tujuan proyek (3) Meninjau rencana kerja awal (4) Membangun komitmen dan komunikasi awal</a:t>
            </a:r>
          </a:p>
          <a:p>
            <a:pPr lvl="1"/>
            <a:r>
              <a:rPr lang="en-US" sz="2000" noProof="1">
                <a:latin typeface="Arial" panose="020B0604020202020204" pitchFamily="34" charset="0"/>
                <a:cs typeface="Arial" panose="020B0604020202020204" pitchFamily="34" charset="0"/>
              </a:rPr>
              <a:t>Kick-off meeting membantu menciptakan pemahaman bersama dan memperkuat kolaborasi.</a:t>
            </a:r>
          </a:p>
        </p:txBody>
      </p:sp>
    </p:spTree>
    <p:extLst>
      <p:ext uri="{BB962C8B-B14F-4D97-AF65-F5344CB8AC3E}">
        <p14:creationId xmlns:p14="http://schemas.microsoft.com/office/powerpoint/2010/main" val="10691849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7A0D2FA-8D35-F10F-E7C8-147D35E5C5E8}"/>
              </a:ext>
            </a:extLst>
          </p:cNvPr>
          <p:cNvGraphicFramePr>
            <a:graphicFrameLocks noGrp="1"/>
          </p:cNvGraphicFramePr>
          <p:nvPr>
            <p:ph idx="1"/>
            <p:extLst>
              <p:ext uri="{D42A27DB-BD31-4B8C-83A1-F6EECF244321}">
                <p14:modId xmlns:p14="http://schemas.microsoft.com/office/powerpoint/2010/main" val="2370962761"/>
              </p:ext>
            </p:extLst>
          </p:nvPr>
        </p:nvGraphicFramePr>
        <p:xfrm>
          <a:off x="297180" y="262890"/>
          <a:ext cx="11635740" cy="6437762"/>
        </p:xfrm>
        <a:graphic>
          <a:graphicData uri="http://schemas.openxmlformats.org/drawingml/2006/table">
            <a:tbl>
              <a:tblPr/>
              <a:tblGrid>
                <a:gridCol w="1908810">
                  <a:extLst>
                    <a:ext uri="{9D8B030D-6E8A-4147-A177-3AD203B41FA5}">
                      <a16:colId xmlns:a16="http://schemas.microsoft.com/office/drawing/2014/main" val="3890050655"/>
                    </a:ext>
                  </a:extLst>
                </a:gridCol>
                <a:gridCol w="9726930">
                  <a:extLst>
                    <a:ext uri="{9D8B030D-6E8A-4147-A177-3AD203B41FA5}">
                      <a16:colId xmlns:a16="http://schemas.microsoft.com/office/drawing/2014/main" val="2520143203"/>
                    </a:ext>
                  </a:extLst>
                </a:gridCol>
              </a:tblGrid>
              <a:tr h="236895">
                <a:tc>
                  <a:txBody>
                    <a:bodyPr/>
                    <a:lstStyle/>
                    <a:p>
                      <a:pPr>
                        <a:buNone/>
                      </a:pPr>
                      <a:r>
                        <a:rPr lang="en-US" sz="1600" b="1" noProof="1">
                          <a:latin typeface="Arial" panose="020B0604020202020204" pitchFamily="34" charset="0"/>
                          <a:cs typeface="Arial" panose="020B0604020202020204" pitchFamily="34" charset="0"/>
                        </a:rPr>
                        <a:t>Project Title</a:t>
                      </a:r>
                      <a:endParaRPr lang="en-US" sz="1600" noProof="1">
                        <a:latin typeface="Arial" panose="020B0604020202020204" pitchFamily="34" charset="0"/>
                        <a:cs typeface="Arial" panose="020B0604020202020204" pitchFamily="34" charset="0"/>
                      </a:endParaRPr>
                    </a:p>
                  </a:txBody>
                  <a:tcPr marL="53389" marR="53389" marT="26694" marB="266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Project Management Intranet Site Project</a:t>
                      </a:r>
                      <a:endParaRPr lang="en-US" sz="1600" noProof="1">
                        <a:latin typeface="Arial" panose="020B0604020202020204" pitchFamily="34" charset="0"/>
                        <a:cs typeface="Arial" panose="020B0604020202020204" pitchFamily="34" charset="0"/>
                      </a:endParaRPr>
                    </a:p>
                  </a:txBody>
                  <a:tcPr marL="53389" marR="53389" marT="26694" marB="266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985026"/>
                  </a:ext>
                </a:extLst>
              </a:tr>
              <a:tr h="236895">
                <a:tc>
                  <a:txBody>
                    <a:bodyPr/>
                    <a:lstStyle/>
                    <a:p>
                      <a:pPr>
                        <a:buNone/>
                      </a:pPr>
                      <a:r>
                        <a:rPr lang="en-US" sz="1600" b="1" noProof="1">
                          <a:latin typeface="Arial" panose="020B0604020202020204" pitchFamily="34" charset="0"/>
                          <a:cs typeface="Arial" panose="020B0604020202020204" pitchFamily="34" charset="0"/>
                        </a:rPr>
                        <a:t>Project Start Date</a:t>
                      </a:r>
                      <a:endParaRPr lang="en-US" sz="1600" noProof="1">
                        <a:latin typeface="Arial" panose="020B0604020202020204" pitchFamily="34" charset="0"/>
                        <a:cs typeface="Arial" panose="020B0604020202020204" pitchFamily="34" charset="0"/>
                      </a:endParaRPr>
                    </a:p>
                  </a:txBody>
                  <a:tcPr marL="53389" marR="53389" marT="26694" marB="266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2 Mei</a:t>
                      </a:r>
                      <a:endParaRPr lang="en-US" sz="1600" noProof="1">
                        <a:latin typeface="Arial" panose="020B0604020202020204" pitchFamily="34" charset="0"/>
                        <a:cs typeface="Arial" panose="020B0604020202020204" pitchFamily="34" charset="0"/>
                      </a:endParaRPr>
                    </a:p>
                  </a:txBody>
                  <a:tcPr marL="53389" marR="53389" marT="26694" marB="266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9717022"/>
                  </a:ext>
                </a:extLst>
              </a:tr>
              <a:tr h="236895">
                <a:tc>
                  <a:txBody>
                    <a:bodyPr/>
                    <a:lstStyle/>
                    <a:p>
                      <a:pPr>
                        <a:buNone/>
                      </a:pPr>
                      <a:r>
                        <a:rPr lang="en-US" sz="1600" b="1" noProof="1">
                          <a:latin typeface="Arial" panose="020B0604020202020204" pitchFamily="34" charset="0"/>
                          <a:cs typeface="Arial" panose="020B0604020202020204" pitchFamily="34" charset="0"/>
                        </a:rPr>
                        <a:t>Projected Finish Date</a:t>
                      </a:r>
                      <a:endParaRPr lang="en-US" sz="1600" noProof="1">
                        <a:latin typeface="Arial" panose="020B0604020202020204" pitchFamily="34" charset="0"/>
                        <a:cs typeface="Arial" panose="020B0604020202020204" pitchFamily="34" charset="0"/>
                      </a:endParaRPr>
                    </a:p>
                  </a:txBody>
                  <a:tcPr marL="53389" marR="53389" marT="26694" marB="266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4 November</a:t>
                      </a:r>
                      <a:endParaRPr lang="en-US" sz="1600" noProof="1">
                        <a:latin typeface="Arial" panose="020B0604020202020204" pitchFamily="34" charset="0"/>
                        <a:cs typeface="Arial" panose="020B0604020202020204" pitchFamily="34" charset="0"/>
                      </a:endParaRPr>
                    </a:p>
                  </a:txBody>
                  <a:tcPr marL="53389" marR="53389" marT="26694" marB="266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1211520"/>
                  </a:ext>
                </a:extLst>
              </a:tr>
              <a:tr h="596245">
                <a:tc>
                  <a:txBody>
                    <a:bodyPr/>
                    <a:lstStyle/>
                    <a:p>
                      <a:pPr>
                        <a:buNone/>
                      </a:pPr>
                      <a:r>
                        <a:rPr lang="en-US" sz="1600" b="1" noProof="1">
                          <a:latin typeface="Arial" panose="020B0604020202020204" pitchFamily="34" charset="0"/>
                          <a:cs typeface="Arial" panose="020B0604020202020204" pitchFamily="34" charset="0"/>
                        </a:rPr>
                        <a:t>Budget Information</a:t>
                      </a:r>
                      <a:endParaRPr lang="en-US" sz="1600" noProof="1">
                        <a:latin typeface="Arial" panose="020B0604020202020204" pitchFamily="34" charset="0"/>
                        <a:cs typeface="Arial" panose="020B0604020202020204" pitchFamily="34" charset="0"/>
                      </a:endParaRPr>
                    </a:p>
                  </a:txBody>
                  <a:tcPr marL="53389" marR="53389" marT="26694" marB="266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Perusahaan mengalokasikan </a:t>
                      </a:r>
                      <a:r>
                        <a:rPr lang="en-US" sz="1600" b="1" noProof="1">
                          <a:latin typeface="Arial" panose="020B0604020202020204" pitchFamily="34" charset="0"/>
                          <a:cs typeface="Arial" panose="020B0604020202020204" pitchFamily="34" charset="0"/>
                        </a:rPr>
                        <a:t>$140.000</a:t>
                      </a:r>
                      <a:r>
                        <a:rPr lang="en-US" sz="1600" noProof="1">
                          <a:latin typeface="Arial" panose="020B0604020202020204" pitchFamily="34" charset="0"/>
                          <a:cs typeface="Arial" panose="020B0604020202020204" pitchFamily="34" charset="0"/>
                        </a:rPr>
                        <a:t> untuk proyek ini. </a:t>
                      </a:r>
                      <a:r>
                        <a:rPr lang="en-US" sz="1600" b="1" noProof="1">
                          <a:latin typeface="Arial" panose="020B0604020202020204" pitchFamily="34" charset="0"/>
                          <a:cs typeface="Arial" panose="020B0604020202020204" pitchFamily="34" charset="0"/>
                        </a:rPr>
                        <a:t>Mayoritas biaya</a:t>
                      </a:r>
                      <a:r>
                        <a:rPr lang="en-US" sz="1600" noProof="1">
                          <a:latin typeface="Arial" panose="020B0604020202020204" pitchFamily="34" charset="0"/>
                          <a:cs typeface="Arial" panose="020B0604020202020204" pitchFamily="34" charset="0"/>
                        </a:rPr>
                        <a:t> merupakan </a:t>
                      </a:r>
                      <a:r>
                        <a:rPr lang="en-US" sz="1600" b="1" noProof="1">
                          <a:latin typeface="Arial" panose="020B0604020202020204" pitchFamily="34" charset="0"/>
                          <a:cs typeface="Arial" panose="020B0604020202020204" pitchFamily="34" charset="0"/>
                        </a:rPr>
                        <a:t>tenaga kerja internal</a:t>
                      </a:r>
                      <a:r>
                        <a:rPr lang="en-US" sz="1600" noProof="1">
                          <a:latin typeface="Arial" panose="020B0604020202020204" pitchFamily="34" charset="0"/>
                          <a:cs typeface="Arial" panose="020B0604020202020204" pitchFamily="34" charset="0"/>
                        </a:rPr>
                        <a:t>. </a:t>
                      </a:r>
                      <a:r>
                        <a:rPr lang="en-US" sz="1600" b="1" noProof="1">
                          <a:latin typeface="Arial" panose="020B0604020202020204" pitchFamily="34" charset="0"/>
                          <a:cs typeface="Arial" panose="020B0604020202020204" pitchFamily="34" charset="0"/>
                        </a:rPr>
                        <a:t>Estimasi awal</a:t>
                      </a:r>
                      <a:r>
                        <a:rPr lang="en-US" sz="1600" noProof="1">
                          <a:latin typeface="Arial" panose="020B0604020202020204" pitchFamily="34" charset="0"/>
                          <a:cs typeface="Arial" panose="020B0604020202020204" pitchFamily="34" charset="0"/>
                        </a:rPr>
                        <a:t> menunjukkan total </a:t>
                      </a:r>
                      <a:r>
                        <a:rPr lang="en-US" sz="1600" b="1" noProof="1">
                          <a:latin typeface="Arial" panose="020B0604020202020204" pitchFamily="34" charset="0"/>
                          <a:cs typeface="Arial" panose="020B0604020202020204" pitchFamily="34" charset="0"/>
                        </a:rPr>
                        <a:t>80 jam per minggu</a:t>
                      </a:r>
                      <a:r>
                        <a:rPr lang="en-US" sz="1600" noProof="1">
                          <a:latin typeface="Arial" panose="020B0604020202020204" pitchFamily="34" charset="0"/>
                          <a:cs typeface="Arial" panose="020B0604020202020204" pitchFamily="34" charset="0"/>
                        </a:rPr>
                        <a:t>.</a:t>
                      </a:r>
                    </a:p>
                  </a:txBody>
                  <a:tcPr marL="53389" marR="53389" marT="26694" marB="266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6082011"/>
                  </a:ext>
                </a:extLst>
              </a:tr>
              <a:tr h="400549">
                <a:tc>
                  <a:txBody>
                    <a:bodyPr/>
                    <a:lstStyle/>
                    <a:p>
                      <a:pPr>
                        <a:buNone/>
                      </a:pPr>
                      <a:r>
                        <a:rPr lang="en-US" sz="1600" b="1" noProof="1">
                          <a:latin typeface="Arial" panose="020B0604020202020204" pitchFamily="34" charset="0"/>
                          <a:cs typeface="Arial" panose="020B0604020202020204" pitchFamily="34" charset="0"/>
                        </a:rPr>
                        <a:t>Project Manager</a:t>
                      </a:r>
                      <a:endParaRPr lang="en-US" sz="1600" noProof="1">
                        <a:latin typeface="Arial" panose="020B0604020202020204" pitchFamily="34" charset="0"/>
                        <a:cs typeface="Arial" panose="020B0604020202020204" pitchFamily="34" charset="0"/>
                      </a:endParaRPr>
                    </a:p>
                  </a:txBody>
                  <a:tcPr marL="53389" marR="53389" marT="26694" marB="266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Erica Bell</a:t>
                      </a:r>
                      <a:r>
                        <a:rPr lang="en-US" sz="1600" noProof="1">
                          <a:latin typeface="Arial" panose="020B0604020202020204" pitchFamily="34" charset="0"/>
                          <a:cs typeface="Arial" panose="020B0604020202020204" pitchFamily="34" charset="0"/>
                        </a:rPr>
                        <a:t>, (310) 555-5896, </a:t>
                      </a:r>
                      <a:r>
                        <a:rPr lang="en-US" sz="1600" b="1" noProof="1">
                          <a:latin typeface="Arial" panose="020B0604020202020204" pitchFamily="34" charset="0"/>
                          <a:cs typeface="Arial" panose="020B0604020202020204" pitchFamily="34" charset="0"/>
                          <a:hlinkClick r:id="rId2"/>
                        </a:rPr>
                        <a:t>erica_bell@jwdconsulting.com</a:t>
                      </a:r>
                      <a:endParaRPr lang="en-US" sz="1600" noProof="1">
                        <a:latin typeface="Arial" panose="020B0604020202020204" pitchFamily="34" charset="0"/>
                        <a:cs typeface="Arial" panose="020B0604020202020204" pitchFamily="34" charset="0"/>
                      </a:endParaRPr>
                    </a:p>
                  </a:txBody>
                  <a:tcPr marL="53389" marR="53389" marT="26694" marB="266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0801355"/>
                  </a:ext>
                </a:extLst>
              </a:tr>
              <a:tr h="1951954">
                <a:tc>
                  <a:txBody>
                    <a:bodyPr/>
                    <a:lstStyle/>
                    <a:p>
                      <a:pPr>
                        <a:buNone/>
                      </a:pPr>
                      <a:r>
                        <a:rPr lang="en-US" sz="1600" b="1" noProof="1">
                          <a:latin typeface="Arial" panose="020B0604020202020204" pitchFamily="34" charset="0"/>
                          <a:cs typeface="Arial" panose="020B0604020202020204" pitchFamily="34" charset="0"/>
                        </a:rPr>
                        <a:t>Project Objectives</a:t>
                      </a:r>
                      <a:endParaRPr lang="en-US" sz="1600" noProof="1">
                        <a:latin typeface="Arial" panose="020B0604020202020204" pitchFamily="34" charset="0"/>
                        <a:cs typeface="Arial" panose="020B0604020202020204" pitchFamily="34" charset="0"/>
                      </a:endParaRPr>
                    </a:p>
                  </a:txBody>
                  <a:tcPr marL="53389" marR="53389" marT="26694" marB="266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Mengembangkan </a:t>
                      </a:r>
                      <a:r>
                        <a:rPr lang="en-US" sz="1600" b="1" noProof="1">
                          <a:latin typeface="Arial" panose="020B0604020202020204" pitchFamily="34" charset="0"/>
                          <a:cs typeface="Arial" panose="020B0604020202020204" pitchFamily="34" charset="0"/>
                        </a:rPr>
                        <a:t>kapabilitas baru</a:t>
                      </a:r>
                      <a:r>
                        <a:rPr lang="en-US" sz="1600" noProof="1">
                          <a:latin typeface="Arial" panose="020B0604020202020204" pitchFamily="34" charset="0"/>
                          <a:cs typeface="Arial" panose="020B0604020202020204" pitchFamily="34" charset="0"/>
                        </a:rPr>
                        <a:t> yang dapat diakses pada </a:t>
                      </a:r>
                      <a:r>
                        <a:rPr lang="en-US" sz="1600" b="1" noProof="1">
                          <a:latin typeface="Arial" panose="020B0604020202020204" pitchFamily="34" charset="0"/>
                          <a:cs typeface="Arial" panose="020B0604020202020204" pitchFamily="34" charset="0"/>
                        </a:rPr>
                        <a:t>intranet site</a:t>
                      </a:r>
                      <a:r>
                        <a:rPr lang="en-US" sz="1600" noProof="1">
                          <a:latin typeface="Arial" panose="020B0604020202020204" pitchFamily="34" charset="0"/>
                          <a:cs typeface="Arial" panose="020B0604020202020204" pitchFamily="34" charset="0"/>
                        </a:rPr>
                        <a:t> JWD Consulting untuk membantu </a:t>
                      </a:r>
                      <a:r>
                        <a:rPr lang="en-US" sz="1600" b="1" noProof="1">
                          <a:latin typeface="Arial" panose="020B0604020202020204" pitchFamily="34" charset="0"/>
                          <a:cs typeface="Arial" panose="020B0604020202020204" pitchFamily="34" charset="0"/>
                        </a:rPr>
                        <a:t>konsultan internal</a:t>
                      </a:r>
                      <a:r>
                        <a:rPr lang="en-US" sz="1600" noProof="1">
                          <a:latin typeface="Arial" panose="020B0604020202020204" pitchFamily="34" charset="0"/>
                          <a:cs typeface="Arial" panose="020B0604020202020204" pitchFamily="34" charset="0"/>
                        </a:rPr>
                        <a:t> dan </a:t>
                      </a:r>
                      <a:r>
                        <a:rPr lang="en-US" sz="1600" b="1" noProof="1">
                          <a:latin typeface="Arial" panose="020B0604020202020204" pitchFamily="34" charset="0"/>
                          <a:cs typeface="Arial" panose="020B0604020202020204" pitchFamily="34" charset="0"/>
                        </a:rPr>
                        <a:t>pelanggan eksternal</a:t>
                      </a:r>
                      <a:r>
                        <a:rPr lang="en-US" sz="1600" noProof="1">
                          <a:latin typeface="Arial" panose="020B0604020202020204" pitchFamily="34" charset="0"/>
                          <a:cs typeface="Arial" panose="020B0604020202020204" pitchFamily="34" charset="0"/>
                        </a:rPr>
                        <a:t> mengelola proyek secara lebih efektif. Intranet site akan mencakup beberapa </a:t>
                      </a:r>
                      <a:r>
                        <a:rPr lang="en-US" sz="1600" b="1" noProof="1">
                          <a:latin typeface="Arial" panose="020B0604020202020204" pitchFamily="34" charset="0"/>
                          <a:cs typeface="Arial" panose="020B0604020202020204" pitchFamily="34" charset="0"/>
                        </a:rPr>
                        <a:t>templates</a:t>
                      </a:r>
                      <a:r>
                        <a:rPr lang="en-US" sz="1600" noProof="1">
                          <a:latin typeface="Arial" panose="020B0604020202020204" pitchFamily="34" charset="0"/>
                          <a:cs typeface="Arial" panose="020B0604020202020204" pitchFamily="34" charset="0"/>
                        </a:rPr>
                        <a:t> dan </a:t>
                      </a:r>
                      <a:r>
                        <a:rPr lang="en-US" sz="1600" b="1" noProof="1">
                          <a:latin typeface="Arial" panose="020B0604020202020204" pitchFamily="34" charset="0"/>
                          <a:cs typeface="Arial" panose="020B0604020202020204" pitchFamily="34" charset="0"/>
                        </a:rPr>
                        <a:t>tools</a:t>
                      </a:r>
                      <a:r>
                        <a:rPr lang="en-US" sz="1600" noProof="1">
                          <a:latin typeface="Arial" panose="020B0604020202020204" pitchFamily="34" charset="0"/>
                          <a:cs typeface="Arial" panose="020B0604020202020204" pitchFamily="34" charset="0"/>
                        </a:rPr>
                        <a:t> yang dapat diunduh pengguna, </a:t>
                      </a:r>
                      <a:r>
                        <a:rPr lang="en-US" sz="1600" b="1" noProof="1">
                          <a:latin typeface="Arial" panose="020B0604020202020204" pitchFamily="34" charset="0"/>
                          <a:cs typeface="Arial" panose="020B0604020202020204" pitchFamily="34" charset="0"/>
                        </a:rPr>
                        <a:t>contoh templates yang telah selesai</a:t>
                      </a:r>
                      <a:r>
                        <a:rPr lang="en-US" sz="1600" noProof="1">
                          <a:latin typeface="Arial" panose="020B0604020202020204" pitchFamily="34" charset="0"/>
                          <a:cs typeface="Arial" panose="020B0604020202020204" pitchFamily="34" charset="0"/>
                        </a:rPr>
                        <a:t> serta </a:t>
                      </a:r>
                      <a:r>
                        <a:rPr lang="en-US" sz="1600" b="1" noProof="1">
                          <a:latin typeface="Arial" panose="020B0604020202020204" pitchFamily="34" charset="0"/>
                          <a:cs typeface="Arial" panose="020B0604020202020204" pitchFamily="34" charset="0"/>
                        </a:rPr>
                        <a:t>dokumen manajemen proyek</a:t>
                      </a:r>
                      <a:r>
                        <a:rPr lang="en-US" sz="1600" noProof="1">
                          <a:latin typeface="Arial" panose="020B0604020202020204" pitchFamily="34" charset="0"/>
                          <a:cs typeface="Arial" panose="020B0604020202020204" pitchFamily="34" charset="0"/>
                        </a:rPr>
                        <a:t> terkait yang digunakan pada proyek nyata, </a:t>
                      </a:r>
                      <a:r>
                        <a:rPr lang="en-US" sz="1600" b="1" noProof="1">
                          <a:latin typeface="Arial" panose="020B0604020202020204" pitchFamily="34" charset="0"/>
                          <a:cs typeface="Arial" panose="020B0604020202020204" pitchFamily="34" charset="0"/>
                        </a:rPr>
                        <a:t>artikel penting</a:t>
                      </a:r>
                      <a:r>
                        <a:rPr lang="en-US" sz="1600" noProof="1">
                          <a:latin typeface="Arial" panose="020B0604020202020204" pitchFamily="34" charset="0"/>
                          <a:cs typeface="Arial" panose="020B0604020202020204" pitchFamily="34" charset="0"/>
                        </a:rPr>
                        <a:t> tentang topik manajemen proyek terkini, </a:t>
                      </a:r>
                      <a:r>
                        <a:rPr lang="en-US" sz="1600" b="1" noProof="1">
                          <a:latin typeface="Arial" panose="020B0604020202020204" pitchFamily="34" charset="0"/>
                          <a:cs typeface="Arial" panose="020B0604020202020204" pitchFamily="34" charset="0"/>
                        </a:rPr>
                        <a:t>layanan pencarian/penelusuran artikel</a:t>
                      </a:r>
                      <a:r>
                        <a:rPr lang="en-US" sz="1600" noProof="1">
                          <a:latin typeface="Arial" panose="020B0604020202020204" pitchFamily="34" charset="0"/>
                          <a:cs typeface="Arial" panose="020B0604020202020204" pitchFamily="34" charset="0"/>
                        </a:rPr>
                        <a:t>, </a:t>
                      </a:r>
                      <a:r>
                        <a:rPr lang="en-US" sz="1600" b="1" noProof="1">
                          <a:latin typeface="Arial" panose="020B0604020202020204" pitchFamily="34" charset="0"/>
                          <a:cs typeface="Arial" panose="020B0604020202020204" pitchFamily="34" charset="0"/>
                        </a:rPr>
                        <a:t>tautan</a:t>
                      </a:r>
                      <a:r>
                        <a:rPr lang="en-US" sz="1600" noProof="1">
                          <a:latin typeface="Arial" panose="020B0604020202020204" pitchFamily="34" charset="0"/>
                          <a:cs typeface="Arial" panose="020B0604020202020204" pitchFamily="34" charset="0"/>
                        </a:rPr>
                        <a:t> ke situs lain yang berisi informasi bermanfaat, serta fitur </a:t>
                      </a:r>
                      <a:r>
                        <a:rPr lang="en-US" sz="1600" b="1" noProof="1">
                          <a:latin typeface="Arial" panose="020B0604020202020204" pitchFamily="34" charset="0"/>
                          <a:cs typeface="Arial" panose="020B0604020202020204" pitchFamily="34" charset="0"/>
                        </a:rPr>
                        <a:t>“Ask the Expert”</a:t>
                      </a:r>
                      <a:r>
                        <a:rPr lang="en-US" sz="1600" noProof="1">
                          <a:latin typeface="Arial" panose="020B0604020202020204" pitchFamily="34" charset="0"/>
                          <a:cs typeface="Arial" panose="020B0604020202020204" pitchFamily="34" charset="0"/>
                        </a:rPr>
                        <a:t> di mana pengguna dapat mengajukan pertanyaan tentang proyek mereka dan menerima </a:t>
                      </a:r>
                      <a:r>
                        <a:rPr lang="en-US" sz="1600" b="1" noProof="1">
                          <a:latin typeface="Arial" panose="020B0604020202020204" pitchFamily="34" charset="0"/>
                          <a:cs typeface="Arial" panose="020B0604020202020204" pitchFamily="34" charset="0"/>
                        </a:rPr>
                        <a:t>saran dari para ahli</a:t>
                      </a:r>
                      <a:r>
                        <a:rPr lang="en-US" sz="1600" noProof="1">
                          <a:latin typeface="Arial" panose="020B0604020202020204" pitchFamily="34" charset="0"/>
                          <a:cs typeface="Arial" panose="020B0604020202020204" pitchFamily="34" charset="0"/>
                        </a:rPr>
                        <a:t>. Sebagian area intranet akan </a:t>
                      </a:r>
                      <a:r>
                        <a:rPr lang="en-US" sz="1600" b="1" noProof="1">
                          <a:latin typeface="Arial" panose="020B0604020202020204" pitchFamily="34" charset="0"/>
                          <a:cs typeface="Arial" panose="020B0604020202020204" pitchFamily="34" charset="0"/>
                        </a:rPr>
                        <a:t>gratis untuk publik</a:t>
                      </a:r>
                      <a:r>
                        <a:rPr lang="en-US" sz="1600" noProof="1">
                          <a:latin typeface="Arial" panose="020B0604020202020204" pitchFamily="34" charset="0"/>
                          <a:cs typeface="Arial" panose="020B0604020202020204" pitchFamily="34" charset="0"/>
                        </a:rPr>
                        <a:t>, sebagian </a:t>
                      </a:r>
                      <a:r>
                        <a:rPr lang="en-US" sz="1600" b="1" noProof="1">
                          <a:latin typeface="Arial" panose="020B0604020202020204" pitchFamily="34" charset="0"/>
                          <a:cs typeface="Arial" panose="020B0604020202020204" pitchFamily="34" charset="0"/>
                        </a:rPr>
                        <a:t>hanya untuk pelanggan saat ini dan/atau konsultan internal</a:t>
                      </a:r>
                      <a:r>
                        <a:rPr lang="en-US" sz="1600" noProof="1">
                          <a:latin typeface="Arial" panose="020B0604020202020204" pitchFamily="34" charset="0"/>
                          <a:cs typeface="Arial" panose="020B0604020202020204" pitchFamily="34" charset="0"/>
                        </a:rPr>
                        <a:t>, dan sebagian </a:t>
                      </a:r>
                      <a:r>
                        <a:rPr lang="en-US" sz="1600" b="1" noProof="1">
                          <a:latin typeface="Arial" panose="020B0604020202020204" pitchFamily="34" charset="0"/>
                          <a:cs typeface="Arial" panose="020B0604020202020204" pitchFamily="34" charset="0"/>
                        </a:rPr>
                        <a:t>berbayar</a:t>
                      </a:r>
                      <a:r>
                        <a:rPr lang="en-US" sz="1600" noProof="1">
                          <a:latin typeface="Arial" panose="020B0604020202020204" pitchFamily="34" charset="0"/>
                          <a:cs typeface="Arial" panose="020B0604020202020204" pitchFamily="34" charset="0"/>
                        </a:rPr>
                        <a:t>.</a:t>
                      </a:r>
                    </a:p>
                  </a:txBody>
                  <a:tcPr marL="53389" marR="53389" marT="26694" marB="266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1138049"/>
                  </a:ext>
                </a:extLst>
              </a:tr>
              <a:tr h="416570">
                <a:tc>
                  <a:txBody>
                    <a:bodyPr/>
                    <a:lstStyle/>
                    <a:p>
                      <a:pPr>
                        <a:buNone/>
                      </a:pPr>
                      <a:r>
                        <a:rPr lang="en-US" sz="1600" b="1" noProof="1">
                          <a:latin typeface="Arial" panose="020B0604020202020204" pitchFamily="34" charset="0"/>
                          <a:cs typeface="Arial" panose="020B0604020202020204" pitchFamily="34" charset="0"/>
                        </a:rPr>
                        <a:t>Main Project Success Criteria</a:t>
                      </a:r>
                      <a:endParaRPr lang="en-US" sz="1600" noProof="1">
                        <a:latin typeface="Arial" panose="020B0604020202020204" pitchFamily="34" charset="0"/>
                        <a:cs typeface="Arial" panose="020B0604020202020204" pitchFamily="34" charset="0"/>
                      </a:endParaRPr>
                    </a:p>
                  </a:txBody>
                  <a:tcPr marL="53389" marR="53389" marT="26694" marB="266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Proyek harus </a:t>
                      </a:r>
                      <a:r>
                        <a:rPr lang="en-US" sz="1600" b="1" noProof="1">
                          <a:latin typeface="Arial" panose="020B0604020202020204" pitchFamily="34" charset="0"/>
                          <a:cs typeface="Arial" panose="020B0604020202020204" pitchFamily="34" charset="0"/>
                        </a:rPr>
                        <a:t>balik modal (pay for itself)</a:t>
                      </a:r>
                      <a:r>
                        <a:rPr lang="en-US" sz="1600" noProof="1">
                          <a:latin typeface="Arial" panose="020B0604020202020204" pitchFamily="34" charset="0"/>
                          <a:cs typeface="Arial" panose="020B0604020202020204" pitchFamily="34" charset="0"/>
                        </a:rPr>
                        <a:t> </a:t>
                      </a:r>
                      <a:r>
                        <a:rPr lang="en-US" sz="1600" b="1" noProof="1">
                          <a:latin typeface="Arial" panose="020B0604020202020204" pitchFamily="34" charset="0"/>
                          <a:cs typeface="Arial" panose="020B0604020202020204" pitchFamily="34" charset="0"/>
                        </a:rPr>
                        <a:t>dalam satu tahun</a:t>
                      </a:r>
                      <a:r>
                        <a:rPr lang="en-US" sz="1600" noProof="1">
                          <a:latin typeface="Arial" panose="020B0604020202020204" pitchFamily="34" charset="0"/>
                          <a:cs typeface="Arial" panose="020B0604020202020204" pitchFamily="34" charset="0"/>
                        </a:rPr>
                        <a:t> setelah penyelesaian.</a:t>
                      </a:r>
                    </a:p>
                  </a:txBody>
                  <a:tcPr marL="53389" marR="53389" marT="26694" marB="266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772538"/>
                  </a:ext>
                </a:extLst>
              </a:tr>
              <a:tr h="1087205">
                <a:tc>
                  <a:txBody>
                    <a:bodyPr/>
                    <a:lstStyle/>
                    <a:p>
                      <a:pPr>
                        <a:buNone/>
                      </a:pPr>
                      <a:r>
                        <a:rPr lang="en-US" sz="1600" b="1" noProof="1">
                          <a:latin typeface="Arial" panose="020B0604020202020204" pitchFamily="34" charset="0"/>
                          <a:cs typeface="Arial" panose="020B0604020202020204" pitchFamily="34" charset="0"/>
                        </a:rPr>
                        <a:t>Approach</a:t>
                      </a:r>
                      <a:endParaRPr lang="en-US" sz="1600" noProof="1">
                        <a:latin typeface="Arial" panose="020B0604020202020204" pitchFamily="34" charset="0"/>
                        <a:cs typeface="Arial" panose="020B0604020202020204" pitchFamily="34" charset="0"/>
                      </a:endParaRPr>
                    </a:p>
                  </a:txBody>
                  <a:tcPr marL="53389" marR="53389" marT="26694" marB="266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 Menyusun survei untuk menentukan fitur-fitur kritikal intranet site baru dan menghimpun masukan dari konsultan serta pelanggan.</a:t>
                      </a:r>
                    </a:p>
                    <a:p>
                      <a:pPr>
                        <a:buNone/>
                      </a:pPr>
                      <a:r>
                        <a:rPr lang="en-US" sz="1600" noProof="1">
                          <a:latin typeface="Arial" panose="020B0604020202020204" pitchFamily="34" charset="0"/>
                          <a:cs typeface="Arial" panose="020B0604020202020204" pitchFamily="34" charset="0"/>
                        </a:rPr>
                        <a:t>• Meninjau templates internal dan eksternal serta contoh dokumen manajemen proyek yang akan disertakan di situs.</a:t>
                      </a:r>
                    </a:p>
                    <a:p>
                      <a:pPr>
                        <a:buNone/>
                      </a:pPr>
                      <a:r>
                        <a:rPr lang="en-US" sz="1600" noProof="1">
                          <a:latin typeface="Arial" panose="020B0604020202020204" pitchFamily="34" charset="0"/>
                          <a:cs typeface="Arial" panose="020B0604020202020204" pitchFamily="34" charset="0"/>
                        </a:rPr>
                        <a:t>• Menggunakan pendekatan iteratif untuk mengembangkan dan menguji situs bersama pengguna.</a:t>
                      </a:r>
                    </a:p>
                    <a:p>
                      <a:pPr>
                        <a:buNone/>
                      </a:pPr>
                      <a:r>
                        <a:rPr lang="en-US" sz="1600" noProof="1">
                          <a:latin typeface="Arial" panose="020B0604020202020204" pitchFamily="34" charset="0"/>
                          <a:cs typeface="Arial" panose="020B0604020202020204" pitchFamily="34" charset="0"/>
                        </a:rPr>
                        <a:t>• Menetapkan cara mengukur nilai proyek setelah selesai, sesuai kriteria balik modal.</a:t>
                      </a:r>
                    </a:p>
                  </a:txBody>
                  <a:tcPr marL="53389" marR="53389" marT="26694" marB="266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7358869"/>
                  </a:ext>
                </a:extLst>
              </a:tr>
            </a:tbl>
          </a:graphicData>
        </a:graphic>
      </p:graphicFrame>
    </p:spTree>
    <p:extLst>
      <p:ext uri="{BB962C8B-B14F-4D97-AF65-F5344CB8AC3E}">
        <p14:creationId xmlns:p14="http://schemas.microsoft.com/office/powerpoint/2010/main" val="42137831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570B97F-F1F2-3998-295D-26DB3E430D8B}"/>
              </a:ext>
            </a:extLst>
          </p:cNvPr>
          <p:cNvGraphicFramePr>
            <a:graphicFrameLocks noGrp="1"/>
          </p:cNvGraphicFramePr>
          <p:nvPr>
            <p:ph idx="1"/>
            <p:extLst>
              <p:ext uri="{D42A27DB-BD31-4B8C-83A1-F6EECF244321}">
                <p14:modId xmlns:p14="http://schemas.microsoft.com/office/powerpoint/2010/main" val="288434487"/>
              </p:ext>
            </p:extLst>
          </p:nvPr>
        </p:nvGraphicFramePr>
        <p:xfrm>
          <a:off x="689610" y="225584"/>
          <a:ext cx="10515600" cy="3627120"/>
        </p:xfrm>
        <a:graphic>
          <a:graphicData uri="http://schemas.openxmlformats.org/drawingml/2006/table">
            <a:tbl>
              <a:tblPr/>
              <a:tblGrid>
                <a:gridCol w="3562350">
                  <a:extLst>
                    <a:ext uri="{9D8B030D-6E8A-4147-A177-3AD203B41FA5}">
                      <a16:colId xmlns:a16="http://schemas.microsoft.com/office/drawing/2014/main" val="3965357769"/>
                    </a:ext>
                  </a:extLst>
                </a:gridCol>
                <a:gridCol w="6953250">
                  <a:extLst>
                    <a:ext uri="{9D8B030D-6E8A-4147-A177-3AD203B41FA5}">
                      <a16:colId xmlns:a16="http://schemas.microsoft.com/office/drawing/2014/main" val="3622839208"/>
                    </a:ext>
                  </a:extLst>
                </a:gridCol>
              </a:tblGrid>
              <a:tr h="0">
                <a:tc>
                  <a:txBody>
                    <a:bodyPr/>
                    <a:lstStyle/>
                    <a:p>
                      <a:pPr>
                        <a:buNone/>
                      </a:pPr>
                      <a:r>
                        <a:rPr lang="en-US" sz="1600" b="1" noProof="1">
                          <a:latin typeface="Arial" panose="020B0604020202020204" pitchFamily="34" charset="0"/>
                          <a:cs typeface="Arial" panose="020B0604020202020204" pitchFamily="34" charset="0"/>
                        </a:rPr>
                        <a:t>Judul</a:t>
                      </a:r>
                      <a:endParaRPr lang="en-US" sz="1600" noProof="1">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Kick-Off Meeting</a:t>
                      </a:r>
                      <a:endParaRPr lang="en-US" sz="1600" noProof="1">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763862163"/>
                  </a:ext>
                </a:extLst>
              </a:tr>
              <a:tr h="0">
                <a:tc>
                  <a:txBody>
                    <a:bodyPr/>
                    <a:lstStyle/>
                    <a:p>
                      <a:pPr>
                        <a:buNone/>
                      </a:pPr>
                      <a:r>
                        <a:rPr lang="en-US" sz="1600" b="1" noProof="1">
                          <a:latin typeface="Arial" panose="020B0604020202020204" pitchFamily="34" charset="0"/>
                          <a:cs typeface="Arial" panose="020B0604020202020204" pitchFamily="34" charset="0"/>
                        </a:rPr>
                        <a:t>Tanggal Rapat</a:t>
                      </a:r>
                      <a:endParaRPr lang="en-US" sz="1600" noProof="1">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13 Mei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891103421"/>
                  </a:ext>
                </a:extLst>
              </a:tr>
              <a:tr h="0">
                <a:tc>
                  <a:txBody>
                    <a:bodyPr/>
                    <a:lstStyle/>
                    <a:p>
                      <a:pPr>
                        <a:buNone/>
                      </a:pPr>
                      <a:r>
                        <a:rPr lang="en-US" sz="1600" b="1" noProof="1">
                          <a:latin typeface="Arial" panose="020B0604020202020204" pitchFamily="34" charset="0"/>
                          <a:cs typeface="Arial" panose="020B0604020202020204" pitchFamily="34" charset="0"/>
                        </a:rPr>
                        <a:t>Nama Proyek (Project Name)</a:t>
                      </a:r>
                      <a:endParaRPr lang="en-US" sz="1600" noProof="1">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Project Management Intranet Site Project</a:t>
                      </a:r>
                      <a:endParaRPr lang="en-US" sz="1600" noProof="1">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841520976"/>
                  </a:ext>
                </a:extLst>
              </a:tr>
              <a:tr h="0">
                <a:tc>
                  <a:txBody>
                    <a:bodyPr/>
                    <a:lstStyle/>
                    <a:p>
                      <a:pPr>
                        <a:buNone/>
                      </a:pPr>
                      <a:r>
                        <a:rPr lang="en-US" sz="1600" b="1" noProof="1">
                          <a:latin typeface="Arial" panose="020B0604020202020204" pitchFamily="34" charset="0"/>
                          <a:cs typeface="Arial" panose="020B0604020202020204" pitchFamily="34" charset="0"/>
                        </a:rPr>
                        <a:t>Tujuan Rapat (Meeting Objective)</a:t>
                      </a:r>
                      <a:endParaRPr lang="en-US" sz="1600" noProof="1">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Memulai proyek secara efektif dengan memperkenalkan </a:t>
                      </a:r>
                      <a:r>
                        <a:rPr lang="en-US" sz="1600" b="1" noProof="1">
                          <a:latin typeface="Arial" panose="020B0604020202020204" pitchFamily="34" charset="0"/>
                          <a:cs typeface="Arial" panose="020B0604020202020204" pitchFamily="34" charset="0"/>
                        </a:rPr>
                        <a:t>stakeholders kunci</a:t>
                      </a:r>
                      <a:r>
                        <a:rPr lang="en-US" sz="1600" noProof="1">
                          <a:latin typeface="Arial" panose="020B0604020202020204" pitchFamily="34" charset="0"/>
                          <a:cs typeface="Arial" panose="020B0604020202020204" pitchFamily="34" charset="0"/>
                        </a:rPr>
                        <a:t>, meninjau </a:t>
                      </a:r>
                      <a:r>
                        <a:rPr lang="en-US" sz="1600" b="1" noProof="1">
                          <a:latin typeface="Arial" panose="020B0604020202020204" pitchFamily="34" charset="0"/>
                          <a:cs typeface="Arial" panose="020B0604020202020204" pitchFamily="34" charset="0"/>
                        </a:rPr>
                        <a:t>tujuan (goals) proyek</a:t>
                      </a:r>
                      <a:r>
                        <a:rPr lang="en-US" sz="1600" noProof="1">
                          <a:latin typeface="Arial" panose="020B0604020202020204" pitchFamily="34" charset="0"/>
                          <a:cs typeface="Arial" panose="020B0604020202020204" pitchFamily="34" charset="0"/>
                        </a:rPr>
                        <a:t>, dan </a:t>
                      </a:r>
                      <a:r>
                        <a:rPr lang="en-US" sz="1600" b="1" noProof="1">
                          <a:latin typeface="Arial" panose="020B0604020202020204" pitchFamily="34" charset="0"/>
                          <a:cs typeface="Arial" panose="020B0604020202020204" pitchFamily="34" charset="0"/>
                        </a:rPr>
                        <a:t>mendiskusikan rencana ke depan</a:t>
                      </a:r>
                      <a:r>
                        <a:rPr lang="en-US" sz="1600" noProof="1">
                          <a:latin typeface="Arial" panose="020B0604020202020204" pitchFamily="34" charset="0"/>
                          <a:cs typeface="Arial" panose="020B0604020202020204" pitchFamily="34"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439455565"/>
                  </a:ext>
                </a:extLst>
              </a:tr>
              <a:tr h="0">
                <a:tc>
                  <a:txBody>
                    <a:bodyPr/>
                    <a:lstStyle/>
                    <a:p>
                      <a:pPr>
                        <a:buNone/>
                      </a:pPr>
                      <a:r>
                        <a:rPr lang="en-US" sz="1600" b="1" noProof="1">
                          <a:latin typeface="Arial" panose="020B0604020202020204" pitchFamily="34" charset="0"/>
                          <a:cs typeface="Arial" panose="020B0604020202020204" pitchFamily="34" charset="0"/>
                        </a:rPr>
                        <a:t>Agenda</a:t>
                      </a:r>
                      <a:endParaRPr lang="en-US" sz="1600" noProof="1">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 Perkenalan peserta (</a:t>
                      </a:r>
                      <a:r>
                        <a:rPr lang="en-US" sz="1600" b="1" noProof="1">
                          <a:latin typeface="Arial" panose="020B0604020202020204" pitchFamily="34" charset="0"/>
                          <a:cs typeface="Arial" panose="020B0604020202020204" pitchFamily="34" charset="0"/>
                        </a:rPr>
                        <a:t>Introductions of attendees</a:t>
                      </a:r>
                      <a:r>
                        <a:rPr lang="en-US" sz="1600" noProof="1">
                          <a:latin typeface="Arial" panose="020B0604020202020204" pitchFamily="34" charset="0"/>
                          <a:cs typeface="Arial" panose="020B0604020202020204" pitchFamily="34" charset="0"/>
                        </a:rPr>
                        <a:t>)</a:t>
                      </a:r>
                    </a:p>
                    <a:p>
                      <a:pPr>
                        <a:buNone/>
                      </a:pPr>
                      <a:r>
                        <a:rPr lang="en-US" sz="1600" noProof="1">
                          <a:latin typeface="Arial" panose="020B0604020202020204" pitchFamily="34" charset="0"/>
                          <a:cs typeface="Arial" panose="020B0604020202020204" pitchFamily="34" charset="0"/>
                        </a:rPr>
                        <a:t>• Tinjauan latar belakang proyek (</a:t>
                      </a:r>
                      <a:r>
                        <a:rPr lang="en-US" sz="1600" b="1" noProof="1">
                          <a:latin typeface="Arial" panose="020B0604020202020204" pitchFamily="34" charset="0"/>
                          <a:cs typeface="Arial" panose="020B0604020202020204" pitchFamily="34" charset="0"/>
                        </a:rPr>
                        <a:t>Review of the project background</a:t>
                      </a:r>
                      <a:r>
                        <a:rPr lang="en-US" sz="1600" noProof="1">
                          <a:latin typeface="Arial" panose="020B0604020202020204" pitchFamily="34" charset="0"/>
                          <a:cs typeface="Arial" panose="020B0604020202020204" pitchFamily="34" charset="0"/>
                        </a:rPr>
                        <a:t>)</a:t>
                      </a:r>
                    </a:p>
                    <a:p>
                      <a:pPr>
                        <a:buNone/>
                      </a:pPr>
                      <a:r>
                        <a:rPr lang="en-US" sz="1600" noProof="1">
                          <a:latin typeface="Arial" panose="020B0604020202020204" pitchFamily="34" charset="0"/>
                          <a:cs typeface="Arial" panose="020B0604020202020204" pitchFamily="34" charset="0"/>
                        </a:rPr>
                        <a:t>• Tinjauan dokumen terkait proyek (mis., </a:t>
                      </a:r>
                      <a:r>
                        <a:rPr lang="en-US" sz="1600" b="1" noProof="1">
                          <a:latin typeface="Arial" panose="020B0604020202020204" pitchFamily="34" charset="0"/>
                          <a:cs typeface="Arial" panose="020B0604020202020204" pitchFamily="34" charset="0"/>
                        </a:rPr>
                        <a:t>business case</a:t>
                      </a:r>
                      <a:r>
                        <a:rPr lang="en-US" sz="1600" noProof="1">
                          <a:latin typeface="Arial" panose="020B0604020202020204" pitchFamily="34" charset="0"/>
                          <a:cs typeface="Arial" panose="020B0604020202020204" pitchFamily="34" charset="0"/>
                        </a:rPr>
                        <a:t>, </a:t>
                      </a:r>
                      <a:r>
                        <a:rPr lang="en-US" sz="1600" b="1" noProof="1">
                          <a:latin typeface="Arial" panose="020B0604020202020204" pitchFamily="34" charset="0"/>
                          <a:cs typeface="Arial" panose="020B0604020202020204" pitchFamily="34" charset="0"/>
                        </a:rPr>
                        <a:t>project charter</a:t>
                      </a:r>
                      <a:r>
                        <a:rPr lang="en-US" sz="1600" noProof="1">
                          <a:latin typeface="Arial" panose="020B0604020202020204" pitchFamily="34" charset="0"/>
                          <a:cs typeface="Arial" panose="020B0604020202020204" pitchFamily="34" charset="0"/>
                        </a:rPr>
                        <a:t>)</a:t>
                      </a:r>
                    </a:p>
                    <a:p>
                      <a:pPr>
                        <a:buNone/>
                      </a:pPr>
                      <a:r>
                        <a:rPr lang="en-US" sz="1600" noProof="1">
                          <a:latin typeface="Arial" panose="020B0604020202020204" pitchFamily="34" charset="0"/>
                          <a:cs typeface="Arial" panose="020B0604020202020204" pitchFamily="34" charset="0"/>
                        </a:rPr>
                        <a:t>• Diskusi struktur organisasi proyek (</a:t>
                      </a:r>
                      <a:r>
                        <a:rPr lang="en-US" sz="1600" b="1" noProof="1">
                          <a:latin typeface="Arial" panose="020B0604020202020204" pitchFamily="34" charset="0"/>
                          <a:cs typeface="Arial" panose="020B0604020202020204" pitchFamily="34" charset="0"/>
                        </a:rPr>
                        <a:t>project organizational structure</a:t>
                      </a:r>
                      <a:r>
                        <a:rPr lang="en-US" sz="1600" noProof="1">
                          <a:latin typeface="Arial" panose="020B0604020202020204" pitchFamily="34" charset="0"/>
                          <a:cs typeface="Arial" panose="020B0604020202020204" pitchFamily="34" charset="0"/>
                        </a:rPr>
                        <a:t>)</a:t>
                      </a:r>
                    </a:p>
                    <a:p>
                      <a:pPr>
                        <a:buNone/>
                      </a:pPr>
                      <a:r>
                        <a:rPr lang="en-US" sz="1600" noProof="1">
                          <a:latin typeface="Arial" panose="020B0604020202020204" pitchFamily="34" charset="0"/>
                          <a:cs typeface="Arial" panose="020B0604020202020204" pitchFamily="34" charset="0"/>
                        </a:rPr>
                        <a:t>• Diskusi </a:t>
                      </a:r>
                      <a:r>
                        <a:rPr lang="en-US" sz="1600" b="1" noProof="1">
                          <a:latin typeface="Arial" panose="020B0604020202020204" pitchFamily="34" charset="0"/>
                          <a:cs typeface="Arial" panose="020B0604020202020204" pitchFamily="34" charset="0"/>
                        </a:rPr>
                        <a:t>scope</a:t>
                      </a:r>
                      <a:r>
                        <a:rPr lang="en-US" sz="1600" noProof="1">
                          <a:latin typeface="Arial" panose="020B0604020202020204" pitchFamily="34" charset="0"/>
                          <a:cs typeface="Arial" panose="020B0604020202020204" pitchFamily="34" charset="0"/>
                        </a:rPr>
                        <a:t>, </a:t>
                      </a:r>
                      <a:r>
                        <a:rPr lang="en-US" sz="1600" b="1" noProof="1">
                          <a:latin typeface="Arial" panose="020B0604020202020204" pitchFamily="34" charset="0"/>
                          <a:cs typeface="Arial" panose="020B0604020202020204" pitchFamily="34" charset="0"/>
                        </a:rPr>
                        <a:t>time</a:t>
                      </a:r>
                      <a:r>
                        <a:rPr lang="en-US" sz="1600" noProof="1">
                          <a:latin typeface="Arial" panose="020B0604020202020204" pitchFamily="34" charset="0"/>
                          <a:cs typeface="Arial" panose="020B0604020202020204" pitchFamily="34" charset="0"/>
                        </a:rPr>
                        <a:t>, dan </a:t>
                      </a:r>
                      <a:r>
                        <a:rPr lang="en-US" sz="1600" b="1" noProof="1">
                          <a:latin typeface="Arial" panose="020B0604020202020204" pitchFamily="34" charset="0"/>
                          <a:cs typeface="Arial" panose="020B0604020202020204" pitchFamily="34" charset="0"/>
                        </a:rPr>
                        <a:t>cost goals</a:t>
                      </a:r>
                      <a:r>
                        <a:rPr lang="en-US" sz="1600" noProof="1">
                          <a:latin typeface="Arial" panose="020B0604020202020204" pitchFamily="34" charset="0"/>
                          <a:cs typeface="Arial" panose="020B0604020202020204" pitchFamily="34" charset="0"/>
                        </a:rPr>
                        <a:t> proyek</a:t>
                      </a:r>
                    </a:p>
                    <a:p>
                      <a:pPr>
                        <a:buNone/>
                      </a:pPr>
                      <a:r>
                        <a:rPr lang="en-US" sz="1600" noProof="1">
                          <a:latin typeface="Arial" panose="020B0604020202020204" pitchFamily="34" charset="0"/>
                          <a:cs typeface="Arial" panose="020B0604020202020204" pitchFamily="34" charset="0"/>
                        </a:rPr>
                        <a:t>• Diskusi topik penting lainnya (</a:t>
                      </a:r>
                      <a:r>
                        <a:rPr lang="en-US" sz="1600" b="1" noProof="1">
                          <a:latin typeface="Arial" panose="020B0604020202020204" pitchFamily="34" charset="0"/>
                          <a:cs typeface="Arial" panose="020B0604020202020204" pitchFamily="34" charset="0"/>
                        </a:rPr>
                        <a:t>other important topics</a:t>
                      </a:r>
                      <a:r>
                        <a:rPr lang="en-US" sz="1600" noProof="1">
                          <a:latin typeface="Arial" panose="020B0604020202020204" pitchFamily="34" charset="0"/>
                          <a:cs typeface="Arial" panose="020B0604020202020204" pitchFamily="34" charset="0"/>
                        </a:rPr>
                        <a:t>)</a:t>
                      </a:r>
                    </a:p>
                    <a:p>
                      <a:pPr>
                        <a:buNone/>
                      </a:pPr>
                      <a:r>
                        <a:rPr lang="en-US" sz="1600" noProof="1">
                          <a:latin typeface="Arial" panose="020B0604020202020204" pitchFamily="34" charset="0"/>
                          <a:cs typeface="Arial" panose="020B0604020202020204" pitchFamily="34" charset="0"/>
                        </a:rPr>
                        <a:t>• Daftar </a:t>
                      </a:r>
                      <a:r>
                        <a:rPr lang="en-US" sz="1600" b="1" noProof="1">
                          <a:latin typeface="Arial" panose="020B0604020202020204" pitchFamily="34" charset="0"/>
                          <a:cs typeface="Arial" panose="020B0604020202020204" pitchFamily="34" charset="0"/>
                        </a:rPr>
                        <a:t>action items</a:t>
                      </a:r>
                      <a:r>
                        <a:rPr lang="en-US" sz="1600" noProof="1">
                          <a:latin typeface="Arial" panose="020B0604020202020204" pitchFamily="34" charset="0"/>
                          <a:cs typeface="Arial" panose="020B0604020202020204" pitchFamily="34" charset="0"/>
                        </a:rPr>
                        <a:t> hasil rapat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73330800"/>
                  </a:ext>
                </a:extLst>
              </a:tr>
            </a:tbl>
          </a:graphicData>
        </a:graphic>
      </p:graphicFrame>
      <p:graphicFrame>
        <p:nvGraphicFramePr>
          <p:cNvPr id="5" name="Table 4">
            <a:extLst>
              <a:ext uri="{FF2B5EF4-FFF2-40B4-BE49-F238E27FC236}">
                <a16:creationId xmlns:a16="http://schemas.microsoft.com/office/drawing/2014/main" id="{65DB9EB2-6073-5480-56C3-41A626BAE8C8}"/>
              </a:ext>
            </a:extLst>
          </p:cNvPr>
          <p:cNvGraphicFramePr>
            <a:graphicFrameLocks noGrp="1"/>
          </p:cNvGraphicFramePr>
          <p:nvPr>
            <p:extLst>
              <p:ext uri="{D42A27DB-BD31-4B8C-83A1-F6EECF244321}">
                <p14:modId xmlns:p14="http://schemas.microsoft.com/office/powerpoint/2010/main" val="3984587112"/>
              </p:ext>
            </p:extLst>
          </p:nvPr>
        </p:nvGraphicFramePr>
        <p:xfrm>
          <a:off x="584200" y="3878104"/>
          <a:ext cx="10515600" cy="2499360"/>
        </p:xfrm>
        <a:graphic>
          <a:graphicData uri="http://schemas.openxmlformats.org/drawingml/2006/table">
            <a:tbl>
              <a:tblPr/>
              <a:tblGrid>
                <a:gridCol w="4191000">
                  <a:extLst>
                    <a:ext uri="{9D8B030D-6E8A-4147-A177-3AD203B41FA5}">
                      <a16:colId xmlns:a16="http://schemas.microsoft.com/office/drawing/2014/main" val="3965265190"/>
                    </a:ext>
                  </a:extLst>
                </a:gridCol>
                <a:gridCol w="2819400">
                  <a:extLst>
                    <a:ext uri="{9D8B030D-6E8A-4147-A177-3AD203B41FA5}">
                      <a16:colId xmlns:a16="http://schemas.microsoft.com/office/drawing/2014/main" val="3874384022"/>
                    </a:ext>
                  </a:extLst>
                </a:gridCol>
                <a:gridCol w="3505200">
                  <a:extLst>
                    <a:ext uri="{9D8B030D-6E8A-4147-A177-3AD203B41FA5}">
                      <a16:colId xmlns:a16="http://schemas.microsoft.com/office/drawing/2014/main" val="196909367"/>
                    </a:ext>
                  </a:extLst>
                </a:gridCol>
              </a:tblGrid>
              <a:tr h="0">
                <a:tc>
                  <a:txBody>
                    <a:bodyPr/>
                    <a:lstStyle/>
                    <a:p>
                      <a:pPr algn="ctr">
                        <a:buNone/>
                      </a:pPr>
                      <a:r>
                        <a:rPr lang="en-US" sz="1600" b="1" noProof="1">
                          <a:latin typeface="Arial" panose="020B0604020202020204" pitchFamily="34" charset="0"/>
                          <a:cs typeface="Arial" panose="020B0604020202020204" pitchFamily="34" charset="0"/>
                        </a:rPr>
                        <a:t>Item Tindak Lanjut (Action Item)</a:t>
                      </a:r>
                      <a:endParaRPr lang="en-US" sz="1600"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noProof="1">
                          <a:latin typeface="Arial" panose="020B0604020202020204" pitchFamily="34" charset="0"/>
                          <a:cs typeface="Arial" panose="020B0604020202020204" pitchFamily="34" charset="0"/>
                        </a:rPr>
                        <a:t>Ditugaskan Kepada (Assigned To)</a:t>
                      </a:r>
                      <a:endParaRPr lang="en-US" sz="1600"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noProof="1">
                          <a:latin typeface="Arial" panose="020B0604020202020204" pitchFamily="34" charset="0"/>
                          <a:cs typeface="Arial" panose="020B0604020202020204" pitchFamily="34" charset="0"/>
                        </a:rPr>
                        <a:t>Tanggal Jatuh Tempo (Due Date)</a:t>
                      </a:r>
                      <a:endParaRPr lang="en-US" sz="1600"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2206961"/>
                  </a:ext>
                </a:extLst>
              </a:tr>
              <a:tr h="0">
                <a:tc>
                  <a:txBody>
                    <a:bodyPr/>
                    <a:lstStyle/>
                    <a:p>
                      <a:pPr>
                        <a:buNone/>
                      </a:pPr>
                      <a:r>
                        <a:rPr lang="en-US" sz="1600" noProof="1">
                          <a:latin typeface="Arial" panose="020B0604020202020204" pitchFamily="34" charset="0"/>
                          <a:cs typeface="Arial" panose="020B0604020202020204" pitchFamily="34" charset="0"/>
                        </a:rPr>
                        <a:t>Finalisasi daftar fitur intranet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Tim Pengembangan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noProof="1">
                          <a:latin typeface="Arial" panose="020B0604020202020204" pitchFamily="34" charset="0"/>
                          <a:cs typeface="Arial" panose="020B0604020202020204" pitchFamily="34" charset="0"/>
                        </a:rPr>
                        <a:t>20 Mei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0849656"/>
                  </a:ext>
                </a:extLst>
              </a:tr>
              <a:tr h="0">
                <a:tc>
                  <a:txBody>
                    <a:bodyPr/>
                    <a:lstStyle/>
                    <a:p>
                      <a:pPr>
                        <a:buNone/>
                      </a:pPr>
                      <a:r>
                        <a:rPr lang="en-US" sz="1600" noProof="1">
                          <a:latin typeface="Arial" panose="020B0604020202020204" pitchFamily="34" charset="0"/>
                          <a:cs typeface="Arial" panose="020B0604020202020204" pitchFamily="34" charset="0"/>
                        </a:rPr>
                        <a:t>Review dokumen templates proyek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Tim Dokumentasi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noProof="1">
                          <a:latin typeface="Arial" panose="020B0604020202020204" pitchFamily="34" charset="0"/>
                          <a:cs typeface="Arial" panose="020B0604020202020204" pitchFamily="34" charset="0"/>
                        </a:rPr>
                        <a:t>22 Mei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0969132"/>
                  </a:ext>
                </a:extLst>
              </a:tr>
              <a:tr h="0">
                <a:tc>
                  <a:txBody>
                    <a:bodyPr/>
                    <a:lstStyle/>
                    <a:p>
                      <a:pPr>
                        <a:buNone/>
                      </a:pPr>
                      <a:r>
                        <a:rPr lang="en-US" sz="1600" noProof="1">
                          <a:latin typeface="Arial" panose="020B0604020202020204" pitchFamily="34" charset="0"/>
                          <a:cs typeface="Arial" panose="020B0604020202020204" pitchFamily="34" charset="0"/>
                        </a:rPr>
                        <a:t>Setup ruang kerja proyek di intranet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IT Support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noProof="1">
                          <a:latin typeface="Arial" panose="020B0604020202020204" pitchFamily="34" charset="0"/>
                          <a:cs typeface="Arial" panose="020B0604020202020204" pitchFamily="34" charset="0"/>
                        </a:rPr>
                        <a:t>24 Mei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4612936"/>
                  </a:ext>
                </a:extLst>
              </a:tr>
              <a:tr h="0">
                <a:tc>
                  <a:txBody>
                    <a:bodyPr/>
                    <a:lstStyle/>
                    <a:p>
                      <a:pPr>
                        <a:buNone/>
                      </a:pPr>
                      <a:r>
                        <a:rPr lang="en-US" sz="1600" noProof="1">
                          <a:latin typeface="Arial" panose="020B0604020202020204" pitchFamily="34" charset="0"/>
                          <a:cs typeface="Arial" panose="020B0604020202020204" pitchFamily="34" charset="0"/>
                        </a:rPr>
                        <a:t>Rancang konsep fitur “Ask the Expert”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Web Developer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noProof="1">
                          <a:latin typeface="Arial" panose="020B0604020202020204" pitchFamily="34" charset="0"/>
                          <a:cs typeface="Arial" panose="020B0604020202020204" pitchFamily="34" charset="0"/>
                        </a:rPr>
                        <a:t>29 Mei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2794562"/>
                  </a:ext>
                </a:extLst>
              </a:tr>
              <a:tr h="0">
                <a:tc>
                  <a:txBody>
                    <a:bodyPr/>
                    <a:lstStyle/>
                    <a:p>
                      <a:pPr>
                        <a:buNone/>
                      </a:pPr>
                      <a:r>
                        <a:rPr lang="en-US" sz="1600" noProof="1">
                          <a:latin typeface="Arial" panose="020B0604020202020204" pitchFamily="34" charset="0"/>
                          <a:cs typeface="Arial" panose="020B0604020202020204" pitchFamily="34" charset="0"/>
                        </a:rPr>
                        <a:t>Validasi kebutuhan akses publik dan berbayar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Tim Legal &amp; Keamanan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noProof="1">
                          <a:latin typeface="Arial" panose="020B0604020202020204" pitchFamily="34" charset="0"/>
                          <a:cs typeface="Arial" panose="020B0604020202020204" pitchFamily="34" charset="0"/>
                        </a:rPr>
                        <a:t>31 Mei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5446428"/>
                  </a:ext>
                </a:extLst>
              </a:tr>
            </a:tbl>
          </a:graphicData>
        </a:graphic>
      </p:graphicFrame>
      <p:sp>
        <p:nvSpPr>
          <p:cNvPr id="7" name="TextBox 6">
            <a:extLst>
              <a:ext uri="{FF2B5EF4-FFF2-40B4-BE49-F238E27FC236}">
                <a16:creationId xmlns:a16="http://schemas.microsoft.com/office/drawing/2014/main" id="{834C2D50-765C-369F-6315-DFAC71F0B4B5}"/>
              </a:ext>
            </a:extLst>
          </p:cNvPr>
          <p:cNvSpPr txBox="1"/>
          <p:nvPr/>
        </p:nvSpPr>
        <p:spPr>
          <a:xfrm>
            <a:off x="689610" y="6360495"/>
            <a:ext cx="6097904" cy="338554"/>
          </a:xfrm>
          <a:prstGeom prst="rect">
            <a:avLst/>
          </a:prstGeom>
          <a:noFill/>
        </p:spPr>
        <p:txBody>
          <a:bodyPr wrap="square">
            <a:spAutoFit/>
          </a:bodyPr>
          <a:lstStyle/>
          <a:p>
            <a:r>
              <a:rPr lang="en-US" sz="1600" b="1" noProof="1">
                <a:latin typeface="Arial" panose="020B0604020202020204" pitchFamily="34" charset="0"/>
                <a:cs typeface="Arial" panose="020B0604020202020204" pitchFamily="34" charset="0"/>
              </a:rPr>
              <a:t>Tanggal &amp; Waktu Rapat Berikutnya: 20 Mei, pukul 10.00</a:t>
            </a:r>
          </a:p>
        </p:txBody>
      </p:sp>
    </p:spTree>
    <p:extLst>
      <p:ext uri="{BB962C8B-B14F-4D97-AF65-F5344CB8AC3E}">
        <p14:creationId xmlns:p14="http://schemas.microsoft.com/office/powerpoint/2010/main" val="429189708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BC978-779C-A2B1-AA2A-17168DF5A9EA}"/>
              </a:ext>
            </a:extLst>
          </p:cNvPr>
          <p:cNvSpPr>
            <a:spLocks noGrp="1"/>
          </p:cNvSpPr>
          <p:nvPr>
            <p:ph type="title"/>
          </p:nvPr>
        </p:nvSpPr>
        <p:spPr/>
        <p:txBody>
          <a:bodyPr/>
          <a:lstStyle/>
          <a:p>
            <a:pPr algn="ctr"/>
            <a:r>
              <a:rPr lang="en-US" noProof="1"/>
              <a:t>Perencanaan Proyek (Project Planning)</a:t>
            </a:r>
          </a:p>
        </p:txBody>
      </p:sp>
      <p:sp>
        <p:nvSpPr>
          <p:cNvPr id="3" name="Content Placeholder 2">
            <a:extLst>
              <a:ext uri="{FF2B5EF4-FFF2-40B4-BE49-F238E27FC236}">
                <a16:creationId xmlns:a16="http://schemas.microsoft.com/office/drawing/2014/main" id="{8AC6948F-35C5-36A1-9DB4-FC10F837D807}"/>
              </a:ext>
            </a:extLst>
          </p:cNvPr>
          <p:cNvSpPr>
            <a:spLocks noGrp="1"/>
          </p:cNvSpPr>
          <p:nvPr>
            <p:ph idx="1"/>
          </p:nvPr>
        </p:nvSpPr>
        <p:spPr/>
        <p:txBody>
          <a:bodyPr>
            <a:normAutofit fontScale="92500" lnSpcReduction="20000"/>
          </a:bodyPr>
          <a:lstStyle/>
          <a:p>
            <a:r>
              <a:rPr lang="en-US" noProof="1"/>
              <a:t>Tujuan utama </a:t>
            </a:r>
            <a:r>
              <a:rPr lang="en-US" b="1" noProof="1"/>
              <a:t>project planning</a:t>
            </a:r>
            <a:r>
              <a:rPr lang="en-US" noProof="1"/>
              <a:t> adalah </a:t>
            </a:r>
            <a:r>
              <a:rPr lang="en-US" b="1" noProof="1"/>
              <a:t>mengarahkan pelaksanaan (execution)</a:t>
            </a:r>
            <a:r>
              <a:rPr lang="en-US" noProof="1"/>
              <a:t>.</a:t>
            </a:r>
          </a:p>
          <a:p>
            <a:r>
              <a:rPr lang="en-US" noProof="1"/>
              <a:t>Setiap knowledge area mencakup informasi planning (lihat Tabel 3-7 di Lampiran).</a:t>
            </a:r>
          </a:p>
          <a:p>
            <a:r>
              <a:rPr lang="en-US" b="1" noProof="1"/>
              <a:t>Output kunci</a:t>
            </a:r>
            <a:r>
              <a:rPr lang="en-US" noProof="1"/>
              <a:t> pada proyek </a:t>
            </a:r>
            <a:r>
              <a:rPr lang="en-US" b="1" noProof="1"/>
              <a:t>JWD</a:t>
            </a:r>
            <a:r>
              <a:rPr lang="en-US" noProof="1"/>
              <a:t> mencakup:</a:t>
            </a:r>
          </a:p>
          <a:p>
            <a:pPr lvl="1"/>
            <a:r>
              <a:rPr lang="en-US" b="1" noProof="1"/>
              <a:t>Team contract</a:t>
            </a:r>
            <a:endParaRPr lang="en-US" noProof="1"/>
          </a:p>
          <a:p>
            <a:pPr lvl="1"/>
            <a:r>
              <a:rPr lang="en-US" b="1" noProof="1"/>
              <a:t>Project scope statement</a:t>
            </a:r>
            <a:endParaRPr lang="en-US" noProof="1"/>
          </a:p>
          <a:p>
            <a:pPr lvl="1"/>
            <a:r>
              <a:rPr lang="en-US" b="1" noProof="1"/>
              <a:t>Work Breakdown Structure (WBS)</a:t>
            </a:r>
            <a:endParaRPr lang="en-US" noProof="1"/>
          </a:p>
          <a:p>
            <a:pPr lvl="1"/>
            <a:r>
              <a:rPr lang="en-US" b="1" noProof="1"/>
              <a:t>Project schedule</a:t>
            </a:r>
            <a:r>
              <a:rPr lang="en-US" noProof="1"/>
              <a:t>, dalam bentuk </a:t>
            </a:r>
            <a:r>
              <a:rPr lang="en-US" b="1" noProof="1"/>
              <a:t>Gantt chart</a:t>
            </a:r>
            <a:r>
              <a:rPr lang="en-US" noProof="1"/>
              <a:t> dengan seluruh </a:t>
            </a:r>
            <a:r>
              <a:rPr lang="en-US" b="1" noProof="1"/>
              <a:t>dependencies</a:t>
            </a:r>
            <a:r>
              <a:rPr lang="en-US" noProof="1"/>
              <a:t> dan </a:t>
            </a:r>
            <a:r>
              <a:rPr lang="en-US" b="1" noProof="1"/>
              <a:t>resources</a:t>
            </a:r>
            <a:r>
              <a:rPr lang="en-US" noProof="1"/>
              <a:t> telah dimasukkan</a:t>
            </a:r>
          </a:p>
          <a:p>
            <a:pPr lvl="1"/>
            <a:r>
              <a:rPr lang="en-US" b="1" noProof="1"/>
              <a:t>Daftar risiko yang diprioritaskan</a:t>
            </a:r>
            <a:r>
              <a:rPr lang="en-US" noProof="1"/>
              <a:t> (bagian dari </a:t>
            </a:r>
            <a:r>
              <a:rPr lang="en-US" b="1" noProof="1"/>
              <a:t>risk register</a:t>
            </a:r>
            <a:r>
              <a:rPr lang="en-US" noProof="1"/>
              <a:t>)</a:t>
            </a:r>
          </a:p>
          <a:p>
            <a:r>
              <a:rPr lang="en-US" noProof="1"/>
              <a:t>Lihat contoh dokumen pada slide berikutnya: scope statement, WBS, Gantt chart, dan daftar risiko.</a:t>
            </a:r>
          </a:p>
          <a:p>
            <a:pPr marL="0" indent="0">
              <a:buNone/>
            </a:pPr>
            <a:endParaRPr lang="en-US" noProof="1"/>
          </a:p>
        </p:txBody>
      </p:sp>
    </p:spTree>
    <p:extLst>
      <p:ext uri="{BB962C8B-B14F-4D97-AF65-F5344CB8AC3E}">
        <p14:creationId xmlns:p14="http://schemas.microsoft.com/office/powerpoint/2010/main" val="21434129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noProof="1"/>
              <a:t>Contoh Scope Statement (Ringkas) — JWD</a:t>
            </a:r>
          </a:p>
        </p:txBody>
      </p:sp>
      <p:graphicFrame>
        <p:nvGraphicFramePr>
          <p:cNvPr id="3" name="Table 2"/>
          <p:cNvGraphicFramePr>
            <a:graphicFrameLocks noGrp="1"/>
          </p:cNvGraphicFramePr>
          <p:nvPr>
            <p:extLst>
              <p:ext uri="{D42A27DB-BD31-4B8C-83A1-F6EECF244321}">
                <p14:modId xmlns:p14="http://schemas.microsoft.com/office/powerpoint/2010/main" val="1538961873"/>
              </p:ext>
            </p:extLst>
          </p:nvPr>
        </p:nvGraphicFramePr>
        <p:xfrm>
          <a:off x="731520" y="1463040"/>
          <a:ext cx="10698479" cy="4206240"/>
        </p:xfrm>
        <a:graphic>
          <a:graphicData uri="http://schemas.openxmlformats.org/drawingml/2006/table">
            <a:tbl>
              <a:tblPr bandRow="1">
                <a:tableStyleId>{5C22544A-7EE6-4342-B048-85BDC9FD1C3A}</a:tableStyleId>
              </a:tblPr>
              <a:tblGrid>
                <a:gridCol w="2743200">
                  <a:extLst>
                    <a:ext uri="{9D8B030D-6E8A-4147-A177-3AD203B41FA5}">
                      <a16:colId xmlns:a16="http://schemas.microsoft.com/office/drawing/2014/main" val="20000"/>
                    </a:ext>
                  </a:extLst>
                </a:gridCol>
                <a:gridCol w="7955279">
                  <a:extLst>
                    <a:ext uri="{9D8B030D-6E8A-4147-A177-3AD203B41FA5}">
                      <a16:colId xmlns:a16="http://schemas.microsoft.com/office/drawing/2014/main" val="20001"/>
                    </a:ext>
                  </a:extLst>
                </a:gridCol>
              </a:tblGrid>
              <a:tr h="701040">
                <a:tc>
                  <a:txBody>
                    <a:bodyPr/>
                    <a:lstStyle/>
                    <a:p>
                      <a:r>
                        <a:rPr lang="en-US" sz="1500" b="1" noProof="1">
                          <a:latin typeface="Arial"/>
                        </a:rPr>
                        <a:t>Judul Proyek</a:t>
                      </a:r>
                    </a:p>
                  </a:txBody>
                  <a:tcPr/>
                </a:tc>
                <a:tc>
                  <a:txBody>
                    <a:bodyPr/>
                    <a:lstStyle/>
                    <a:p>
                      <a:r>
                        <a:rPr lang="en-US" sz="1500" b="0" noProof="1">
                          <a:latin typeface="Arial"/>
                        </a:rPr>
                        <a:t>Project Management Intranet Site Project</a:t>
                      </a:r>
                    </a:p>
                  </a:txBody>
                  <a:tcPr/>
                </a:tc>
                <a:extLst>
                  <a:ext uri="{0D108BD9-81ED-4DB2-BD59-A6C34878D82A}">
                    <a16:rowId xmlns:a16="http://schemas.microsoft.com/office/drawing/2014/main" val="10000"/>
                  </a:ext>
                </a:extLst>
              </a:tr>
              <a:tr h="701040">
                <a:tc>
                  <a:txBody>
                    <a:bodyPr/>
                    <a:lstStyle/>
                    <a:p>
                      <a:r>
                        <a:rPr lang="en-US" sz="1500" b="1" noProof="1">
                          <a:latin typeface="Arial"/>
                        </a:rPr>
                        <a:t>Justifikasi Proyek</a:t>
                      </a:r>
                    </a:p>
                  </a:txBody>
                  <a:tcPr/>
                </a:tc>
                <a:tc>
                  <a:txBody>
                    <a:bodyPr/>
                    <a:lstStyle/>
                    <a:p>
                      <a:r>
                        <a:rPr lang="en-US" sz="1500" b="0" noProof="1">
                          <a:latin typeface="Arial"/>
                        </a:rPr>
                        <a:t>Meningkatkan visibilitas keahlian JWD dan menurunkan biaya internal; proyek harus balik modal dalam satu tahun (anggaran $140.000).</a:t>
                      </a:r>
                    </a:p>
                  </a:txBody>
                  <a:tcPr/>
                </a:tc>
                <a:extLst>
                  <a:ext uri="{0D108BD9-81ED-4DB2-BD59-A6C34878D82A}">
                    <a16:rowId xmlns:a16="http://schemas.microsoft.com/office/drawing/2014/main" val="10001"/>
                  </a:ext>
                </a:extLst>
              </a:tr>
              <a:tr h="701040">
                <a:tc>
                  <a:txBody>
                    <a:bodyPr/>
                    <a:lstStyle/>
                    <a:p>
                      <a:r>
                        <a:rPr lang="en-US" sz="1500" b="1" noProof="1">
                          <a:latin typeface="Arial"/>
                        </a:rPr>
                        <a:t>Karakteristik &amp; Kebutuhan Produk</a:t>
                      </a:r>
                    </a:p>
                  </a:txBody>
                  <a:tcPr/>
                </a:tc>
                <a:tc>
                  <a:txBody>
                    <a:bodyPr/>
                    <a:lstStyle/>
                    <a:p>
                      <a:r>
                        <a:rPr lang="en-US" sz="1500" b="0" noProof="1">
                          <a:latin typeface="Arial"/>
                        </a:rPr>
                        <a:t>Template &amp; tools, artikel PM, tautan eksternal, fitur “Ask the Expert”, keamanan berlapis, pembayaran online untuk konten tertentu.</a:t>
                      </a:r>
                    </a:p>
                  </a:txBody>
                  <a:tcPr/>
                </a:tc>
                <a:extLst>
                  <a:ext uri="{0D108BD9-81ED-4DB2-BD59-A6C34878D82A}">
                    <a16:rowId xmlns:a16="http://schemas.microsoft.com/office/drawing/2014/main" val="10002"/>
                  </a:ext>
                </a:extLst>
              </a:tr>
              <a:tr h="701040">
                <a:tc>
                  <a:txBody>
                    <a:bodyPr/>
                    <a:lstStyle/>
                    <a:p>
                      <a:r>
                        <a:rPr lang="en-US" sz="1500" b="1" noProof="1">
                          <a:latin typeface="Arial"/>
                        </a:rPr>
                        <a:t>Deliverable Manajemen Proyek</a:t>
                      </a:r>
                    </a:p>
                  </a:txBody>
                  <a:tcPr/>
                </a:tc>
                <a:tc>
                  <a:txBody>
                    <a:bodyPr/>
                    <a:lstStyle/>
                    <a:p>
                      <a:r>
                        <a:rPr lang="en-US" sz="1500" b="0" noProof="1">
                          <a:latin typeface="Arial"/>
                        </a:rPr>
                        <a:t>Business case, charter, team contract, scope statement, WBS, jadwal, baseline biaya, laporan kemajuan, laporan akhir, lessons learned.</a:t>
                      </a:r>
                    </a:p>
                  </a:txBody>
                  <a:tcPr/>
                </a:tc>
                <a:extLst>
                  <a:ext uri="{0D108BD9-81ED-4DB2-BD59-A6C34878D82A}">
                    <a16:rowId xmlns:a16="http://schemas.microsoft.com/office/drawing/2014/main" val="10003"/>
                  </a:ext>
                </a:extLst>
              </a:tr>
              <a:tr h="701040">
                <a:tc>
                  <a:txBody>
                    <a:bodyPr/>
                    <a:lstStyle/>
                    <a:p>
                      <a:r>
                        <a:rPr lang="en-US" sz="1500" b="1" noProof="1">
                          <a:latin typeface="Arial"/>
                        </a:rPr>
                        <a:t>Deliverable Produk</a:t>
                      </a:r>
                    </a:p>
                  </a:txBody>
                  <a:tcPr/>
                </a:tc>
                <a:tc>
                  <a:txBody>
                    <a:bodyPr/>
                    <a:lstStyle/>
                    <a:p>
                      <a:r>
                        <a:rPr lang="en-US" sz="1500" b="0" noProof="1">
                          <a:latin typeface="Arial"/>
                        </a:rPr>
                        <a:t>Survei kebutuhan, koleksi template &amp; contoh, basis artikel dan tautan, fitur Ask the Expert, desain &amp; situs yang teruji, materi promosi.</a:t>
                      </a:r>
                    </a:p>
                  </a:txBody>
                  <a:tcPr/>
                </a:tc>
                <a:extLst>
                  <a:ext uri="{0D108BD9-81ED-4DB2-BD59-A6C34878D82A}">
                    <a16:rowId xmlns:a16="http://schemas.microsoft.com/office/drawing/2014/main" val="10004"/>
                  </a:ext>
                </a:extLst>
              </a:tr>
              <a:tr h="701040">
                <a:tc>
                  <a:txBody>
                    <a:bodyPr/>
                    <a:lstStyle/>
                    <a:p>
                      <a:r>
                        <a:rPr lang="en-US" sz="1500" b="1" noProof="1">
                          <a:latin typeface="Arial"/>
                        </a:rPr>
                        <a:t>Kriteria Keberhasilan</a:t>
                      </a:r>
                    </a:p>
                  </a:txBody>
                  <a:tcPr/>
                </a:tc>
                <a:tc>
                  <a:txBody>
                    <a:bodyPr/>
                    <a:lstStyle/>
                    <a:p>
                      <a:r>
                        <a:rPr lang="en-US" sz="1500" b="0" noProof="1">
                          <a:latin typeface="Arial"/>
                        </a:rPr>
                        <a:t>Situs beroperasi dalam ±6 bulan dan manfaat terealisasi sehingga proyek balik modal dalam satu tahun setelah selesai.</a:t>
                      </a:r>
                    </a:p>
                  </a:txBody>
                  <a:tcPr/>
                </a:tc>
                <a:extLst>
                  <a:ext uri="{0D108BD9-81ED-4DB2-BD59-A6C34878D82A}">
                    <a16:rowId xmlns:a16="http://schemas.microsoft.com/office/drawing/2014/main" val="10005"/>
                  </a:ext>
                </a:extLst>
              </a:tr>
            </a:tbl>
          </a:graphicData>
        </a:graphic>
      </p:graphicFrame>
      <p:sp>
        <p:nvSpPr>
          <p:cNvPr id="4" name="TextBox 3"/>
          <p:cNvSpPr txBox="1"/>
          <p:nvPr/>
        </p:nvSpPr>
        <p:spPr>
          <a:xfrm>
            <a:off x="731520" y="5897880"/>
            <a:ext cx="10698480" cy="365760"/>
          </a:xfrm>
          <a:prstGeom prst="rect">
            <a:avLst/>
          </a:prstGeom>
          <a:noFill/>
        </p:spPr>
        <p:txBody>
          <a:bodyPr wrap="square">
            <a:spAutoFit/>
          </a:bodyPr>
          <a:lstStyle/>
          <a:p>
            <a:r>
              <a:rPr lang="en-US" sz="1200" b="0" noProof="1">
                <a:solidFill>
                  <a:srgbClr val="595959"/>
                </a:solidFill>
                <a:latin typeface="Arial"/>
              </a:rPr>
              <a:t>Disusun ulang dari business case dan project charter JWD pada slide sebelumnya (diadaptasi dari Schwalbe, 2010, Bab 3).</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noProof="1"/>
              <a:t>Contoh WBS — Proyek Intranet JWD</a:t>
            </a:r>
          </a:p>
        </p:txBody>
      </p:sp>
      <p:sp>
        <p:nvSpPr>
          <p:cNvPr id="3" name="Rounded Rectangle 2"/>
          <p:cNvSpPr/>
          <p:nvPr/>
        </p:nvSpPr>
        <p:spPr>
          <a:xfrm>
            <a:off x="3355848" y="1371600"/>
            <a:ext cx="5486400" cy="640080"/>
          </a:xfrm>
          <a:prstGeom prst="roundRect">
            <a:avLst/>
          </a:prstGeom>
          <a:solidFill>
            <a:srgbClr val="0B2E6B"/>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800" b="1" noProof="1">
                <a:solidFill>
                  <a:srgbClr val="FFFFFF"/>
                </a:solidFill>
                <a:latin typeface="Arial"/>
              </a:rPr>
              <a:t>Proyek Situs Intranet Manajemen Proyek</a:t>
            </a:r>
          </a:p>
        </p:txBody>
      </p:sp>
      <p:cxnSp>
        <p:nvCxnSpPr>
          <p:cNvPr id="4" name="Connector 3"/>
          <p:cNvCxnSpPr/>
          <p:nvPr/>
        </p:nvCxnSpPr>
        <p:spPr>
          <a:xfrm>
            <a:off x="6099048" y="2011680"/>
            <a:ext cx="0" cy="320040"/>
          </a:xfrm>
          <a:prstGeom prst="line">
            <a:avLst/>
          </a:prstGeom>
          <a:ln>
            <a:solidFill>
              <a:srgbClr val="0B2E6B"/>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478280" y="2331720"/>
            <a:ext cx="9235440" cy="0"/>
          </a:xfrm>
          <a:prstGeom prst="line">
            <a:avLst/>
          </a:prstGeom>
          <a:ln>
            <a:solidFill>
              <a:srgbClr val="0B2E6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478280" y="2331720"/>
            <a:ext cx="0" cy="228600"/>
          </a:xfrm>
          <a:prstGeom prst="line">
            <a:avLst/>
          </a:prstGeom>
          <a:ln>
            <a:solidFill>
              <a:srgbClr val="0B2E6B"/>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09600" y="2560320"/>
            <a:ext cx="1737360" cy="777240"/>
          </a:xfrm>
          <a:prstGeom prst="roundRect">
            <a:avLst/>
          </a:prstGeom>
          <a:solidFill>
            <a:srgbClr val="2E6FBF"/>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300" b="1" noProof="1">
                <a:solidFill>
                  <a:srgbClr val="FFFFFF"/>
                </a:solidFill>
                <a:latin typeface="Arial"/>
              </a:rPr>
              <a:t>1.0 Manajemen Proyek</a:t>
            </a:r>
          </a:p>
        </p:txBody>
      </p:sp>
      <p:sp>
        <p:nvSpPr>
          <p:cNvPr id="8" name="Rounded Rectangle 7"/>
          <p:cNvSpPr/>
          <p:nvPr/>
        </p:nvSpPr>
        <p:spPr>
          <a:xfrm>
            <a:off x="701040" y="3474720"/>
            <a:ext cx="1554480" cy="502920"/>
          </a:xfrm>
          <a:prstGeom prst="round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100" b="0" noProof="1">
                <a:solidFill>
                  <a:srgbClr val="1F1F1F"/>
                </a:solidFill>
                <a:latin typeface="Arial"/>
              </a:rPr>
              <a:t>Charter &amp; rencana</a:t>
            </a:r>
          </a:p>
        </p:txBody>
      </p:sp>
      <p:sp>
        <p:nvSpPr>
          <p:cNvPr id="9" name="Rounded Rectangle 8"/>
          <p:cNvSpPr/>
          <p:nvPr/>
        </p:nvSpPr>
        <p:spPr>
          <a:xfrm>
            <a:off x="701040" y="4069080"/>
            <a:ext cx="1554480" cy="502920"/>
          </a:xfrm>
          <a:prstGeom prst="round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100" b="0" noProof="1">
                <a:solidFill>
                  <a:srgbClr val="1F1F1F"/>
                </a:solidFill>
                <a:latin typeface="Arial"/>
              </a:rPr>
              <a:t>Rapat &amp; laporan kemajuan</a:t>
            </a:r>
          </a:p>
        </p:txBody>
      </p:sp>
      <p:sp>
        <p:nvSpPr>
          <p:cNvPr id="10" name="Rounded Rectangle 9"/>
          <p:cNvSpPr/>
          <p:nvPr/>
        </p:nvSpPr>
        <p:spPr>
          <a:xfrm>
            <a:off x="701040" y="4663440"/>
            <a:ext cx="1554480" cy="502920"/>
          </a:xfrm>
          <a:prstGeom prst="round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100" b="0" noProof="1">
                <a:solidFill>
                  <a:srgbClr val="1F1F1F"/>
                </a:solidFill>
                <a:latin typeface="Arial"/>
              </a:rPr>
              <a:t>Laporan akhir</a:t>
            </a:r>
          </a:p>
        </p:txBody>
      </p:sp>
      <p:cxnSp>
        <p:nvCxnSpPr>
          <p:cNvPr id="11" name="Connector 10"/>
          <p:cNvCxnSpPr/>
          <p:nvPr/>
        </p:nvCxnSpPr>
        <p:spPr>
          <a:xfrm>
            <a:off x="3325368" y="2331720"/>
            <a:ext cx="0" cy="228600"/>
          </a:xfrm>
          <a:prstGeom prst="line">
            <a:avLst/>
          </a:prstGeom>
          <a:ln>
            <a:solidFill>
              <a:srgbClr val="0B2E6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456688" y="2560320"/>
            <a:ext cx="1737360" cy="777240"/>
          </a:xfrm>
          <a:prstGeom prst="roundRect">
            <a:avLst/>
          </a:prstGeom>
          <a:solidFill>
            <a:srgbClr val="2E6FBF"/>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300" b="1" noProof="1">
                <a:solidFill>
                  <a:srgbClr val="FFFFFF"/>
                </a:solidFill>
                <a:latin typeface="Arial"/>
              </a:rPr>
              <a:t>2.0 Definisi Kebutuhan</a:t>
            </a:r>
          </a:p>
        </p:txBody>
      </p:sp>
      <p:sp>
        <p:nvSpPr>
          <p:cNvPr id="13" name="Rounded Rectangle 12"/>
          <p:cNvSpPr/>
          <p:nvPr/>
        </p:nvSpPr>
        <p:spPr>
          <a:xfrm>
            <a:off x="2548128" y="3474720"/>
            <a:ext cx="1554480" cy="502920"/>
          </a:xfrm>
          <a:prstGeom prst="round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100" b="0" noProof="1">
                <a:solidFill>
                  <a:srgbClr val="1F1F1F"/>
                </a:solidFill>
                <a:latin typeface="Arial"/>
              </a:rPr>
              <a:t>Survei pengguna</a:t>
            </a:r>
          </a:p>
        </p:txBody>
      </p:sp>
      <p:sp>
        <p:nvSpPr>
          <p:cNvPr id="14" name="Rounded Rectangle 13"/>
          <p:cNvSpPr/>
          <p:nvPr/>
        </p:nvSpPr>
        <p:spPr>
          <a:xfrm>
            <a:off x="2548128" y="4069080"/>
            <a:ext cx="1554480" cy="502920"/>
          </a:xfrm>
          <a:prstGeom prst="round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100" b="0" noProof="1">
                <a:solidFill>
                  <a:srgbClr val="1F1F1F"/>
                </a:solidFill>
                <a:latin typeface="Arial"/>
              </a:rPr>
              <a:t>Dokumen kebutuhan</a:t>
            </a:r>
          </a:p>
        </p:txBody>
      </p:sp>
      <p:cxnSp>
        <p:nvCxnSpPr>
          <p:cNvPr id="15" name="Connector 14"/>
          <p:cNvCxnSpPr/>
          <p:nvPr/>
        </p:nvCxnSpPr>
        <p:spPr>
          <a:xfrm>
            <a:off x="5172456" y="2331720"/>
            <a:ext cx="0" cy="228600"/>
          </a:xfrm>
          <a:prstGeom prst="line">
            <a:avLst/>
          </a:prstGeom>
          <a:ln>
            <a:solidFill>
              <a:srgbClr val="0B2E6B"/>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303776" y="2560320"/>
            <a:ext cx="1737360" cy="777240"/>
          </a:xfrm>
          <a:prstGeom prst="roundRect">
            <a:avLst/>
          </a:prstGeom>
          <a:solidFill>
            <a:srgbClr val="2E6FBF"/>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300" b="1" noProof="1">
                <a:solidFill>
                  <a:srgbClr val="FFFFFF"/>
                </a:solidFill>
                <a:latin typeface="Arial"/>
              </a:rPr>
              <a:t>3.0 Desain Situs Web</a:t>
            </a:r>
          </a:p>
        </p:txBody>
      </p:sp>
      <p:sp>
        <p:nvSpPr>
          <p:cNvPr id="17" name="Rounded Rectangle 16"/>
          <p:cNvSpPr/>
          <p:nvPr/>
        </p:nvSpPr>
        <p:spPr>
          <a:xfrm>
            <a:off x="4395216" y="3474720"/>
            <a:ext cx="1554480" cy="502920"/>
          </a:xfrm>
          <a:prstGeom prst="round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100" b="0" noProof="1">
                <a:solidFill>
                  <a:srgbClr val="1F1F1F"/>
                </a:solidFill>
                <a:latin typeface="Arial"/>
              </a:rPr>
              <a:t>Struktur &amp; tampilan</a:t>
            </a:r>
          </a:p>
        </p:txBody>
      </p:sp>
      <p:sp>
        <p:nvSpPr>
          <p:cNvPr id="18" name="Rounded Rectangle 17"/>
          <p:cNvSpPr/>
          <p:nvPr/>
        </p:nvSpPr>
        <p:spPr>
          <a:xfrm>
            <a:off x="4395216" y="4069080"/>
            <a:ext cx="1554480" cy="502920"/>
          </a:xfrm>
          <a:prstGeom prst="round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100" b="0" noProof="1">
                <a:solidFill>
                  <a:srgbClr val="1F1F1F"/>
                </a:solidFill>
                <a:latin typeface="Arial"/>
              </a:rPr>
              <a:t>Desain keamanan &amp; pembayaran</a:t>
            </a:r>
          </a:p>
        </p:txBody>
      </p:sp>
      <p:cxnSp>
        <p:nvCxnSpPr>
          <p:cNvPr id="19" name="Connector 18"/>
          <p:cNvCxnSpPr/>
          <p:nvPr/>
        </p:nvCxnSpPr>
        <p:spPr>
          <a:xfrm>
            <a:off x="7019544" y="2331720"/>
            <a:ext cx="0" cy="228600"/>
          </a:xfrm>
          <a:prstGeom prst="line">
            <a:avLst/>
          </a:prstGeom>
          <a:ln>
            <a:solidFill>
              <a:srgbClr val="0B2E6B"/>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50864" y="2560320"/>
            <a:ext cx="1737360" cy="777240"/>
          </a:xfrm>
          <a:prstGeom prst="roundRect">
            <a:avLst/>
          </a:prstGeom>
          <a:solidFill>
            <a:srgbClr val="2E6FBF"/>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300" b="1" noProof="1">
                <a:solidFill>
                  <a:srgbClr val="FFFFFF"/>
                </a:solidFill>
                <a:latin typeface="Arial"/>
              </a:rPr>
              <a:t>4.0 Pengembangan Situs Web</a:t>
            </a:r>
          </a:p>
        </p:txBody>
      </p:sp>
      <p:sp>
        <p:nvSpPr>
          <p:cNvPr id="21" name="Rounded Rectangle 20"/>
          <p:cNvSpPr/>
          <p:nvPr/>
        </p:nvSpPr>
        <p:spPr>
          <a:xfrm>
            <a:off x="6242304" y="3474720"/>
            <a:ext cx="1554480" cy="502920"/>
          </a:xfrm>
          <a:prstGeom prst="round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100" b="0" noProof="1">
                <a:solidFill>
                  <a:srgbClr val="1F1F1F"/>
                </a:solidFill>
                <a:latin typeface="Arial"/>
              </a:rPr>
              <a:t>Template &amp; tools</a:t>
            </a:r>
          </a:p>
        </p:txBody>
      </p:sp>
      <p:sp>
        <p:nvSpPr>
          <p:cNvPr id="22" name="Rounded Rectangle 21"/>
          <p:cNvSpPr/>
          <p:nvPr/>
        </p:nvSpPr>
        <p:spPr>
          <a:xfrm>
            <a:off x="6242304" y="4069080"/>
            <a:ext cx="1554480" cy="502920"/>
          </a:xfrm>
          <a:prstGeom prst="round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100" b="0" noProof="1">
                <a:solidFill>
                  <a:srgbClr val="1F1F1F"/>
                </a:solidFill>
                <a:latin typeface="Arial"/>
              </a:rPr>
              <a:t>Artikel &amp; tautan</a:t>
            </a:r>
          </a:p>
        </p:txBody>
      </p:sp>
      <p:sp>
        <p:nvSpPr>
          <p:cNvPr id="23" name="Rounded Rectangle 22"/>
          <p:cNvSpPr/>
          <p:nvPr/>
        </p:nvSpPr>
        <p:spPr>
          <a:xfrm>
            <a:off x="6242304" y="4663440"/>
            <a:ext cx="1554480" cy="502920"/>
          </a:xfrm>
          <a:prstGeom prst="round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100" b="0" noProof="1">
                <a:solidFill>
                  <a:srgbClr val="1F1F1F"/>
                </a:solidFill>
                <a:latin typeface="Arial"/>
              </a:rPr>
              <a:t>Ask the Expert</a:t>
            </a:r>
          </a:p>
        </p:txBody>
      </p:sp>
      <p:sp>
        <p:nvSpPr>
          <p:cNvPr id="24" name="Rounded Rectangle 23"/>
          <p:cNvSpPr/>
          <p:nvPr/>
        </p:nvSpPr>
        <p:spPr>
          <a:xfrm>
            <a:off x="6242304" y="5257800"/>
            <a:ext cx="1554480" cy="502920"/>
          </a:xfrm>
          <a:prstGeom prst="round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100" b="0" noProof="1">
                <a:solidFill>
                  <a:srgbClr val="1F1F1F"/>
                </a:solidFill>
                <a:latin typeface="Arial"/>
              </a:rPr>
              <a:t>Pembayaran online</a:t>
            </a:r>
          </a:p>
        </p:txBody>
      </p:sp>
      <p:cxnSp>
        <p:nvCxnSpPr>
          <p:cNvPr id="25" name="Connector 24"/>
          <p:cNvCxnSpPr/>
          <p:nvPr/>
        </p:nvCxnSpPr>
        <p:spPr>
          <a:xfrm>
            <a:off x="8866632" y="2331720"/>
            <a:ext cx="0" cy="228600"/>
          </a:xfrm>
          <a:prstGeom prst="line">
            <a:avLst/>
          </a:prstGeom>
          <a:ln>
            <a:solidFill>
              <a:srgbClr val="0B2E6B"/>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997952" y="2560320"/>
            <a:ext cx="1737360" cy="777240"/>
          </a:xfrm>
          <a:prstGeom prst="roundRect">
            <a:avLst/>
          </a:prstGeom>
          <a:solidFill>
            <a:srgbClr val="2E6FBF"/>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300" b="1" noProof="1">
                <a:solidFill>
                  <a:srgbClr val="FFFFFF"/>
                </a:solidFill>
                <a:latin typeface="Arial"/>
              </a:rPr>
              <a:t>5.0 Roll Out</a:t>
            </a:r>
          </a:p>
        </p:txBody>
      </p:sp>
      <p:sp>
        <p:nvSpPr>
          <p:cNvPr id="27" name="Rounded Rectangle 26"/>
          <p:cNvSpPr/>
          <p:nvPr/>
        </p:nvSpPr>
        <p:spPr>
          <a:xfrm>
            <a:off x="8089392" y="3474720"/>
            <a:ext cx="1554480" cy="502920"/>
          </a:xfrm>
          <a:prstGeom prst="round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100" b="0" noProof="1">
                <a:solidFill>
                  <a:srgbClr val="1F1F1F"/>
                </a:solidFill>
                <a:latin typeface="Arial"/>
              </a:rPr>
              <a:t>Pengujian</a:t>
            </a:r>
          </a:p>
        </p:txBody>
      </p:sp>
      <p:sp>
        <p:nvSpPr>
          <p:cNvPr id="28" name="Rounded Rectangle 27"/>
          <p:cNvSpPr/>
          <p:nvPr/>
        </p:nvSpPr>
        <p:spPr>
          <a:xfrm>
            <a:off x="8089392" y="4069080"/>
            <a:ext cx="1554480" cy="502920"/>
          </a:xfrm>
          <a:prstGeom prst="round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100" b="0" noProof="1">
                <a:solidFill>
                  <a:srgbClr val="1F1F1F"/>
                </a:solidFill>
                <a:latin typeface="Arial"/>
              </a:rPr>
              <a:t>Promosi &amp; pelatihan</a:t>
            </a:r>
          </a:p>
        </p:txBody>
      </p:sp>
      <p:cxnSp>
        <p:nvCxnSpPr>
          <p:cNvPr id="29" name="Connector 28"/>
          <p:cNvCxnSpPr/>
          <p:nvPr/>
        </p:nvCxnSpPr>
        <p:spPr>
          <a:xfrm>
            <a:off x="10713720" y="2331720"/>
            <a:ext cx="0" cy="228600"/>
          </a:xfrm>
          <a:prstGeom prst="line">
            <a:avLst/>
          </a:prstGeom>
          <a:ln>
            <a:solidFill>
              <a:srgbClr val="0B2E6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845040" y="2560320"/>
            <a:ext cx="1737360" cy="777240"/>
          </a:xfrm>
          <a:prstGeom prst="roundRect">
            <a:avLst/>
          </a:prstGeom>
          <a:solidFill>
            <a:srgbClr val="2E6FBF"/>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300" b="1" noProof="1">
                <a:solidFill>
                  <a:srgbClr val="FFFFFF"/>
                </a:solidFill>
                <a:latin typeface="Arial"/>
              </a:rPr>
              <a:t>6.0 Dukungan</a:t>
            </a:r>
          </a:p>
        </p:txBody>
      </p:sp>
      <p:sp>
        <p:nvSpPr>
          <p:cNvPr id="31" name="Rounded Rectangle 30"/>
          <p:cNvSpPr/>
          <p:nvPr/>
        </p:nvSpPr>
        <p:spPr>
          <a:xfrm>
            <a:off x="9936480" y="3474720"/>
            <a:ext cx="1554480" cy="502920"/>
          </a:xfrm>
          <a:prstGeom prst="round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100" b="0" noProof="1">
                <a:solidFill>
                  <a:srgbClr val="1F1F1F"/>
                </a:solidFill>
                <a:latin typeface="Arial"/>
              </a:rPr>
              <a:t>Pemeliharaan awal</a:t>
            </a:r>
          </a:p>
        </p:txBody>
      </p:sp>
      <p:sp>
        <p:nvSpPr>
          <p:cNvPr id="32" name="Rounded Rectangle 31"/>
          <p:cNvSpPr/>
          <p:nvPr/>
        </p:nvSpPr>
        <p:spPr>
          <a:xfrm>
            <a:off x="9936480" y="4069080"/>
            <a:ext cx="1554480" cy="502920"/>
          </a:xfrm>
          <a:prstGeom prst="round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lang="en-US" sz="1100" b="0" noProof="1">
                <a:solidFill>
                  <a:srgbClr val="1F1F1F"/>
                </a:solidFill>
                <a:latin typeface="Arial"/>
              </a:rPr>
              <a:t>Pengukuran manfaat</a:t>
            </a:r>
          </a:p>
        </p:txBody>
      </p:sp>
      <p:sp>
        <p:nvSpPr>
          <p:cNvPr id="33" name="TextBox 32"/>
          <p:cNvSpPr txBox="1"/>
          <p:nvPr/>
        </p:nvSpPr>
        <p:spPr>
          <a:xfrm>
            <a:off x="731520" y="5989320"/>
            <a:ext cx="10698480" cy="365760"/>
          </a:xfrm>
          <a:prstGeom prst="rect">
            <a:avLst/>
          </a:prstGeom>
          <a:noFill/>
        </p:spPr>
        <p:txBody>
          <a:bodyPr wrap="square">
            <a:spAutoFit/>
          </a:bodyPr>
          <a:lstStyle/>
          <a:p>
            <a:r>
              <a:rPr lang="en-US" sz="1200" b="0" noProof="1">
                <a:solidFill>
                  <a:srgbClr val="595959"/>
                </a:solidFill>
                <a:latin typeface="Arial"/>
              </a:rPr>
              <a:t>Level 1 mengikuti contoh WBS JWD (Schwalbe, 2010, Bab 3); paket kerja level 2 bersifat ilustratif, diturunkan dari scope statement.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DB9F7-7778-D681-9632-E2D19B9906B7}"/>
              </a:ext>
            </a:extLst>
          </p:cNvPr>
          <p:cNvSpPr>
            <a:spLocks noGrp="1"/>
          </p:cNvSpPr>
          <p:nvPr>
            <p:ph type="title"/>
          </p:nvPr>
        </p:nvSpPr>
        <p:spPr/>
        <p:txBody>
          <a:bodyPr/>
          <a:lstStyle/>
          <a:p>
            <a:pPr algn="ctr"/>
            <a:r>
              <a:rPr lang="en-US" noProof="1"/>
              <a:t>Bagan Gantt Dasar Proyek Situs Intranet JWD Consulting</a:t>
            </a:r>
          </a:p>
        </p:txBody>
      </p:sp>
      <p:pic>
        <p:nvPicPr>
          <p:cNvPr id="5" name="Content Placeholder 4">
            <a:extLst>
              <a:ext uri="{FF2B5EF4-FFF2-40B4-BE49-F238E27FC236}">
                <a16:creationId xmlns:a16="http://schemas.microsoft.com/office/drawing/2014/main" id="{71B3B1F6-510C-2720-03FE-838F08C4421D}"/>
              </a:ext>
            </a:extLst>
          </p:cNvPr>
          <p:cNvPicPr>
            <a:picLocks noGrp="1" noChangeAspect="1"/>
          </p:cNvPicPr>
          <p:nvPr>
            <p:ph idx="1"/>
          </p:nvPr>
        </p:nvPicPr>
        <p:blipFill>
          <a:blip r:embed="rId2"/>
          <a:stretch>
            <a:fillRect/>
          </a:stretch>
        </p:blipFill>
        <p:spPr>
          <a:xfrm>
            <a:off x="1314450" y="1825625"/>
            <a:ext cx="8961120" cy="4846812"/>
          </a:xfrm>
          <a:prstGeom prst="rect">
            <a:avLst/>
          </a:prstGeom>
        </p:spPr>
      </p:pic>
    </p:spTree>
    <p:extLst>
      <p:ext uri="{BB962C8B-B14F-4D97-AF65-F5344CB8AC3E}">
        <p14:creationId xmlns:p14="http://schemas.microsoft.com/office/powerpoint/2010/main" val="248579584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F4DDD-9277-003C-6064-8DBBCF472978}"/>
              </a:ext>
            </a:extLst>
          </p:cNvPr>
          <p:cNvSpPr>
            <a:spLocks noGrp="1"/>
          </p:cNvSpPr>
          <p:nvPr>
            <p:ph type="title"/>
          </p:nvPr>
        </p:nvSpPr>
        <p:spPr/>
        <p:txBody>
          <a:bodyPr/>
          <a:lstStyle/>
          <a:p>
            <a:pPr algn="ctr"/>
            <a:r>
              <a:rPr lang="en-US" noProof="1"/>
              <a:t>Daftar Risiko yang Diprioritaskan</a:t>
            </a:r>
          </a:p>
        </p:txBody>
      </p:sp>
      <p:graphicFrame>
        <p:nvGraphicFramePr>
          <p:cNvPr id="4" name="Content Placeholder 3">
            <a:extLst>
              <a:ext uri="{FF2B5EF4-FFF2-40B4-BE49-F238E27FC236}">
                <a16:creationId xmlns:a16="http://schemas.microsoft.com/office/drawing/2014/main" id="{CDC655B3-1BE2-8B89-064B-A6A3652EF417}"/>
              </a:ext>
            </a:extLst>
          </p:cNvPr>
          <p:cNvGraphicFramePr>
            <a:graphicFrameLocks noGrp="1"/>
          </p:cNvGraphicFramePr>
          <p:nvPr>
            <p:ph idx="1"/>
            <p:extLst>
              <p:ext uri="{D42A27DB-BD31-4B8C-83A1-F6EECF244321}">
                <p14:modId xmlns:p14="http://schemas.microsoft.com/office/powerpoint/2010/main" val="4138112448"/>
              </p:ext>
            </p:extLst>
          </p:nvPr>
        </p:nvGraphicFramePr>
        <p:xfrm>
          <a:off x="491490" y="1766858"/>
          <a:ext cx="11212830" cy="4837496"/>
        </p:xfrm>
        <a:graphic>
          <a:graphicData uri="http://schemas.openxmlformats.org/drawingml/2006/table">
            <a:tbl>
              <a:tblPr>
                <a:tableStyleId>{616DA210-FB5B-4158-B5E0-FEB733F419BA}</a:tableStyleId>
              </a:tblPr>
              <a:tblGrid>
                <a:gridCol w="2337405">
                  <a:extLst>
                    <a:ext uri="{9D8B030D-6E8A-4147-A177-3AD203B41FA5}">
                      <a16:colId xmlns:a16="http://schemas.microsoft.com/office/drawing/2014/main" val="1125629690"/>
                    </a:ext>
                  </a:extLst>
                </a:gridCol>
                <a:gridCol w="8875425">
                  <a:extLst>
                    <a:ext uri="{9D8B030D-6E8A-4147-A177-3AD203B41FA5}">
                      <a16:colId xmlns:a16="http://schemas.microsoft.com/office/drawing/2014/main" val="2807786980"/>
                    </a:ext>
                  </a:extLst>
                </a:gridCol>
              </a:tblGrid>
              <a:tr h="345151">
                <a:tc>
                  <a:txBody>
                    <a:bodyPr/>
                    <a:lstStyle/>
                    <a:p>
                      <a:pPr algn="ctr">
                        <a:buNone/>
                      </a:pPr>
                      <a:r>
                        <a:rPr lang="en-US" sz="2000" b="1" noProof="1">
                          <a:latin typeface="Arial" panose="020B0604020202020204" pitchFamily="34" charset="0"/>
                          <a:cs typeface="Arial" panose="020B0604020202020204" pitchFamily="34" charset="0"/>
                        </a:rPr>
                        <a:t>Ranking</a:t>
                      </a:r>
                      <a:endParaRPr lang="en-US" sz="2000" noProof="1">
                        <a:latin typeface="Arial" panose="020B0604020202020204" pitchFamily="34" charset="0"/>
                        <a:cs typeface="Arial" panose="020B0604020202020204" pitchFamily="34" charset="0"/>
                      </a:endParaRPr>
                    </a:p>
                  </a:txBody>
                  <a:tcPr marL="73751" marR="73751" marT="36876" marB="36876" anchor="ctr"/>
                </a:tc>
                <a:tc>
                  <a:txBody>
                    <a:bodyPr/>
                    <a:lstStyle/>
                    <a:p>
                      <a:pPr>
                        <a:buNone/>
                      </a:pPr>
                      <a:r>
                        <a:rPr lang="en-US" sz="2000" b="1" noProof="1">
                          <a:latin typeface="Arial" panose="020B0604020202020204" pitchFamily="34" charset="0"/>
                          <a:cs typeface="Arial" panose="020B0604020202020204" pitchFamily="34" charset="0"/>
                        </a:rPr>
                        <a:t>Potensi Risiko</a:t>
                      </a:r>
                      <a:endParaRPr lang="en-US" sz="2000" noProof="1">
                        <a:latin typeface="Arial" panose="020B0604020202020204" pitchFamily="34" charset="0"/>
                        <a:cs typeface="Arial" panose="020B0604020202020204" pitchFamily="34" charset="0"/>
                      </a:endParaRPr>
                    </a:p>
                  </a:txBody>
                  <a:tcPr marL="73751" marR="73751" marT="36876" marB="36876" anchor="ctr"/>
                </a:tc>
                <a:extLst>
                  <a:ext uri="{0D108BD9-81ED-4DB2-BD59-A6C34878D82A}">
                    <a16:rowId xmlns:a16="http://schemas.microsoft.com/office/drawing/2014/main" val="3412011420"/>
                  </a:ext>
                </a:extLst>
              </a:tr>
              <a:tr h="345151">
                <a:tc>
                  <a:txBody>
                    <a:bodyPr/>
                    <a:lstStyle/>
                    <a:p>
                      <a:pPr algn="ctr">
                        <a:buNone/>
                      </a:pPr>
                      <a:r>
                        <a:rPr lang="en-US" sz="2000" noProof="1">
                          <a:latin typeface="Arial" panose="020B0604020202020204" pitchFamily="34" charset="0"/>
                          <a:cs typeface="Arial" panose="020B0604020202020204" pitchFamily="34" charset="0"/>
                        </a:rPr>
                        <a:t>1</a:t>
                      </a:r>
                    </a:p>
                  </a:txBody>
                  <a:tcPr marL="73751" marR="73751" marT="36876" marB="36876" anchor="ctr"/>
                </a:tc>
                <a:tc>
                  <a:txBody>
                    <a:bodyPr/>
                    <a:lstStyle/>
                    <a:p>
                      <a:pPr>
                        <a:buNone/>
                      </a:pPr>
                      <a:r>
                        <a:rPr lang="en-US" sz="2000" noProof="1">
                          <a:latin typeface="Arial" panose="020B0604020202020204" pitchFamily="34" charset="0"/>
                          <a:cs typeface="Arial" panose="020B0604020202020204" pitchFamily="34" charset="0"/>
                        </a:rPr>
                        <a:t>Kurangnya masukan dari konsultan internal</a:t>
                      </a:r>
                    </a:p>
                  </a:txBody>
                  <a:tcPr marL="73751" marR="73751" marT="36876" marB="36876" anchor="ctr"/>
                </a:tc>
                <a:extLst>
                  <a:ext uri="{0D108BD9-81ED-4DB2-BD59-A6C34878D82A}">
                    <a16:rowId xmlns:a16="http://schemas.microsoft.com/office/drawing/2014/main" val="2952212887"/>
                  </a:ext>
                </a:extLst>
              </a:tr>
              <a:tr h="345151">
                <a:tc>
                  <a:txBody>
                    <a:bodyPr/>
                    <a:lstStyle/>
                    <a:p>
                      <a:pPr algn="ctr">
                        <a:buNone/>
                      </a:pPr>
                      <a:r>
                        <a:rPr lang="en-US" sz="2000" noProof="1">
                          <a:latin typeface="Arial" panose="020B0604020202020204" pitchFamily="34" charset="0"/>
                          <a:cs typeface="Arial" panose="020B0604020202020204" pitchFamily="34" charset="0"/>
                        </a:rPr>
                        <a:t>2</a:t>
                      </a:r>
                    </a:p>
                  </a:txBody>
                  <a:tcPr marL="73751" marR="73751" marT="36876" marB="36876" anchor="ctr"/>
                </a:tc>
                <a:tc>
                  <a:txBody>
                    <a:bodyPr/>
                    <a:lstStyle/>
                    <a:p>
                      <a:pPr>
                        <a:buNone/>
                      </a:pPr>
                      <a:r>
                        <a:rPr lang="en-US" sz="2000" noProof="1">
                          <a:latin typeface="Arial" panose="020B0604020202020204" pitchFamily="34" charset="0"/>
                          <a:cs typeface="Arial" panose="020B0604020202020204" pitchFamily="34" charset="0"/>
                        </a:rPr>
                        <a:t>Kurangnya masukan dari perwakilan klien</a:t>
                      </a:r>
                    </a:p>
                  </a:txBody>
                  <a:tcPr marL="73751" marR="73751" marT="36876" marB="36876" anchor="ctr"/>
                </a:tc>
                <a:extLst>
                  <a:ext uri="{0D108BD9-81ED-4DB2-BD59-A6C34878D82A}">
                    <a16:rowId xmlns:a16="http://schemas.microsoft.com/office/drawing/2014/main" val="4135955571"/>
                  </a:ext>
                </a:extLst>
              </a:tr>
              <a:tr h="345151">
                <a:tc>
                  <a:txBody>
                    <a:bodyPr/>
                    <a:lstStyle/>
                    <a:p>
                      <a:pPr algn="ctr">
                        <a:buNone/>
                      </a:pPr>
                      <a:r>
                        <a:rPr lang="en-US" sz="2000" noProof="1">
                          <a:latin typeface="Arial" panose="020B0604020202020204" pitchFamily="34" charset="0"/>
                          <a:cs typeface="Arial" panose="020B0604020202020204" pitchFamily="34" charset="0"/>
                        </a:rPr>
                        <a:t>3</a:t>
                      </a:r>
                    </a:p>
                  </a:txBody>
                  <a:tcPr marL="73751" marR="73751" marT="36876" marB="36876" anchor="ctr"/>
                </a:tc>
                <a:tc>
                  <a:txBody>
                    <a:bodyPr/>
                    <a:lstStyle/>
                    <a:p>
                      <a:pPr>
                        <a:buNone/>
                      </a:pPr>
                      <a:r>
                        <a:rPr lang="en-US" sz="2000" noProof="1">
                          <a:latin typeface="Arial" panose="020B0604020202020204" pitchFamily="34" charset="0"/>
                          <a:cs typeface="Arial" panose="020B0604020202020204" pitchFamily="34" charset="0"/>
                        </a:rPr>
                        <a:t>Keamanan sistem baru</a:t>
                      </a:r>
                    </a:p>
                  </a:txBody>
                  <a:tcPr marL="73751" marR="73751" marT="36876" marB="36876" anchor="ctr"/>
                </a:tc>
                <a:extLst>
                  <a:ext uri="{0D108BD9-81ED-4DB2-BD59-A6C34878D82A}">
                    <a16:rowId xmlns:a16="http://schemas.microsoft.com/office/drawing/2014/main" val="3469412002"/>
                  </a:ext>
                </a:extLst>
              </a:tr>
              <a:tr h="470708">
                <a:tc>
                  <a:txBody>
                    <a:bodyPr/>
                    <a:lstStyle/>
                    <a:p>
                      <a:pPr algn="ctr">
                        <a:buNone/>
                      </a:pPr>
                      <a:r>
                        <a:rPr lang="en-US" sz="2000" noProof="1">
                          <a:latin typeface="Arial" panose="020B0604020202020204" pitchFamily="34" charset="0"/>
                          <a:cs typeface="Arial" panose="020B0604020202020204" pitchFamily="34" charset="0"/>
                        </a:rPr>
                        <a:t>4</a:t>
                      </a:r>
                    </a:p>
                  </a:txBody>
                  <a:tcPr marL="73751" marR="73751" marT="36876" marB="36876" anchor="ctr"/>
                </a:tc>
                <a:tc>
                  <a:txBody>
                    <a:bodyPr/>
                    <a:lstStyle/>
                    <a:p>
                      <a:pPr>
                        <a:buNone/>
                      </a:pPr>
                      <a:r>
                        <a:rPr lang="en-US" sz="2000" noProof="1">
                          <a:latin typeface="Arial" panose="020B0604020202020204" pitchFamily="34" charset="0"/>
                          <a:cs typeface="Arial" panose="020B0604020202020204" pitchFamily="34" charset="0"/>
                        </a:rPr>
                        <a:t>Outsourcing/pembelian untuk fitur pengambilan artikel dan "Tanya Ahli"</a:t>
                      </a:r>
                    </a:p>
                  </a:txBody>
                  <a:tcPr marL="73751" marR="73751" marT="36876" marB="36876" anchor="ctr"/>
                </a:tc>
                <a:extLst>
                  <a:ext uri="{0D108BD9-81ED-4DB2-BD59-A6C34878D82A}">
                    <a16:rowId xmlns:a16="http://schemas.microsoft.com/office/drawing/2014/main" val="2289840777"/>
                  </a:ext>
                </a:extLst>
              </a:tr>
              <a:tr h="470708">
                <a:tc>
                  <a:txBody>
                    <a:bodyPr/>
                    <a:lstStyle/>
                    <a:p>
                      <a:pPr algn="ctr">
                        <a:buNone/>
                      </a:pPr>
                      <a:r>
                        <a:rPr lang="en-US" sz="2000" noProof="1">
                          <a:latin typeface="Arial" panose="020B0604020202020204" pitchFamily="34" charset="0"/>
                          <a:cs typeface="Arial" panose="020B0604020202020204" pitchFamily="34" charset="0"/>
                        </a:rPr>
                        <a:t>5</a:t>
                      </a:r>
                    </a:p>
                  </a:txBody>
                  <a:tcPr marL="73751" marR="73751" marT="36876" marB="36876" anchor="ctr"/>
                </a:tc>
                <a:tc>
                  <a:txBody>
                    <a:bodyPr/>
                    <a:lstStyle/>
                    <a:p>
                      <a:pPr>
                        <a:buNone/>
                      </a:pPr>
                      <a:r>
                        <a:rPr lang="en-US" sz="2000" noProof="1">
                          <a:latin typeface="Arial" panose="020B0604020202020204" pitchFamily="34" charset="0"/>
                          <a:cs typeface="Arial" panose="020B0604020202020204" pitchFamily="34" charset="0"/>
                        </a:rPr>
                        <a:t>Outsourcing/pembelian untuk pemrosesan transaksi pembayaran online</a:t>
                      </a:r>
                    </a:p>
                  </a:txBody>
                  <a:tcPr marL="73751" marR="73751" marT="36876" marB="36876" anchor="ctr"/>
                </a:tc>
                <a:extLst>
                  <a:ext uri="{0D108BD9-81ED-4DB2-BD59-A6C34878D82A}">
                    <a16:rowId xmlns:a16="http://schemas.microsoft.com/office/drawing/2014/main" val="2879131686"/>
                  </a:ext>
                </a:extLst>
              </a:tr>
              <a:tr h="470708">
                <a:tc>
                  <a:txBody>
                    <a:bodyPr/>
                    <a:lstStyle/>
                    <a:p>
                      <a:pPr algn="ctr">
                        <a:buNone/>
                      </a:pPr>
                      <a:r>
                        <a:rPr lang="en-US" sz="2000" noProof="1">
                          <a:latin typeface="Arial" panose="020B0604020202020204" pitchFamily="34" charset="0"/>
                          <a:cs typeface="Arial" panose="020B0604020202020204" pitchFamily="34" charset="0"/>
                        </a:rPr>
                        <a:t>6</a:t>
                      </a:r>
                    </a:p>
                  </a:txBody>
                  <a:tcPr marL="73751" marR="73751" marT="36876" marB="36876" anchor="ctr"/>
                </a:tc>
                <a:tc>
                  <a:txBody>
                    <a:bodyPr/>
                    <a:lstStyle/>
                    <a:p>
                      <a:pPr>
                        <a:buNone/>
                      </a:pPr>
                      <a:r>
                        <a:rPr lang="en-US" sz="2000" noProof="1">
                          <a:latin typeface="Arial" panose="020B0604020202020204" pitchFamily="34" charset="0"/>
                          <a:cs typeface="Arial" panose="020B0604020202020204" pitchFamily="34" charset="0"/>
                        </a:rPr>
                        <a:t>Mengorganisir template dan contoh dengan cara yang berguna</a:t>
                      </a:r>
                    </a:p>
                  </a:txBody>
                  <a:tcPr marL="73751" marR="73751" marT="36876" marB="36876" anchor="ctr"/>
                </a:tc>
                <a:extLst>
                  <a:ext uri="{0D108BD9-81ED-4DB2-BD59-A6C34878D82A}">
                    <a16:rowId xmlns:a16="http://schemas.microsoft.com/office/drawing/2014/main" val="587884817"/>
                  </a:ext>
                </a:extLst>
              </a:tr>
              <a:tr h="345151">
                <a:tc>
                  <a:txBody>
                    <a:bodyPr/>
                    <a:lstStyle/>
                    <a:p>
                      <a:pPr algn="ctr">
                        <a:buNone/>
                      </a:pPr>
                      <a:r>
                        <a:rPr lang="en-US" sz="2000" noProof="1">
                          <a:latin typeface="Arial" panose="020B0604020202020204" pitchFamily="34" charset="0"/>
                          <a:cs typeface="Arial" panose="020B0604020202020204" pitchFamily="34" charset="0"/>
                        </a:rPr>
                        <a:t>7</a:t>
                      </a:r>
                    </a:p>
                  </a:txBody>
                  <a:tcPr marL="73751" marR="73751" marT="36876" marB="36876" anchor="ctr"/>
                </a:tc>
                <a:tc>
                  <a:txBody>
                    <a:bodyPr/>
                    <a:lstStyle/>
                    <a:p>
                      <a:pPr>
                        <a:buNone/>
                      </a:pPr>
                      <a:r>
                        <a:rPr lang="en-US" sz="2000" noProof="1">
                          <a:latin typeface="Arial" panose="020B0604020202020204" pitchFamily="34" charset="0"/>
                          <a:cs typeface="Arial" panose="020B0604020202020204" pitchFamily="34" charset="0"/>
                        </a:rPr>
                        <a:t>Menyediakan fitur pencarian yang efisien</a:t>
                      </a:r>
                    </a:p>
                  </a:txBody>
                  <a:tcPr marL="73751" marR="73751" marT="36876" marB="36876" anchor="ctr"/>
                </a:tc>
                <a:extLst>
                  <a:ext uri="{0D108BD9-81ED-4DB2-BD59-A6C34878D82A}">
                    <a16:rowId xmlns:a16="http://schemas.microsoft.com/office/drawing/2014/main" val="3687664842"/>
                  </a:ext>
                </a:extLst>
              </a:tr>
              <a:tr h="623057">
                <a:tc>
                  <a:txBody>
                    <a:bodyPr/>
                    <a:lstStyle/>
                    <a:p>
                      <a:pPr algn="ctr">
                        <a:buNone/>
                      </a:pPr>
                      <a:r>
                        <a:rPr lang="en-US" sz="2000" noProof="1">
                          <a:latin typeface="Arial" panose="020B0604020202020204" pitchFamily="34" charset="0"/>
                          <a:cs typeface="Arial" panose="020B0604020202020204" pitchFamily="34" charset="0"/>
                        </a:rPr>
                        <a:t>8</a:t>
                      </a:r>
                    </a:p>
                  </a:txBody>
                  <a:tcPr marL="73751" marR="73751" marT="36876" marB="36876" anchor="ctr"/>
                </a:tc>
                <a:tc>
                  <a:txBody>
                    <a:bodyPr/>
                    <a:lstStyle/>
                    <a:p>
                      <a:pPr>
                        <a:buNone/>
                      </a:pPr>
                      <a:r>
                        <a:rPr lang="en-US" sz="2000" noProof="1">
                          <a:latin typeface="Arial" panose="020B0604020202020204" pitchFamily="34" charset="0"/>
                          <a:cs typeface="Arial" panose="020B0604020202020204" pitchFamily="34" charset="0"/>
                        </a:rPr>
                        <a:t>Mendapatkan umpan balik yang baik dari Michael Chen dan konsultan senior lainnya</a:t>
                      </a:r>
                    </a:p>
                  </a:txBody>
                  <a:tcPr marL="73751" marR="73751" marT="36876" marB="36876" anchor="ctr"/>
                </a:tc>
                <a:extLst>
                  <a:ext uri="{0D108BD9-81ED-4DB2-BD59-A6C34878D82A}">
                    <a16:rowId xmlns:a16="http://schemas.microsoft.com/office/drawing/2014/main" val="1493062360"/>
                  </a:ext>
                </a:extLst>
              </a:tr>
              <a:tr h="345151">
                <a:tc>
                  <a:txBody>
                    <a:bodyPr/>
                    <a:lstStyle/>
                    <a:p>
                      <a:pPr algn="ctr">
                        <a:buNone/>
                      </a:pPr>
                      <a:r>
                        <a:rPr lang="en-US" sz="2000" noProof="1">
                          <a:latin typeface="Arial" panose="020B0604020202020204" pitchFamily="34" charset="0"/>
                          <a:cs typeface="Arial" panose="020B0604020202020204" pitchFamily="34" charset="0"/>
                        </a:rPr>
                        <a:t>9</a:t>
                      </a:r>
                    </a:p>
                  </a:txBody>
                  <a:tcPr marL="73751" marR="73751" marT="36876" marB="36876" anchor="ctr"/>
                </a:tc>
                <a:tc>
                  <a:txBody>
                    <a:bodyPr/>
                    <a:lstStyle/>
                    <a:p>
                      <a:pPr>
                        <a:buNone/>
                      </a:pPr>
                      <a:r>
                        <a:rPr lang="en-US" sz="2000" noProof="1">
                          <a:latin typeface="Arial" panose="020B0604020202020204" pitchFamily="34" charset="0"/>
                          <a:cs typeface="Arial" panose="020B0604020202020204" pitchFamily="34" charset="0"/>
                        </a:rPr>
                        <a:t>Mempromosikan sistem baru secara efektif</a:t>
                      </a:r>
                    </a:p>
                  </a:txBody>
                  <a:tcPr marL="73751" marR="73751" marT="36876" marB="36876" anchor="ctr"/>
                </a:tc>
                <a:extLst>
                  <a:ext uri="{0D108BD9-81ED-4DB2-BD59-A6C34878D82A}">
                    <a16:rowId xmlns:a16="http://schemas.microsoft.com/office/drawing/2014/main" val="2302215956"/>
                  </a:ext>
                </a:extLst>
              </a:tr>
              <a:tr h="470708">
                <a:tc>
                  <a:txBody>
                    <a:bodyPr/>
                    <a:lstStyle/>
                    <a:p>
                      <a:pPr algn="ctr">
                        <a:buNone/>
                      </a:pPr>
                      <a:r>
                        <a:rPr lang="en-US" sz="2000" noProof="1">
                          <a:latin typeface="Arial" panose="020B0604020202020204" pitchFamily="34" charset="0"/>
                          <a:cs typeface="Arial" panose="020B0604020202020204" pitchFamily="34" charset="0"/>
                        </a:rPr>
                        <a:t>10</a:t>
                      </a:r>
                    </a:p>
                  </a:txBody>
                  <a:tcPr marL="73751" marR="73751" marT="36876" marB="36876" anchor="ctr"/>
                </a:tc>
                <a:tc>
                  <a:txBody>
                    <a:bodyPr/>
                    <a:lstStyle/>
                    <a:p>
                      <a:pPr>
                        <a:buNone/>
                      </a:pPr>
                      <a:r>
                        <a:rPr lang="en-US" sz="2000" noProof="1">
                          <a:latin typeface="Arial" panose="020B0604020202020204" pitchFamily="34" charset="0"/>
                          <a:cs typeface="Arial" panose="020B0604020202020204" pitchFamily="34" charset="0"/>
                        </a:rPr>
                        <a:t>Merealisasikan manfaat dari sistem baru dalam satu tahun</a:t>
                      </a:r>
                    </a:p>
                  </a:txBody>
                  <a:tcPr marL="73751" marR="73751" marT="36876" marB="36876" anchor="ctr"/>
                </a:tc>
                <a:extLst>
                  <a:ext uri="{0D108BD9-81ED-4DB2-BD59-A6C34878D82A}">
                    <a16:rowId xmlns:a16="http://schemas.microsoft.com/office/drawing/2014/main" val="1390826962"/>
                  </a:ext>
                </a:extLst>
              </a:tr>
            </a:tbl>
          </a:graphicData>
        </a:graphic>
      </p:graphicFrame>
    </p:spTree>
    <p:extLst>
      <p:ext uri="{BB962C8B-B14F-4D97-AF65-F5344CB8AC3E}">
        <p14:creationId xmlns:p14="http://schemas.microsoft.com/office/powerpoint/2010/main" val="239086461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09E20-A423-DECA-FD92-8C94DA7A864B}"/>
              </a:ext>
            </a:extLst>
          </p:cNvPr>
          <p:cNvSpPr>
            <a:spLocks noGrp="1"/>
          </p:cNvSpPr>
          <p:nvPr>
            <p:ph type="title"/>
          </p:nvPr>
        </p:nvSpPr>
        <p:spPr/>
        <p:txBody>
          <a:bodyPr/>
          <a:lstStyle/>
          <a:p>
            <a:pPr algn="ctr"/>
            <a:r>
              <a:rPr lang="en-US" noProof="1"/>
              <a:t>Project Executing (Pelaksanaan Proyek)</a:t>
            </a:r>
          </a:p>
        </p:txBody>
      </p:sp>
      <p:sp>
        <p:nvSpPr>
          <p:cNvPr id="3" name="Content Placeholder 2">
            <a:extLst>
              <a:ext uri="{FF2B5EF4-FFF2-40B4-BE49-F238E27FC236}">
                <a16:creationId xmlns:a16="http://schemas.microsoft.com/office/drawing/2014/main" id="{C1A45AE0-C459-FFAD-EC4D-B9717C671ACF}"/>
              </a:ext>
            </a:extLst>
          </p:cNvPr>
          <p:cNvSpPr>
            <a:spLocks noGrp="1"/>
          </p:cNvSpPr>
          <p:nvPr>
            <p:ph idx="1"/>
          </p:nvPr>
        </p:nvSpPr>
        <p:spPr/>
        <p:txBody>
          <a:bodyPr>
            <a:normAutofit fontScale="92500" lnSpcReduction="10000"/>
          </a:bodyPr>
          <a:lstStyle/>
          <a:p>
            <a:r>
              <a:rPr lang="en-US" noProof="1"/>
              <a:t>Biasanya </a:t>
            </a:r>
            <a:r>
              <a:rPr lang="en-US" b="1" noProof="1"/>
              <a:t>memerlukan waktu dan sumber daya paling banyak</a:t>
            </a:r>
            <a:r>
              <a:rPr lang="en-US" noProof="1"/>
              <a:t> untuk melaksanakan eksekusi proyek.</a:t>
            </a:r>
          </a:p>
          <a:p>
            <a:r>
              <a:rPr lang="en-US" b="1" noProof="1"/>
              <a:t>Manajer proyek</a:t>
            </a:r>
            <a:r>
              <a:rPr lang="en-US" noProof="1"/>
              <a:t> harus </a:t>
            </a:r>
            <a:r>
              <a:rPr lang="en-US" b="1" noProof="1"/>
              <a:t>menggunakan keterampilan kepemimpinan mereka</a:t>
            </a:r>
            <a:r>
              <a:rPr lang="en-US" noProof="1"/>
              <a:t> untuk menangani berbagai tantangan yang muncul selama pelaksanaan proyek.</a:t>
            </a:r>
          </a:p>
          <a:p>
            <a:r>
              <a:rPr lang="en-US" b="1" noProof="1"/>
              <a:t>Tabel 3-11 (Lampiran) mencantumkan proses dan keluaran (outputs) pelaksanaan proyek; banyak sponsor proyek dan pelanggan berfokus pada deliverables yang berkaitan dengan produk, layanan, atau hasil yang diharapkan.</a:t>
            </a:r>
          </a:p>
          <a:p>
            <a:r>
              <a:rPr lang="en-US" b="1" noProof="1"/>
              <a:t>Laporan milestone (milestone report) — contoh pada slide berikutnya — membantu memusatkan perhatian pada penyelesaian milestone utama.</a:t>
            </a:r>
            <a:endParaRPr lang="en-US" noProof="1"/>
          </a:p>
          <a:p>
            <a:pPr marL="0" indent="0">
              <a:buNone/>
            </a:pPr>
            <a:endParaRPr lang="en-US" noProof="1"/>
          </a:p>
        </p:txBody>
      </p:sp>
    </p:spTree>
    <p:extLst>
      <p:ext uri="{BB962C8B-B14F-4D97-AF65-F5344CB8AC3E}">
        <p14:creationId xmlns:p14="http://schemas.microsoft.com/office/powerpoint/2010/main" val="761134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30EB5-3A00-3806-37EF-98569DE6E6E8}"/>
              </a:ext>
            </a:extLst>
          </p:cNvPr>
          <p:cNvSpPr>
            <a:spLocks noGrp="1"/>
          </p:cNvSpPr>
          <p:nvPr>
            <p:ph type="title"/>
          </p:nvPr>
        </p:nvSpPr>
        <p:spPr>
          <a:xfrm>
            <a:off x="838200" y="274321"/>
            <a:ext cx="10515600" cy="1019376"/>
          </a:xfrm>
        </p:spPr>
        <p:txBody>
          <a:bodyPr/>
          <a:lstStyle/>
          <a:p>
            <a:pPr algn="ctr"/>
            <a:r>
              <a:rPr lang="en-US" noProof="1"/>
              <a:t>Bagian dari Laporan Milestone</a:t>
            </a:r>
          </a:p>
        </p:txBody>
      </p:sp>
      <p:graphicFrame>
        <p:nvGraphicFramePr>
          <p:cNvPr id="4" name="Content Placeholder 3">
            <a:extLst>
              <a:ext uri="{FF2B5EF4-FFF2-40B4-BE49-F238E27FC236}">
                <a16:creationId xmlns:a16="http://schemas.microsoft.com/office/drawing/2014/main" id="{FB7DB55A-EE74-7513-A873-065FB9E6564E}"/>
              </a:ext>
            </a:extLst>
          </p:cNvPr>
          <p:cNvGraphicFramePr>
            <a:graphicFrameLocks noGrp="1"/>
          </p:cNvGraphicFramePr>
          <p:nvPr>
            <p:ph idx="1"/>
            <p:extLst>
              <p:ext uri="{D42A27DB-BD31-4B8C-83A1-F6EECF244321}">
                <p14:modId xmlns:p14="http://schemas.microsoft.com/office/powerpoint/2010/main" val="1727282032"/>
              </p:ext>
            </p:extLst>
          </p:nvPr>
        </p:nvGraphicFramePr>
        <p:xfrm>
          <a:off x="392430" y="1293696"/>
          <a:ext cx="11407140" cy="5440515"/>
        </p:xfrm>
        <a:graphic>
          <a:graphicData uri="http://schemas.openxmlformats.org/drawingml/2006/table">
            <a:tbl>
              <a:tblPr/>
              <a:tblGrid>
                <a:gridCol w="4354830">
                  <a:extLst>
                    <a:ext uri="{9D8B030D-6E8A-4147-A177-3AD203B41FA5}">
                      <a16:colId xmlns:a16="http://schemas.microsoft.com/office/drawing/2014/main" val="3377535619"/>
                    </a:ext>
                  </a:extLst>
                </a:gridCol>
                <a:gridCol w="1245870">
                  <a:extLst>
                    <a:ext uri="{9D8B030D-6E8A-4147-A177-3AD203B41FA5}">
                      <a16:colId xmlns:a16="http://schemas.microsoft.com/office/drawing/2014/main" val="3428957232"/>
                    </a:ext>
                  </a:extLst>
                </a:gridCol>
                <a:gridCol w="937260">
                  <a:extLst>
                    <a:ext uri="{9D8B030D-6E8A-4147-A177-3AD203B41FA5}">
                      <a16:colId xmlns:a16="http://schemas.microsoft.com/office/drawing/2014/main" val="826343946"/>
                    </a:ext>
                  </a:extLst>
                </a:gridCol>
                <a:gridCol w="1943100">
                  <a:extLst>
                    <a:ext uri="{9D8B030D-6E8A-4147-A177-3AD203B41FA5}">
                      <a16:colId xmlns:a16="http://schemas.microsoft.com/office/drawing/2014/main" val="3823637533"/>
                    </a:ext>
                  </a:extLst>
                </a:gridCol>
                <a:gridCol w="2926080">
                  <a:extLst>
                    <a:ext uri="{9D8B030D-6E8A-4147-A177-3AD203B41FA5}">
                      <a16:colId xmlns:a16="http://schemas.microsoft.com/office/drawing/2014/main" val="2197155437"/>
                    </a:ext>
                  </a:extLst>
                </a:gridCol>
              </a:tblGrid>
              <a:tr h="327895">
                <a:tc>
                  <a:txBody>
                    <a:bodyPr/>
                    <a:lstStyle/>
                    <a:p>
                      <a:pPr>
                        <a:buNone/>
                      </a:pPr>
                      <a:r>
                        <a:rPr lang="en-US" sz="1400" b="1" noProof="1">
                          <a:latin typeface="Arial" panose="020B0604020202020204" pitchFamily="34" charset="0"/>
                          <a:cs typeface="Arial" panose="020B0604020202020204" pitchFamily="34" charset="0"/>
                        </a:rPr>
                        <a:t>Milestone</a:t>
                      </a: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noProof="1">
                          <a:latin typeface="Arial" panose="020B0604020202020204" pitchFamily="34" charset="0"/>
                          <a:cs typeface="Arial" panose="020B0604020202020204" pitchFamily="34" charset="0"/>
                        </a:rPr>
                        <a:t>Date (Tanggal)</a:t>
                      </a: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noProof="1">
                          <a:latin typeface="Arial" panose="020B0604020202020204" pitchFamily="34" charset="0"/>
                          <a:cs typeface="Arial" panose="020B0604020202020204" pitchFamily="34" charset="0"/>
                        </a:rPr>
                        <a:t>Status</a:t>
                      </a: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noProof="1">
                          <a:latin typeface="Arial" panose="020B0604020202020204" pitchFamily="34" charset="0"/>
                          <a:cs typeface="Arial" panose="020B0604020202020204" pitchFamily="34" charset="0"/>
                        </a:rPr>
                        <a:t>Penanggung Jawab (Responsible)</a:t>
                      </a: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b="1" noProof="1">
                          <a:latin typeface="Arial" panose="020B0604020202020204" pitchFamily="34" charset="0"/>
                          <a:cs typeface="Arial" panose="020B0604020202020204" pitchFamily="34" charset="0"/>
                        </a:rPr>
                        <a:t>Issues/Comments (Isu/Komentar)</a:t>
                      </a: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89975813"/>
                  </a:ext>
                </a:extLst>
              </a:tr>
              <a:tr h="135458">
                <a:tc>
                  <a:txBody>
                    <a:bodyPr/>
                    <a:lstStyle/>
                    <a:p>
                      <a:pPr>
                        <a:buNone/>
                      </a:pPr>
                      <a:r>
                        <a:rPr lang="en-US" sz="1400" b="1" noProof="1">
                          <a:latin typeface="Arial" panose="020B0604020202020204" pitchFamily="34" charset="0"/>
                          <a:cs typeface="Arial" panose="020B0604020202020204" pitchFamily="34" charset="0"/>
                        </a:rPr>
                        <a:t>Initiating (Inisiasi)</a:t>
                      </a: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883339"/>
                  </a:ext>
                </a:extLst>
              </a:tr>
              <a:tr h="524632">
                <a:tc>
                  <a:txBody>
                    <a:bodyPr/>
                    <a:lstStyle/>
                    <a:p>
                      <a:pPr>
                        <a:buNone/>
                      </a:pPr>
                      <a:r>
                        <a:rPr lang="en-US" sz="1400" noProof="1">
                          <a:latin typeface="Arial" panose="020B0604020202020204" pitchFamily="34" charset="0"/>
                          <a:cs typeface="Arial" panose="020B0604020202020204" pitchFamily="34" charset="0"/>
                        </a:rPr>
                        <a:t>Stakeholders identified (Pemangku kepentingan teridentifikasi)</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May 2</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Completed</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Erica and Joe</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6296290"/>
                  </a:ext>
                </a:extLst>
              </a:tr>
              <a:tr h="426264">
                <a:tc>
                  <a:txBody>
                    <a:bodyPr/>
                    <a:lstStyle/>
                    <a:p>
                      <a:pPr>
                        <a:buNone/>
                      </a:pPr>
                      <a:r>
                        <a:rPr lang="en-US" sz="1400" noProof="1">
                          <a:latin typeface="Arial" panose="020B0604020202020204" pitchFamily="34" charset="0"/>
                          <a:cs typeface="Arial" panose="020B0604020202020204" pitchFamily="34" charset="0"/>
                        </a:rPr>
                        <a:t>Project charter signed (Piagam proyek ditandatangani)</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May 10</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Completed</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Erica</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8408473"/>
                  </a:ext>
                </a:extLst>
              </a:tr>
              <a:tr h="426264">
                <a:tc>
                  <a:txBody>
                    <a:bodyPr/>
                    <a:lstStyle/>
                    <a:p>
                      <a:pPr>
                        <a:buNone/>
                      </a:pPr>
                      <a:r>
                        <a:rPr lang="en-US" sz="1400" noProof="1">
                          <a:latin typeface="Arial" panose="020B0604020202020204" pitchFamily="34" charset="0"/>
                          <a:cs typeface="Arial" panose="020B0604020202020204" pitchFamily="34" charset="0"/>
                        </a:rPr>
                        <a:t>Project kick-off meeting held (Rapat kick-off proyek dilaksanakan)</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May 13</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Completed</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Erica</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Went very well (Berjalan sangat baik)</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8234028"/>
                  </a:ext>
                </a:extLst>
              </a:tr>
              <a:tr h="229526">
                <a:tc>
                  <a:txBody>
                    <a:bodyPr/>
                    <a:lstStyle/>
                    <a:p>
                      <a:pPr>
                        <a:buNone/>
                      </a:pPr>
                      <a:r>
                        <a:rPr lang="en-US" sz="1400" b="1" noProof="1">
                          <a:latin typeface="Arial" panose="020B0604020202020204" pitchFamily="34" charset="0"/>
                          <a:cs typeface="Arial" panose="020B0604020202020204" pitchFamily="34" charset="0"/>
                        </a:rPr>
                        <a:t>Planning (Perencanaan)</a:t>
                      </a: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7531008"/>
                  </a:ext>
                </a:extLst>
              </a:tr>
              <a:tr h="327895">
                <a:tc>
                  <a:txBody>
                    <a:bodyPr/>
                    <a:lstStyle/>
                    <a:p>
                      <a:pPr>
                        <a:buNone/>
                      </a:pPr>
                      <a:r>
                        <a:rPr lang="en-US" sz="1400" noProof="1">
                          <a:latin typeface="Arial" panose="020B0604020202020204" pitchFamily="34" charset="0"/>
                          <a:cs typeface="Arial" panose="020B0604020202020204" pitchFamily="34" charset="0"/>
                        </a:rPr>
                        <a:t>Team contract signed (Kontrak tim ditandatangani)</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May 13</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Completed</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Erica</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1899649"/>
                  </a:ext>
                </a:extLst>
              </a:tr>
              <a:tr h="426264">
                <a:tc>
                  <a:txBody>
                    <a:bodyPr/>
                    <a:lstStyle/>
                    <a:p>
                      <a:pPr>
                        <a:buNone/>
                      </a:pPr>
                      <a:r>
                        <a:rPr lang="en-US" sz="1400" noProof="1">
                          <a:latin typeface="Arial" panose="020B0604020202020204" pitchFamily="34" charset="0"/>
                          <a:cs typeface="Arial" panose="020B0604020202020204" pitchFamily="34" charset="0"/>
                        </a:rPr>
                        <a:t>Scope statement completed (Pernyataan ruang lingkup selesai)</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May 27</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Completed</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Erica</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3063743"/>
                  </a:ext>
                </a:extLst>
              </a:tr>
              <a:tr h="229526">
                <a:tc>
                  <a:txBody>
                    <a:bodyPr/>
                    <a:lstStyle/>
                    <a:p>
                      <a:pPr>
                        <a:buNone/>
                      </a:pPr>
                      <a:r>
                        <a:rPr lang="en-US" sz="1400" noProof="1">
                          <a:latin typeface="Arial" panose="020B0604020202020204" pitchFamily="34" charset="0"/>
                          <a:cs typeface="Arial" panose="020B0604020202020204" pitchFamily="34" charset="0"/>
                        </a:rPr>
                        <a:t>WBS completed (WBS selesai)</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May 31</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Completed</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Erica</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4608243"/>
                  </a:ext>
                </a:extLst>
              </a:tr>
              <a:tr h="426264">
                <a:tc>
                  <a:txBody>
                    <a:bodyPr/>
                    <a:lstStyle/>
                    <a:p>
                      <a:pPr>
                        <a:buNone/>
                      </a:pPr>
                      <a:r>
                        <a:rPr lang="en-US" sz="1400" noProof="1">
                          <a:latin typeface="Arial" panose="020B0604020202020204" pitchFamily="34" charset="0"/>
                          <a:cs typeface="Arial" panose="020B0604020202020204" pitchFamily="34" charset="0"/>
                        </a:rPr>
                        <a:t>List of prioritized risks completed (Daftar risiko prioritas selesai)</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June 3</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Completed</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Erica</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Reviewed with sponsor and team (Ditinjau bersama sponsor dan tim)</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2102324"/>
                  </a:ext>
                </a:extLst>
              </a:tr>
              <a:tr h="426264">
                <a:tc>
                  <a:txBody>
                    <a:bodyPr/>
                    <a:lstStyle/>
                    <a:p>
                      <a:pPr>
                        <a:buNone/>
                      </a:pPr>
                      <a:r>
                        <a:rPr lang="en-US" sz="1400" noProof="1">
                          <a:latin typeface="Arial" panose="020B0604020202020204" pitchFamily="34" charset="0"/>
                          <a:cs typeface="Arial" panose="020B0604020202020204" pitchFamily="34" charset="0"/>
                        </a:rPr>
                        <a:t>Schedule and cost baseline completed (Baseline jadwal dan biaya selesai)</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June 13</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Completed</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Erica</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4307245"/>
                  </a:ext>
                </a:extLst>
              </a:tr>
              <a:tr h="229526">
                <a:tc>
                  <a:txBody>
                    <a:bodyPr/>
                    <a:lstStyle/>
                    <a:p>
                      <a:pPr>
                        <a:buNone/>
                      </a:pPr>
                      <a:r>
                        <a:rPr lang="en-US" sz="1400" b="1" noProof="1">
                          <a:latin typeface="Arial" panose="020B0604020202020204" pitchFamily="34" charset="0"/>
                          <a:cs typeface="Arial" panose="020B0604020202020204" pitchFamily="34" charset="0"/>
                        </a:rPr>
                        <a:t>Executing (Pelaksanaan)</a:t>
                      </a: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980510"/>
                  </a:ext>
                </a:extLst>
              </a:tr>
              <a:tr h="327895">
                <a:tc>
                  <a:txBody>
                    <a:bodyPr/>
                    <a:lstStyle/>
                    <a:p>
                      <a:pPr>
                        <a:buNone/>
                      </a:pPr>
                      <a:r>
                        <a:rPr lang="en-US" sz="1400" noProof="1">
                          <a:latin typeface="Arial" panose="020B0604020202020204" pitchFamily="34" charset="0"/>
                          <a:cs typeface="Arial" panose="020B0604020202020204" pitchFamily="34" charset="0"/>
                        </a:rPr>
                        <a:t>Survey completed (Survei selesai)</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June 28</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Completed</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Erica</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Poor response so far! (Respon sejauh ini kurang baik!)</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4083587"/>
                  </a:ext>
                </a:extLst>
              </a:tr>
              <a:tr h="426264">
                <a:tc>
                  <a:txBody>
                    <a:bodyPr/>
                    <a:lstStyle/>
                    <a:p>
                      <a:pPr>
                        <a:buNone/>
                      </a:pPr>
                      <a:r>
                        <a:rPr lang="en-US" sz="1400" noProof="1">
                          <a:latin typeface="Arial" panose="020B0604020202020204" pitchFamily="34" charset="0"/>
                          <a:cs typeface="Arial" panose="020B0604020202020204" pitchFamily="34" charset="0"/>
                        </a:rPr>
                        <a:t>Intranet site design completed (Desain situs intranet selesai)</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July 26</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Completed</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noProof="1">
                          <a:latin typeface="Arial" panose="020B0604020202020204" pitchFamily="34" charset="0"/>
                          <a:cs typeface="Arial" panose="020B0604020202020204" pitchFamily="34" charset="0"/>
                        </a:rPr>
                        <a:t>Kevin</a:t>
                      </a: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400" noProof="1">
                        <a:latin typeface="Arial" panose="020B0604020202020204" pitchFamily="34" charset="0"/>
                        <a:cs typeface="Arial" panose="020B0604020202020204" pitchFamily="34" charset="0"/>
                      </a:endParaRPr>
                    </a:p>
                  </a:txBody>
                  <a:tcPr marL="29204" marR="29204" marT="14602" marB="146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8462342"/>
                  </a:ext>
                </a:extLst>
              </a:tr>
            </a:tbl>
          </a:graphicData>
        </a:graphic>
      </p:graphicFrame>
    </p:spTree>
    <p:extLst>
      <p:ext uri="{BB962C8B-B14F-4D97-AF65-F5344CB8AC3E}">
        <p14:creationId xmlns:p14="http://schemas.microsoft.com/office/powerpoint/2010/main" val="37210090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A5475-8943-5AAB-629E-36BE87D7D256}"/>
              </a:ext>
            </a:extLst>
          </p:cNvPr>
          <p:cNvSpPr>
            <a:spLocks noGrp="1"/>
          </p:cNvSpPr>
          <p:nvPr>
            <p:ph type="title"/>
          </p:nvPr>
        </p:nvSpPr>
        <p:spPr/>
        <p:txBody>
          <a:bodyPr/>
          <a:lstStyle/>
          <a:p>
            <a:pPr algn="ctr"/>
            <a:r>
              <a:rPr lang="en-US" noProof="1"/>
              <a:t>Best Practice (Praktik Terbaik)</a:t>
            </a:r>
          </a:p>
        </p:txBody>
      </p:sp>
      <p:sp>
        <p:nvSpPr>
          <p:cNvPr id="3" name="Content Placeholder 2">
            <a:extLst>
              <a:ext uri="{FF2B5EF4-FFF2-40B4-BE49-F238E27FC236}">
                <a16:creationId xmlns:a16="http://schemas.microsoft.com/office/drawing/2014/main" id="{8F7396E3-8E46-1939-76E3-D015334BA9B2}"/>
              </a:ext>
            </a:extLst>
          </p:cNvPr>
          <p:cNvSpPr>
            <a:spLocks noGrp="1"/>
          </p:cNvSpPr>
          <p:nvPr>
            <p:ph idx="1"/>
          </p:nvPr>
        </p:nvSpPr>
        <p:spPr/>
        <p:txBody>
          <a:bodyPr>
            <a:normAutofit fontScale="92500"/>
          </a:bodyPr>
          <a:lstStyle/>
          <a:p>
            <a:r>
              <a:rPr lang="en-US" noProof="1"/>
              <a:t>Salah satu cara untuk mempelajari </a:t>
            </a:r>
            <a:r>
              <a:rPr lang="en-US" b="1" noProof="1"/>
              <a:t>praktik terbaik (best practices)</a:t>
            </a:r>
            <a:r>
              <a:rPr lang="en-US" noProof="1"/>
              <a:t> dalam </a:t>
            </a:r>
            <a:r>
              <a:rPr lang="en-US" b="1" noProof="1"/>
              <a:t>manajemen proyek</a:t>
            </a:r>
            <a:r>
              <a:rPr lang="en-US" noProof="1"/>
              <a:t> adalah dengan </a:t>
            </a:r>
            <a:r>
              <a:rPr lang="en-US" b="1" noProof="1"/>
              <a:t>mempelajari penerima penghargaan “PMI’s Project of the Year Award”</a:t>
            </a:r>
            <a:r>
              <a:rPr lang="en-US" noProof="1"/>
              <a:t>.</a:t>
            </a:r>
          </a:p>
          <a:p>
            <a:r>
              <a:rPr lang="en-US" b="1" noProof="1"/>
              <a:t>Quartier International de Montreal (QIM)</a:t>
            </a:r>
            <a:r>
              <a:rPr lang="en-US" noProof="1"/>
              <a:t>, distrik internasional Montreal, merupakan </a:t>
            </a:r>
            <a:r>
              <a:rPr lang="en-US" b="1" noProof="1"/>
              <a:t>proyek revitalisasi perkotaan (urban revitalization project)</a:t>
            </a:r>
            <a:r>
              <a:rPr lang="en-US" noProof="1"/>
              <a:t> seluas 66 acre yang terletak di pusat kota Montreal.</a:t>
            </a:r>
          </a:p>
          <a:p>
            <a:r>
              <a:rPr lang="en-US" noProof="1"/>
              <a:t>Proyek senilai </a:t>
            </a:r>
            <a:r>
              <a:rPr lang="en-US" b="1" noProof="1"/>
              <a:t>$90 juta</a:t>
            </a:r>
            <a:r>
              <a:rPr lang="en-US" noProof="1"/>
              <a:t> yang berlangsung selama </a:t>
            </a:r>
            <a:r>
              <a:rPr lang="en-US" b="1" noProof="1"/>
              <a:t>lima tahun</a:t>
            </a:r>
            <a:r>
              <a:rPr lang="en-US" noProof="1"/>
              <a:t> ini berhasil mengubah area yang dulunya tidak diminati menjadi kawasan yang berkembang pesat di kota tersebut, dengan </a:t>
            </a:r>
            <a:r>
              <a:rPr lang="en-US" b="1" noProof="1"/>
              <a:t>pasar properti yang booming</a:t>
            </a:r>
            <a:r>
              <a:rPr lang="en-US" noProof="1"/>
              <a:t>, dan telah </a:t>
            </a:r>
            <a:r>
              <a:rPr lang="en-US" b="1" noProof="1"/>
              <a:t>menghasilkan $770 juta dari proyek konstruksi terkait</a:t>
            </a:r>
            <a:r>
              <a:rPr lang="en-US" noProof="1"/>
              <a:t>.</a:t>
            </a:r>
          </a:p>
          <a:p>
            <a:pPr marL="0" indent="0">
              <a:buNone/>
            </a:pPr>
            <a:endParaRPr lang="en-US" noProof="1"/>
          </a:p>
        </p:txBody>
      </p:sp>
    </p:spTree>
    <p:extLst>
      <p:ext uri="{BB962C8B-B14F-4D97-AF65-F5344CB8AC3E}">
        <p14:creationId xmlns:p14="http://schemas.microsoft.com/office/powerpoint/2010/main" val="201644808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C256E-B65E-0364-728C-3DD5CB2A3004}"/>
              </a:ext>
            </a:extLst>
          </p:cNvPr>
          <p:cNvSpPr>
            <a:spLocks noGrp="1"/>
          </p:cNvSpPr>
          <p:nvPr>
            <p:ph type="title"/>
          </p:nvPr>
        </p:nvSpPr>
        <p:spPr/>
        <p:txBody>
          <a:bodyPr>
            <a:normAutofit/>
          </a:bodyPr>
          <a:lstStyle/>
          <a:p>
            <a:pPr algn="ctr"/>
            <a:r>
              <a:rPr lang="en-US" noProof="1"/>
              <a:t>Project Monitoring and Controlling (Pemantauan dan Pengendalian Proyek)</a:t>
            </a:r>
          </a:p>
        </p:txBody>
      </p:sp>
      <p:sp>
        <p:nvSpPr>
          <p:cNvPr id="3" name="Content Placeholder 2">
            <a:extLst>
              <a:ext uri="{FF2B5EF4-FFF2-40B4-BE49-F238E27FC236}">
                <a16:creationId xmlns:a16="http://schemas.microsoft.com/office/drawing/2014/main" id="{4F38385B-3243-BEC1-1B1F-210C436C96BA}"/>
              </a:ext>
            </a:extLst>
          </p:cNvPr>
          <p:cNvSpPr>
            <a:spLocks noGrp="1"/>
          </p:cNvSpPr>
          <p:nvPr>
            <p:ph idx="1"/>
          </p:nvPr>
        </p:nvSpPr>
        <p:spPr/>
        <p:txBody>
          <a:bodyPr>
            <a:normAutofit fontScale="92500" lnSpcReduction="10000"/>
          </a:bodyPr>
          <a:lstStyle/>
          <a:p>
            <a:r>
              <a:rPr lang="en-US" noProof="1"/>
              <a:t>Melibatkan </a:t>
            </a:r>
            <a:r>
              <a:rPr lang="en-US" b="1" noProof="1"/>
              <a:t>pengukuran kemajuan terhadap tujuan proyek (measuring progress toward project objectives)</a:t>
            </a:r>
            <a:r>
              <a:rPr lang="en-US" noProof="1"/>
              <a:t>, </a:t>
            </a:r>
            <a:r>
              <a:rPr lang="en-US" b="1" noProof="1"/>
              <a:t>memantau penyimpangan dari rencana (monitoring deviation from the plan)</a:t>
            </a:r>
            <a:r>
              <a:rPr lang="en-US" noProof="1"/>
              <a:t>, dan </a:t>
            </a:r>
            <a:r>
              <a:rPr lang="en-US" b="1" noProof="1"/>
              <a:t>mengambil tindakan koreksi (taking correction actions)</a:t>
            </a:r>
            <a:r>
              <a:rPr lang="en-US" noProof="1"/>
              <a:t>.</a:t>
            </a:r>
          </a:p>
          <a:p>
            <a:r>
              <a:rPr lang="en-US" noProof="1"/>
              <a:t>Mempengaruhi </a:t>
            </a:r>
            <a:r>
              <a:rPr lang="en-US" b="1" noProof="1"/>
              <a:t>semua kelompok proses lainnya (all other process groups)</a:t>
            </a:r>
            <a:r>
              <a:rPr lang="en-US" noProof="1"/>
              <a:t> dan terjadi selama </a:t>
            </a:r>
            <a:r>
              <a:rPr lang="en-US" b="1" noProof="1"/>
              <a:t>semua fase dari siklus hidup proyek (all phases of the project life cycle)</a:t>
            </a:r>
            <a:r>
              <a:rPr lang="en-US" noProof="1"/>
              <a:t>.</a:t>
            </a:r>
          </a:p>
          <a:p>
            <a:r>
              <a:rPr lang="en-US" b="1" noProof="1"/>
              <a:t>Output</a:t>
            </a:r>
            <a:r>
              <a:rPr lang="en-US" noProof="1"/>
              <a:t> mencakup </a:t>
            </a:r>
            <a:r>
              <a:rPr lang="en-US" b="1" noProof="1"/>
              <a:t>laporan kinerja (performance reports)</a:t>
            </a:r>
            <a:r>
              <a:rPr lang="en-US" noProof="1"/>
              <a:t>, </a:t>
            </a:r>
            <a:r>
              <a:rPr lang="en-US" b="1" noProof="1"/>
              <a:t>permintaan perubahan (change requests)</a:t>
            </a:r>
            <a:r>
              <a:rPr lang="en-US" noProof="1"/>
              <a:t>, dan </a:t>
            </a:r>
            <a:r>
              <a:rPr lang="en-US" b="1" noProof="1"/>
              <a:t>pembaruan terhadap berbagai rencana (updates to various plans)</a:t>
            </a:r>
            <a:r>
              <a:rPr lang="en-US" noProof="1"/>
              <a:t>.</a:t>
            </a:r>
          </a:p>
          <a:p>
            <a:r>
              <a:rPr lang="en-US" noProof="1"/>
              <a:t>Lihat Tabel 3-13 di Lampiran.</a:t>
            </a:r>
          </a:p>
          <a:p>
            <a:pPr marL="0" indent="0">
              <a:buNone/>
            </a:pPr>
            <a:endParaRPr lang="en-US" noProof="1"/>
          </a:p>
        </p:txBody>
      </p:sp>
    </p:spTree>
    <p:extLst>
      <p:ext uri="{BB962C8B-B14F-4D97-AF65-F5344CB8AC3E}">
        <p14:creationId xmlns:p14="http://schemas.microsoft.com/office/powerpoint/2010/main" val="105013938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9F9FF-FA22-3D16-8D75-208E6CB5D07A}"/>
              </a:ext>
            </a:extLst>
          </p:cNvPr>
          <p:cNvSpPr>
            <a:spLocks noGrp="1"/>
          </p:cNvSpPr>
          <p:nvPr>
            <p:ph type="title"/>
          </p:nvPr>
        </p:nvSpPr>
        <p:spPr/>
        <p:txBody>
          <a:bodyPr/>
          <a:lstStyle/>
          <a:p>
            <a:pPr algn="ctr"/>
            <a:r>
              <a:rPr lang="en-US" noProof="1"/>
              <a:t>Penutupan Proyek (Project Closing)</a:t>
            </a:r>
          </a:p>
        </p:txBody>
      </p:sp>
      <p:sp>
        <p:nvSpPr>
          <p:cNvPr id="3" name="Content Placeholder 2">
            <a:extLst>
              <a:ext uri="{FF2B5EF4-FFF2-40B4-BE49-F238E27FC236}">
                <a16:creationId xmlns:a16="http://schemas.microsoft.com/office/drawing/2014/main" id="{D3D88A3D-3BBA-3A2B-8950-D762CF462369}"/>
              </a:ext>
            </a:extLst>
          </p:cNvPr>
          <p:cNvSpPr>
            <a:spLocks noGrp="1"/>
          </p:cNvSpPr>
          <p:nvPr>
            <p:ph idx="1"/>
          </p:nvPr>
        </p:nvSpPr>
        <p:spPr/>
        <p:txBody>
          <a:bodyPr>
            <a:normAutofit/>
          </a:bodyPr>
          <a:lstStyle/>
          <a:p>
            <a:r>
              <a:rPr lang="en-US" sz="2400" noProof="1">
                <a:latin typeface="Arial" panose="020B0604020202020204" pitchFamily="34" charset="0"/>
                <a:cs typeface="Arial" panose="020B0604020202020204" pitchFamily="34" charset="0"/>
              </a:rPr>
              <a:t>Melibatkan </a:t>
            </a:r>
            <a:r>
              <a:rPr lang="en-US" sz="2400" b="1" noProof="1">
                <a:latin typeface="Arial" panose="020B0604020202020204" pitchFamily="34" charset="0"/>
                <a:cs typeface="Arial" panose="020B0604020202020204" pitchFamily="34" charset="0"/>
              </a:rPr>
              <a:t>mendapatkan penerimaan dari stakeholder dan pelanggan</a:t>
            </a:r>
            <a:r>
              <a:rPr lang="en-US" sz="2400" noProof="1">
                <a:latin typeface="Arial" panose="020B0604020202020204" pitchFamily="34" charset="0"/>
                <a:cs typeface="Arial" panose="020B0604020202020204" pitchFamily="34" charset="0"/>
              </a:rPr>
              <a:t> terhadap produk dan layanan akhir.</a:t>
            </a:r>
          </a:p>
          <a:p>
            <a:r>
              <a:rPr lang="en-US" sz="2400" b="1" noProof="1">
                <a:latin typeface="Arial" panose="020B0604020202020204" pitchFamily="34" charset="0"/>
                <a:cs typeface="Arial" panose="020B0604020202020204" pitchFamily="34" charset="0"/>
              </a:rPr>
              <a:t>Bahkan jika proyek tidak diselesaikan</a:t>
            </a:r>
            <a:r>
              <a:rPr lang="en-US" sz="2400" noProof="1">
                <a:latin typeface="Arial" panose="020B0604020202020204" pitchFamily="34" charset="0"/>
                <a:cs typeface="Arial" panose="020B0604020202020204" pitchFamily="34" charset="0"/>
              </a:rPr>
              <a:t>, proyek tersebut </a:t>
            </a:r>
            <a:r>
              <a:rPr lang="en-US" sz="2400" b="1" noProof="1">
                <a:latin typeface="Arial" panose="020B0604020202020204" pitchFamily="34" charset="0"/>
                <a:cs typeface="Arial" panose="020B0604020202020204" pitchFamily="34" charset="0"/>
              </a:rPr>
              <a:t>harus ditutup</a:t>
            </a:r>
            <a:r>
              <a:rPr lang="en-US" sz="2400" noProof="1">
                <a:latin typeface="Arial" panose="020B0604020202020204" pitchFamily="34" charset="0"/>
                <a:cs typeface="Arial" panose="020B0604020202020204" pitchFamily="34" charset="0"/>
              </a:rPr>
              <a:t> untuk dapat belajar dari pengalaman sebelumnya.</a:t>
            </a:r>
          </a:p>
          <a:p>
            <a:r>
              <a:rPr lang="en-US" sz="2400" b="1" noProof="1">
                <a:latin typeface="Arial" panose="020B0604020202020204" pitchFamily="34" charset="0"/>
                <a:cs typeface="Arial" panose="020B0604020202020204" pitchFamily="34" charset="0"/>
              </a:rPr>
              <a:t>Output</a:t>
            </a:r>
            <a:r>
              <a:rPr lang="en-US" sz="2400" noProof="1">
                <a:latin typeface="Arial" panose="020B0604020202020204" pitchFamily="34" charset="0"/>
                <a:cs typeface="Arial" panose="020B0604020202020204" pitchFamily="34" charset="0"/>
              </a:rPr>
              <a:t> mencakup </a:t>
            </a:r>
            <a:r>
              <a:rPr lang="en-US" sz="2400" b="1" noProof="1">
                <a:latin typeface="Arial" panose="020B0604020202020204" pitchFamily="34" charset="0"/>
                <a:cs typeface="Arial" panose="020B0604020202020204" pitchFamily="34" charset="0"/>
              </a:rPr>
              <a:t>arsip proyek (project archives)</a:t>
            </a:r>
            <a:r>
              <a:rPr lang="en-US" sz="2400" noProof="1">
                <a:latin typeface="Arial" panose="020B0604020202020204" pitchFamily="34" charset="0"/>
                <a:cs typeface="Arial" panose="020B0604020202020204" pitchFamily="34" charset="0"/>
              </a:rPr>
              <a:t> dan </a:t>
            </a:r>
            <a:r>
              <a:rPr lang="en-US" sz="2400" b="1" noProof="1">
                <a:latin typeface="Arial" panose="020B0604020202020204" pitchFamily="34" charset="0"/>
                <a:cs typeface="Arial" panose="020B0604020202020204" pitchFamily="34" charset="0"/>
              </a:rPr>
              <a:t>pembelajaran yang diperoleh (lessons learned)</a:t>
            </a:r>
            <a:r>
              <a:rPr lang="en-US" sz="2400" noProof="1">
                <a:latin typeface="Arial" panose="020B0604020202020204" pitchFamily="34" charset="0"/>
                <a:cs typeface="Arial" panose="020B0604020202020204" pitchFamily="34" charset="0"/>
              </a:rPr>
              <a:t>, yang merupakan bagian dari </a:t>
            </a:r>
            <a:r>
              <a:rPr lang="en-US" sz="2400" b="1" noProof="1">
                <a:latin typeface="Arial" panose="020B0604020202020204" pitchFamily="34" charset="0"/>
                <a:cs typeface="Arial" panose="020B0604020202020204" pitchFamily="34" charset="0"/>
              </a:rPr>
              <a:t>aset proses organisasi (organizational process assets)</a:t>
            </a:r>
            <a:r>
              <a:rPr lang="en-US" sz="2400" noProof="1">
                <a:latin typeface="Arial" panose="020B0604020202020204" pitchFamily="34" charset="0"/>
                <a:cs typeface="Arial" panose="020B0604020202020204" pitchFamily="34" charset="0"/>
              </a:rPr>
              <a:t>.</a:t>
            </a:r>
          </a:p>
          <a:p>
            <a:r>
              <a:rPr lang="en-US" sz="2400" noProof="1">
                <a:latin typeface="Arial" panose="020B0604020202020204" pitchFamily="34" charset="0"/>
                <a:cs typeface="Arial" panose="020B0604020202020204" pitchFamily="34" charset="0"/>
              </a:rPr>
              <a:t>Sebagian besar proyek juga mencakup </a:t>
            </a:r>
            <a:r>
              <a:rPr lang="en-US" sz="2400" b="1" noProof="1">
                <a:latin typeface="Arial" panose="020B0604020202020204" pitchFamily="34" charset="0"/>
                <a:cs typeface="Arial" panose="020B0604020202020204" pitchFamily="34" charset="0"/>
              </a:rPr>
              <a:t>laporan akhir (final report)</a:t>
            </a:r>
            <a:r>
              <a:rPr lang="en-US" sz="2400" noProof="1">
                <a:latin typeface="Arial" panose="020B0604020202020204" pitchFamily="34" charset="0"/>
                <a:cs typeface="Arial" panose="020B0604020202020204" pitchFamily="34" charset="0"/>
              </a:rPr>
              <a:t> dan </a:t>
            </a:r>
            <a:r>
              <a:rPr lang="en-US" sz="2400" b="1" noProof="1">
                <a:latin typeface="Arial" panose="020B0604020202020204" pitchFamily="34" charset="0"/>
                <a:cs typeface="Arial" panose="020B0604020202020204" pitchFamily="34" charset="0"/>
              </a:rPr>
              <a:t>presentasi kepada sponsor/manajemen senior</a:t>
            </a:r>
            <a:r>
              <a:rPr lang="en-US" sz="2400" noProof="1">
                <a:latin typeface="Arial" panose="020B0604020202020204" pitchFamily="34" charset="0"/>
                <a:cs typeface="Arial" panose="020B0604020202020204" pitchFamily="34" charset="0"/>
              </a:rPr>
              <a:t>.</a:t>
            </a:r>
          </a:p>
          <a:p>
            <a:pPr marL="0" indent="0">
              <a:buNone/>
            </a:pPr>
            <a:endParaRPr lang="en-US" sz="2400" noProof="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368498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noProof="1"/>
              <a:t>Contoh Dokumen Penutupan — JWD</a:t>
            </a:r>
          </a:p>
        </p:txBody>
      </p:sp>
      <p:sp>
        <p:nvSpPr>
          <p:cNvPr id="3" name="Rounded Rectangle 2"/>
          <p:cNvSpPr/>
          <p:nvPr/>
        </p:nvSpPr>
        <p:spPr>
          <a:xfrm>
            <a:off x="723900" y="1508760"/>
            <a:ext cx="3429000" cy="3931920"/>
          </a:xfrm>
          <a:prstGeom prst="roundRect">
            <a:avLst>
              <a:gd name="adj" fmla="val 6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4" name="TextBox 3"/>
          <p:cNvSpPr txBox="1"/>
          <p:nvPr/>
        </p:nvSpPr>
        <p:spPr>
          <a:xfrm>
            <a:off x="906780" y="1645920"/>
            <a:ext cx="3063240" cy="548640"/>
          </a:xfrm>
          <a:prstGeom prst="rect">
            <a:avLst/>
          </a:prstGeom>
          <a:noFill/>
        </p:spPr>
        <p:txBody>
          <a:bodyPr wrap="square">
            <a:spAutoFit/>
          </a:bodyPr>
          <a:lstStyle/>
          <a:p>
            <a:r>
              <a:rPr lang="en-US" sz="1800" b="1" noProof="1">
                <a:solidFill>
                  <a:srgbClr val="0B2E6B"/>
                </a:solidFill>
                <a:latin typeface="Arial"/>
              </a:rPr>
              <a:t>Formulir Penerimaan Klien</a:t>
            </a:r>
          </a:p>
        </p:txBody>
      </p:sp>
      <p:sp>
        <p:nvSpPr>
          <p:cNvPr id="5" name="TextBox 4"/>
          <p:cNvSpPr txBox="1"/>
          <p:nvPr/>
        </p:nvSpPr>
        <p:spPr>
          <a:xfrm>
            <a:off x="906780" y="2286000"/>
            <a:ext cx="3063240" cy="3017520"/>
          </a:xfrm>
          <a:prstGeom prst="rect">
            <a:avLst/>
          </a:prstGeom>
          <a:noFill/>
        </p:spPr>
        <p:txBody>
          <a:bodyPr wrap="square">
            <a:spAutoFit/>
          </a:bodyPr>
          <a:lstStyle/>
          <a:p>
            <a:pPr marL="228600" indent="-228600">
              <a:spcAft>
                <a:spcPts val="800"/>
              </a:spcAft>
              <a:buChar char="•"/>
            </a:pPr>
            <a:r>
              <a:rPr lang="en-US" sz="1500" noProof="1">
                <a:latin typeface="Arial"/>
              </a:rPr>
              <a:t>Pernyataan bahwa deliverable diterima</a:t>
            </a:r>
          </a:p>
          <a:p>
            <a:pPr marL="228600" indent="-228600">
              <a:spcAft>
                <a:spcPts val="800"/>
              </a:spcAft>
              <a:buChar char="•"/>
            </a:pPr>
            <a:r>
              <a:rPr lang="en-US" sz="1500" noProof="1">
                <a:latin typeface="Arial"/>
              </a:rPr>
              <a:t>Tanda tangan sponsor/klien</a:t>
            </a:r>
          </a:p>
          <a:p>
            <a:pPr marL="228600" indent="-228600">
              <a:spcAft>
                <a:spcPts val="800"/>
              </a:spcAft>
              <a:buChar char="•"/>
            </a:pPr>
            <a:r>
              <a:rPr lang="en-US" sz="1500" noProof="1">
                <a:latin typeface="Arial"/>
              </a:rPr>
              <a:t>Catatan atau syarat penerimaan</a:t>
            </a:r>
          </a:p>
        </p:txBody>
      </p:sp>
      <p:sp>
        <p:nvSpPr>
          <p:cNvPr id="6" name="Rounded Rectangle 5"/>
          <p:cNvSpPr/>
          <p:nvPr/>
        </p:nvSpPr>
        <p:spPr>
          <a:xfrm>
            <a:off x="4381500" y="1508760"/>
            <a:ext cx="3429000" cy="3931920"/>
          </a:xfrm>
          <a:prstGeom prst="roundRect">
            <a:avLst>
              <a:gd name="adj" fmla="val 6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7" name="TextBox 6"/>
          <p:cNvSpPr txBox="1"/>
          <p:nvPr/>
        </p:nvSpPr>
        <p:spPr>
          <a:xfrm>
            <a:off x="4564380" y="1645920"/>
            <a:ext cx="3063240" cy="548640"/>
          </a:xfrm>
          <a:prstGeom prst="rect">
            <a:avLst/>
          </a:prstGeom>
          <a:noFill/>
        </p:spPr>
        <p:txBody>
          <a:bodyPr wrap="square">
            <a:spAutoFit/>
          </a:bodyPr>
          <a:lstStyle/>
          <a:p>
            <a:r>
              <a:rPr lang="en-US" sz="1800" b="1" noProof="1">
                <a:solidFill>
                  <a:srgbClr val="0B2E6B"/>
                </a:solidFill>
                <a:latin typeface="Arial"/>
              </a:rPr>
              <a:t>Laporan Akhir Proyek</a:t>
            </a:r>
          </a:p>
        </p:txBody>
      </p:sp>
      <p:sp>
        <p:nvSpPr>
          <p:cNvPr id="8" name="TextBox 7"/>
          <p:cNvSpPr txBox="1"/>
          <p:nvPr/>
        </p:nvSpPr>
        <p:spPr>
          <a:xfrm>
            <a:off x="4564380" y="2286000"/>
            <a:ext cx="3063240" cy="3017520"/>
          </a:xfrm>
          <a:prstGeom prst="rect">
            <a:avLst/>
          </a:prstGeom>
          <a:noFill/>
        </p:spPr>
        <p:txBody>
          <a:bodyPr wrap="square">
            <a:spAutoFit/>
          </a:bodyPr>
          <a:lstStyle/>
          <a:p>
            <a:pPr marL="228600" indent="-228600">
              <a:spcAft>
                <a:spcPts val="800"/>
              </a:spcAft>
              <a:buChar char="•"/>
            </a:pPr>
            <a:r>
              <a:rPr lang="en-US" sz="1500" noProof="1">
                <a:latin typeface="Arial"/>
              </a:rPr>
              <a:t>Ringkasan proyek dan hasil</a:t>
            </a:r>
          </a:p>
          <a:p>
            <a:pPr marL="228600" indent="-228600">
              <a:spcAft>
                <a:spcPts val="800"/>
              </a:spcAft>
              <a:buChar char="•"/>
            </a:pPr>
            <a:r>
              <a:rPr lang="en-US" sz="1500" noProof="1">
                <a:latin typeface="Arial"/>
              </a:rPr>
              <a:t>Target vs realisasi: scope, waktu, biaya</a:t>
            </a:r>
          </a:p>
          <a:p>
            <a:pPr marL="228600" indent="-228600">
              <a:spcAft>
                <a:spcPts val="800"/>
              </a:spcAft>
              <a:buChar char="•"/>
            </a:pPr>
            <a:r>
              <a:rPr lang="en-US" sz="1500" noProof="1">
                <a:latin typeface="Arial"/>
              </a:rPr>
              <a:t>Transisi ke operasi dan pemeliharaan ($40.000/tahun)</a:t>
            </a:r>
          </a:p>
          <a:p>
            <a:pPr marL="228600" indent="-228600">
              <a:spcAft>
                <a:spcPts val="800"/>
              </a:spcAft>
              <a:buChar char="•"/>
            </a:pPr>
            <a:r>
              <a:rPr lang="en-US" sz="1500" noProof="1">
                <a:latin typeface="Arial"/>
              </a:rPr>
              <a:t>Lampiran dokumen proyek</a:t>
            </a:r>
          </a:p>
        </p:txBody>
      </p:sp>
      <p:sp>
        <p:nvSpPr>
          <p:cNvPr id="9" name="Rounded Rectangle 8"/>
          <p:cNvSpPr/>
          <p:nvPr/>
        </p:nvSpPr>
        <p:spPr>
          <a:xfrm>
            <a:off x="8039100" y="1508760"/>
            <a:ext cx="3429000" cy="3931920"/>
          </a:xfrm>
          <a:prstGeom prst="roundRect">
            <a:avLst>
              <a:gd name="adj" fmla="val 6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1"/>
          </a:p>
        </p:txBody>
      </p:sp>
      <p:sp>
        <p:nvSpPr>
          <p:cNvPr id="10" name="TextBox 9"/>
          <p:cNvSpPr txBox="1"/>
          <p:nvPr/>
        </p:nvSpPr>
        <p:spPr>
          <a:xfrm>
            <a:off x="8221980" y="1645920"/>
            <a:ext cx="3063240" cy="548640"/>
          </a:xfrm>
          <a:prstGeom prst="rect">
            <a:avLst/>
          </a:prstGeom>
          <a:noFill/>
        </p:spPr>
        <p:txBody>
          <a:bodyPr wrap="square">
            <a:spAutoFit/>
          </a:bodyPr>
          <a:lstStyle/>
          <a:p>
            <a:r>
              <a:rPr lang="en-US" sz="1800" b="1" noProof="1">
                <a:solidFill>
                  <a:srgbClr val="0B2E6B"/>
                </a:solidFill>
                <a:latin typeface="Arial"/>
              </a:rPr>
              <a:t>Laporan Lessons Learned</a:t>
            </a:r>
          </a:p>
        </p:txBody>
      </p:sp>
      <p:sp>
        <p:nvSpPr>
          <p:cNvPr id="11" name="TextBox 10"/>
          <p:cNvSpPr txBox="1"/>
          <p:nvPr/>
        </p:nvSpPr>
        <p:spPr>
          <a:xfrm>
            <a:off x="8221980" y="2286000"/>
            <a:ext cx="3063240" cy="3017520"/>
          </a:xfrm>
          <a:prstGeom prst="rect">
            <a:avLst/>
          </a:prstGeom>
          <a:noFill/>
        </p:spPr>
        <p:txBody>
          <a:bodyPr wrap="square">
            <a:spAutoFit/>
          </a:bodyPr>
          <a:lstStyle/>
          <a:p>
            <a:pPr marL="228600" indent="-228600">
              <a:spcAft>
                <a:spcPts val="800"/>
              </a:spcAft>
              <a:buChar char="•"/>
            </a:pPr>
            <a:r>
              <a:rPr lang="en-US" sz="1500" noProof="1">
                <a:latin typeface="Arial"/>
              </a:rPr>
              <a:t>Apa yang berjalan baik</a:t>
            </a:r>
          </a:p>
          <a:p>
            <a:pPr marL="228600" indent="-228600">
              <a:spcAft>
                <a:spcPts val="800"/>
              </a:spcAft>
              <a:buChar char="•"/>
            </a:pPr>
            <a:r>
              <a:rPr lang="en-US" sz="1500" noProof="1">
                <a:latin typeface="Arial"/>
              </a:rPr>
              <a:t>Apa yang perlu diperbaiki (mis. respons survei rendah)</a:t>
            </a:r>
          </a:p>
          <a:p>
            <a:pPr marL="228600" indent="-228600">
              <a:spcAft>
                <a:spcPts val="800"/>
              </a:spcAft>
              <a:buChar char="•"/>
            </a:pPr>
            <a:r>
              <a:rPr lang="en-US" sz="1500" noProof="1">
                <a:latin typeface="Arial"/>
              </a:rPr>
              <a:t>Rekomendasi untuk proyek berikutnya</a:t>
            </a:r>
          </a:p>
          <a:p>
            <a:pPr marL="228600" indent="-228600">
              <a:spcAft>
                <a:spcPts val="800"/>
              </a:spcAft>
              <a:buChar char="•"/>
            </a:pPr>
            <a:r>
              <a:rPr lang="en-US" sz="1500" noProof="1">
                <a:latin typeface="Arial"/>
              </a:rPr>
              <a:t>Diarsipkan sebagai organizational process assets</a:t>
            </a:r>
          </a:p>
        </p:txBody>
      </p:sp>
      <p:sp>
        <p:nvSpPr>
          <p:cNvPr id="12" name="TextBox 11"/>
          <p:cNvSpPr txBox="1"/>
          <p:nvPr/>
        </p:nvSpPr>
        <p:spPr>
          <a:xfrm>
            <a:off x="731520" y="5623560"/>
            <a:ext cx="10698480" cy="548640"/>
          </a:xfrm>
          <a:prstGeom prst="rect">
            <a:avLst/>
          </a:prstGeom>
          <a:noFill/>
        </p:spPr>
        <p:txBody>
          <a:bodyPr wrap="square">
            <a:spAutoFit/>
          </a:bodyPr>
          <a:lstStyle/>
          <a:p>
            <a:r>
              <a:rPr lang="en-US" sz="1400" b="0" noProof="1">
                <a:latin typeface="Arial"/>
              </a:rPr>
              <a:t>Diskusi: risiko #1 JWD adalah kurangnya masukan konsultan, dan milestone report mencatat respons survei rendah. Bagaimana hal ini dituliskan dalam lessons learned?</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noProof="1"/>
              <a:t>JWD: Versi Prediktif vs Versi Agile</a:t>
            </a:r>
          </a:p>
        </p:txBody>
      </p:sp>
      <p:graphicFrame>
        <p:nvGraphicFramePr>
          <p:cNvPr id="3" name="Table 2"/>
          <p:cNvGraphicFramePr>
            <a:graphicFrameLocks noGrp="1"/>
          </p:cNvGraphicFramePr>
          <p:nvPr>
            <p:extLst>
              <p:ext uri="{D42A27DB-BD31-4B8C-83A1-F6EECF244321}">
                <p14:modId xmlns:p14="http://schemas.microsoft.com/office/powerpoint/2010/main" val="1414910901"/>
              </p:ext>
            </p:extLst>
          </p:nvPr>
        </p:nvGraphicFramePr>
        <p:xfrm>
          <a:off x="731520" y="1417320"/>
          <a:ext cx="10725911" cy="427482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050791">
                  <a:extLst>
                    <a:ext uri="{9D8B030D-6E8A-4147-A177-3AD203B41FA5}">
                      <a16:colId xmlns:a16="http://schemas.microsoft.com/office/drawing/2014/main" val="20002"/>
                    </a:ext>
                  </a:extLst>
                </a:gridCol>
              </a:tblGrid>
              <a:tr h="525780">
                <a:tc>
                  <a:txBody>
                    <a:bodyPr/>
                    <a:lstStyle/>
                    <a:p>
                      <a:r>
                        <a:rPr lang="en-US" sz="1500" b="1" noProof="1">
                          <a:latin typeface="Arial"/>
                        </a:rPr>
                        <a:t>Aspek</a:t>
                      </a:r>
                    </a:p>
                  </a:txBody>
                  <a:tcPr/>
                </a:tc>
                <a:tc>
                  <a:txBody>
                    <a:bodyPr/>
                    <a:lstStyle/>
                    <a:p>
                      <a:r>
                        <a:rPr lang="en-US" sz="1500" b="1" noProof="1">
                          <a:latin typeface="Arial"/>
                        </a:rPr>
                        <a:t>Versi prediktif (contoh di deck ini)</a:t>
                      </a:r>
                    </a:p>
                  </a:txBody>
                  <a:tcPr/>
                </a:tc>
                <a:tc>
                  <a:txBody>
                    <a:bodyPr/>
                    <a:lstStyle/>
                    <a:p>
                      <a:r>
                        <a:rPr lang="en-US" sz="1500" b="1" noProof="1">
                          <a:latin typeface="Arial"/>
                        </a:rPr>
                        <a:t>Kemungkinan versi agile</a:t>
                      </a:r>
                    </a:p>
                  </a:txBody>
                  <a:tcPr/>
                </a:tc>
                <a:extLst>
                  <a:ext uri="{0D108BD9-81ED-4DB2-BD59-A6C34878D82A}">
                    <a16:rowId xmlns:a16="http://schemas.microsoft.com/office/drawing/2014/main" val="10000"/>
                  </a:ext>
                </a:extLst>
              </a:tr>
              <a:tr h="525780">
                <a:tc>
                  <a:txBody>
                    <a:bodyPr/>
                    <a:lstStyle/>
                    <a:p>
                      <a:r>
                        <a:rPr lang="en-US" sz="1500" b="1" noProof="1">
                          <a:latin typeface="Arial"/>
                        </a:rPr>
                        <a:t>Scope</a:t>
                      </a:r>
                    </a:p>
                  </a:txBody>
                  <a:tcPr/>
                </a:tc>
                <a:tc>
                  <a:txBody>
                    <a:bodyPr/>
                    <a:lstStyle/>
                    <a:p>
                      <a:r>
                        <a:rPr lang="en-US" sz="1500" b="0" noProof="1">
                          <a:latin typeface="Arial"/>
                        </a:rPr>
                        <a:t>Scope statement dan WBS lengkap di awal</a:t>
                      </a:r>
                    </a:p>
                  </a:txBody>
                  <a:tcPr/>
                </a:tc>
                <a:tc>
                  <a:txBody>
                    <a:bodyPr/>
                    <a:lstStyle/>
                    <a:p>
                      <a:r>
                        <a:rPr lang="en-US" sz="1500" b="0" noProof="1">
                          <a:latin typeface="Arial"/>
                        </a:rPr>
                        <a:t>Product backlog yang diprioritaskan ulang setiap sprint</a:t>
                      </a:r>
                    </a:p>
                  </a:txBody>
                  <a:tcPr/>
                </a:tc>
                <a:extLst>
                  <a:ext uri="{0D108BD9-81ED-4DB2-BD59-A6C34878D82A}">
                    <a16:rowId xmlns:a16="http://schemas.microsoft.com/office/drawing/2014/main" val="10001"/>
                  </a:ext>
                </a:extLst>
              </a:tr>
              <a:tr h="525780">
                <a:tc>
                  <a:txBody>
                    <a:bodyPr/>
                    <a:lstStyle/>
                    <a:p>
                      <a:r>
                        <a:rPr lang="en-US" sz="1500" b="1" noProof="1">
                          <a:latin typeface="Arial"/>
                        </a:rPr>
                        <a:t>Jadwal</a:t>
                      </a:r>
                    </a:p>
                  </a:txBody>
                  <a:tcPr/>
                </a:tc>
                <a:tc>
                  <a:txBody>
                    <a:bodyPr/>
                    <a:lstStyle/>
                    <a:p>
                      <a:r>
                        <a:rPr lang="en-US" sz="1500" b="0" noProof="1">
                          <a:latin typeface="Arial"/>
                        </a:rPr>
                        <a:t>Gantt chart dengan baseline jadwal</a:t>
                      </a:r>
                    </a:p>
                  </a:txBody>
                  <a:tcPr/>
                </a:tc>
                <a:tc>
                  <a:txBody>
                    <a:bodyPr/>
                    <a:lstStyle/>
                    <a:p>
                      <a:r>
                        <a:rPr lang="en-US" sz="1500" b="0" noProof="1">
                          <a:latin typeface="Arial"/>
                        </a:rPr>
                        <a:t>Release plan dan sprint 2 minggu (timebox)</a:t>
                      </a:r>
                    </a:p>
                  </a:txBody>
                  <a:tcPr/>
                </a:tc>
                <a:extLst>
                  <a:ext uri="{0D108BD9-81ED-4DB2-BD59-A6C34878D82A}">
                    <a16:rowId xmlns:a16="http://schemas.microsoft.com/office/drawing/2014/main" val="10002"/>
                  </a:ext>
                </a:extLst>
              </a:tr>
              <a:tr h="525780">
                <a:tc>
                  <a:txBody>
                    <a:bodyPr/>
                    <a:lstStyle/>
                    <a:p>
                      <a:r>
                        <a:rPr lang="en-US" sz="1500" b="1" noProof="1">
                          <a:latin typeface="Arial"/>
                        </a:rPr>
                        <a:t>Pelaporan</a:t>
                      </a:r>
                    </a:p>
                  </a:txBody>
                  <a:tcPr/>
                </a:tc>
                <a:tc>
                  <a:txBody>
                    <a:bodyPr/>
                    <a:lstStyle/>
                    <a:p>
                      <a:r>
                        <a:rPr lang="en-US" sz="1500" b="0" noProof="1">
                          <a:latin typeface="Arial"/>
                        </a:rPr>
                        <a:t>Milestone report dan progress report</a:t>
                      </a:r>
                    </a:p>
                  </a:txBody>
                  <a:tcPr/>
                </a:tc>
                <a:tc>
                  <a:txBody>
                    <a:bodyPr/>
                    <a:lstStyle/>
                    <a:p>
                      <a:r>
                        <a:rPr lang="en-US" sz="1500" b="0" noProof="1">
                          <a:latin typeface="Arial"/>
                        </a:rPr>
                        <a:t>Sprint review, burndown chart</a:t>
                      </a:r>
                    </a:p>
                  </a:txBody>
                  <a:tcPr/>
                </a:tc>
                <a:extLst>
                  <a:ext uri="{0D108BD9-81ED-4DB2-BD59-A6C34878D82A}">
                    <a16:rowId xmlns:a16="http://schemas.microsoft.com/office/drawing/2014/main" val="10003"/>
                  </a:ext>
                </a:extLst>
              </a:tr>
              <a:tr h="525780">
                <a:tc>
                  <a:txBody>
                    <a:bodyPr/>
                    <a:lstStyle/>
                    <a:p>
                      <a:r>
                        <a:rPr lang="en-US" sz="1500" b="1" noProof="1">
                          <a:latin typeface="Arial"/>
                        </a:rPr>
                        <a:t>Stakeholder</a:t>
                      </a:r>
                    </a:p>
                  </a:txBody>
                  <a:tcPr/>
                </a:tc>
                <a:tc>
                  <a:txBody>
                    <a:bodyPr/>
                    <a:lstStyle/>
                    <a:p>
                      <a:r>
                        <a:rPr lang="en-US" sz="1500" b="0" noProof="1">
                          <a:latin typeface="Arial"/>
                        </a:rPr>
                        <a:t>Survei di awal, review pada milestone</a:t>
                      </a:r>
                    </a:p>
                  </a:txBody>
                  <a:tcPr/>
                </a:tc>
                <a:tc>
                  <a:txBody>
                    <a:bodyPr/>
                    <a:lstStyle/>
                    <a:p>
                      <a:r>
                        <a:rPr lang="en-US" sz="1500" b="0" noProof="1">
                          <a:latin typeface="Arial"/>
                        </a:rPr>
                        <a:t>Product owner; demo ke konsultan dan klien setiap sprint</a:t>
                      </a:r>
                    </a:p>
                  </a:txBody>
                  <a:tcPr/>
                </a:tc>
                <a:extLst>
                  <a:ext uri="{0D108BD9-81ED-4DB2-BD59-A6C34878D82A}">
                    <a16:rowId xmlns:a16="http://schemas.microsoft.com/office/drawing/2014/main" val="10004"/>
                  </a:ext>
                </a:extLst>
              </a:tr>
              <a:tr h="525780">
                <a:tc>
                  <a:txBody>
                    <a:bodyPr/>
                    <a:lstStyle/>
                    <a:p>
                      <a:r>
                        <a:rPr lang="en-US" sz="1500" b="1" noProof="1">
                          <a:latin typeface="Arial"/>
                        </a:rPr>
                        <a:t>Perubahan</a:t>
                      </a:r>
                    </a:p>
                  </a:txBody>
                  <a:tcPr/>
                </a:tc>
                <a:tc>
                  <a:txBody>
                    <a:bodyPr/>
                    <a:lstStyle/>
                    <a:p>
                      <a:r>
                        <a:rPr lang="en-US" sz="1500" b="0" noProof="1">
                          <a:latin typeface="Arial"/>
                        </a:rPr>
                        <a:t>Change request formal</a:t>
                      </a:r>
                    </a:p>
                  </a:txBody>
                  <a:tcPr/>
                </a:tc>
                <a:tc>
                  <a:txBody>
                    <a:bodyPr/>
                    <a:lstStyle/>
                    <a:p>
                      <a:r>
                        <a:rPr lang="en-US" sz="1500" b="0" noProof="1">
                          <a:latin typeface="Arial"/>
                        </a:rPr>
                        <a:t>Masuk ke backlog, lalu diprioritaskan ulang</a:t>
                      </a:r>
                    </a:p>
                  </a:txBody>
                  <a:tcPr/>
                </a:tc>
                <a:extLst>
                  <a:ext uri="{0D108BD9-81ED-4DB2-BD59-A6C34878D82A}">
                    <a16:rowId xmlns:a16="http://schemas.microsoft.com/office/drawing/2014/main" val="10005"/>
                  </a:ext>
                </a:extLst>
              </a:tr>
              <a:tr h="525780">
                <a:tc>
                  <a:txBody>
                    <a:bodyPr/>
                    <a:lstStyle/>
                    <a:p>
                      <a:r>
                        <a:rPr lang="en-US" sz="1500" b="1" noProof="1">
                          <a:latin typeface="Arial"/>
                        </a:rPr>
                        <a:t>Risiko #1: kurang masukan pengguna</a:t>
                      </a:r>
                    </a:p>
                  </a:txBody>
                  <a:tcPr/>
                </a:tc>
                <a:tc>
                  <a:txBody>
                    <a:bodyPr/>
                    <a:lstStyle/>
                    <a:p>
                      <a:r>
                        <a:rPr lang="en-US" sz="1500" b="0" noProof="1">
                          <a:latin typeface="Arial"/>
                        </a:rPr>
                        <a:t>Dimitigasi lewat survei dan promosi</a:t>
                      </a:r>
                    </a:p>
                  </a:txBody>
                  <a:tcPr/>
                </a:tc>
                <a:tc>
                  <a:txBody>
                    <a:bodyPr/>
                    <a:lstStyle/>
                    <a:p>
                      <a:r>
                        <a:rPr lang="en-US" sz="1500" b="0" noProof="1">
                          <a:latin typeface="Arial"/>
                        </a:rPr>
                        <a:t>Umpan balik pengguna sejak sprint pertama</a:t>
                      </a:r>
                    </a:p>
                  </a:txBody>
                  <a:tcPr/>
                </a:tc>
                <a:extLst>
                  <a:ext uri="{0D108BD9-81ED-4DB2-BD59-A6C34878D82A}">
                    <a16:rowId xmlns:a16="http://schemas.microsoft.com/office/drawing/2014/main" val="10006"/>
                  </a:ext>
                </a:extLst>
              </a:tr>
              <a:tr h="525780">
                <a:tc>
                  <a:txBody>
                    <a:bodyPr/>
                    <a:lstStyle/>
                    <a:p>
                      <a:r>
                        <a:rPr lang="en-US" sz="1500" b="1" noProof="1">
                          <a:latin typeface="Arial"/>
                        </a:rPr>
                        <a:t>Pembelajaran</a:t>
                      </a:r>
                    </a:p>
                  </a:txBody>
                  <a:tcPr/>
                </a:tc>
                <a:tc>
                  <a:txBody>
                    <a:bodyPr/>
                    <a:lstStyle/>
                    <a:p>
                      <a:r>
                        <a:rPr lang="en-US" sz="1500" b="0" noProof="1">
                          <a:latin typeface="Arial"/>
                        </a:rPr>
                        <a:t>Lessons learned di akhir proyek</a:t>
                      </a:r>
                    </a:p>
                  </a:txBody>
                  <a:tcPr/>
                </a:tc>
                <a:tc>
                  <a:txBody>
                    <a:bodyPr/>
                    <a:lstStyle/>
                    <a:p>
                      <a:r>
                        <a:rPr lang="en-US" sz="1500" b="0" noProof="1">
                          <a:latin typeface="Arial"/>
                        </a:rPr>
                        <a:t>Retrospektif di setiap sprint + laporan akhir</a:t>
                      </a:r>
                    </a:p>
                  </a:txBody>
                  <a:tcPr/>
                </a:tc>
                <a:extLst>
                  <a:ext uri="{0D108BD9-81ED-4DB2-BD59-A6C34878D82A}">
                    <a16:rowId xmlns:a16="http://schemas.microsoft.com/office/drawing/2014/main" val="10007"/>
                  </a:ext>
                </a:extLst>
              </a:tr>
            </a:tbl>
          </a:graphicData>
        </a:graphic>
      </p:graphicFrame>
      <p:sp>
        <p:nvSpPr>
          <p:cNvPr id="4" name="TextBox 3"/>
          <p:cNvSpPr txBox="1"/>
          <p:nvPr/>
        </p:nvSpPr>
        <p:spPr>
          <a:xfrm>
            <a:off x="731520" y="5806440"/>
            <a:ext cx="10725912" cy="548640"/>
          </a:xfrm>
          <a:prstGeom prst="rect">
            <a:avLst/>
          </a:prstGeom>
          <a:noFill/>
        </p:spPr>
        <p:txBody>
          <a:bodyPr wrap="square">
            <a:spAutoFit/>
          </a:bodyPr>
          <a:lstStyle/>
          <a:p>
            <a:r>
              <a:rPr lang="en-US" sz="1500" b="1" noProof="1">
                <a:latin typeface="Arial"/>
              </a:rPr>
              <a:t>Diskusi: </a:t>
            </a:r>
            <a:r>
              <a:rPr lang="en-US" sz="1500" b="0" noProof="1">
                <a:latin typeface="Arial"/>
              </a:rPr>
              <a:t>bagian mana dari proyek JWD yang tetap lebih cocok prediktif (mis. keamanan dan pembayaran online), dan bagian mana yang lebih cocok agile? Kaitkan dengan konsep tailoring (slide 20).</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FC25F-A09D-3FA2-22FB-90F28CB5217D}"/>
              </a:ext>
            </a:extLst>
          </p:cNvPr>
          <p:cNvSpPr>
            <a:spLocks noGrp="1"/>
          </p:cNvSpPr>
          <p:nvPr>
            <p:ph type="title"/>
          </p:nvPr>
        </p:nvSpPr>
        <p:spPr/>
        <p:txBody>
          <a:bodyPr/>
          <a:lstStyle/>
          <a:p>
            <a:pPr algn="ctr"/>
            <a:r>
              <a:rPr lang="en-US" noProof="1"/>
              <a:t>Latihan Pemetaan Proyek: Sistem Informasi Perpustakaan Digital (1)</a:t>
            </a:r>
          </a:p>
        </p:txBody>
      </p:sp>
      <p:sp>
        <p:nvSpPr>
          <p:cNvPr id="3" name="Content Placeholder 2">
            <a:extLst>
              <a:ext uri="{FF2B5EF4-FFF2-40B4-BE49-F238E27FC236}">
                <a16:creationId xmlns:a16="http://schemas.microsoft.com/office/drawing/2014/main" id="{B9FBE795-15A3-D1F1-80D5-109CEB23E12A}"/>
              </a:ext>
            </a:extLst>
          </p:cNvPr>
          <p:cNvSpPr>
            <a:spLocks noGrp="1"/>
          </p:cNvSpPr>
          <p:nvPr>
            <p:ph idx="1"/>
          </p:nvPr>
        </p:nvSpPr>
        <p:spPr/>
        <p:txBody>
          <a:bodyPr>
            <a:noAutofit/>
          </a:bodyPr>
          <a:lstStyle/>
          <a:p>
            <a:pPr marL="0" indent="0">
              <a:buNone/>
            </a:pPr>
            <a:r>
              <a:rPr lang="en-US" sz="1800" b="1" noProof="1">
                <a:latin typeface="Arial" panose="020B0604020202020204" pitchFamily="34" charset="0"/>
                <a:cs typeface="Arial" panose="020B0604020202020204" pitchFamily="34" charset="0"/>
              </a:rPr>
              <a:t>Studi Kasus</a:t>
            </a:r>
          </a:p>
          <a:p>
            <a:pPr marL="0" indent="0">
              <a:buNone/>
            </a:pPr>
            <a:r>
              <a:rPr lang="en-US" sz="1800" noProof="1">
                <a:latin typeface="Arial" panose="020B0604020202020204" pitchFamily="34" charset="0"/>
                <a:cs typeface="Arial" panose="020B0604020202020204" pitchFamily="34" charset="0"/>
              </a:rPr>
              <a:t>Universitas XYZ berencana mengembangkan Sistem Informasi Perpustakaan Digital yang memungkinkan mahasiswa dan dosen untuk mengakses katalog buku, melakukan peminjaman dan pengembalian secara online, serta mengelola koleksi digital seperti e-book dan jurnal. Proyek ini mencakup pengembangan aplikasi web, integrasi dengan sistem akademik, dan pelatihan pengguna.</a:t>
            </a:r>
          </a:p>
          <a:p>
            <a:pPr marL="0" indent="0">
              <a:buNone/>
            </a:pPr>
            <a:r>
              <a:rPr lang="en-US" sz="1800" b="1" noProof="1">
                <a:latin typeface="Arial" panose="020B0604020202020204" pitchFamily="34" charset="0"/>
                <a:cs typeface="Arial" panose="020B0604020202020204" pitchFamily="34" charset="0"/>
              </a:rPr>
              <a:t>Instruksi Pemetaan</a:t>
            </a:r>
          </a:p>
          <a:p>
            <a:pPr marL="342900" indent="-342900">
              <a:buFont typeface="+mj-lt"/>
              <a:buAutoNum type="arabicPeriod"/>
            </a:pPr>
            <a:r>
              <a:rPr lang="en-US" sz="1800" noProof="1">
                <a:latin typeface="Arial" panose="020B0604020202020204" pitchFamily="34" charset="0"/>
                <a:cs typeface="Arial" panose="020B0604020202020204" pitchFamily="34" charset="0"/>
              </a:rPr>
              <a:t>Identifikasi aktivitas utama dalam proyek pengembangan sistem informasi perpustakaan digital.</a:t>
            </a:r>
          </a:p>
          <a:p>
            <a:pPr marL="342900" indent="-342900">
              <a:buFont typeface="+mj-lt"/>
              <a:buAutoNum type="arabicPeriod"/>
            </a:pPr>
            <a:r>
              <a:rPr lang="en-US" sz="1800" noProof="1">
                <a:latin typeface="Arial" panose="020B0604020202020204" pitchFamily="34" charset="0"/>
                <a:cs typeface="Arial" panose="020B0604020202020204" pitchFamily="34" charset="0"/>
              </a:rPr>
              <a:t>Kelompokkan aktivitas tersebut ke dalam 5 grup proses PMBOK® edisi ke-4: Initiating, Planning, Executing, Monitoring &amp; Controlling, dan Closing.</a:t>
            </a:r>
          </a:p>
          <a:p>
            <a:pPr marL="342900" indent="-342900">
              <a:buFont typeface="+mj-lt"/>
              <a:buAutoNum type="arabicPeriod"/>
            </a:pPr>
            <a:r>
              <a:rPr lang="en-US" sz="1800" noProof="1">
                <a:latin typeface="Arial" panose="020B0604020202020204" pitchFamily="34" charset="0"/>
                <a:cs typeface="Arial" panose="020B0604020202020204" pitchFamily="34" charset="0"/>
              </a:rPr>
              <a:t>Tentukan area pengetahuan yang relevan untuk setiap aktivitas (misalnya: Scope Management, Time Management, Risk Management, dll).</a:t>
            </a:r>
          </a:p>
          <a:p>
            <a:pPr marL="342900" indent="-342900">
              <a:buFont typeface="+mj-lt"/>
              <a:buAutoNum type="arabicPeriod"/>
            </a:pPr>
            <a:r>
              <a:rPr lang="en-US" sz="1800" noProof="1">
                <a:latin typeface="Arial" panose="020B0604020202020204" pitchFamily="34" charset="0"/>
                <a:cs typeface="Arial" panose="020B0604020202020204" pitchFamily="34" charset="0"/>
              </a:rPr>
              <a:t>Buat tabel pemetaan antara aktivitas, grup proses, dan area pengetahuan.</a:t>
            </a:r>
          </a:p>
          <a:p>
            <a:pPr marL="342900" indent="-342900">
              <a:buFont typeface="+mj-lt"/>
              <a:buAutoNum type="arabicPeriod"/>
            </a:pPr>
            <a:r>
              <a:rPr lang="en-US" sz="1800" noProof="1">
                <a:latin typeface="Arial" panose="020B0604020202020204" pitchFamily="34" charset="0"/>
                <a:cs typeface="Arial" panose="020B0604020202020204" pitchFamily="34" charset="0"/>
              </a:rPr>
              <a:t>Jelaskan alasan pemetaan yang kamu buat.</a:t>
            </a:r>
          </a:p>
          <a:p>
            <a:pPr marL="0" indent="0">
              <a:buNone/>
            </a:pPr>
            <a:endParaRPr lang="en-US" sz="1800" noProof="1">
              <a:latin typeface="Arial" panose="020B0604020202020204" pitchFamily="34" charset="0"/>
              <a:cs typeface="Arial" panose="020B0604020202020204" pitchFamily="34" charset="0"/>
            </a:endParaRPr>
          </a:p>
          <a:p>
            <a:pPr marL="0" indent="0">
              <a:buNone/>
            </a:pPr>
            <a:endParaRPr lang="en-US" sz="1800" noProof="1">
              <a:latin typeface="Arial" panose="020B0604020202020204" pitchFamily="34" charset="0"/>
              <a:cs typeface="Arial" panose="020B0604020202020204" pitchFamily="34" charset="0"/>
            </a:endParaRPr>
          </a:p>
          <a:p>
            <a:pPr marL="0" indent="0">
              <a:buNone/>
            </a:pPr>
            <a:endParaRPr lang="en-US" sz="1800" noProof="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823516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2F1B9-1E4F-8AEE-A7A2-33594FFF4909}"/>
              </a:ext>
            </a:extLst>
          </p:cNvPr>
          <p:cNvSpPr>
            <a:spLocks noGrp="1"/>
          </p:cNvSpPr>
          <p:nvPr>
            <p:ph type="title"/>
          </p:nvPr>
        </p:nvSpPr>
        <p:spPr/>
        <p:txBody>
          <a:bodyPr/>
          <a:lstStyle/>
          <a:p>
            <a:pPr algn="ctr"/>
            <a:r>
              <a:rPr lang="en-US" noProof="1"/>
              <a:t>Latihan Pemetaan Proyek: Sistem Informasi Perpustakaan Digital (2)</a:t>
            </a:r>
          </a:p>
        </p:txBody>
      </p:sp>
      <p:sp>
        <p:nvSpPr>
          <p:cNvPr id="3" name="Content Placeholder 2">
            <a:extLst>
              <a:ext uri="{FF2B5EF4-FFF2-40B4-BE49-F238E27FC236}">
                <a16:creationId xmlns:a16="http://schemas.microsoft.com/office/drawing/2014/main" id="{8C126BA2-76F8-BD41-E971-149E88D0C1D5}"/>
              </a:ext>
            </a:extLst>
          </p:cNvPr>
          <p:cNvSpPr>
            <a:spLocks noGrp="1"/>
          </p:cNvSpPr>
          <p:nvPr>
            <p:ph idx="1"/>
          </p:nvPr>
        </p:nvSpPr>
        <p:spPr/>
        <p:txBody>
          <a:bodyPr>
            <a:normAutofit/>
          </a:bodyPr>
          <a:lstStyle/>
          <a:p>
            <a:pPr marL="0" indent="0">
              <a:buNone/>
            </a:pPr>
            <a:r>
              <a:rPr lang="en-US" sz="2000" b="1" noProof="1">
                <a:latin typeface="Arial" panose="020B0604020202020204" pitchFamily="34" charset="0"/>
                <a:cs typeface="Arial" panose="020B0604020202020204" pitchFamily="34" charset="0"/>
              </a:rPr>
              <a:t>Soal Latihan</a:t>
            </a:r>
          </a:p>
          <a:p>
            <a:pPr marL="0" indent="0">
              <a:buNone/>
            </a:pPr>
            <a:r>
              <a:rPr lang="en-US" sz="2000" noProof="1">
                <a:latin typeface="Arial" panose="020B0604020202020204" pitchFamily="34" charset="0"/>
                <a:cs typeface="Arial" panose="020B0604020202020204" pitchFamily="34" charset="0"/>
              </a:rPr>
              <a:t>1. Buat daftar minimal 10 aktivitas proyek berdasarkan studi kasus di atas.</a:t>
            </a:r>
          </a:p>
          <a:p>
            <a:pPr marL="0" indent="0">
              <a:buNone/>
            </a:pPr>
            <a:r>
              <a:rPr lang="en-US" sz="2000" noProof="1">
                <a:latin typeface="Arial" panose="020B0604020202020204" pitchFamily="34" charset="0"/>
                <a:cs typeface="Arial" panose="020B0604020202020204" pitchFamily="34" charset="0"/>
              </a:rPr>
              <a:t>2. Tentukan grup proses dan area pengetahuan untuk masing-masing aktivitas.</a:t>
            </a:r>
          </a:p>
          <a:p>
            <a:pPr marL="0" indent="0">
              <a:buNone/>
            </a:pPr>
            <a:r>
              <a:rPr lang="en-US" sz="2000" noProof="1">
                <a:latin typeface="Arial" panose="020B0604020202020204" pitchFamily="34" charset="0"/>
                <a:cs typeface="Arial" panose="020B0604020202020204" pitchFamily="34" charset="0"/>
              </a:rPr>
              <a:t>3. Buat tabel pemetaan aktivitas, grup proses, dan area pengetahuan.</a:t>
            </a:r>
          </a:p>
          <a:p>
            <a:pPr marL="0" indent="0">
              <a:buNone/>
            </a:pPr>
            <a:r>
              <a:rPr lang="en-US" sz="2000" noProof="1">
                <a:latin typeface="Arial" panose="020B0604020202020204" pitchFamily="34" charset="0"/>
                <a:cs typeface="Arial" panose="020B0604020202020204" pitchFamily="34" charset="0"/>
              </a:rPr>
              <a:t>4. Presentasikan hasil pemetaan dalam diskusi kelompok dan berikan justifikasi.</a:t>
            </a:r>
          </a:p>
          <a:p>
            <a:pPr marL="0" indent="0">
              <a:buNone/>
            </a:pPr>
            <a:endParaRPr lang="en-US" sz="2000" noProof="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271084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73F25-755B-9B6D-40FE-1EE47DCCAE41}"/>
              </a:ext>
            </a:extLst>
          </p:cNvPr>
          <p:cNvSpPr>
            <a:spLocks noGrp="1"/>
          </p:cNvSpPr>
          <p:nvPr>
            <p:ph type="title"/>
          </p:nvPr>
        </p:nvSpPr>
        <p:spPr/>
        <p:txBody>
          <a:bodyPr/>
          <a:lstStyle/>
          <a:p>
            <a:pPr algn="ctr"/>
            <a:r>
              <a:rPr lang="en-US" noProof="1"/>
              <a:t>Discussion (Diskusi)</a:t>
            </a:r>
          </a:p>
        </p:txBody>
      </p:sp>
      <p:sp>
        <p:nvSpPr>
          <p:cNvPr id="3" name="Content Placeholder 2">
            <a:extLst>
              <a:ext uri="{FF2B5EF4-FFF2-40B4-BE49-F238E27FC236}">
                <a16:creationId xmlns:a16="http://schemas.microsoft.com/office/drawing/2014/main" id="{78134335-2C91-4978-AD29-D25618DEA8E3}"/>
              </a:ext>
            </a:extLst>
          </p:cNvPr>
          <p:cNvSpPr>
            <a:spLocks noGrp="1"/>
          </p:cNvSpPr>
          <p:nvPr>
            <p:ph idx="1"/>
          </p:nvPr>
        </p:nvSpPr>
        <p:spPr/>
        <p:txBody>
          <a:bodyPr/>
          <a:lstStyle/>
          <a:p>
            <a:r>
              <a:rPr lang="en-US" noProof="1"/>
              <a:t>Pahami dengan baik </a:t>
            </a:r>
            <a:r>
              <a:rPr lang="en-US" b="1" noProof="1"/>
              <a:t>project management case study</a:t>
            </a:r>
            <a:r>
              <a:rPr lang="en-US" noProof="1"/>
              <a:t> di mana </a:t>
            </a:r>
            <a:r>
              <a:rPr lang="en-US" b="1" noProof="1"/>
              <a:t>JWD Consulting</a:t>
            </a:r>
            <a:r>
              <a:rPr lang="en-US" noProof="1"/>
              <a:t> mengelola proyek </a:t>
            </a:r>
            <a:r>
              <a:rPr lang="en-US" b="1" noProof="1"/>
              <a:t>“Intranet Site Project”</a:t>
            </a:r>
            <a:r>
              <a:rPr lang="en-US" noProof="1"/>
              <a:t>!</a:t>
            </a:r>
          </a:p>
          <a:p>
            <a:r>
              <a:rPr lang="en-US" noProof="1"/>
              <a:t>Berdasarkan studi kasus tersebut, lakukan simulasi manajemen proyek untuk proyek yang sedang/telah Anda kerjakan.</a:t>
            </a:r>
          </a:p>
          <a:p>
            <a:r>
              <a:rPr lang="en-US" noProof="1"/>
              <a:t>Gunakan template di Lampiran. Tentukan juga pendekatan Anda (prediktif, agile, atau hybrid) beserta alasannya.</a:t>
            </a:r>
          </a:p>
          <a:p>
            <a:r>
              <a:rPr lang="en-US" b="1" noProof="1"/>
              <a:t>Belum memiliki proyek? Gunakan kasus pemicu berikut:</a:t>
            </a:r>
          </a:p>
          <a:p>
            <a:pPr lvl="1"/>
            <a:r>
              <a:rPr lang="en-US" sz="1800" b="0" noProof="1"/>
              <a:t>Unit TI sebuah kampus di Yogyakarta ingin membangun Portal Repositori Template Proyek: template dan contoh dokumen proyek, panduan pengisian, forum tanya-jawab dengan dosen/praktisi, serta akses terbatas untuk mitra industri. Anggaran Rp350 juta, target 6 bulan, sponsor: Wakil Rektor bidang akademik.</a:t>
            </a:r>
          </a:p>
          <a:p>
            <a:pPr marL="0" indent="0">
              <a:buNone/>
            </a:pPr>
            <a:endParaRPr lang="en-US" noProof="1"/>
          </a:p>
        </p:txBody>
      </p:sp>
    </p:spTree>
    <p:extLst>
      <p:ext uri="{BB962C8B-B14F-4D97-AF65-F5344CB8AC3E}">
        <p14:creationId xmlns:p14="http://schemas.microsoft.com/office/powerpoint/2010/main" val="181021598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0A1D3-FC71-BF42-8A0D-EDC0A2F845BC}"/>
              </a:ext>
            </a:extLst>
          </p:cNvPr>
          <p:cNvSpPr>
            <a:spLocks noGrp="1"/>
          </p:cNvSpPr>
          <p:nvPr>
            <p:ph type="title"/>
          </p:nvPr>
        </p:nvSpPr>
        <p:spPr/>
        <p:txBody>
          <a:bodyPr/>
          <a:lstStyle/>
          <a:p>
            <a:pPr algn="ctr"/>
            <a:r>
              <a:rPr lang="en-US" noProof="1"/>
              <a:t>Summary (Ringkasan)</a:t>
            </a:r>
          </a:p>
        </p:txBody>
      </p:sp>
      <p:sp>
        <p:nvSpPr>
          <p:cNvPr id="3" name="Content Placeholder 2">
            <a:extLst>
              <a:ext uri="{FF2B5EF4-FFF2-40B4-BE49-F238E27FC236}">
                <a16:creationId xmlns:a16="http://schemas.microsoft.com/office/drawing/2014/main" id="{1071FEC9-4328-4867-708B-A4355EB02AB7}"/>
              </a:ext>
            </a:extLst>
          </p:cNvPr>
          <p:cNvSpPr>
            <a:spLocks noGrp="1"/>
          </p:cNvSpPr>
          <p:nvPr>
            <p:ph idx="1"/>
          </p:nvPr>
        </p:nvSpPr>
        <p:spPr/>
        <p:txBody>
          <a:bodyPr>
            <a:normAutofit/>
          </a:bodyPr>
          <a:lstStyle/>
          <a:p>
            <a:r>
              <a:rPr lang="en-US" sz="2000" noProof="1"/>
              <a:t>Lima kelompok proses — initiating, planning, executing, monitoring &amp; controlling, closing — saling tumpang tindih dan berulang di setiap fase; bukan urutan fase.</a:t>
            </a:r>
          </a:p>
          <a:p>
            <a:r>
              <a:rPr lang="en-US" sz="2000" noProof="1"/>
              <a:t>Pada PMBOK® edisi 4, 42 proses dipetakan ke sembilan area pengetahuan; planning dan M&amp;C menyentuh hampir semua area.</a:t>
            </a:r>
          </a:p>
          <a:p>
            <a:r>
              <a:rPr lang="en-US" sz="2000" noProof="1"/>
              <a:t>Standar menjelaskan apa yang perlu dikelola; metodologi menjelaskan bagaimana. Organisasi menyesuaikan (tailoring) metodologi PM TI dengan konteksnya.</a:t>
            </a:r>
          </a:p>
          <a:p>
            <a:r>
              <a:rPr lang="en-US" sz="2000" noProof="1"/>
              <a:t>PMBOK® 7 bergeser ke prinsip dan domain kinerja; PMBOK® 8 (2025) menghadirkan kembali kelompok proses sebagai Focus Areas.</a:t>
            </a:r>
          </a:p>
          <a:p>
            <a:r>
              <a:rPr lang="en-US" sz="2000" noProof="1"/>
              <a:t>Studi kasus JWD Consulting menunjukkan dokumen kunci tiap kelompok proses: business case, charter, stakeholder register, scope statement, WBS, Gantt, daftar risiko, milestone report, hingga laporan akhir dan lessons learned.</a:t>
            </a:r>
          </a:p>
        </p:txBody>
      </p:sp>
    </p:spTree>
    <p:extLst>
      <p:ext uri="{BB962C8B-B14F-4D97-AF65-F5344CB8AC3E}">
        <p14:creationId xmlns:p14="http://schemas.microsoft.com/office/powerpoint/2010/main" val="112703874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090E9-EA18-5F68-2BF4-F09E12D86C6D}"/>
              </a:ext>
            </a:extLst>
          </p:cNvPr>
          <p:cNvSpPr>
            <a:spLocks noGrp="1"/>
          </p:cNvSpPr>
          <p:nvPr>
            <p:ph type="title"/>
          </p:nvPr>
        </p:nvSpPr>
        <p:spPr/>
        <p:txBody>
          <a:bodyPr/>
          <a:lstStyle/>
          <a:p>
            <a:pPr algn="ctr"/>
            <a:r>
              <a:rPr lang="en-US" b="1" noProof="1"/>
              <a:t>References (Daftar Pustaka)</a:t>
            </a:r>
            <a:endParaRPr lang="en-US" noProof="1"/>
          </a:p>
        </p:txBody>
      </p:sp>
      <p:sp>
        <p:nvSpPr>
          <p:cNvPr id="3" name="Content Placeholder 2">
            <a:extLst>
              <a:ext uri="{FF2B5EF4-FFF2-40B4-BE49-F238E27FC236}">
                <a16:creationId xmlns:a16="http://schemas.microsoft.com/office/drawing/2014/main" id="{7BD27A7C-6AB0-A567-0830-F367368D5937}"/>
              </a:ext>
            </a:extLst>
          </p:cNvPr>
          <p:cNvSpPr>
            <a:spLocks noGrp="1"/>
          </p:cNvSpPr>
          <p:nvPr>
            <p:ph idx="1"/>
          </p:nvPr>
        </p:nvSpPr>
        <p:spPr/>
        <p:txBody>
          <a:bodyPr>
            <a:noAutofit/>
          </a:bodyPr>
          <a:lstStyle/>
          <a:p>
            <a:r>
              <a:rPr lang="en-US" sz="1500" noProof="1"/>
              <a:t>Schwalbe, K. (2010). Managing Information Technology Projects (6th ed.). Course Technology, Cengage Learning.</a:t>
            </a:r>
          </a:p>
          <a:p>
            <a:r>
              <a:rPr lang="en-US" sz="1500" noProof="1"/>
              <a:t>Project Management Institute. (2008). A Guide to the Project Management Body of Knowledge (PMBOK® Guide) – 4th ed.</a:t>
            </a:r>
          </a:p>
          <a:p>
            <a:r>
              <a:rPr lang="en-US" sz="1500" noProof="1"/>
              <a:t>Project Management Institute. (2021). PMBOK® Guide – 7th ed. and The Standard for Project Management.</a:t>
            </a:r>
          </a:p>
          <a:p>
            <a:r>
              <a:rPr lang="en-US" sz="1500" noProof="1"/>
              <a:t>Project Management Institute. (2022). Process Groups: A Practice Guide.</a:t>
            </a:r>
          </a:p>
          <a:p>
            <a:r>
              <a:rPr lang="en-US" sz="1500" noProof="1"/>
              <a:t>Project Management Institute. (2025). PMBOK® Guide – 8th ed. and The Standard for Project Management.</a:t>
            </a:r>
          </a:p>
          <a:p>
            <a:r>
              <a:rPr lang="en-US" sz="1500" noProof="1"/>
              <a:t>Crowe, A. (2006). Alpha Project Managers: What the Top 2% Know That Everyone Else Does Not. Velociteach.</a:t>
            </a:r>
          </a:p>
          <a:p>
            <a:r>
              <a:rPr lang="en-US" sz="1500" noProof="1"/>
              <a:t>Kemenkominfo (2024), pernyataan resmi insiden PDNS 2, dalam Bisnis.com (27 Juni &amp; 9 Agustus 2024).</a:t>
            </a:r>
          </a:p>
          <a:p>
            <a:r>
              <a:rPr lang="en-US" sz="1500" noProof="1"/>
              <a:t>Direktorat Jenderal Pajak (2025), pernyataan resmi implementasi Coretax, dalam IKPI (6 Januari 2025) dan Katadata (10 Januari 2025).</a:t>
            </a:r>
          </a:p>
          <a:p>
            <a:r>
              <a:rPr lang="en-US" sz="1500" noProof="1"/>
              <a:t>Peraturan Menteri Kesehatan RI No. 24 Tahun 2022 tentang Rekam Medis.</a:t>
            </a:r>
          </a:p>
        </p:txBody>
      </p:sp>
    </p:spTree>
    <p:extLst>
      <p:ext uri="{BB962C8B-B14F-4D97-AF65-F5344CB8AC3E}">
        <p14:creationId xmlns:p14="http://schemas.microsoft.com/office/powerpoint/2010/main" val="120697824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Lampiran</a:t>
            </a:r>
          </a:p>
        </p:txBody>
      </p:sp>
      <p:sp>
        <p:nvSpPr>
          <p:cNvPr id="3" name="Text Placeholder 2"/>
          <p:cNvSpPr>
            <a:spLocks noGrp="1"/>
          </p:cNvSpPr>
          <p:nvPr>
            <p:ph type="body" idx="1"/>
          </p:nvPr>
        </p:nvSpPr>
        <p:spPr/>
        <p:txBody>
          <a:bodyPr/>
          <a:lstStyle/>
          <a:p>
            <a:r>
              <a:rPr lang="en-US" noProof="1"/>
              <a:t>Tabel proses dan output (PMBOK® Guide edisi 4) serta daftar template Schwalbe — rujukan untuk belajar mandiri (asinkron) dan untuk tugas simulasi.</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C41FF-6F03-69B5-4B40-AD57051136B2}"/>
              </a:ext>
            </a:extLst>
          </p:cNvPr>
          <p:cNvSpPr>
            <a:spLocks noGrp="1"/>
          </p:cNvSpPr>
          <p:nvPr>
            <p:ph type="title"/>
          </p:nvPr>
        </p:nvSpPr>
        <p:spPr/>
        <p:txBody>
          <a:bodyPr/>
          <a:lstStyle/>
          <a:p>
            <a:pPr algn="ctr"/>
            <a:r>
              <a:rPr lang="en-US" noProof="1"/>
              <a:t>Template Pra-Inisiasi Proyek</a:t>
            </a:r>
          </a:p>
        </p:txBody>
      </p:sp>
      <p:graphicFrame>
        <p:nvGraphicFramePr>
          <p:cNvPr id="4" name="Content Placeholder 3">
            <a:extLst>
              <a:ext uri="{FF2B5EF4-FFF2-40B4-BE49-F238E27FC236}">
                <a16:creationId xmlns:a16="http://schemas.microsoft.com/office/drawing/2014/main" id="{EEAC51EF-51C4-FCD5-3E2A-193A050D773B}"/>
              </a:ext>
            </a:extLst>
          </p:cNvPr>
          <p:cNvGraphicFramePr>
            <a:graphicFrameLocks noGrp="1"/>
          </p:cNvGraphicFramePr>
          <p:nvPr>
            <p:ph idx="1"/>
            <p:extLst>
              <p:ext uri="{D42A27DB-BD31-4B8C-83A1-F6EECF244321}">
                <p14:modId xmlns:p14="http://schemas.microsoft.com/office/powerpoint/2010/main" val="2158536379"/>
              </p:ext>
            </p:extLst>
          </p:nvPr>
        </p:nvGraphicFramePr>
        <p:xfrm>
          <a:off x="838200" y="1988820"/>
          <a:ext cx="10706100" cy="3246915"/>
        </p:xfrm>
        <a:graphic>
          <a:graphicData uri="http://schemas.openxmlformats.org/drawingml/2006/table">
            <a:tbl>
              <a:tblPr>
                <a:tableStyleId>{616DA210-FB5B-4158-B5E0-FEB733F419BA}</a:tableStyleId>
              </a:tblPr>
              <a:tblGrid>
                <a:gridCol w="2141220">
                  <a:extLst>
                    <a:ext uri="{9D8B030D-6E8A-4147-A177-3AD203B41FA5}">
                      <a16:colId xmlns:a16="http://schemas.microsoft.com/office/drawing/2014/main" val="547034876"/>
                    </a:ext>
                  </a:extLst>
                </a:gridCol>
                <a:gridCol w="2141220">
                  <a:extLst>
                    <a:ext uri="{9D8B030D-6E8A-4147-A177-3AD203B41FA5}">
                      <a16:colId xmlns:a16="http://schemas.microsoft.com/office/drawing/2014/main" val="1618570664"/>
                    </a:ext>
                  </a:extLst>
                </a:gridCol>
                <a:gridCol w="2141220">
                  <a:extLst>
                    <a:ext uri="{9D8B030D-6E8A-4147-A177-3AD203B41FA5}">
                      <a16:colId xmlns:a16="http://schemas.microsoft.com/office/drawing/2014/main" val="343246038"/>
                    </a:ext>
                  </a:extLst>
                </a:gridCol>
                <a:gridCol w="2141220">
                  <a:extLst>
                    <a:ext uri="{9D8B030D-6E8A-4147-A177-3AD203B41FA5}">
                      <a16:colId xmlns:a16="http://schemas.microsoft.com/office/drawing/2014/main" val="425606003"/>
                    </a:ext>
                  </a:extLst>
                </a:gridCol>
                <a:gridCol w="2141220">
                  <a:extLst>
                    <a:ext uri="{9D8B030D-6E8A-4147-A177-3AD203B41FA5}">
                      <a16:colId xmlns:a16="http://schemas.microsoft.com/office/drawing/2014/main" val="987779616"/>
                    </a:ext>
                  </a:extLst>
                </a:gridCol>
              </a:tblGrid>
              <a:tr h="1563329">
                <a:tc>
                  <a:txBody>
                    <a:bodyPr/>
                    <a:lstStyle/>
                    <a:p>
                      <a:pPr>
                        <a:buNone/>
                      </a:pPr>
                      <a:r>
                        <a:rPr lang="en-US" b="1" noProof="1">
                          <a:latin typeface="Arial" panose="020B0604020202020204" pitchFamily="34" charset="0"/>
                          <a:cs typeface="Arial" panose="020B0604020202020204" pitchFamily="34" charset="0"/>
                        </a:rPr>
                        <a:t>Nama Template</a:t>
                      </a:r>
                      <a:endParaRPr lang="en-US" noProof="1">
                        <a:latin typeface="Arial" panose="020B0604020202020204" pitchFamily="34" charset="0"/>
                        <a:cs typeface="Arial" panose="020B0604020202020204" pitchFamily="34" charset="0"/>
                      </a:endParaRPr>
                    </a:p>
                  </a:txBody>
                  <a:tcPr anchor="ctr"/>
                </a:tc>
                <a:tc>
                  <a:txBody>
                    <a:bodyPr/>
                    <a:lstStyle/>
                    <a:p>
                      <a:pPr>
                        <a:buNone/>
                      </a:pPr>
                      <a:r>
                        <a:rPr lang="en-US" b="1" noProof="1">
                          <a:latin typeface="Arial" panose="020B0604020202020204" pitchFamily="34" charset="0"/>
                          <a:cs typeface="Arial" panose="020B0604020202020204" pitchFamily="34" charset="0"/>
                        </a:rPr>
                        <a:t>Kelompok Proses (Process Group)</a:t>
                      </a:r>
                      <a:endParaRPr lang="en-US" noProof="1">
                        <a:latin typeface="Arial" panose="020B0604020202020204" pitchFamily="34" charset="0"/>
                        <a:cs typeface="Arial" panose="020B0604020202020204" pitchFamily="34" charset="0"/>
                      </a:endParaRPr>
                    </a:p>
                  </a:txBody>
                  <a:tcPr anchor="ctr"/>
                </a:tc>
                <a:tc>
                  <a:txBody>
                    <a:bodyPr/>
                    <a:lstStyle/>
                    <a:p>
                      <a:pPr>
                        <a:buNone/>
                      </a:pPr>
                      <a:r>
                        <a:rPr lang="en-US" b="1" noProof="1">
                          <a:latin typeface="Arial" panose="020B0604020202020204" pitchFamily="34" charset="0"/>
                          <a:cs typeface="Arial" panose="020B0604020202020204" pitchFamily="34" charset="0"/>
                        </a:rPr>
                        <a:t>Bab Digunakan (Chapter(s) Where Used)</a:t>
                      </a:r>
                      <a:endParaRPr lang="en-US" noProof="1">
                        <a:latin typeface="Arial" panose="020B0604020202020204" pitchFamily="34" charset="0"/>
                        <a:cs typeface="Arial" panose="020B0604020202020204" pitchFamily="34" charset="0"/>
                      </a:endParaRPr>
                    </a:p>
                  </a:txBody>
                  <a:tcPr anchor="ctr"/>
                </a:tc>
                <a:tc>
                  <a:txBody>
                    <a:bodyPr/>
                    <a:lstStyle/>
                    <a:p>
                      <a:pPr>
                        <a:buNone/>
                      </a:pPr>
                      <a:r>
                        <a:rPr lang="en-US" b="1" noProof="1">
                          <a:latin typeface="Arial" panose="020B0604020202020204" pitchFamily="34" charset="0"/>
                          <a:cs typeface="Arial" panose="020B0604020202020204" pitchFamily="34" charset="0"/>
                        </a:rPr>
                        <a:t>Perangkat Lunak Aplikasi (Application Software)</a:t>
                      </a:r>
                      <a:endParaRPr lang="en-US" noProof="1">
                        <a:latin typeface="Arial" panose="020B0604020202020204" pitchFamily="34" charset="0"/>
                        <a:cs typeface="Arial" panose="020B0604020202020204" pitchFamily="34" charset="0"/>
                      </a:endParaRPr>
                    </a:p>
                  </a:txBody>
                  <a:tcPr anchor="ctr"/>
                </a:tc>
                <a:tc>
                  <a:txBody>
                    <a:bodyPr/>
                    <a:lstStyle/>
                    <a:p>
                      <a:pPr>
                        <a:buNone/>
                      </a:pPr>
                      <a:r>
                        <a:rPr lang="en-US" b="1" noProof="1">
                          <a:latin typeface="Arial" panose="020B0604020202020204" pitchFamily="34" charset="0"/>
                          <a:cs typeface="Arial" panose="020B0604020202020204" pitchFamily="34" charset="0"/>
                        </a:rPr>
                        <a:t>Nama File (File Name)</a:t>
                      </a:r>
                      <a:endParaRPr lang="en-US" noProof="1">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557503178"/>
                  </a:ext>
                </a:extLst>
              </a:tr>
              <a:tr h="841793">
                <a:tc>
                  <a:txBody>
                    <a:bodyPr/>
                    <a:lstStyle/>
                    <a:p>
                      <a:pPr>
                        <a:buNone/>
                      </a:pPr>
                      <a:r>
                        <a:rPr lang="en-US" noProof="1">
                          <a:latin typeface="Arial" panose="020B0604020202020204" pitchFamily="34" charset="0"/>
                          <a:cs typeface="Arial" panose="020B0604020202020204" pitchFamily="34" charset="0"/>
                        </a:rPr>
                        <a:t>Business Case</a:t>
                      </a:r>
                    </a:p>
                  </a:txBody>
                  <a:tcPr anchor="ctr"/>
                </a:tc>
                <a:tc>
                  <a:txBody>
                    <a:bodyPr/>
                    <a:lstStyle/>
                    <a:p>
                      <a:pPr>
                        <a:buNone/>
                      </a:pPr>
                      <a:r>
                        <a:rPr lang="en-US" noProof="1">
                          <a:latin typeface="Arial" panose="020B0604020202020204" pitchFamily="34" charset="0"/>
                          <a:cs typeface="Arial" panose="020B0604020202020204" pitchFamily="34" charset="0"/>
                        </a:rPr>
                        <a:t>Pra-Inisiasi (Pre-initiating)</a:t>
                      </a:r>
                    </a:p>
                  </a:txBody>
                  <a:tcPr anchor="ctr"/>
                </a:tc>
                <a:tc>
                  <a:txBody>
                    <a:bodyPr/>
                    <a:lstStyle/>
                    <a:p>
                      <a:pPr>
                        <a:buNone/>
                      </a:pPr>
                      <a:r>
                        <a:rPr lang="en-US" noProof="1">
                          <a:latin typeface="Arial" panose="020B0604020202020204" pitchFamily="34" charset="0"/>
                          <a:cs typeface="Arial" panose="020B0604020202020204" pitchFamily="34" charset="0"/>
                        </a:rPr>
                        <a:t>3</a:t>
                      </a:r>
                    </a:p>
                  </a:txBody>
                  <a:tcPr anchor="ctr"/>
                </a:tc>
                <a:tc>
                  <a:txBody>
                    <a:bodyPr/>
                    <a:lstStyle/>
                    <a:p>
                      <a:pPr>
                        <a:buNone/>
                      </a:pPr>
                      <a:r>
                        <a:rPr lang="en-US" noProof="1">
                          <a:latin typeface="Arial" panose="020B0604020202020204" pitchFamily="34" charset="0"/>
                          <a:cs typeface="Arial" panose="020B0604020202020204" pitchFamily="34" charset="0"/>
                        </a:rPr>
                        <a:t>Word</a:t>
                      </a:r>
                    </a:p>
                  </a:txBody>
                  <a:tcPr anchor="ctr"/>
                </a:tc>
                <a:tc>
                  <a:txBody>
                    <a:bodyPr/>
                    <a:lstStyle/>
                    <a:p>
                      <a:pPr>
                        <a:buNone/>
                      </a:pPr>
                      <a:r>
                        <a:rPr lang="en-US" noProof="1">
                          <a:latin typeface="Arial" panose="020B0604020202020204" pitchFamily="34" charset="0"/>
                          <a:cs typeface="Arial" panose="020B0604020202020204" pitchFamily="34" charset="0"/>
                          <a:hlinkClick r:id="rId2"/>
                        </a:rPr>
                        <a:t>business_case.doc</a:t>
                      </a:r>
                      <a:endParaRPr lang="en-US" noProof="1">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163002377"/>
                  </a:ext>
                </a:extLst>
              </a:tr>
              <a:tr h="841793">
                <a:tc>
                  <a:txBody>
                    <a:bodyPr/>
                    <a:lstStyle/>
                    <a:p>
                      <a:pPr>
                        <a:buNone/>
                      </a:pPr>
                      <a:r>
                        <a:rPr lang="en-US" noProof="1">
                          <a:latin typeface="Arial" panose="020B0604020202020204" pitchFamily="34" charset="0"/>
                          <a:cs typeface="Arial" panose="020B0604020202020204" pitchFamily="34" charset="0"/>
                        </a:rPr>
                        <a:t>Business Case Financial Analysis</a:t>
                      </a:r>
                    </a:p>
                  </a:txBody>
                  <a:tcPr anchor="ctr"/>
                </a:tc>
                <a:tc>
                  <a:txBody>
                    <a:bodyPr/>
                    <a:lstStyle/>
                    <a:p>
                      <a:pPr>
                        <a:buNone/>
                      </a:pPr>
                      <a:r>
                        <a:rPr lang="en-US" noProof="1">
                          <a:latin typeface="Arial" panose="020B0604020202020204" pitchFamily="34" charset="0"/>
                          <a:cs typeface="Arial" panose="020B0604020202020204" pitchFamily="34" charset="0"/>
                        </a:rPr>
                        <a:t>Pra-Inisiasi (Pre-initiating)</a:t>
                      </a:r>
                    </a:p>
                  </a:txBody>
                  <a:tcPr anchor="ctr"/>
                </a:tc>
                <a:tc>
                  <a:txBody>
                    <a:bodyPr/>
                    <a:lstStyle/>
                    <a:p>
                      <a:pPr>
                        <a:buNone/>
                      </a:pPr>
                      <a:r>
                        <a:rPr lang="en-US" noProof="1">
                          <a:latin typeface="Arial" panose="020B0604020202020204" pitchFamily="34" charset="0"/>
                          <a:cs typeface="Arial" panose="020B0604020202020204" pitchFamily="34" charset="0"/>
                        </a:rPr>
                        <a:t>3, 4</a:t>
                      </a:r>
                    </a:p>
                  </a:txBody>
                  <a:tcPr anchor="ctr"/>
                </a:tc>
                <a:tc>
                  <a:txBody>
                    <a:bodyPr/>
                    <a:lstStyle/>
                    <a:p>
                      <a:pPr>
                        <a:buNone/>
                      </a:pPr>
                      <a:r>
                        <a:rPr lang="en-US" noProof="1">
                          <a:latin typeface="Arial" panose="020B0604020202020204" pitchFamily="34" charset="0"/>
                          <a:cs typeface="Arial" panose="020B0604020202020204" pitchFamily="34" charset="0"/>
                        </a:rPr>
                        <a:t>Excel</a:t>
                      </a:r>
                    </a:p>
                  </a:txBody>
                  <a:tcPr anchor="ctr"/>
                </a:tc>
                <a:tc>
                  <a:txBody>
                    <a:bodyPr/>
                    <a:lstStyle/>
                    <a:p>
                      <a:pPr>
                        <a:buNone/>
                      </a:pPr>
                      <a:r>
                        <a:rPr lang="en-US" noProof="1">
                          <a:latin typeface="Arial" panose="020B0604020202020204" pitchFamily="34" charset="0"/>
                          <a:cs typeface="Arial" panose="020B0604020202020204" pitchFamily="34" charset="0"/>
                          <a:hlinkClick r:id="rId3"/>
                        </a:rPr>
                        <a:t>business_case_financials.xls</a:t>
                      </a:r>
                      <a:endParaRPr lang="en-US" noProof="1">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740287623"/>
                  </a:ext>
                </a:extLst>
              </a:tr>
            </a:tbl>
          </a:graphicData>
        </a:graphic>
      </p:graphicFrame>
    </p:spTree>
    <p:extLst>
      <p:ext uri="{BB962C8B-B14F-4D97-AF65-F5344CB8AC3E}">
        <p14:creationId xmlns:p14="http://schemas.microsoft.com/office/powerpoint/2010/main" val="105360397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14EE5-4B00-3613-D220-8FEFDA9DB8B9}"/>
              </a:ext>
            </a:extLst>
          </p:cNvPr>
          <p:cNvSpPr>
            <a:spLocks noGrp="1"/>
          </p:cNvSpPr>
          <p:nvPr>
            <p:ph type="title"/>
          </p:nvPr>
        </p:nvSpPr>
        <p:spPr/>
        <p:txBody>
          <a:bodyPr/>
          <a:lstStyle/>
          <a:p>
            <a:pPr algn="ctr"/>
            <a:r>
              <a:rPr lang="en-US" noProof="1"/>
              <a:t>Template Inisiasi Proyek</a:t>
            </a:r>
          </a:p>
        </p:txBody>
      </p:sp>
      <p:graphicFrame>
        <p:nvGraphicFramePr>
          <p:cNvPr id="4" name="Content Placeholder 3">
            <a:extLst>
              <a:ext uri="{FF2B5EF4-FFF2-40B4-BE49-F238E27FC236}">
                <a16:creationId xmlns:a16="http://schemas.microsoft.com/office/drawing/2014/main" id="{4377F855-D15C-8502-0820-69710BCA16C6}"/>
              </a:ext>
            </a:extLst>
          </p:cNvPr>
          <p:cNvGraphicFramePr>
            <a:graphicFrameLocks noGrp="1"/>
          </p:cNvGraphicFramePr>
          <p:nvPr>
            <p:ph idx="1"/>
            <p:extLst>
              <p:ext uri="{D42A27DB-BD31-4B8C-83A1-F6EECF244321}">
                <p14:modId xmlns:p14="http://schemas.microsoft.com/office/powerpoint/2010/main" val="2819776894"/>
              </p:ext>
            </p:extLst>
          </p:nvPr>
        </p:nvGraphicFramePr>
        <p:xfrm>
          <a:off x="241300" y="1441234"/>
          <a:ext cx="11464290" cy="4956005"/>
        </p:xfrm>
        <a:graphic>
          <a:graphicData uri="http://schemas.openxmlformats.org/drawingml/2006/table">
            <a:tbl>
              <a:tblPr/>
              <a:tblGrid>
                <a:gridCol w="2731770">
                  <a:extLst>
                    <a:ext uri="{9D8B030D-6E8A-4147-A177-3AD203B41FA5}">
                      <a16:colId xmlns:a16="http://schemas.microsoft.com/office/drawing/2014/main" val="2186933263"/>
                    </a:ext>
                  </a:extLst>
                </a:gridCol>
                <a:gridCol w="1916430">
                  <a:extLst>
                    <a:ext uri="{9D8B030D-6E8A-4147-A177-3AD203B41FA5}">
                      <a16:colId xmlns:a16="http://schemas.microsoft.com/office/drawing/2014/main" val="3137203255"/>
                    </a:ext>
                  </a:extLst>
                </a:gridCol>
                <a:gridCol w="1879600">
                  <a:extLst>
                    <a:ext uri="{9D8B030D-6E8A-4147-A177-3AD203B41FA5}">
                      <a16:colId xmlns:a16="http://schemas.microsoft.com/office/drawing/2014/main" val="3146136635"/>
                    </a:ext>
                  </a:extLst>
                </a:gridCol>
                <a:gridCol w="2247900">
                  <a:extLst>
                    <a:ext uri="{9D8B030D-6E8A-4147-A177-3AD203B41FA5}">
                      <a16:colId xmlns:a16="http://schemas.microsoft.com/office/drawing/2014/main" val="1772018090"/>
                    </a:ext>
                  </a:extLst>
                </a:gridCol>
                <a:gridCol w="2688590">
                  <a:extLst>
                    <a:ext uri="{9D8B030D-6E8A-4147-A177-3AD203B41FA5}">
                      <a16:colId xmlns:a16="http://schemas.microsoft.com/office/drawing/2014/main" val="3580941515"/>
                    </a:ext>
                  </a:extLst>
                </a:gridCol>
              </a:tblGrid>
              <a:tr h="716043">
                <a:tc>
                  <a:txBody>
                    <a:bodyPr/>
                    <a:lstStyle/>
                    <a:p>
                      <a:pPr>
                        <a:buNone/>
                      </a:pPr>
                      <a:r>
                        <a:rPr lang="en-US" sz="1600" b="1" noProof="1">
                          <a:latin typeface="Arial" panose="020B0604020202020204" pitchFamily="34" charset="0"/>
                          <a:cs typeface="Arial" panose="020B0604020202020204" pitchFamily="34" charset="0"/>
                        </a:rPr>
                        <a:t>Nama Template</a:t>
                      </a:r>
                      <a:endParaRPr lang="en-US" sz="1600" noProof="1">
                        <a:latin typeface="Arial" panose="020B0604020202020204" pitchFamily="34" charset="0"/>
                        <a:cs typeface="Arial" panose="020B0604020202020204" pitchFamily="34" charset="0"/>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Kelompok Proses (Process Group)</a:t>
                      </a:r>
                      <a:endParaRPr lang="en-US" sz="1600" noProof="1">
                        <a:latin typeface="Arial" panose="020B0604020202020204" pitchFamily="34" charset="0"/>
                        <a:cs typeface="Arial" panose="020B0604020202020204" pitchFamily="34" charset="0"/>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Bab Digunakan (Chapter(s) Where Used)</a:t>
                      </a:r>
                      <a:endParaRPr lang="en-US" sz="1600" noProof="1">
                        <a:latin typeface="Arial" panose="020B0604020202020204" pitchFamily="34" charset="0"/>
                        <a:cs typeface="Arial" panose="020B0604020202020204" pitchFamily="34" charset="0"/>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Perangkat Lunak Aplikasi (Application Software)</a:t>
                      </a:r>
                      <a:endParaRPr lang="en-US" sz="1600" noProof="1">
                        <a:latin typeface="Arial" panose="020B0604020202020204" pitchFamily="34" charset="0"/>
                        <a:cs typeface="Arial" panose="020B0604020202020204" pitchFamily="34" charset="0"/>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Nama File (File Name)</a:t>
                      </a:r>
                      <a:endParaRPr lang="en-US" sz="1600" noProof="1">
                        <a:latin typeface="Arial" panose="020B0604020202020204" pitchFamily="34" charset="0"/>
                        <a:cs typeface="Arial" panose="020B0604020202020204" pitchFamily="34" charset="0"/>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296744"/>
                  </a:ext>
                </a:extLst>
              </a:tr>
              <a:tr h="716043">
                <a:tc>
                  <a:txBody>
                    <a:bodyPr/>
                    <a:lstStyle/>
                    <a:p>
                      <a:pPr>
                        <a:buNone/>
                      </a:pPr>
                      <a:r>
                        <a:rPr lang="en-US" sz="1600" b="1" noProof="1">
                          <a:latin typeface="Arial" panose="020B0604020202020204" pitchFamily="34" charset="0"/>
                          <a:cs typeface="Arial" panose="020B0604020202020204" pitchFamily="34" charset="0"/>
                        </a:rPr>
                        <a:t>Register Pemangku Kepentingan </a:t>
                      </a:r>
                    </a:p>
                    <a:p>
                      <a:pPr>
                        <a:buNone/>
                      </a:pPr>
                      <a:r>
                        <a:rPr lang="en-US" sz="1600" b="1" noProof="1">
                          <a:latin typeface="Arial" panose="020B0604020202020204" pitchFamily="34" charset="0"/>
                          <a:cs typeface="Arial" panose="020B0604020202020204" pitchFamily="34" charset="0"/>
                        </a:rPr>
                        <a:t>(Stakeholder Register)</a:t>
                      </a:r>
                      <a:endParaRPr lang="en-US" sz="1600" noProof="1">
                        <a:latin typeface="Arial" panose="020B0604020202020204" pitchFamily="34" charset="0"/>
                        <a:cs typeface="Arial" panose="020B0604020202020204" pitchFamily="34" charset="0"/>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Inisiasi (Initiating)</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3, 10</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Word</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hlinkClick r:id="rId2"/>
                        </a:rPr>
                        <a:t>stakeholder_register.doc</a:t>
                      </a:r>
                      <a:endParaRPr lang="en-US" sz="1600" noProof="1">
                        <a:latin typeface="Arial" panose="020B0604020202020204" pitchFamily="34" charset="0"/>
                        <a:cs typeface="Arial" panose="020B0604020202020204" pitchFamily="34" charset="0"/>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8639124"/>
                  </a:ext>
                </a:extLst>
              </a:tr>
              <a:tr h="1211765">
                <a:tc>
                  <a:txBody>
                    <a:bodyPr/>
                    <a:lstStyle/>
                    <a:p>
                      <a:pPr>
                        <a:buNone/>
                      </a:pPr>
                      <a:r>
                        <a:rPr lang="en-US" sz="1600" b="1" noProof="1">
                          <a:latin typeface="Arial" panose="020B0604020202020204" pitchFamily="34" charset="0"/>
                          <a:cs typeface="Arial" panose="020B0604020202020204" pitchFamily="34" charset="0"/>
                        </a:rPr>
                        <a:t>Strategi Manajemen Pemangku Kepentingan </a:t>
                      </a:r>
                    </a:p>
                    <a:p>
                      <a:pPr>
                        <a:buNone/>
                      </a:pPr>
                      <a:r>
                        <a:rPr lang="en-US" sz="1600" b="1" noProof="1">
                          <a:latin typeface="Arial" panose="020B0604020202020204" pitchFamily="34" charset="0"/>
                          <a:cs typeface="Arial" panose="020B0604020202020204" pitchFamily="34" charset="0"/>
                        </a:rPr>
                        <a:t>(Stakeholder Management Strategy)</a:t>
                      </a:r>
                      <a:endParaRPr lang="en-US" sz="1600" noProof="1">
                        <a:latin typeface="Arial" panose="020B0604020202020204" pitchFamily="34" charset="0"/>
                        <a:cs typeface="Arial" panose="020B0604020202020204" pitchFamily="34" charset="0"/>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Inisiasi (Initiating)</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3, 10</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Word</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hlinkClick r:id="rId3"/>
                        </a:rPr>
                        <a:t>stakeholder_strategy.doc</a:t>
                      </a:r>
                      <a:endParaRPr lang="en-US" sz="1600" noProof="1">
                        <a:latin typeface="Arial" panose="020B0604020202020204" pitchFamily="34" charset="0"/>
                        <a:cs typeface="Arial" panose="020B0604020202020204" pitchFamily="34" charset="0"/>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4334671"/>
                  </a:ext>
                </a:extLst>
              </a:tr>
              <a:tr h="385562">
                <a:tc>
                  <a:txBody>
                    <a:bodyPr/>
                    <a:lstStyle/>
                    <a:p>
                      <a:pPr>
                        <a:buNone/>
                      </a:pPr>
                      <a:r>
                        <a:rPr lang="en-US" sz="1600" b="1" noProof="1">
                          <a:latin typeface="Arial" panose="020B0604020202020204" pitchFamily="34" charset="0"/>
                          <a:cs typeface="Arial" panose="020B0604020202020204" pitchFamily="34" charset="0"/>
                        </a:rPr>
                        <a:t>Rapat Kick-off </a:t>
                      </a:r>
                    </a:p>
                    <a:p>
                      <a:pPr>
                        <a:buNone/>
                      </a:pPr>
                      <a:r>
                        <a:rPr lang="en-US" sz="1600" b="1" noProof="1">
                          <a:latin typeface="Arial" panose="020B0604020202020204" pitchFamily="34" charset="0"/>
                          <a:cs typeface="Arial" panose="020B0604020202020204" pitchFamily="34" charset="0"/>
                        </a:rPr>
                        <a:t>(Kick-off Meeting)</a:t>
                      </a:r>
                      <a:endParaRPr lang="en-US" sz="1600" noProof="1">
                        <a:latin typeface="Arial" panose="020B0604020202020204" pitchFamily="34" charset="0"/>
                        <a:cs typeface="Arial" panose="020B0604020202020204" pitchFamily="34" charset="0"/>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Inisiasi (Initiating)</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3</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Word</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hlinkClick r:id="rId4"/>
                        </a:rPr>
                        <a:t>kick-off_meeting.doc</a:t>
                      </a:r>
                      <a:endParaRPr lang="en-US" sz="1600" noProof="1">
                        <a:latin typeface="Arial" panose="020B0604020202020204" pitchFamily="34" charset="0"/>
                        <a:cs typeface="Arial" panose="020B0604020202020204" pitchFamily="34" charset="0"/>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5378408"/>
                  </a:ext>
                </a:extLst>
              </a:tr>
              <a:tr h="385562">
                <a:tc>
                  <a:txBody>
                    <a:bodyPr/>
                    <a:lstStyle/>
                    <a:p>
                      <a:pPr>
                        <a:buNone/>
                      </a:pPr>
                      <a:r>
                        <a:rPr lang="en-US" sz="1600" b="1" noProof="1">
                          <a:latin typeface="Arial" panose="020B0604020202020204" pitchFamily="34" charset="0"/>
                          <a:cs typeface="Arial" panose="020B0604020202020204" pitchFamily="34" charset="0"/>
                        </a:rPr>
                        <a:t>Bagan Payback </a:t>
                      </a:r>
                    </a:p>
                    <a:p>
                      <a:pPr>
                        <a:buNone/>
                      </a:pPr>
                      <a:r>
                        <a:rPr lang="en-US" sz="1600" b="1" noProof="1">
                          <a:latin typeface="Arial" panose="020B0604020202020204" pitchFamily="34" charset="0"/>
                          <a:cs typeface="Arial" panose="020B0604020202020204" pitchFamily="34" charset="0"/>
                        </a:rPr>
                        <a:t>(Payback Chart)</a:t>
                      </a:r>
                      <a:endParaRPr lang="en-US" sz="1600" noProof="1">
                        <a:latin typeface="Arial" panose="020B0604020202020204" pitchFamily="34" charset="0"/>
                        <a:cs typeface="Arial" panose="020B0604020202020204" pitchFamily="34" charset="0"/>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Inisiasi (Initiating)</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4</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Excel</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payback.xls</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3397931"/>
                  </a:ext>
                </a:extLst>
              </a:tr>
              <a:tr h="716043">
                <a:tc>
                  <a:txBody>
                    <a:bodyPr/>
                    <a:lstStyle/>
                    <a:p>
                      <a:pPr>
                        <a:buNone/>
                      </a:pPr>
                      <a:r>
                        <a:rPr lang="en-US" sz="1600" b="1" noProof="1">
                          <a:latin typeface="Arial" panose="020B0604020202020204" pitchFamily="34" charset="0"/>
                          <a:cs typeface="Arial" panose="020B0604020202020204" pitchFamily="34" charset="0"/>
                        </a:rPr>
                        <a:t>Matriks Keputusan Berbobot </a:t>
                      </a:r>
                    </a:p>
                    <a:p>
                      <a:pPr>
                        <a:buNone/>
                      </a:pPr>
                      <a:r>
                        <a:rPr lang="en-US" sz="1600" b="1" noProof="1">
                          <a:latin typeface="Arial" panose="020B0604020202020204" pitchFamily="34" charset="0"/>
                          <a:cs typeface="Arial" panose="020B0604020202020204" pitchFamily="34" charset="0"/>
                        </a:rPr>
                        <a:t>(Weighted Decision Matrix)</a:t>
                      </a:r>
                      <a:endParaRPr lang="en-US" sz="1600" noProof="1">
                        <a:latin typeface="Arial" panose="020B0604020202020204" pitchFamily="34" charset="0"/>
                        <a:cs typeface="Arial" panose="020B0604020202020204" pitchFamily="34" charset="0"/>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Inisiasi (Initiating)</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4, 12</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Excel</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wtd_decision_matrix.xls</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2139283"/>
                  </a:ext>
                </a:extLst>
              </a:tr>
              <a:tr h="220321">
                <a:tc>
                  <a:txBody>
                    <a:bodyPr/>
                    <a:lstStyle/>
                    <a:p>
                      <a:pPr>
                        <a:buNone/>
                      </a:pPr>
                      <a:r>
                        <a:rPr lang="en-US" sz="1600" b="1" noProof="1">
                          <a:latin typeface="Arial" panose="020B0604020202020204" pitchFamily="34" charset="0"/>
                          <a:cs typeface="Arial" panose="020B0604020202020204" pitchFamily="34" charset="0"/>
                        </a:rPr>
                        <a:t>Project Charter</a:t>
                      </a:r>
                      <a:endParaRPr lang="en-US" sz="1600" noProof="1">
                        <a:latin typeface="Arial" panose="020B0604020202020204" pitchFamily="34" charset="0"/>
                        <a:cs typeface="Arial" panose="020B0604020202020204" pitchFamily="34" charset="0"/>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Inisiasi (Initiating)</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3, 4, 5</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Word</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hlinkClick r:id="rId5"/>
                        </a:rPr>
                        <a:t>charter.doc</a:t>
                      </a:r>
                      <a:endParaRPr lang="en-US" sz="1600" noProof="1">
                        <a:latin typeface="Arial" panose="020B0604020202020204" pitchFamily="34" charset="0"/>
                        <a:cs typeface="Arial" panose="020B0604020202020204" pitchFamily="34" charset="0"/>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2180322"/>
                  </a:ext>
                </a:extLst>
              </a:tr>
            </a:tbl>
          </a:graphicData>
        </a:graphic>
      </p:graphicFrame>
    </p:spTree>
    <p:extLst>
      <p:ext uri="{BB962C8B-B14F-4D97-AF65-F5344CB8AC3E}">
        <p14:creationId xmlns:p14="http://schemas.microsoft.com/office/powerpoint/2010/main" val="134035295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2B5849A7-62A6-FA89-620C-197A890A86E6}"/>
              </a:ext>
            </a:extLst>
          </p:cNvPr>
          <p:cNvGraphicFramePr>
            <a:graphicFrameLocks noGrp="1"/>
          </p:cNvGraphicFramePr>
          <p:nvPr>
            <p:ph idx="1"/>
            <p:extLst>
              <p:ext uri="{D42A27DB-BD31-4B8C-83A1-F6EECF244321}">
                <p14:modId xmlns:p14="http://schemas.microsoft.com/office/powerpoint/2010/main" val="3021059862"/>
              </p:ext>
            </p:extLst>
          </p:nvPr>
        </p:nvGraphicFramePr>
        <p:xfrm>
          <a:off x="468630" y="605790"/>
          <a:ext cx="11452860" cy="6075870"/>
        </p:xfrm>
        <a:graphic>
          <a:graphicData uri="http://schemas.openxmlformats.org/drawingml/2006/table">
            <a:tbl>
              <a:tblPr/>
              <a:tblGrid>
                <a:gridCol w="2480310">
                  <a:extLst>
                    <a:ext uri="{9D8B030D-6E8A-4147-A177-3AD203B41FA5}">
                      <a16:colId xmlns:a16="http://schemas.microsoft.com/office/drawing/2014/main" val="542467835"/>
                    </a:ext>
                  </a:extLst>
                </a:gridCol>
                <a:gridCol w="3051810">
                  <a:extLst>
                    <a:ext uri="{9D8B030D-6E8A-4147-A177-3AD203B41FA5}">
                      <a16:colId xmlns:a16="http://schemas.microsoft.com/office/drawing/2014/main" val="3895789344"/>
                    </a:ext>
                  </a:extLst>
                </a:gridCol>
                <a:gridCol w="5920740">
                  <a:extLst>
                    <a:ext uri="{9D8B030D-6E8A-4147-A177-3AD203B41FA5}">
                      <a16:colId xmlns:a16="http://schemas.microsoft.com/office/drawing/2014/main" val="1329189272"/>
                    </a:ext>
                  </a:extLst>
                </a:gridCol>
              </a:tblGrid>
              <a:tr h="352902">
                <a:tc>
                  <a:txBody>
                    <a:bodyPr/>
                    <a:lstStyle/>
                    <a:p>
                      <a:pPr>
                        <a:buNone/>
                      </a:pPr>
                      <a:r>
                        <a:rPr lang="en-US" sz="1500" b="1" noProof="1">
                          <a:latin typeface="Arial" panose="020B0604020202020204" pitchFamily="34" charset="0"/>
                          <a:cs typeface="Arial" panose="020B0604020202020204" pitchFamily="34" charset="0"/>
                        </a:rPr>
                        <a:t>Knowledge Area (Area Pengetahuan)</a:t>
                      </a:r>
                      <a:endParaRPr lang="en-US" sz="1500" noProof="1">
                        <a:latin typeface="Arial" panose="020B0604020202020204" pitchFamily="34" charset="0"/>
                        <a:cs typeface="Arial" panose="020B0604020202020204" pitchFamily="34" charset="0"/>
                      </a:endParaRP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b="1" noProof="1">
                          <a:latin typeface="Arial" panose="020B0604020202020204" pitchFamily="34" charset="0"/>
                          <a:cs typeface="Arial" panose="020B0604020202020204" pitchFamily="34" charset="0"/>
                        </a:rPr>
                        <a:t>Planning Process (Proses Perencanaan)</a:t>
                      </a:r>
                      <a:endParaRPr lang="en-US" sz="1500" noProof="1">
                        <a:latin typeface="Arial" panose="020B0604020202020204" pitchFamily="34" charset="0"/>
                        <a:cs typeface="Arial" panose="020B0604020202020204" pitchFamily="34" charset="0"/>
                      </a:endParaRP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b="1" noProof="1">
                          <a:latin typeface="Arial" panose="020B0604020202020204" pitchFamily="34" charset="0"/>
                          <a:cs typeface="Arial" panose="020B0604020202020204" pitchFamily="34" charset="0"/>
                        </a:rPr>
                        <a:t>Outputs (Output)</a:t>
                      </a:r>
                      <a:endParaRPr lang="en-US" sz="1500" noProof="1">
                        <a:latin typeface="Arial" panose="020B0604020202020204" pitchFamily="34" charset="0"/>
                        <a:cs typeface="Arial" panose="020B0604020202020204" pitchFamily="34" charset="0"/>
                      </a:endParaRP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7553170"/>
                  </a:ext>
                </a:extLst>
              </a:tr>
              <a:tr h="352902">
                <a:tc>
                  <a:txBody>
                    <a:bodyPr/>
                    <a:lstStyle/>
                    <a:p>
                      <a:pPr>
                        <a:buNone/>
                      </a:pPr>
                      <a:r>
                        <a:rPr lang="en-US" sz="1500" b="1" noProof="1">
                          <a:latin typeface="Arial" panose="020B0604020202020204" pitchFamily="34" charset="0"/>
                          <a:cs typeface="Arial" panose="020B0604020202020204" pitchFamily="34" charset="0"/>
                        </a:rPr>
                        <a:t>Project Integration Management</a:t>
                      </a:r>
                      <a:endParaRPr lang="en-US" sz="1500" noProof="1">
                        <a:latin typeface="Arial" panose="020B0604020202020204" pitchFamily="34" charset="0"/>
                        <a:cs typeface="Arial" panose="020B0604020202020204" pitchFamily="34" charset="0"/>
                      </a:endParaRP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Develop project management plan</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Project management plan (</a:t>
                      </a:r>
                      <a:r>
                        <a:rPr lang="en-US" sz="1500" i="1" noProof="1">
                          <a:latin typeface="Arial" panose="020B0604020202020204" pitchFamily="34" charset="0"/>
                          <a:cs typeface="Arial" panose="020B0604020202020204" pitchFamily="34" charset="0"/>
                        </a:rPr>
                        <a:t>rencana manajemen proyek</a:t>
                      </a:r>
                      <a:r>
                        <a:rPr lang="en-US" sz="1500" noProof="1">
                          <a:latin typeface="Arial" panose="020B0604020202020204" pitchFamily="34" charset="0"/>
                          <a:cs typeface="Arial" panose="020B0604020202020204" pitchFamily="34" charset="0"/>
                        </a:rPr>
                        <a:t>)</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010120"/>
                  </a:ext>
                </a:extLst>
              </a:tr>
              <a:tr h="957875">
                <a:tc rowSpan="3">
                  <a:txBody>
                    <a:bodyPr/>
                    <a:lstStyle/>
                    <a:p>
                      <a:pPr>
                        <a:buNone/>
                      </a:pPr>
                      <a:r>
                        <a:rPr lang="en-US" sz="1500" b="1" noProof="1">
                          <a:latin typeface="Arial" panose="020B0604020202020204" pitchFamily="34" charset="0"/>
                          <a:cs typeface="Arial" panose="020B0604020202020204" pitchFamily="34" charset="0"/>
                        </a:rPr>
                        <a:t>Project Scope Management</a:t>
                      </a:r>
                      <a:endParaRPr lang="en-US" sz="1500" noProof="1">
                        <a:latin typeface="Arial" panose="020B0604020202020204" pitchFamily="34" charset="0"/>
                        <a:cs typeface="Arial" panose="020B0604020202020204" pitchFamily="34" charset="0"/>
                      </a:endParaRP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Collect requirements</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Requirements documents (</a:t>
                      </a:r>
                      <a:r>
                        <a:rPr lang="en-US" sz="1500" i="1" noProof="1">
                          <a:latin typeface="Arial" panose="020B0604020202020204" pitchFamily="34" charset="0"/>
                          <a:cs typeface="Arial" panose="020B0604020202020204" pitchFamily="34" charset="0"/>
                        </a:rPr>
                        <a:t>dokumen kebutuhan</a:t>
                      </a:r>
                      <a:r>
                        <a:rPr lang="en-US" sz="1500" noProof="1">
                          <a:latin typeface="Arial" panose="020B0604020202020204" pitchFamily="34" charset="0"/>
                          <a:cs typeface="Arial" panose="020B0604020202020204" pitchFamily="34" charset="0"/>
                        </a:rPr>
                        <a:t>); Requirements management plan (</a:t>
                      </a:r>
                      <a:r>
                        <a:rPr lang="en-US" sz="1500" i="1" noProof="1">
                          <a:latin typeface="Arial" panose="020B0604020202020204" pitchFamily="34" charset="0"/>
                          <a:cs typeface="Arial" panose="020B0604020202020204" pitchFamily="34" charset="0"/>
                        </a:rPr>
                        <a:t>rencana manajemen kebutuhan</a:t>
                      </a:r>
                      <a:r>
                        <a:rPr lang="en-US" sz="1500" noProof="1">
                          <a:latin typeface="Arial" panose="020B0604020202020204" pitchFamily="34" charset="0"/>
                          <a:cs typeface="Arial" panose="020B0604020202020204" pitchFamily="34" charset="0"/>
                        </a:rPr>
                        <a:t>); Requirements traceability matrix (</a:t>
                      </a:r>
                      <a:r>
                        <a:rPr lang="en-US" sz="1500" i="1" noProof="1">
                          <a:latin typeface="Arial" panose="020B0604020202020204" pitchFamily="34" charset="0"/>
                          <a:cs typeface="Arial" panose="020B0604020202020204" pitchFamily="34" charset="0"/>
                        </a:rPr>
                        <a:t>matriks keterlacakan kebutuhan</a:t>
                      </a:r>
                      <a:r>
                        <a:rPr lang="en-US" sz="1500" noProof="1">
                          <a:latin typeface="Arial" panose="020B0604020202020204" pitchFamily="34" charset="0"/>
                          <a:cs typeface="Arial" panose="020B0604020202020204" pitchFamily="34" charset="0"/>
                        </a:rPr>
                        <a:t>)</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451948"/>
                  </a:ext>
                </a:extLst>
              </a:tr>
              <a:tr h="655388">
                <a:tc vMerge="1">
                  <a:txBody>
                    <a:bodyPr/>
                    <a:lstStyle/>
                    <a:p>
                      <a:pPr>
                        <a:buNone/>
                      </a:pPr>
                      <a:endParaRPr lang="id-ID" sz="1500" noProof="1">
                        <a:latin typeface="Arial" panose="020B0604020202020204" pitchFamily="34" charset="0"/>
                        <a:cs typeface="Arial" panose="020B0604020202020204" pitchFamily="34" charset="0"/>
                      </a:endParaRPr>
                    </a:p>
                  </a:txBody>
                  <a:tcPr marL="38851" marR="38851" marT="19426" marB="19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Define scope</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Project scope statement (</a:t>
                      </a:r>
                      <a:r>
                        <a:rPr lang="en-US" sz="1500" i="1" noProof="1">
                          <a:latin typeface="Arial" panose="020B0604020202020204" pitchFamily="34" charset="0"/>
                          <a:cs typeface="Arial" panose="020B0604020202020204" pitchFamily="34" charset="0"/>
                        </a:rPr>
                        <a:t>pernyataan ruang lingkup proyek</a:t>
                      </a:r>
                      <a:r>
                        <a:rPr lang="en-US" sz="1500" noProof="1">
                          <a:latin typeface="Arial" panose="020B0604020202020204" pitchFamily="34" charset="0"/>
                          <a:cs typeface="Arial" panose="020B0604020202020204" pitchFamily="34" charset="0"/>
                        </a:rPr>
                        <a:t>); Project document updates (</a:t>
                      </a:r>
                      <a:r>
                        <a:rPr lang="en-US" sz="1500" i="1" noProof="1">
                          <a:latin typeface="Arial" panose="020B0604020202020204" pitchFamily="34" charset="0"/>
                          <a:cs typeface="Arial" panose="020B0604020202020204" pitchFamily="34" charset="0"/>
                        </a:rPr>
                        <a:t>pembaruan dokumen proyek</a:t>
                      </a:r>
                      <a:r>
                        <a:rPr lang="en-US" sz="1500" noProof="1">
                          <a:latin typeface="Arial" panose="020B0604020202020204" pitchFamily="34" charset="0"/>
                          <a:cs typeface="Arial" panose="020B0604020202020204" pitchFamily="34" charset="0"/>
                        </a:rPr>
                        <a:t>)</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9772799"/>
                  </a:ext>
                </a:extLst>
              </a:tr>
              <a:tr h="504144">
                <a:tc vMerge="1">
                  <a:txBody>
                    <a:bodyPr/>
                    <a:lstStyle/>
                    <a:p>
                      <a:pPr>
                        <a:buNone/>
                      </a:pPr>
                      <a:endParaRPr lang="id-ID" sz="1500" noProof="1">
                        <a:latin typeface="Arial" panose="020B0604020202020204" pitchFamily="34" charset="0"/>
                        <a:cs typeface="Arial" panose="020B0604020202020204" pitchFamily="34" charset="0"/>
                      </a:endParaRPr>
                    </a:p>
                  </a:txBody>
                  <a:tcPr marL="38851" marR="38851" marT="19426" marB="19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Create WBS</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WBS; WBS dictionary (</a:t>
                      </a:r>
                      <a:r>
                        <a:rPr lang="en-US" sz="1500" i="1" noProof="1">
                          <a:latin typeface="Arial" panose="020B0604020202020204" pitchFamily="34" charset="0"/>
                          <a:cs typeface="Arial" panose="020B0604020202020204" pitchFamily="34" charset="0"/>
                        </a:rPr>
                        <a:t>kamus WBS</a:t>
                      </a:r>
                      <a:r>
                        <a:rPr lang="en-US" sz="1500" noProof="1">
                          <a:latin typeface="Arial" panose="020B0604020202020204" pitchFamily="34" charset="0"/>
                          <a:cs typeface="Arial" panose="020B0604020202020204" pitchFamily="34" charset="0"/>
                        </a:rPr>
                        <a:t>); Scope baseline (</a:t>
                      </a:r>
                      <a:r>
                        <a:rPr lang="en-US" sz="1500" i="1" noProof="1">
                          <a:latin typeface="Arial" panose="020B0604020202020204" pitchFamily="34" charset="0"/>
                          <a:cs typeface="Arial" panose="020B0604020202020204" pitchFamily="34" charset="0"/>
                        </a:rPr>
                        <a:t>baseline scope</a:t>
                      </a:r>
                      <a:r>
                        <a:rPr lang="en-US" sz="1500" noProof="1">
                          <a:latin typeface="Arial" panose="020B0604020202020204" pitchFamily="34" charset="0"/>
                          <a:cs typeface="Arial" panose="020B0604020202020204" pitchFamily="34" charset="0"/>
                        </a:rPr>
                        <a:t>); Project document updates</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9110813"/>
                  </a:ext>
                </a:extLst>
              </a:tr>
              <a:tr h="655388">
                <a:tc rowSpan="5">
                  <a:txBody>
                    <a:bodyPr/>
                    <a:lstStyle/>
                    <a:p>
                      <a:pPr>
                        <a:buNone/>
                      </a:pPr>
                      <a:r>
                        <a:rPr lang="en-US" sz="1500" b="1" noProof="1">
                          <a:latin typeface="Arial" panose="020B0604020202020204" pitchFamily="34" charset="0"/>
                          <a:cs typeface="Arial" panose="020B0604020202020204" pitchFamily="34" charset="0"/>
                        </a:rPr>
                        <a:t>Project Time Management</a:t>
                      </a:r>
                      <a:endParaRPr lang="en-US" sz="1500" noProof="1">
                        <a:latin typeface="Arial" panose="020B0604020202020204" pitchFamily="34" charset="0"/>
                        <a:cs typeface="Arial" panose="020B0604020202020204" pitchFamily="34" charset="0"/>
                      </a:endParaRP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Define activities</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Activity list (</a:t>
                      </a:r>
                      <a:r>
                        <a:rPr lang="en-US" sz="1500" i="1" noProof="1">
                          <a:latin typeface="Arial" panose="020B0604020202020204" pitchFamily="34" charset="0"/>
                          <a:cs typeface="Arial" panose="020B0604020202020204" pitchFamily="34" charset="0"/>
                        </a:rPr>
                        <a:t>daftar aktivitas</a:t>
                      </a:r>
                      <a:r>
                        <a:rPr lang="en-US" sz="1500" noProof="1">
                          <a:latin typeface="Arial" panose="020B0604020202020204" pitchFamily="34" charset="0"/>
                          <a:cs typeface="Arial" panose="020B0604020202020204" pitchFamily="34" charset="0"/>
                        </a:rPr>
                        <a:t>); Activity attributes (</a:t>
                      </a:r>
                      <a:r>
                        <a:rPr lang="en-US" sz="1500" i="1" noProof="1">
                          <a:latin typeface="Arial" panose="020B0604020202020204" pitchFamily="34" charset="0"/>
                          <a:cs typeface="Arial" panose="020B0604020202020204" pitchFamily="34" charset="0"/>
                        </a:rPr>
                        <a:t>atribut aktivitas</a:t>
                      </a:r>
                      <a:r>
                        <a:rPr lang="en-US" sz="1500" noProof="1">
                          <a:latin typeface="Arial" panose="020B0604020202020204" pitchFamily="34" charset="0"/>
                          <a:cs typeface="Arial" panose="020B0604020202020204" pitchFamily="34" charset="0"/>
                        </a:rPr>
                        <a:t>); Milestone list (</a:t>
                      </a:r>
                      <a:r>
                        <a:rPr lang="en-US" sz="1500" i="1" noProof="1">
                          <a:latin typeface="Arial" panose="020B0604020202020204" pitchFamily="34" charset="0"/>
                          <a:cs typeface="Arial" panose="020B0604020202020204" pitchFamily="34" charset="0"/>
                        </a:rPr>
                        <a:t>daftar milestone</a:t>
                      </a:r>
                      <a:r>
                        <a:rPr lang="en-US" sz="1500" noProof="1">
                          <a:latin typeface="Arial" panose="020B0604020202020204" pitchFamily="34" charset="0"/>
                          <a:cs typeface="Arial" panose="020B0604020202020204" pitchFamily="34" charset="0"/>
                        </a:rPr>
                        <a:t>)</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6289494"/>
                  </a:ext>
                </a:extLst>
              </a:tr>
              <a:tr h="504144">
                <a:tc vMerge="1">
                  <a:txBody>
                    <a:bodyPr/>
                    <a:lstStyle/>
                    <a:p>
                      <a:pPr>
                        <a:buNone/>
                      </a:pPr>
                      <a:endParaRPr lang="id-ID" sz="1500" noProof="1">
                        <a:latin typeface="Arial" panose="020B0604020202020204" pitchFamily="34" charset="0"/>
                        <a:cs typeface="Arial" panose="020B0604020202020204" pitchFamily="34" charset="0"/>
                      </a:endParaRPr>
                    </a:p>
                  </a:txBody>
                  <a:tcPr marL="38851" marR="38851" marT="19426" marB="19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Sequence activities</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Project schedule network diagrams (</a:t>
                      </a:r>
                      <a:r>
                        <a:rPr lang="en-US" sz="1500" i="1" noProof="1">
                          <a:latin typeface="Arial" panose="020B0604020202020204" pitchFamily="34" charset="0"/>
                          <a:cs typeface="Arial" panose="020B0604020202020204" pitchFamily="34" charset="0"/>
                        </a:rPr>
                        <a:t>diagram jaringan jadwal proyek</a:t>
                      </a:r>
                      <a:r>
                        <a:rPr lang="en-US" sz="1500" noProof="1">
                          <a:latin typeface="Arial" panose="020B0604020202020204" pitchFamily="34" charset="0"/>
                          <a:cs typeface="Arial" panose="020B0604020202020204" pitchFamily="34" charset="0"/>
                        </a:rPr>
                        <a:t>); Project document updates</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698976"/>
                  </a:ext>
                </a:extLst>
              </a:tr>
              <a:tr h="806631">
                <a:tc vMerge="1">
                  <a:txBody>
                    <a:bodyPr/>
                    <a:lstStyle/>
                    <a:p>
                      <a:pPr>
                        <a:buNone/>
                      </a:pPr>
                      <a:endParaRPr lang="id-ID" sz="1500" noProof="1">
                        <a:latin typeface="Arial" panose="020B0604020202020204" pitchFamily="34" charset="0"/>
                        <a:cs typeface="Arial" panose="020B0604020202020204" pitchFamily="34" charset="0"/>
                      </a:endParaRPr>
                    </a:p>
                  </a:txBody>
                  <a:tcPr marL="38851" marR="38851" marT="19426" marB="19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Estimate activity resources</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Activity resource requirements (</a:t>
                      </a:r>
                      <a:r>
                        <a:rPr lang="en-US" sz="1500" i="1" noProof="1">
                          <a:latin typeface="Arial" panose="020B0604020202020204" pitchFamily="34" charset="0"/>
                          <a:cs typeface="Arial" panose="020B0604020202020204" pitchFamily="34" charset="0"/>
                        </a:rPr>
                        <a:t>kebutuhan sumber daya aktivitas</a:t>
                      </a:r>
                      <a:r>
                        <a:rPr lang="en-US" sz="1500" noProof="1">
                          <a:latin typeface="Arial" panose="020B0604020202020204" pitchFamily="34" charset="0"/>
                          <a:cs typeface="Arial" panose="020B0604020202020204" pitchFamily="34" charset="0"/>
                        </a:rPr>
                        <a:t>); Resource breakdown structure (</a:t>
                      </a:r>
                      <a:r>
                        <a:rPr lang="en-US" sz="1500" i="1" noProof="1">
                          <a:latin typeface="Arial" panose="020B0604020202020204" pitchFamily="34" charset="0"/>
                          <a:cs typeface="Arial" panose="020B0604020202020204" pitchFamily="34" charset="0"/>
                        </a:rPr>
                        <a:t>struktur perincian sumber daya</a:t>
                      </a:r>
                      <a:r>
                        <a:rPr lang="en-US" sz="1500" noProof="1">
                          <a:latin typeface="Arial" panose="020B0604020202020204" pitchFamily="34" charset="0"/>
                          <a:cs typeface="Arial" panose="020B0604020202020204" pitchFamily="34" charset="0"/>
                        </a:rPr>
                        <a:t>); Project document updates</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8777646"/>
                  </a:ext>
                </a:extLst>
              </a:tr>
              <a:tr h="504144">
                <a:tc vMerge="1">
                  <a:txBody>
                    <a:bodyPr/>
                    <a:lstStyle/>
                    <a:p>
                      <a:pPr>
                        <a:buNone/>
                      </a:pPr>
                      <a:endParaRPr lang="id-ID" sz="1500" noProof="1">
                        <a:latin typeface="Arial" panose="020B0604020202020204" pitchFamily="34" charset="0"/>
                        <a:cs typeface="Arial" panose="020B0604020202020204" pitchFamily="34" charset="0"/>
                      </a:endParaRPr>
                    </a:p>
                  </a:txBody>
                  <a:tcPr marL="38851" marR="38851" marT="19426" marB="19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Estimate activity durations</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Activity duration estimates (</a:t>
                      </a:r>
                      <a:r>
                        <a:rPr lang="en-US" sz="1500" i="1" noProof="1">
                          <a:latin typeface="Arial" panose="020B0604020202020204" pitchFamily="34" charset="0"/>
                          <a:cs typeface="Arial" panose="020B0604020202020204" pitchFamily="34" charset="0"/>
                        </a:rPr>
                        <a:t>estimasi durasi aktivitas</a:t>
                      </a:r>
                      <a:r>
                        <a:rPr lang="en-US" sz="1500" noProof="1">
                          <a:latin typeface="Arial" panose="020B0604020202020204" pitchFamily="34" charset="0"/>
                          <a:cs typeface="Arial" panose="020B0604020202020204" pitchFamily="34" charset="0"/>
                        </a:rPr>
                        <a:t>); Project document updates</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225965"/>
                  </a:ext>
                </a:extLst>
              </a:tr>
              <a:tr h="352902">
                <a:tc vMerge="1">
                  <a:txBody>
                    <a:bodyPr/>
                    <a:lstStyle/>
                    <a:p>
                      <a:pPr>
                        <a:buNone/>
                      </a:pPr>
                      <a:endParaRPr lang="id-ID" sz="1500" noProof="1">
                        <a:latin typeface="Arial" panose="020B0604020202020204" pitchFamily="34" charset="0"/>
                        <a:cs typeface="Arial" panose="020B0604020202020204" pitchFamily="34" charset="0"/>
                      </a:endParaRPr>
                    </a:p>
                  </a:txBody>
                  <a:tcPr marL="38851" marR="38851" marT="19426" marB="194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Develop schedule</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noProof="1">
                          <a:latin typeface="Arial" panose="020B0604020202020204" pitchFamily="34" charset="0"/>
                          <a:cs typeface="Arial" panose="020B0604020202020204" pitchFamily="34" charset="0"/>
                        </a:rPr>
                        <a:t>Project schedule (</a:t>
                      </a:r>
                      <a:r>
                        <a:rPr lang="en-US" sz="1500" i="1" noProof="1">
                          <a:latin typeface="Arial" panose="020B0604020202020204" pitchFamily="34" charset="0"/>
                          <a:cs typeface="Arial" panose="020B0604020202020204" pitchFamily="34" charset="0"/>
                        </a:rPr>
                        <a:t>jadwal proyek</a:t>
                      </a:r>
                      <a:r>
                        <a:rPr lang="en-US" sz="1500" noProof="1">
                          <a:latin typeface="Arial" panose="020B0604020202020204" pitchFamily="34" charset="0"/>
                          <a:cs typeface="Arial" panose="020B0604020202020204" pitchFamily="34" charset="0"/>
                        </a:rPr>
                        <a:t>); Schedule baseline (</a:t>
                      </a:r>
                      <a:r>
                        <a:rPr lang="en-US" sz="1500" i="1" noProof="1">
                          <a:latin typeface="Arial" panose="020B0604020202020204" pitchFamily="34" charset="0"/>
                          <a:cs typeface="Arial" panose="020B0604020202020204" pitchFamily="34" charset="0"/>
                        </a:rPr>
                        <a:t>baseline jadwal</a:t>
                      </a:r>
                      <a:r>
                        <a:rPr lang="en-US" sz="1500" noProof="1">
                          <a:latin typeface="Arial" panose="020B0604020202020204" pitchFamily="34" charset="0"/>
                          <a:cs typeface="Arial" panose="020B0604020202020204" pitchFamily="34" charset="0"/>
                        </a:rPr>
                        <a:t>)</a:t>
                      </a:r>
                    </a:p>
                  </a:txBody>
                  <a:tcPr marL="38851" marR="38851" marT="19426" marB="194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2124009"/>
                  </a:ext>
                </a:extLst>
              </a:tr>
            </a:tbl>
          </a:graphicData>
        </a:graphic>
      </p:graphicFrame>
      <p:sp>
        <p:nvSpPr>
          <p:cNvPr id="5" name="TextBox 4">
            <a:extLst>
              <a:ext uri="{FF2B5EF4-FFF2-40B4-BE49-F238E27FC236}">
                <a16:creationId xmlns:a16="http://schemas.microsoft.com/office/drawing/2014/main" id="{872536FC-D415-B1C0-DEB4-257857E113A6}"/>
              </a:ext>
            </a:extLst>
          </p:cNvPr>
          <p:cNvSpPr txBox="1"/>
          <p:nvPr/>
        </p:nvSpPr>
        <p:spPr>
          <a:xfrm>
            <a:off x="838200" y="158234"/>
            <a:ext cx="6097904" cy="369332"/>
          </a:xfrm>
          <a:prstGeom prst="rect">
            <a:avLst/>
          </a:prstGeom>
          <a:noFill/>
        </p:spPr>
        <p:txBody>
          <a:bodyPr wrap="square">
            <a:spAutoFit/>
          </a:bodyPr>
          <a:lstStyle/>
          <a:p>
            <a:r>
              <a:rPr lang="en-US" noProof="1">
                <a:latin typeface="Arial" panose="020B0604020202020204" pitchFamily="34" charset="0"/>
                <a:cs typeface="Arial" panose="020B0604020202020204" pitchFamily="34" charset="0"/>
              </a:rPr>
              <a:t>TABEL 3-7 — Proses Perencanaan dan Output</a:t>
            </a:r>
          </a:p>
        </p:txBody>
      </p:sp>
    </p:spTree>
    <p:extLst>
      <p:ext uri="{BB962C8B-B14F-4D97-AF65-F5344CB8AC3E}">
        <p14:creationId xmlns:p14="http://schemas.microsoft.com/office/powerpoint/2010/main" val="82012257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943399EC-9214-9899-5FCD-73120D562C0C}"/>
              </a:ext>
            </a:extLst>
          </p:cNvPr>
          <p:cNvGraphicFramePr>
            <a:graphicFrameLocks noGrp="1"/>
          </p:cNvGraphicFramePr>
          <p:nvPr>
            <p:ph idx="1"/>
            <p:extLst>
              <p:ext uri="{D42A27DB-BD31-4B8C-83A1-F6EECF244321}">
                <p14:modId xmlns:p14="http://schemas.microsoft.com/office/powerpoint/2010/main" val="3469658106"/>
              </p:ext>
            </p:extLst>
          </p:nvPr>
        </p:nvGraphicFramePr>
        <p:xfrm>
          <a:off x="465774" y="742950"/>
          <a:ext cx="10804206" cy="5772150"/>
        </p:xfrm>
        <a:graphic>
          <a:graphicData uri="http://schemas.openxmlformats.org/drawingml/2006/table">
            <a:tbl>
              <a:tblPr/>
              <a:tblGrid>
                <a:gridCol w="3601402">
                  <a:extLst>
                    <a:ext uri="{9D8B030D-6E8A-4147-A177-3AD203B41FA5}">
                      <a16:colId xmlns:a16="http://schemas.microsoft.com/office/drawing/2014/main" val="3241022055"/>
                    </a:ext>
                  </a:extLst>
                </a:gridCol>
                <a:gridCol w="3601402">
                  <a:extLst>
                    <a:ext uri="{9D8B030D-6E8A-4147-A177-3AD203B41FA5}">
                      <a16:colId xmlns:a16="http://schemas.microsoft.com/office/drawing/2014/main" val="2961910410"/>
                    </a:ext>
                  </a:extLst>
                </a:gridCol>
                <a:gridCol w="3601402">
                  <a:extLst>
                    <a:ext uri="{9D8B030D-6E8A-4147-A177-3AD203B41FA5}">
                      <a16:colId xmlns:a16="http://schemas.microsoft.com/office/drawing/2014/main" val="32068909"/>
                    </a:ext>
                  </a:extLst>
                </a:gridCol>
              </a:tblGrid>
              <a:tr h="748037">
                <a:tc>
                  <a:txBody>
                    <a:bodyPr/>
                    <a:lstStyle/>
                    <a:p>
                      <a:pPr>
                        <a:buNone/>
                      </a:pPr>
                      <a:r>
                        <a:rPr lang="en-US" sz="1600" b="1" noProof="1">
                          <a:latin typeface="Arial" panose="020B0604020202020204" pitchFamily="34" charset="0"/>
                          <a:cs typeface="Arial" panose="020B0604020202020204" pitchFamily="34" charset="0"/>
                        </a:rPr>
                        <a:t>Knowledge Area (Area Pengetahuan)</a:t>
                      </a:r>
                      <a:endParaRPr lang="en-US" sz="1600" noProof="1">
                        <a:latin typeface="Arial" panose="020B0604020202020204" pitchFamily="34" charset="0"/>
                        <a:cs typeface="Arial" panose="020B0604020202020204" pitchFamily="34" charset="0"/>
                      </a:endParaRP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Planning Process (Proses Perencanaan)</a:t>
                      </a:r>
                      <a:endParaRPr lang="en-US" sz="1600" noProof="1">
                        <a:latin typeface="Arial" panose="020B0604020202020204" pitchFamily="34" charset="0"/>
                        <a:cs typeface="Arial" panose="020B0604020202020204" pitchFamily="34" charset="0"/>
                      </a:endParaRP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Outputs (Output)</a:t>
                      </a:r>
                      <a:endParaRPr lang="en-US" sz="1600" noProof="1">
                        <a:latin typeface="Arial" panose="020B0604020202020204" pitchFamily="34" charset="0"/>
                        <a:cs typeface="Arial" panose="020B0604020202020204" pitchFamily="34" charset="0"/>
                      </a:endParaRP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1384585"/>
                  </a:ext>
                </a:extLst>
              </a:tr>
              <a:tr h="748037">
                <a:tc>
                  <a:txBody>
                    <a:bodyPr/>
                    <a:lstStyle/>
                    <a:p>
                      <a:pPr>
                        <a:buNone/>
                      </a:pPr>
                      <a:r>
                        <a:rPr lang="en-US" sz="1600" b="1" noProof="1">
                          <a:latin typeface="Arial" panose="020B0604020202020204" pitchFamily="34" charset="0"/>
                          <a:cs typeface="Arial" panose="020B0604020202020204" pitchFamily="34" charset="0"/>
                        </a:rPr>
                        <a:t>Project Time Management</a:t>
                      </a:r>
                      <a:endParaRPr lang="en-US" sz="1600" noProof="1">
                        <a:latin typeface="Arial" panose="020B0604020202020204" pitchFamily="34" charset="0"/>
                        <a:cs typeface="Arial" panose="020B0604020202020204" pitchFamily="34" charset="0"/>
                      </a:endParaRP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Develop schedule</a:t>
                      </a: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1" noProof="1">
                          <a:latin typeface="Arial" panose="020B0604020202020204" pitchFamily="34" charset="0"/>
                          <a:cs typeface="Arial" panose="020B0604020202020204" pitchFamily="34" charset="0"/>
                        </a:rPr>
                        <a:t>Schedule data</a:t>
                      </a:r>
                      <a:r>
                        <a:rPr lang="en-US" sz="1600" noProof="1">
                          <a:latin typeface="Arial" panose="020B0604020202020204" pitchFamily="34" charset="0"/>
                          <a:cs typeface="Arial" panose="020B0604020202020204" pitchFamily="34" charset="0"/>
                        </a:rPr>
                        <a:t>; </a:t>
                      </a:r>
                      <a:r>
                        <a:rPr lang="en-US" sz="1600" i="1" noProof="1">
                          <a:latin typeface="Arial" panose="020B0604020202020204" pitchFamily="34" charset="0"/>
                          <a:cs typeface="Arial" panose="020B0604020202020204" pitchFamily="34" charset="0"/>
                        </a:rPr>
                        <a:t>Project document updates</a:t>
                      </a:r>
                      <a:endParaRPr lang="en-US" sz="1600" noProof="1">
                        <a:latin typeface="Arial" panose="020B0604020202020204" pitchFamily="34" charset="0"/>
                        <a:cs typeface="Arial" panose="020B0604020202020204" pitchFamily="34" charset="0"/>
                      </a:endParaRP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7773695"/>
                  </a:ext>
                </a:extLst>
              </a:tr>
              <a:tr h="1069019">
                <a:tc>
                  <a:txBody>
                    <a:bodyPr/>
                    <a:lstStyle/>
                    <a:p>
                      <a:pPr>
                        <a:buNone/>
                      </a:pPr>
                      <a:r>
                        <a:rPr lang="en-US" sz="1600" b="1" noProof="1">
                          <a:latin typeface="Arial" panose="020B0604020202020204" pitchFamily="34" charset="0"/>
                          <a:cs typeface="Arial" panose="020B0604020202020204" pitchFamily="34" charset="0"/>
                        </a:rPr>
                        <a:t>Project Cost Management</a:t>
                      </a:r>
                      <a:endParaRPr lang="en-US" sz="1600" noProof="1">
                        <a:latin typeface="Arial" panose="020B0604020202020204" pitchFamily="34" charset="0"/>
                        <a:cs typeface="Arial" panose="020B0604020202020204" pitchFamily="34" charset="0"/>
                      </a:endParaRP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Estimate costs</a:t>
                      </a: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1" noProof="1">
                          <a:latin typeface="Arial" panose="020B0604020202020204" pitchFamily="34" charset="0"/>
                          <a:cs typeface="Arial" panose="020B0604020202020204" pitchFamily="34" charset="0"/>
                        </a:rPr>
                        <a:t>Activity cost estimates</a:t>
                      </a:r>
                      <a:r>
                        <a:rPr lang="en-US" sz="1600" noProof="1">
                          <a:latin typeface="Arial" panose="020B0604020202020204" pitchFamily="34" charset="0"/>
                          <a:cs typeface="Arial" panose="020B0604020202020204" pitchFamily="34" charset="0"/>
                        </a:rPr>
                        <a:t>; </a:t>
                      </a:r>
                      <a:r>
                        <a:rPr lang="en-US" sz="1600" i="1" noProof="1">
                          <a:latin typeface="Arial" panose="020B0604020202020204" pitchFamily="34" charset="0"/>
                          <a:cs typeface="Arial" panose="020B0604020202020204" pitchFamily="34" charset="0"/>
                        </a:rPr>
                        <a:t>Basis of estimates</a:t>
                      </a:r>
                      <a:r>
                        <a:rPr lang="en-US" sz="1600" noProof="1">
                          <a:latin typeface="Arial" panose="020B0604020202020204" pitchFamily="34" charset="0"/>
                          <a:cs typeface="Arial" panose="020B0604020202020204" pitchFamily="34" charset="0"/>
                        </a:rPr>
                        <a:t>; </a:t>
                      </a:r>
                      <a:r>
                        <a:rPr lang="en-US" sz="1600" i="1" noProof="1">
                          <a:latin typeface="Arial" panose="020B0604020202020204" pitchFamily="34" charset="0"/>
                          <a:cs typeface="Arial" panose="020B0604020202020204" pitchFamily="34" charset="0"/>
                        </a:rPr>
                        <a:t>Project document updates</a:t>
                      </a:r>
                      <a:endParaRPr lang="en-US" sz="1600" noProof="1">
                        <a:latin typeface="Arial" panose="020B0604020202020204" pitchFamily="34" charset="0"/>
                        <a:cs typeface="Arial" panose="020B0604020202020204" pitchFamily="34" charset="0"/>
                      </a:endParaRP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0253282"/>
                  </a:ext>
                </a:extLst>
              </a:tr>
              <a:tr h="1069019">
                <a:tc>
                  <a:txBody>
                    <a:bodyPr/>
                    <a:lstStyle/>
                    <a:p>
                      <a:pPr>
                        <a:buNone/>
                      </a:pPr>
                      <a:r>
                        <a:rPr lang="en-US" sz="1600" b="1" noProof="1">
                          <a:latin typeface="Arial" panose="020B0604020202020204" pitchFamily="34" charset="0"/>
                          <a:cs typeface="Arial" panose="020B0604020202020204" pitchFamily="34" charset="0"/>
                        </a:rPr>
                        <a:t>Project Cost Management</a:t>
                      </a:r>
                      <a:endParaRPr lang="en-US" sz="1600" noProof="1">
                        <a:latin typeface="Arial" panose="020B0604020202020204" pitchFamily="34" charset="0"/>
                        <a:cs typeface="Arial" panose="020B0604020202020204" pitchFamily="34" charset="0"/>
                      </a:endParaRP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Determine budget</a:t>
                      </a: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1" noProof="1">
                          <a:latin typeface="Arial" panose="020B0604020202020204" pitchFamily="34" charset="0"/>
                          <a:cs typeface="Arial" panose="020B0604020202020204" pitchFamily="34" charset="0"/>
                        </a:rPr>
                        <a:t>Cost performance baseline</a:t>
                      </a:r>
                      <a:r>
                        <a:rPr lang="en-US" sz="1600" noProof="1">
                          <a:latin typeface="Arial" panose="020B0604020202020204" pitchFamily="34" charset="0"/>
                          <a:cs typeface="Arial" panose="020B0604020202020204" pitchFamily="34" charset="0"/>
                        </a:rPr>
                        <a:t>; </a:t>
                      </a:r>
                      <a:r>
                        <a:rPr lang="en-US" sz="1600" i="1" noProof="1">
                          <a:latin typeface="Arial" panose="020B0604020202020204" pitchFamily="34" charset="0"/>
                          <a:cs typeface="Arial" panose="020B0604020202020204" pitchFamily="34" charset="0"/>
                        </a:rPr>
                        <a:t>Project funding requirements</a:t>
                      </a:r>
                      <a:r>
                        <a:rPr lang="en-US" sz="1600" noProof="1">
                          <a:latin typeface="Arial" panose="020B0604020202020204" pitchFamily="34" charset="0"/>
                          <a:cs typeface="Arial" panose="020B0604020202020204" pitchFamily="34" charset="0"/>
                        </a:rPr>
                        <a:t>; </a:t>
                      </a:r>
                      <a:r>
                        <a:rPr lang="en-US" sz="1600" i="1" noProof="1">
                          <a:latin typeface="Arial" panose="020B0604020202020204" pitchFamily="34" charset="0"/>
                          <a:cs typeface="Arial" panose="020B0604020202020204" pitchFamily="34" charset="0"/>
                        </a:rPr>
                        <a:t>Project document updates</a:t>
                      </a:r>
                      <a:endParaRPr lang="en-US" sz="1600" noProof="1">
                        <a:latin typeface="Arial" panose="020B0604020202020204" pitchFamily="34" charset="0"/>
                        <a:cs typeface="Arial" panose="020B0604020202020204" pitchFamily="34" charset="0"/>
                      </a:endParaRP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1408006"/>
                  </a:ext>
                </a:extLst>
              </a:tr>
              <a:tr h="1390001">
                <a:tc>
                  <a:txBody>
                    <a:bodyPr/>
                    <a:lstStyle/>
                    <a:p>
                      <a:pPr>
                        <a:buNone/>
                      </a:pPr>
                      <a:r>
                        <a:rPr lang="en-US" sz="1600" b="1" noProof="1">
                          <a:latin typeface="Arial" panose="020B0604020202020204" pitchFamily="34" charset="0"/>
                          <a:cs typeface="Arial" panose="020B0604020202020204" pitchFamily="34" charset="0"/>
                        </a:rPr>
                        <a:t>Project Quality Management</a:t>
                      </a:r>
                      <a:endParaRPr lang="en-US" sz="1600" noProof="1">
                        <a:latin typeface="Arial" panose="020B0604020202020204" pitchFamily="34" charset="0"/>
                        <a:cs typeface="Arial" panose="020B0604020202020204" pitchFamily="34" charset="0"/>
                      </a:endParaRP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Plan quality</a:t>
                      </a: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1" noProof="1">
                          <a:latin typeface="Arial" panose="020B0604020202020204" pitchFamily="34" charset="0"/>
                          <a:cs typeface="Arial" panose="020B0604020202020204" pitchFamily="34" charset="0"/>
                        </a:rPr>
                        <a:t>Quality management plan</a:t>
                      </a:r>
                      <a:r>
                        <a:rPr lang="en-US" sz="1600" noProof="1">
                          <a:latin typeface="Arial" panose="020B0604020202020204" pitchFamily="34" charset="0"/>
                          <a:cs typeface="Arial" panose="020B0604020202020204" pitchFamily="34" charset="0"/>
                        </a:rPr>
                        <a:t>; </a:t>
                      </a:r>
                      <a:r>
                        <a:rPr lang="en-US" sz="1600" i="1" noProof="1">
                          <a:latin typeface="Arial" panose="020B0604020202020204" pitchFamily="34" charset="0"/>
                          <a:cs typeface="Arial" panose="020B0604020202020204" pitchFamily="34" charset="0"/>
                        </a:rPr>
                        <a:t>Quality metrics</a:t>
                      </a:r>
                      <a:r>
                        <a:rPr lang="en-US" sz="1600" noProof="1">
                          <a:latin typeface="Arial" panose="020B0604020202020204" pitchFamily="34" charset="0"/>
                          <a:cs typeface="Arial" panose="020B0604020202020204" pitchFamily="34" charset="0"/>
                        </a:rPr>
                        <a:t>; </a:t>
                      </a:r>
                      <a:r>
                        <a:rPr lang="en-US" sz="1600" i="1" noProof="1">
                          <a:latin typeface="Arial" panose="020B0604020202020204" pitchFamily="34" charset="0"/>
                          <a:cs typeface="Arial" panose="020B0604020202020204" pitchFamily="34" charset="0"/>
                        </a:rPr>
                        <a:t>Quality checklists</a:t>
                      </a:r>
                      <a:r>
                        <a:rPr lang="en-US" sz="1600" noProof="1">
                          <a:latin typeface="Arial" panose="020B0604020202020204" pitchFamily="34" charset="0"/>
                          <a:cs typeface="Arial" panose="020B0604020202020204" pitchFamily="34" charset="0"/>
                        </a:rPr>
                        <a:t>; </a:t>
                      </a:r>
                      <a:r>
                        <a:rPr lang="en-US" sz="1600" i="1" noProof="1">
                          <a:latin typeface="Arial" panose="020B0604020202020204" pitchFamily="34" charset="0"/>
                          <a:cs typeface="Arial" panose="020B0604020202020204" pitchFamily="34" charset="0"/>
                        </a:rPr>
                        <a:t>Process improvement plan</a:t>
                      </a:r>
                      <a:r>
                        <a:rPr lang="en-US" sz="1600" noProof="1">
                          <a:latin typeface="Arial" panose="020B0604020202020204" pitchFamily="34" charset="0"/>
                          <a:cs typeface="Arial" panose="020B0604020202020204" pitchFamily="34" charset="0"/>
                        </a:rPr>
                        <a:t>; </a:t>
                      </a:r>
                      <a:r>
                        <a:rPr lang="en-US" sz="1600" i="1" noProof="1">
                          <a:latin typeface="Arial" panose="020B0604020202020204" pitchFamily="34" charset="0"/>
                          <a:cs typeface="Arial" panose="020B0604020202020204" pitchFamily="34" charset="0"/>
                        </a:rPr>
                        <a:t>Project document updates</a:t>
                      </a:r>
                      <a:endParaRPr lang="en-US" sz="1600" noProof="1">
                        <a:latin typeface="Arial" panose="020B0604020202020204" pitchFamily="34" charset="0"/>
                        <a:cs typeface="Arial" panose="020B0604020202020204" pitchFamily="34" charset="0"/>
                      </a:endParaRP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7684154"/>
                  </a:ext>
                </a:extLst>
              </a:tr>
              <a:tr h="748037">
                <a:tc>
                  <a:txBody>
                    <a:bodyPr/>
                    <a:lstStyle/>
                    <a:p>
                      <a:pPr>
                        <a:buNone/>
                      </a:pPr>
                      <a:r>
                        <a:rPr lang="en-US" sz="1600" b="1" noProof="1">
                          <a:latin typeface="Arial" panose="020B0604020202020204" pitchFamily="34" charset="0"/>
                          <a:cs typeface="Arial" panose="020B0604020202020204" pitchFamily="34" charset="0"/>
                        </a:rPr>
                        <a:t>Project Human Resource Management</a:t>
                      </a:r>
                      <a:endParaRPr lang="en-US" sz="1600" noProof="1">
                        <a:latin typeface="Arial" panose="020B0604020202020204" pitchFamily="34" charset="0"/>
                        <a:cs typeface="Arial" panose="020B0604020202020204" pitchFamily="34" charset="0"/>
                      </a:endParaRP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Develop human resource plan</a:t>
                      </a: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i="1" noProof="1">
                          <a:latin typeface="Arial" panose="020B0604020202020204" pitchFamily="34" charset="0"/>
                          <a:cs typeface="Arial" panose="020B0604020202020204" pitchFamily="34" charset="0"/>
                        </a:rPr>
                        <a:t>Human resource plan</a:t>
                      </a:r>
                      <a:endParaRPr lang="en-US" sz="1600" noProof="1">
                        <a:latin typeface="Arial" panose="020B0604020202020204" pitchFamily="34" charset="0"/>
                        <a:cs typeface="Arial" panose="020B0604020202020204" pitchFamily="34" charset="0"/>
                      </a:endParaRPr>
                    </a:p>
                  </a:txBody>
                  <a:tcPr marL="80580" marR="80580" marT="40290" marB="40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3731569"/>
                  </a:ext>
                </a:extLst>
              </a:tr>
            </a:tbl>
          </a:graphicData>
        </a:graphic>
      </p:graphicFrame>
      <p:sp>
        <p:nvSpPr>
          <p:cNvPr id="5" name="TextBox 4">
            <a:extLst>
              <a:ext uri="{FF2B5EF4-FFF2-40B4-BE49-F238E27FC236}">
                <a16:creationId xmlns:a16="http://schemas.microsoft.com/office/drawing/2014/main" id="{D3D630E5-6C34-186C-1414-2F0F34923F6D}"/>
              </a:ext>
            </a:extLst>
          </p:cNvPr>
          <p:cNvSpPr txBox="1"/>
          <p:nvPr/>
        </p:nvSpPr>
        <p:spPr>
          <a:xfrm>
            <a:off x="465773" y="181094"/>
            <a:ext cx="6097904" cy="369332"/>
          </a:xfrm>
          <a:prstGeom prst="rect">
            <a:avLst/>
          </a:prstGeom>
          <a:noFill/>
        </p:spPr>
        <p:txBody>
          <a:bodyPr wrap="square">
            <a:spAutoFit/>
          </a:bodyPr>
          <a:lstStyle/>
          <a:p>
            <a:r>
              <a:rPr lang="en-US" noProof="1">
                <a:latin typeface="Arial" panose="020B0604020202020204" pitchFamily="34" charset="0"/>
                <a:cs typeface="Arial" panose="020B0604020202020204" pitchFamily="34" charset="0"/>
              </a:rPr>
              <a:t>TABEL 3-7 — Proses Perencanaan dan Output (lanjutan)</a:t>
            </a:r>
          </a:p>
        </p:txBody>
      </p:sp>
    </p:spTree>
    <p:extLst>
      <p:ext uri="{BB962C8B-B14F-4D97-AF65-F5344CB8AC3E}">
        <p14:creationId xmlns:p14="http://schemas.microsoft.com/office/powerpoint/2010/main" val="404629601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061155CA-7385-DB6F-52F1-E86696D2895A}"/>
              </a:ext>
            </a:extLst>
          </p:cNvPr>
          <p:cNvGraphicFramePr>
            <a:graphicFrameLocks noGrp="1"/>
          </p:cNvGraphicFramePr>
          <p:nvPr>
            <p:ph idx="1"/>
            <p:extLst>
              <p:ext uri="{D42A27DB-BD31-4B8C-83A1-F6EECF244321}">
                <p14:modId xmlns:p14="http://schemas.microsoft.com/office/powerpoint/2010/main" val="4256107903"/>
              </p:ext>
            </p:extLst>
          </p:nvPr>
        </p:nvGraphicFramePr>
        <p:xfrm>
          <a:off x="717232" y="708660"/>
          <a:ext cx="10598466" cy="5747013"/>
        </p:xfrm>
        <a:graphic>
          <a:graphicData uri="http://schemas.openxmlformats.org/drawingml/2006/table">
            <a:tbl>
              <a:tblPr/>
              <a:tblGrid>
                <a:gridCol w="3532822">
                  <a:extLst>
                    <a:ext uri="{9D8B030D-6E8A-4147-A177-3AD203B41FA5}">
                      <a16:colId xmlns:a16="http://schemas.microsoft.com/office/drawing/2014/main" val="171631275"/>
                    </a:ext>
                  </a:extLst>
                </a:gridCol>
                <a:gridCol w="3532822">
                  <a:extLst>
                    <a:ext uri="{9D8B030D-6E8A-4147-A177-3AD203B41FA5}">
                      <a16:colId xmlns:a16="http://schemas.microsoft.com/office/drawing/2014/main" val="2590498193"/>
                    </a:ext>
                  </a:extLst>
                </a:gridCol>
                <a:gridCol w="3532822">
                  <a:extLst>
                    <a:ext uri="{9D8B030D-6E8A-4147-A177-3AD203B41FA5}">
                      <a16:colId xmlns:a16="http://schemas.microsoft.com/office/drawing/2014/main" val="3767338184"/>
                    </a:ext>
                  </a:extLst>
                </a:gridCol>
              </a:tblGrid>
              <a:tr h="656036">
                <a:tc>
                  <a:txBody>
                    <a:bodyPr/>
                    <a:lstStyle/>
                    <a:p>
                      <a:pPr>
                        <a:buNone/>
                      </a:pPr>
                      <a:r>
                        <a:rPr lang="en-US" sz="1800" b="1" noProof="1">
                          <a:latin typeface="Arial" panose="020B0604020202020204" pitchFamily="34" charset="0"/>
                          <a:cs typeface="Arial" panose="020B0604020202020204" pitchFamily="34" charset="0"/>
                        </a:rPr>
                        <a:t>Knowledge Area (Area Pengetahuan)</a:t>
                      </a:r>
                      <a:endParaRPr lang="en-US" sz="1800" noProof="1">
                        <a:latin typeface="Arial" panose="020B0604020202020204" pitchFamily="34" charset="0"/>
                        <a:cs typeface="Arial" panose="020B0604020202020204" pitchFamily="34" charset="0"/>
                      </a:endParaRP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noProof="1">
                          <a:latin typeface="Arial" panose="020B0604020202020204" pitchFamily="34" charset="0"/>
                          <a:cs typeface="Arial" panose="020B0604020202020204" pitchFamily="34" charset="0"/>
                        </a:rPr>
                        <a:t>Planning Process (Proses Perencanaan)</a:t>
                      </a:r>
                      <a:endParaRPr lang="en-US" sz="1800" noProof="1">
                        <a:latin typeface="Arial" panose="020B0604020202020204" pitchFamily="34" charset="0"/>
                        <a:cs typeface="Arial" panose="020B0604020202020204" pitchFamily="34" charset="0"/>
                      </a:endParaRP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noProof="1">
                          <a:latin typeface="Arial" panose="020B0604020202020204" pitchFamily="34" charset="0"/>
                          <a:cs typeface="Arial" panose="020B0604020202020204" pitchFamily="34" charset="0"/>
                        </a:rPr>
                        <a:t>Outputs (Output)</a:t>
                      </a:r>
                      <a:endParaRPr lang="en-US" sz="1800" noProof="1">
                        <a:latin typeface="Arial" panose="020B0604020202020204" pitchFamily="34" charset="0"/>
                        <a:cs typeface="Arial" panose="020B0604020202020204" pitchFamily="34" charset="0"/>
                      </a:endParaRP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4597540"/>
                  </a:ext>
                </a:extLst>
              </a:tr>
              <a:tr h="656036">
                <a:tc>
                  <a:txBody>
                    <a:bodyPr/>
                    <a:lstStyle/>
                    <a:p>
                      <a:pPr>
                        <a:buNone/>
                      </a:pPr>
                      <a:r>
                        <a:rPr lang="en-US" sz="1800" b="1" noProof="1">
                          <a:latin typeface="Arial" panose="020B0604020202020204" pitchFamily="34" charset="0"/>
                          <a:cs typeface="Arial" panose="020B0604020202020204" pitchFamily="34" charset="0"/>
                        </a:rPr>
                        <a:t>Project Communications Management</a:t>
                      </a:r>
                      <a:endParaRPr lang="en-US" sz="1800" noProof="1">
                        <a:latin typeface="Arial" panose="020B0604020202020204" pitchFamily="34" charset="0"/>
                        <a:cs typeface="Arial" panose="020B0604020202020204" pitchFamily="34" charset="0"/>
                      </a:endParaRP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Plan communications</a:t>
                      </a: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i="1" noProof="1">
                          <a:latin typeface="Arial" panose="020B0604020202020204" pitchFamily="34" charset="0"/>
                          <a:cs typeface="Arial" panose="020B0604020202020204" pitchFamily="34" charset="0"/>
                        </a:rPr>
                        <a:t>Communications management plan</a:t>
                      </a:r>
                      <a:r>
                        <a:rPr lang="en-US" sz="1800" noProof="1">
                          <a:latin typeface="Arial" panose="020B0604020202020204" pitchFamily="34" charset="0"/>
                          <a:cs typeface="Arial" panose="020B0604020202020204" pitchFamily="34" charset="0"/>
                        </a:rPr>
                        <a:t>; </a:t>
                      </a:r>
                      <a:r>
                        <a:rPr lang="en-US" sz="1800" i="1" noProof="1">
                          <a:latin typeface="Arial" panose="020B0604020202020204" pitchFamily="34" charset="0"/>
                          <a:cs typeface="Arial" panose="020B0604020202020204" pitchFamily="34" charset="0"/>
                        </a:rPr>
                        <a:t>Project document updates</a:t>
                      </a:r>
                      <a:endParaRPr lang="en-US" sz="1800" noProof="1">
                        <a:latin typeface="Arial" panose="020B0604020202020204" pitchFamily="34" charset="0"/>
                        <a:cs typeface="Arial" panose="020B0604020202020204" pitchFamily="34" charset="0"/>
                      </a:endParaRP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6278888"/>
                  </a:ext>
                </a:extLst>
              </a:tr>
              <a:tr h="373581">
                <a:tc rowSpan="5">
                  <a:txBody>
                    <a:bodyPr/>
                    <a:lstStyle/>
                    <a:p>
                      <a:pPr>
                        <a:buNone/>
                      </a:pPr>
                      <a:r>
                        <a:rPr lang="en-US" sz="1800" b="1" noProof="1">
                          <a:latin typeface="Arial" panose="020B0604020202020204" pitchFamily="34" charset="0"/>
                          <a:cs typeface="Arial" panose="020B0604020202020204" pitchFamily="34" charset="0"/>
                        </a:rPr>
                        <a:t>Project Risk Management</a:t>
                      </a:r>
                      <a:endParaRPr lang="en-US" sz="1800" noProof="1">
                        <a:latin typeface="Arial" panose="020B0604020202020204" pitchFamily="34" charset="0"/>
                        <a:cs typeface="Arial" panose="020B0604020202020204" pitchFamily="34" charset="0"/>
                      </a:endParaRP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Plan risk management</a:t>
                      </a: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i="1" noProof="1">
                          <a:latin typeface="Arial" panose="020B0604020202020204" pitchFamily="34" charset="0"/>
                          <a:cs typeface="Arial" panose="020B0604020202020204" pitchFamily="34" charset="0"/>
                        </a:rPr>
                        <a:t>Risk management plan</a:t>
                      </a:r>
                      <a:endParaRPr lang="en-US" sz="1800" noProof="1">
                        <a:latin typeface="Arial" panose="020B0604020202020204" pitchFamily="34" charset="0"/>
                        <a:cs typeface="Arial" panose="020B0604020202020204" pitchFamily="34" charset="0"/>
                      </a:endParaRP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8624327"/>
                  </a:ext>
                </a:extLst>
              </a:tr>
              <a:tr h="373581">
                <a:tc vMerge="1">
                  <a:txBody>
                    <a:bodyPr/>
                    <a:lstStyle/>
                    <a:p>
                      <a:pPr>
                        <a:buNone/>
                      </a:pPr>
                      <a:endParaRPr lang="id-ID"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Identify risks</a:t>
                      </a: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i="1" noProof="1">
                          <a:latin typeface="Arial" panose="020B0604020202020204" pitchFamily="34" charset="0"/>
                          <a:cs typeface="Arial" panose="020B0604020202020204" pitchFamily="34" charset="0"/>
                        </a:rPr>
                        <a:t>Risk register</a:t>
                      </a:r>
                      <a:endParaRPr lang="en-US" sz="1800" noProof="1">
                        <a:latin typeface="Arial" panose="020B0604020202020204" pitchFamily="34" charset="0"/>
                        <a:cs typeface="Arial" panose="020B0604020202020204" pitchFamily="34" charset="0"/>
                      </a:endParaRP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3037376"/>
                  </a:ext>
                </a:extLst>
              </a:tr>
              <a:tr h="373581">
                <a:tc vMerge="1">
                  <a:txBody>
                    <a:bodyPr/>
                    <a:lstStyle/>
                    <a:p>
                      <a:pPr>
                        <a:buNone/>
                      </a:pPr>
                      <a:endParaRPr lang="id-ID"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Perform qualitative risk analysis</a:t>
                      </a: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i="1" noProof="1">
                          <a:latin typeface="Arial" panose="020B0604020202020204" pitchFamily="34" charset="0"/>
                          <a:cs typeface="Arial" panose="020B0604020202020204" pitchFamily="34" charset="0"/>
                        </a:rPr>
                        <a:t>Risk register updates</a:t>
                      </a:r>
                      <a:endParaRPr lang="en-US" sz="1800" noProof="1">
                        <a:latin typeface="Arial" panose="020B0604020202020204" pitchFamily="34" charset="0"/>
                        <a:cs typeface="Arial" panose="020B0604020202020204" pitchFamily="34" charset="0"/>
                      </a:endParaRP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8759532"/>
                  </a:ext>
                </a:extLst>
              </a:tr>
              <a:tr h="373581">
                <a:tc vMerge="1">
                  <a:txBody>
                    <a:bodyPr/>
                    <a:lstStyle/>
                    <a:p>
                      <a:pPr>
                        <a:buNone/>
                      </a:pPr>
                      <a:endParaRPr lang="id-ID"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Perform quantitative risk analysis</a:t>
                      </a: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i="1" noProof="1">
                          <a:latin typeface="Arial" panose="020B0604020202020204" pitchFamily="34" charset="0"/>
                          <a:cs typeface="Arial" panose="020B0604020202020204" pitchFamily="34" charset="0"/>
                        </a:rPr>
                        <a:t>Risk register updates</a:t>
                      </a:r>
                      <a:endParaRPr lang="en-US" sz="1800" noProof="1">
                        <a:latin typeface="Arial" panose="020B0604020202020204" pitchFamily="34" charset="0"/>
                        <a:cs typeface="Arial" panose="020B0604020202020204" pitchFamily="34" charset="0"/>
                      </a:endParaRP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3409755"/>
                  </a:ext>
                </a:extLst>
              </a:tr>
              <a:tr h="1220945">
                <a:tc vMerge="1">
                  <a:txBody>
                    <a:bodyPr/>
                    <a:lstStyle/>
                    <a:p>
                      <a:pPr>
                        <a:buNone/>
                      </a:pPr>
                      <a:endParaRPr lang="id-ID"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Plan risk responses</a:t>
                      </a: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i="1" noProof="1">
                          <a:latin typeface="Arial" panose="020B0604020202020204" pitchFamily="34" charset="0"/>
                          <a:cs typeface="Arial" panose="020B0604020202020204" pitchFamily="34" charset="0"/>
                        </a:rPr>
                        <a:t>Risk register updates</a:t>
                      </a:r>
                      <a:r>
                        <a:rPr lang="en-US" sz="1800" noProof="1">
                          <a:latin typeface="Arial" panose="020B0604020202020204" pitchFamily="34" charset="0"/>
                          <a:cs typeface="Arial" panose="020B0604020202020204" pitchFamily="34" charset="0"/>
                        </a:rPr>
                        <a:t>; </a:t>
                      </a:r>
                      <a:r>
                        <a:rPr lang="en-US" sz="1800" i="1" noProof="1">
                          <a:latin typeface="Arial" panose="020B0604020202020204" pitchFamily="34" charset="0"/>
                          <a:cs typeface="Arial" panose="020B0604020202020204" pitchFamily="34" charset="0"/>
                        </a:rPr>
                        <a:t>Project management plan updates</a:t>
                      </a:r>
                      <a:r>
                        <a:rPr lang="en-US" sz="1800" noProof="1">
                          <a:latin typeface="Arial" panose="020B0604020202020204" pitchFamily="34" charset="0"/>
                          <a:cs typeface="Arial" panose="020B0604020202020204" pitchFamily="34" charset="0"/>
                        </a:rPr>
                        <a:t>; </a:t>
                      </a:r>
                      <a:r>
                        <a:rPr lang="en-US" sz="1800" i="1" noProof="1">
                          <a:latin typeface="Arial" panose="020B0604020202020204" pitchFamily="34" charset="0"/>
                          <a:cs typeface="Arial" panose="020B0604020202020204" pitchFamily="34" charset="0"/>
                        </a:rPr>
                        <a:t>Risk-related contract decisions</a:t>
                      </a:r>
                      <a:r>
                        <a:rPr lang="en-US" sz="1800" noProof="1">
                          <a:latin typeface="Arial" panose="020B0604020202020204" pitchFamily="34" charset="0"/>
                          <a:cs typeface="Arial" panose="020B0604020202020204" pitchFamily="34" charset="0"/>
                        </a:rPr>
                        <a:t>; </a:t>
                      </a:r>
                      <a:r>
                        <a:rPr lang="en-US" sz="1800" i="1" noProof="1">
                          <a:latin typeface="Arial" panose="020B0604020202020204" pitchFamily="34" charset="0"/>
                          <a:cs typeface="Arial" panose="020B0604020202020204" pitchFamily="34" charset="0"/>
                        </a:rPr>
                        <a:t>Project document updates</a:t>
                      </a:r>
                      <a:endParaRPr lang="en-US" sz="1800" noProof="1">
                        <a:latin typeface="Arial" panose="020B0604020202020204" pitchFamily="34" charset="0"/>
                        <a:cs typeface="Arial" panose="020B0604020202020204" pitchFamily="34" charset="0"/>
                      </a:endParaRP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1601472"/>
                  </a:ext>
                </a:extLst>
              </a:tr>
              <a:tr h="1503400">
                <a:tc>
                  <a:txBody>
                    <a:bodyPr/>
                    <a:lstStyle/>
                    <a:p>
                      <a:pPr>
                        <a:buNone/>
                      </a:pPr>
                      <a:r>
                        <a:rPr lang="en-US" sz="1800" b="1" noProof="1">
                          <a:latin typeface="Arial" panose="020B0604020202020204" pitchFamily="34" charset="0"/>
                          <a:cs typeface="Arial" panose="020B0604020202020204" pitchFamily="34" charset="0"/>
                        </a:rPr>
                        <a:t>Project Procurement Management</a:t>
                      </a:r>
                      <a:endParaRPr lang="en-US" sz="1800" noProof="1">
                        <a:latin typeface="Arial" panose="020B0604020202020204" pitchFamily="34" charset="0"/>
                        <a:cs typeface="Arial" panose="020B0604020202020204" pitchFamily="34" charset="0"/>
                      </a:endParaRP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Plan procurements</a:t>
                      </a: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i="1" noProof="1">
                          <a:latin typeface="Arial" panose="020B0604020202020204" pitchFamily="34" charset="0"/>
                          <a:cs typeface="Arial" panose="020B0604020202020204" pitchFamily="34" charset="0"/>
                        </a:rPr>
                        <a:t>Procurement management plan</a:t>
                      </a:r>
                      <a:r>
                        <a:rPr lang="en-US" sz="1800" noProof="1">
                          <a:latin typeface="Arial" panose="020B0604020202020204" pitchFamily="34" charset="0"/>
                          <a:cs typeface="Arial" panose="020B0604020202020204" pitchFamily="34" charset="0"/>
                        </a:rPr>
                        <a:t>; </a:t>
                      </a:r>
                      <a:r>
                        <a:rPr lang="en-US" sz="1800" i="1" noProof="1">
                          <a:latin typeface="Arial" panose="020B0604020202020204" pitchFamily="34" charset="0"/>
                          <a:cs typeface="Arial" panose="020B0604020202020204" pitchFamily="34" charset="0"/>
                        </a:rPr>
                        <a:t>Procurement statement of work</a:t>
                      </a:r>
                      <a:r>
                        <a:rPr lang="en-US" sz="1800" noProof="1">
                          <a:latin typeface="Arial" panose="020B0604020202020204" pitchFamily="34" charset="0"/>
                          <a:cs typeface="Arial" panose="020B0604020202020204" pitchFamily="34" charset="0"/>
                        </a:rPr>
                        <a:t>; </a:t>
                      </a:r>
                      <a:r>
                        <a:rPr lang="en-US" sz="1800" i="1" noProof="1">
                          <a:latin typeface="Arial" panose="020B0604020202020204" pitchFamily="34" charset="0"/>
                          <a:cs typeface="Arial" panose="020B0604020202020204" pitchFamily="34" charset="0"/>
                        </a:rPr>
                        <a:t>Make-or-buy decisions</a:t>
                      </a:r>
                      <a:r>
                        <a:rPr lang="en-US" sz="1800" noProof="1">
                          <a:latin typeface="Arial" panose="020B0604020202020204" pitchFamily="34" charset="0"/>
                          <a:cs typeface="Arial" panose="020B0604020202020204" pitchFamily="34" charset="0"/>
                        </a:rPr>
                        <a:t>; </a:t>
                      </a:r>
                      <a:r>
                        <a:rPr lang="en-US" sz="1800" i="1" noProof="1">
                          <a:latin typeface="Arial" panose="020B0604020202020204" pitchFamily="34" charset="0"/>
                          <a:cs typeface="Arial" panose="020B0604020202020204" pitchFamily="34" charset="0"/>
                        </a:rPr>
                        <a:t>Procurement documents</a:t>
                      </a:r>
                      <a:r>
                        <a:rPr lang="en-US" sz="1800" noProof="1">
                          <a:latin typeface="Arial" panose="020B0604020202020204" pitchFamily="34" charset="0"/>
                          <a:cs typeface="Arial" panose="020B0604020202020204" pitchFamily="34" charset="0"/>
                        </a:rPr>
                        <a:t>; </a:t>
                      </a:r>
                      <a:r>
                        <a:rPr lang="en-US" sz="1800" i="1" noProof="1">
                          <a:latin typeface="Arial" panose="020B0604020202020204" pitchFamily="34" charset="0"/>
                          <a:cs typeface="Arial" panose="020B0604020202020204" pitchFamily="34" charset="0"/>
                        </a:rPr>
                        <a:t>Source selection criteria</a:t>
                      </a:r>
                      <a:r>
                        <a:rPr lang="en-US" sz="1800" noProof="1">
                          <a:latin typeface="Arial" panose="020B0604020202020204" pitchFamily="34" charset="0"/>
                          <a:cs typeface="Arial" panose="020B0604020202020204" pitchFamily="34" charset="0"/>
                        </a:rPr>
                        <a:t>; </a:t>
                      </a:r>
                      <a:r>
                        <a:rPr lang="en-US" sz="1800" i="1" noProof="1">
                          <a:latin typeface="Arial" panose="020B0604020202020204" pitchFamily="34" charset="0"/>
                          <a:cs typeface="Arial" panose="020B0604020202020204" pitchFamily="34" charset="0"/>
                        </a:rPr>
                        <a:t>Change requests</a:t>
                      </a:r>
                      <a:endParaRPr lang="en-US" sz="1800" noProof="1">
                        <a:latin typeface="Arial" panose="020B0604020202020204" pitchFamily="34" charset="0"/>
                        <a:cs typeface="Arial" panose="020B0604020202020204" pitchFamily="34" charset="0"/>
                      </a:endParaRPr>
                    </a:p>
                  </a:txBody>
                  <a:tcPr marL="73751" marR="73751" marT="36876" marB="3687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7486074"/>
                  </a:ext>
                </a:extLst>
              </a:tr>
            </a:tbl>
          </a:graphicData>
        </a:graphic>
      </p:graphicFrame>
      <p:sp>
        <p:nvSpPr>
          <p:cNvPr id="5" name="TextBox 4">
            <a:extLst>
              <a:ext uri="{FF2B5EF4-FFF2-40B4-BE49-F238E27FC236}">
                <a16:creationId xmlns:a16="http://schemas.microsoft.com/office/drawing/2014/main" id="{98719B9A-7DA7-7917-AC65-12D952AC9D0D}"/>
              </a:ext>
            </a:extLst>
          </p:cNvPr>
          <p:cNvSpPr txBox="1"/>
          <p:nvPr/>
        </p:nvSpPr>
        <p:spPr>
          <a:xfrm>
            <a:off x="717233" y="123944"/>
            <a:ext cx="6097904" cy="369332"/>
          </a:xfrm>
          <a:prstGeom prst="rect">
            <a:avLst/>
          </a:prstGeom>
          <a:noFill/>
        </p:spPr>
        <p:txBody>
          <a:bodyPr wrap="square">
            <a:spAutoFit/>
          </a:bodyPr>
          <a:lstStyle/>
          <a:p>
            <a:r>
              <a:rPr lang="en-US" noProof="1">
                <a:latin typeface="Arial" panose="020B0604020202020204" pitchFamily="34" charset="0"/>
                <a:cs typeface="Arial" panose="020B0604020202020204" pitchFamily="34" charset="0"/>
              </a:rPr>
              <a:t>TABEL 3-7 — Proses Perencanaan dan Output (lanjutan)</a:t>
            </a:r>
          </a:p>
        </p:txBody>
      </p:sp>
    </p:spTree>
    <p:extLst>
      <p:ext uri="{BB962C8B-B14F-4D97-AF65-F5344CB8AC3E}">
        <p14:creationId xmlns:p14="http://schemas.microsoft.com/office/powerpoint/2010/main" val="338464160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0B767-B60E-6D9A-9271-F96DCC76E71D}"/>
              </a:ext>
            </a:extLst>
          </p:cNvPr>
          <p:cNvSpPr>
            <a:spLocks noGrp="1"/>
          </p:cNvSpPr>
          <p:nvPr>
            <p:ph type="title"/>
          </p:nvPr>
        </p:nvSpPr>
        <p:spPr/>
        <p:txBody>
          <a:bodyPr/>
          <a:lstStyle/>
          <a:p>
            <a:pPr algn="ctr"/>
            <a:r>
              <a:rPr lang="en-US" noProof="1"/>
              <a:t>Template Perencanaan Proyek</a:t>
            </a:r>
          </a:p>
        </p:txBody>
      </p:sp>
      <p:graphicFrame>
        <p:nvGraphicFramePr>
          <p:cNvPr id="4" name="Content Placeholder 3">
            <a:extLst>
              <a:ext uri="{FF2B5EF4-FFF2-40B4-BE49-F238E27FC236}">
                <a16:creationId xmlns:a16="http://schemas.microsoft.com/office/drawing/2014/main" id="{D7B1FC7B-E27F-7C63-95D8-520CAAF2B8C1}"/>
              </a:ext>
            </a:extLst>
          </p:cNvPr>
          <p:cNvGraphicFramePr>
            <a:graphicFrameLocks noGrp="1"/>
          </p:cNvGraphicFramePr>
          <p:nvPr>
            <p:ph idx="1"/>
            <p:extLst>
              <p:ext uri="{D42A27DB-BD31-4B8C-83A1-F6EECF244321}">
                <p14:modId xmlns:p14="http://schemas.microsoft.com/office/powerpoint/2010/main" val="4253012010"/>
              </p:ext>
            </p:extLst>
          </p:nvPr>
        </p:nvGraphicFramePr>
        <p:xfrm>
          <a:off x="742950" y="1759514"/>
          <a:ext cx="10515600" cy="4828929"/>
        </p:xfrm>
        <a:graphic>
          <a:graphicData uri="http://schemas.openxmlformats.org/drawingml/2006/table">
            <a:tbl>
              <a:tblPr/>
              <a:tblGrid>
                <a:gridCol w="2766060">
                  <a:extLst>
                    <a:ext uri="{9D8B030D-6E8A-4147-A177-3AD203B41FA5}">
                      <a16:colId xmlns:a16="http://schemas.microsoft.com/office/drawing/2014/main" val="3323458846"/>
                    </a:ext>
                  </a:extLst>
                </a:gridCol>
                <a:gridCol w="1771650">
                  <a:extLst>
                    <a:ext uri="{9D8B030D-6E8A-4147-A177-3AD203B41FA5}">
                      <a16:colId xmlns:a16="http://schemas.microsoft.com/office/drawing/2014/main" val="3956996945"/>
                    </a:ext>
                  </a:extLst>
                </a:gridCol>
                <a:gridCol w="1771650">
                  <a:extLst>
                    <a:ext uri="{9D8B030D-6E8A-4147-A177-3AD203B41FA5}">
                      <a16:colId xmlns:a16="http://schemas.microsoft.com/office/drawing/2014/main" val="3973259707"/>
                    </a:ext>
                  </a:extLst>
                </a:gridCol>
                <a:gridCol w="2103120">
                  <a:extLst>
                    <a:ext uri="{9D8B030D-6E8A-4147-A177-3AD203B41FA5}">
                      <a16:colId xmlns:a16="http://schemas.microsoft.com/office/drawing/2014/main" val="3376815872"/>
                    </a:ext>
                  </a:extLst>
                </a:gridCol>
                <a:gridCol w="2103120">
                  <a:extLst>
                    <a:ext uri="{9D8B030D-6E8A-4147-A177-3AD203B41FA5}">
                      <a16:colId xmlns:a16="http://schemas.microsoft.com/office/drawing/2014/main" val="3439996816"/>
                    </a:ext>
                  </a:extLst>
                </a:gridCol>
              </a:tblGrid>
              <a:tr h="958769">
                <a:tc>
                  <a:txBody>
                    <a:bodyPr/>
                    <a:lstStyle/>
                    <a:p>
                      <a:pPr>
                        <a:buNone/>
                      </a:pPr>
                      <a:r>
                        <a:rPr lang="en-US" sz="1800" b="1" noProof="1">
                          <a:latin typeface="Arial" panose="020B0604020202020204" pitchFamily="34" charset="0"/>
                          <a:cs typeface="Arial" panose="020B0604020202020204" pitchFamily="34" charset="0"/>
                        </a:rPr>
                        <a:t>Nama Template</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noProof="1">
                          <a:latin typeface="Arial" panose="020B0604020202020204" pitchFamily="34" charset="0"/>
                          <a:cs typeface="Arial" panose="020B0604020202020204" pitchFamily="34" charset="0"/>
                        </a:rPr>
                        <a:t>Kelompok Proses (Process Group)</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noProof="1">
                          <a:latin typeface="Arial" panose="020B0604020202020204" pitchFamily="34" charset="0"/>
                          <a:cs typeface="Arial" panose="020B0604020202020204" pitchFamily="34" charset="0"/>
                        </a:rPr>
                        <a:t>Bab Digunakan (Chapter(s) Where Used)</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noProof="1">
                          <a:latin typeface="Arial" panose="020B0604020202020204" pitchFamily="34" charset="0"/>
                          <a:cs typeface="Arial" panose="020B0604020202020204" pitchFamily="34" charset="0"/>
                        </a:rPr>
                        <a:t>Perangkat Lunak Aplikasi (Application Software)</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noProof="1">
                          <a:latin typeface="Arial" panose="020B0604020202020204" pitchFamily="34" charset="0"/>
                          <a:cs typeface="Arial" panose="020B0604020202020204" pitchFamily="34" charset="0"/>
                        </a:rPr>
                        <a:t>Nama File (File Name)</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9464405"/>
                  </a:ext>
                </a:extLst>
              </a:tr>
              <a:tr h="516260">
                <a:tc>
                  <a:txBody>
                    <a:bodyPr/>
                    <a:lstStyle/>
                    <a:p>
                      <a:pPr>
                        <a:buNone/>
                      </a:pPr>
                      <a:r>
                        <a:rPr lang="en-US" sz="1800" b="1" noProof="1">
                          <a:latin typeface="Arial" panose="020B0604020202020204" pitchFamily="34" charset="0"/>
                          <a:cs typeface="Arial" panose="020B0604020202020204" pitchFamily="34" charset="0"/>
                        </a:rPr>
                        <a:t>Kontrak Tim (Team Contract)</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Planning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3</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Word</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team_contract.doc</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6777613"/>
                  </a:ext>
                </a:extLst>
              </a:tr>
              <a:tr h="1180024">
                <a:tc>
                  <a:txBody>
                    <a:bodyPr/>
                    <a:lstStyle/>
                    <a:p>
                      <a:pPr>
                        <a:buNone/>
                      </a:pPr>
                      <a:r>
                        <a:rPr lang="en-US" sz="1800" b="1" noProof="1">
                          <a:latin typeface="Arial" panose="020B0604020202020204" pitchFamily="34" charset="0"/>
                          <a:cs typeface="Arial" panose="020B0604020202020204" pitchFamily="34" charset="0"/>
                        </a:rPr>
                        <a:t>Matriks Keterlacakan Kebutuhan (Requirements Traceability Matrix)</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Planning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5</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noProof="1">
                          <a:latin typeface="Arial" panose="020B0604020202020204" pitchFamily="34" charset="0"/>
                          <a:cs typeface="Arial" panose="020B0604020202020204" pitchFamily="34" charset="0"/>
                        </a:rPr>
                        <a:t>Excel</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reqs_matrix.xls</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345075"/>
                  </a:ext>
                </a:extLst>
              </a:tr>
              <a:tr h="737515">
                <a:tc>
                  <a:txBody>
                    <a:bodyPr/>
                    <a:lstStyle/>
                    <a:p>
                      <a:pPr>
                        <a:buNone/>
                      </a:pPr>
                      <a:r>
                        <a:rPr lang="en-US" sz="1800" b="1" noProof="1">
                          <a:latin typeface="Arial" panose="020B0604020202020204" pitchFamily="34" charset="0"/>
                          <a:cs typeface="Arial" panose="020B0604020202020204" pitchFamily="34" charset="0"/>
                        </a:rPr>
                        <a:t>Pernyataan Ruang Lingkup (Scope Statement)</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Planning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3, 4, 5</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Word</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scope_statement.doc</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1887121"/>
                  </a:ext>
                </a:extLst>
              </a:tr>
              <a:tr h="958769">
                <a:tc>
                  <a:txBody>
                    <a:bodyPr/>
                    <a:lstStyle/>
                    <a:p>
                      <a:pPr>
                        <a:buNone/>
                      </a:pPr>
                      <a:r>
                        <a:rPr lang="en-US" sz="1800" b="1" noProof="1">
                          <a:latin typeface="Arial" panose="020B0604020202020204" pitchFamily="34" charset="0"/>
                          <a:cs typeface="Arial" panose="020B0604020202020204" pitchFamily="34" charset="0"/>
                        </a:rPr>
                        <a:t>Pernyataan Pekerjaan (Statement of Work)</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Planning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12</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Word</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statement_of_work.doc</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2438162"/>
                  </a:ext>
                </a:extLst>
              </a:tr>
            </a:tbl>
          </a:graphicData>
        </a:graphic>
      </p:graphicFrame>
    </p:spTree>
    <p:extLst>
      <p:ext uri="{BB962C8B-B14F-4D97-AF65-F5344CB8AC3E}">
        <p14:creationId xmlns:p14="http://schemas.microsoft.com/office/powerpoint/2010/main" val="23287120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917C6-F8EC-A8BF-5913-A4F49133720B}"/>
              </a:ext>
            </a:extLst>
          </p:cNvPr>
          <p:cNvSpPr>
            <a:spLocks noGrp="1"/>
          </p:cNvSpPr>
          <p:nvPr>
            <p:ph type="title"/>
          </p:nvPr>
        </p:nvSpPr>
        <p:spPr/>
        <p:txBody>
          <a:bodyPr/>
          <a:lstStyle/>
          <a:p>
            <a:pPr algn="ctr"/>
            <a:r>
              <a:rPr lang="en-US" noProof="1"/>
              <a:t>Template Perencanaan Proyek</a:t>
            </a:r>
          </a:p>
        </p:txBody>
      </p:sp>
      <p:graphicFrame>
        <p:nvGraphicFramePr>
          <p:cNvPr id="4" name="Content Placeholder 3">
            <a:extLst>
              <a:ext uri="{FF2B5EF4-FFF2-40B4-BE49-F238E27FC236}">
                <a16:creationId xmlns:a16="http://schemas.microsoft.com/office/drawing/2014/main" id="{59B486F5-89E8-56F7-6D26-B0E9073A3C15}"/>
              </a:ext>
            </a:extLst>
          </p:cNvPr>
          <p:cNvGraphicFramePr>
            <a:graphicFrameLocks noGrp="1"/>
          </p:cNvGraphicFramePr>
          <p:nvPr>
            <p:ph idx="1"/>
            <p:extLst>
              <p:ext uri="{D42A27DB-BD31-4B8C-83A1-F6EECF244321}">
                <p14:modId xmlns:p14="http://schemas.microsoft.com/office/powerpoint/2010/main" val="2046591262"/>
              </p:ext>
            </p:extLst>
          </p:nvPr>
        </p:nvGraphicFramePr>
        <p:xfrm>
          <a:off x="346710" y="1482724"/>
          <a:ext cx="11498580" cy="5209815"/>
        </p:xfrm>
        <a:graphic>
          <a:graphicData uri="http://schemas.openxmlformats.org/drawingml/2006/table">
            <a:tbl>
              <a:tblPr/>
              <a:tblGrid>
                <a:gridCol w="3714750">
                  <a:extLst>
                    <a:ext uri="{9D8B030D-6E8A-4147-A177-3AD203B41FA5}">
                      <a16:colId xmlns:a16="http://schemas.microsoft.com/office/drawing/2014/main" val="2759945866"/>
                    </a:ext>
                  </a:extLst>
                </a:gridCol>
                <a:gridCol w="1943100">
                  <a:extLst>
                    <a:ext uri="{9D8B030D-6E8A-4147-A177-3AD203B41FA5}">
                      <a16:colId xmlns:a16="http://schemas.microsoft.com/office/drawing/2014/main" val="1604031326"/>
                    </a:ext>
                  </a:extLst>
                </a:gridCol>
                <a:gridCol w="2125980">
                  <a:extLst>
                    <a:ext uri="{9D8B030D-6E8A-4147-A177-3AD203B41FA5}">
                      <a16:colId xmlns:a16="http://schemas.microsoft.com/office/drawing/2014/main" val="2018299717"/>
                    </a:ext>
                  </a:extLst>
                </a:gridCol>
                <a:gridCol w="1908810">
                  <a:extLst>
                    <a:ext uri="{9D8B030D-6E8A-4147-A177-3AD203B41FA5}">
                      <a16:colId xmlns:a16="http://schemas.microsoft.com/office/drawing/2014/main" val="3968325524"/>
                    </a:ext>
                  </a:extLst>
                </a:gridCol>
                <a:gridCol w="1805940">
                  <a:extLst>
                    <a:ext uri="{9D8B030D-6E8A-4147-A177-3AD203B41FA5}">
                      <a16:colId xmlns:a16="http://schemas.microsoft.com/office/drawing/2014/main" val="1513843427"/>
                    </a:ext>
                  </a:extLst>
                </a:gridCol>
              </a:tblGrid>
              <a:tr h="843205">
                <a:tc>
                  <a:txBody>
                    <a:bodyPr/>
                    <a:lstStyle/>
                    <a:p>
                      <a:pPr algn="ctr">
                        <a:buNone/>
                      </a:pPr>
                      <a:r>
                        <a:rPr lang="en-US" sz="1600" b="1" noProof="1">
                          <a:latin typeface="Arial" panose="020B0604020202020204" pitchFamily="34" charset="0"/>
                          <a:cs typeface="Arial" panose="020B0604020202020204" pitchFamily="34" charset="0"/>
                        </a:rPr>
                        <a:t>Nama Template</a:t>
                      </a:r>
                      <a:endParaRPr lang="en-US" sz="1600" noProof="1">
                        <a:latin typeface="Arial" panose="020B0604020202020204" pitchFamily="34" charset="0"/>
                        <a:cs typeface="Arial" panose="020B0604020202020204" pitchFamily="34" charset="0"/>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noProof="1">
                          <a:latin typeface="Arial" panose="020B0604020202020204" pitchFamily="34" charset="0"/>
                          <a:cs typeface="Arial" panose="020B0604020202020204" pitchFamily="34" charset="0"/>
                        </a:rPr>
                        <a:t>Kelompok Proses (Process Group)</a:t>
                      </a:r>
                      <a:endParaRPr lang="en-US" sz="1600" noProof="1">
                        <a:latin typeface="Arial" panose="020B0604020202020204" pitchFamily="34" charset="0"/>
                        <a:cs typeface="Arial" panose="020B0604020202020204" pitchFamily="34" charset="0"/>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noProof="1">
                          <a:latin typeface="Arial" panose="020B0604020202020204" pitchFamily="34" charset="0"/>
                          <a:cs typeface="Arial" panose="020B0604020202020204" pitchFamily="34" charset="0"/>
                        </a:rPr>
                        <a:t>Bab Digunakan (Chapter(s) Where Used)</a:t>
                      </a:r>
                      <a:endParaRPr lang="en-US" sz="1600" noProof="1">
                        <a:latin typeface="Arial" panose="020B0604020202020204" pitchFamily="34" charset="0"/>
                        <a:cs typeface="Arial" panose="020B0604020202020204" pitchFamily="34" charset="0"/>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noProof="1">
                          <a:latin typeface="Arial" panose="020B0604020202020204" pitchFamily="34" charset="0"/>
                          <a:cs typeface="Arial" panose="020B0604020202020204" pitchFamily="34" charset="0"/>
                        </a:rPr>
                        <a:t>Perangkat Lunak Aplikasi (Application Software)</a:t>
                      </a:r>
                      <a:endParaRPr lang="en-US" sz="1600" noProof="1">
                        <a:latin typeface="Arial" panose="020B0604020202020204" pitchFamily="34" charset="0"/>
                        <a:cs typeface="Arial" panose="020B0604020202020204" pitchFamily="34" charset="0"/>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b="1" noProof="1">
                          <a:latin typeface="Arial" panose="020B0604020202020204" pitchFamily="34" charset="0"/>
                          <a:cs typeface="Arial" panose="020B0604020202020204" pitchFamily="34" charset="0"/>
                        </a:rPr>
                        <a:t>Nama File (File Name)</a:t>
                      </a:r>
                      <a:endParaRPr lang="en-US" sz="1600" noProof="1">
                        <a:latin typeface="Arial" panose="020B0604020202020204" pitchFamily="34" charset="0"/>
                        <a:cs typeface="Arial" panose="020B0604020202020204" pitchFamily="34" charset="0"/>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271408"/>
                  </a:ext>
                </a:extLst>
              </a:tr>
              <a:tr h="648619">
                <a:tc>
                  <a:txBody>
                    <a:bodyPr/>
                    <a:lstStyle/>
                    <a:p>
                      <a:pPr>
                        <a:buNone/>
                      </a:pPr>
                      <a:r>
                        <a:rPr lang="en-US" sz="1600" b="1" noProof="1">
                          <a:latin typeface="Arial" panose="020B0604020202020204" pitchFamily="34" charset="0"/>
                          <a:cs typeface="Arial" panose="020B0604020202020204" pitchFamily="34" charset="0"/>
                        </a:rPr>
                        <a:t>Permintaan Proposal (Request for Proposal)</a:t>
                      </a:r>
                      <a:endParaRPr lang="en-US" sz="1600" noProof="1">
                        <a:latin typeface="Arial" panose="020B0604020202020204" pitchFamily="34" charset="0"/>
                        <a:cs typeface="Arial" panose="020B0604020202020204" pitchFamily="34" charset="0"/>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Planning</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12</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Word</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rfp_outline.doc</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828568"/>
                  </a:ext>
                </a:extLst>
              </a:tr>
              <a:tr h="1037791">
                <a:tc>
                  <a:txBody>
                    <a:bodyPr/>
                    <a:lstStyle/>
                    <a:p>
                      <a:pPr>
                        <a:buNone/>
                      </a:pPr>
                      <a:r>
                        <a:rPr lang="en-US" sz="1600" b="1" noProof="1">
                          <a:latin typeface="Arial" panose="020B0604020202020204" pitchFamily="34" charset="0"/>
                          <a:cs typeface="Arial" panose="020B0604020202020204" pitchFamily="34" charset="0"/>
                        </a:rPr>
                        <a:t>Rencana Manajemen Proyek Perangkat Lunak (Software Project Management Plan)</a:t>
                      </a:r>
                      <a:endParaRPr lang="en-US" sz="1600" noProof="1">
                        <a:latin typeface="Arial" panose="020B0604020202020204" pitchFamily="34" charset="0"/>
                        <a:cs typeface="Arial" panose="020B0604020202020204" pitchFamily="34" charset="0"/>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Planning</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4</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Word</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sw_project_mgt_plan.doc</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0581252"/>
                  </a:ext>
                </a:extLst>
              </a:tr>
              <a:tr h="843205">
                <a:tc>
                  <a:txBody>
                    <a:bodyPr/>
                    <a:lstStyle/>
                    <a:p>
                      <a:pPr>
                        <a:buNone/>
                      </a:pPr>
                      <a:r>
                        <a:rPr lang="en-US" sz="1600" b="1" noProof="1">
                          <a:latin typeface="Arial" panose="020B0604020202020204" pitchFamily="34" charset="0"/>
                          <a:cs typeface="Arial" panose="020B0604020202020204" pitchFamily="34" charset="0"/>
                        </a:rPr>
                        <a:t>Struktur Perincian Pekerjaan (Work Breakdown Structure / WBS)</a:t>
                      </a:r>
                      <a:endParaRPr lang="en-US" sz="1600" noProof="1">
                        <a:latin typeface="Arial" panose="020B0604020202020204" pitchFamily="34" charset="0"/>
                        <a:cs typeface="Arial" panose="020B0604020202020204" pitchFamily="34" charset="0"/>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Planning</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3, 5, 6</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Word</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wbs.doc</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403450"/>
                  </a:ext>
                </a:extLst>
              </a:tr>
              <a:tr h="454033">
                <a:tc>
                  <a:txBody>
                    <a:bodyPr/>
                    <a:lstStyle/>
                    <a:p>
                      <a:pPr>
                        <a:buNone/>
                      </a:pPr>
                      <a:r>
                        <a:rPr lang="en-US" sz="1600" b="1" noProof="1">
                          <a:latin typeface="Arial" panose="020B0604020202020204" pitchFamily="34" charset="0"/>
                          <a:cs typeface="Arial" panose="020B0604020202020204" pitchFamily="34" charset="0"/>
                        </a:rPr>
                        <a:t>Bagan Gantt (Gantt Chart)</a:t>
                      </a:r>
                      <a:endParaRPr lang="en-US" sz="1600" noProof="1">
                        <a:latin typeface="Arial" panose="020B0604020202020204" pitchFamily="34" charset="0"/>
                        <a:cs typeface="Arial" panose="020B0604020202020204" pitchFamily="34" charset="0"/>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Planning, Executing</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3, 5, 6</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Project</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Gantt_chart.mpp</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6798764"/>
                  </a:ext>
                </a:extLst>
              </a:tr>
              <a:tr h="454033">
                <a:tc>
                  <a:txBody>
                    <a:bodyPr/>
                    <a:lstStyle/>
                    <a:p>
                      <a:pPr>
                        <a:buNone/>
                      </a:pPr>
                      <a:r>
                        <a:rPr lang="en-US" sz="1600" b="1" noProof="1">
                          <a:latin typeface="Arial" panose="020B0604020202020204" pitchFamily="34" charset="0"/>
                          <a:cs typeface="Arial" panose="020B0604020202020204" pitchFamily="34" charset="0"/>
                        </a:rPr>
                        <a:t>Diagram Jaringan (Network Diagram)</a:t>
                      </a:r>
                      <a:endParaRPr lang="en-US" sz="1600" noProof="1">
                        <a:latin typeface="Arial" panose="020B0604020202020204" pitchFamily="34" charset="0"/>
                        <a:cs typeface="Arial" panose="020B0604020202020204" pitchFamily="34" charset="0"/>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Planning, Executing</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3, 6</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Project</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network_diagram.mpp</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0382977"/>
                  </a:ext>
                </a:extLst>
              </a:tr>
              <a:tr h="648619">
                <a:tc>
                  <a:txBody>
                    <a:bodyPr/>
                    <a:lstStyle/>
                    <a:p>
                      <a:pPr>
                        <a:buNone/>
                      </a:pPr>
                      <a:r>
                        <a:rPr lang="en-US" sz="1600" b="1" noProof="1">
                          <a:latin typeface="Arial" panose="020B0604020202020204" pitchFamily="34" charset="0"/>
                          <a:cs typeface="Arial" panose="020B0604020202020204" pitchFamily="34" charset="0"/>
                        </a:rPr>
                        <a:t>Estimasi Biaya Proyek (Project Cost Estimate)</a:t>
                      </a:r>
                      <a:endParaRPr lang="en-US" sz="1600" noProof="1">
                        <a:latin typeface="Arial" panose="020B0604020202020204" pitchFamily="34" charset="0"/>
                        <a:cs typeface="Arial" panose="020B0604020202020204" pitchFamily="34" charset="0"/>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Planning</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7</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Excel</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cost_estimate.xls</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6867365"/>
                  </a:ext>
                </a:extLst>
              </a:tr>
            </a:tbl>
          </a:graphicData>
        </a:graphic>
      </p:graphicFrame>
    </p:spTree>
    <p:extLst>
      <p:ext uri="{BB962C8B-B14F-4D97-AF65-F5344CB8AC3E}">
        <p14:creationId xmlns:p14="http://schemas.microsoft.com/office/powerpoint/2010/main" val="91139836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D5821-9E46-DF70-A8D1-D4C3D9B91017}"/>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620CE87-F3A4-C930-C86F-F39F956AC3F1}"/>
              </a:ext>
            </a:extLst>
          </p:cNvPr>
          <p:cNvGraphicFramePr>
            <a:graphicFrameLocks noGrp="1"/>
          </p:cNvGraphicFramePr>
          <p:nvPr>
            <p:ph idx="1"/>
            <p:extLst>
              <p:ext uri="{D42A27DB-BD31-4B8C-83A1-F6EECF244321}">
                <p14:modId xmlns:p14="http://schemas.microsoft.com/office/powerpoint/2010/main" val="1144576681"/>
              </p:ext>
            </p:extLst>
          </p:nvPr>
        </p:nvGraphicFramePr>
        <p:xfrm>
          <a:off x="571500" y="171450"/>
          <a:ext cx="11144249" cy="6691120"/>
        </p:xfrm>
        <a:graphic>
          <a:graphicData uri="http://schemas.openxmlformats.org/drawingml/2006/table">
            <a:tbl>
              <a:tblPr/>
              <a:tblGrid>
                <a:gridCol w="2127905">
                  <a:extLst>
                    <a:ext uri="{9D8B030D-6E8A-4147-A177-3AD203B41FA5}">
                      <a16:colId xmlns:a16="http://schemas.microsoft.com/office/drawing/2014/main" val="3304991251"/>
                    </a:ext>
                  </a:extLst>
                </a:gridCol>
                <a:gridCol w="2810289">
                  <a:extLst>
                    <a:ext uri="{9D8B030D-6E8A-4147-A177-3AD203B41FA5}">
                      <a16:colId xmlns:a16="http://schemas.microsoft.com/office/drawing/2014/main" val="3756041695"/>
                    </a:ext>
                  </a:extLst>
                </a:gridCol>
                <a:gridCol w="6206055">
                  <a:extLst>
                    <a:ext uri="{9D8B030D-6E8A-4147-A177-3AD203B41FA5}">
                      <a16:colId xmlns:a16="http://schemas.microsoft.com/office/drawing/2014/main" val="1477468030"/>
                    </a:ext>
                  </a:extLst>
                </a:gridCol>
              </a:tblGrid>
              <a:tr h="532316">
                <a:tc>
                  <a:txBody>
                    <a:bodyPr/>
                    <a:lstStyle/>
                    <a:p>
                      <a:pPr algn="ctr">
                        <a:buNone/>
                      </a:pPr>
                      <a:r>
                        <a:rPr lang="en-US" sz="1800" b="1" noProof="1">
                          <a:latin typeface="Arial" panose="020B0604020202020204" pitchFamily="34" charset="0"/>
                          <a:cs typeface="Arial" panose="020B0604020202020204" pitchFamily="34" charset="0"/>
                        </a:rPr>
                        <a:t>Area Pengetahuan (Knowledge Area)</a:t>
                      </a:r>
                      <a:endParaRPr lang="en-US" sz="1800" noProof="1">
                        <a:latin typeface="Arial" panose="020B0604020202020204" pitchFamily="34" charset="0"/>
                        <a:cs typeface="Arial" panose="020B0604020202020204" pitchFamily="34" charset="0"/>
                      </a:endParaRPr>
                    </a:p>
                  </a:txBody>
                  <a:tcPr marL="26860" marR="26860" marT="13430" marB="13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1" noProof="1">
                          <a:latin typeface="Arial" panose="020B0604020202020204" pitchFamily="34" charset="0"/>
                          <a:cs typeface="Arial" panose="020B0604020202020204" pitchFamily="34" charset="0"/>
                        </a:rPr>
                        <a:t>Proses Pelaksanaan (Executing Process)</a:t>
                      </a:r>
                      <a:endParaRPr lang="en-US" sz="1800" noProof="1">
                        <a:latin typeface="Arial" panose="020B0604020202020204" pitchFamily="34" charset="0"/>
                        <a:cs typeface="Arial" panose="020B0604020202020204" pitchFamily="34" charset="0"/>
                      </a:endParaRPr>
                    </a:p>
                  </a:txBody>
                  <a:tcPr marL="26860" marR="26860" marT="13430" marB="13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1" noProof="1">
                          <a:latin typeface="Arial" panose="020B0604020202020204" pitchFamily="34" charset="0"/>
                          <a:cs typeface="Arial" panose="020B0604020202020204" pitchFamily="34" charset="0"/>
                        </a:rPr>
                        <a:t>Keluaran (Outputs)</a:t>
                      </a:r>
                      <a:endParaRPr lang="en-US" sz="1800" noProof="1">
                        <a:latin typeface="Arial" panose="020B0604020202020204" pitchFamily="34" charset="0"/>
                        <a:cs typeface="Arial" panose="020B0604020202020204" pitchFamily="34" charset="0"/>
                      </a:endParaRPr>
                    </a:p>
                  </a:txBody>
                  <a:tcPr marL="26860" marR="26860" marT="13430" marB="13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903151"/>
                  </a:ext>
                </a:extLst>
              </a:tr>
              <a:tr h="1028215">
                <a:tc>
                  <a:txBody>
                    <a:bodyPr/>
                    <a:lstStyle/>
                    <a:p>
                      <a:pPr>
                        <a:buNone/>
                      </a:pPr>
                      <a:r>
                        <a:rPr lang="en-US" sz="1800" b="1" noProof="1">
                          <a:latin typeface="Arial" panose="020B0604020202020204" pitchFamily="34" charset="0"/>
                          <a:cs typeface="Arial" panose="020B0604020202020204" pitchFamily="34" charset="0"/>
                        </a:rPr>
                        <a:t>Manajemen Integrasi Proyek (Project Integration Management)</a:t>
                      </a:r>
                      <a:endParaRPr lang="en-US" sz="1800" noProof="1">
                        <a:latin typeface="Arial" panose="020B0604020202020204" pitchFamily="34" charset="0"/>
                        <a:cs typeface="Arial" panose="020B0604020202020204" pitchFamily="34" charset="0"/>
                      </a:endParaRPr>
                    </a:p>
                  </a:txBody>
                  <a:tcPr marL="26860" marR="26860" marT="13430" marB="13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Mengarahkan dan mengelola pelaksanaan proyek (Direct and manage project execution)</a:t>
                      </a:r>
                    </a:p>
                  </a:txBody>
                  <a:tcPr marL="26860" marR="26860" marT="13430" marB="13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Deliverables (hasil kerja)</a:t>
                      </a:r>
                    </a:p>
                    <a:p>
                      <a:pPr>
                        <a:buNone/>
                      </a:pPr>
                      <a:r>
                        <a:rPr lang="en-US" sz="1800" noProof="1">
                          <a:latin typeface="Arial" panose="020B0604020202020204" pitchFamily="34" charset="0"/>
                          <a:cs typeface="Arial" panose="020B0604020202020204" pitchFamily="34" charset="0"/>
                        </a:rPr>
                        <a:t>Informasi kinerja pekerjaan (Work performance information)</a:t>
                      </a:r>
                    </a:p>
                    <a:p>
                      <a:pPr>
                        <a:buNone/>
                      </a:pPr>
                      <a:r>
                        <a:rPr lang="en-US" sz="1800" noProof="1">
                          <a:latin typeface="Arial" panose="020B0604020202020204" pitchFamily="34" charset="0"/>
                          <a:cs typeface="Arial" panose="020B0604020202020204" pitchFamily="34" charset="0"/>
                        </a:rPr>
                        <a:t>Permintaan perubahan (Change requests)</a:t>
                      </a:r>
                    </a:p>
                    <a:p>
                      <a:pPr>
                        <a:buNone/>
                      </a:pPr>
                      <a:r>
                        <a:rPr lang="en-US" sz="1800" noProof="1">
                          <a:latin typeface="Arial" panose="020B0604020202020204" pitchFamily="34" charset="0"/>
                          <a:cs typeface="Arial" panose="020B0604020202020204" pitchFamily="34" charset="0"/>
                        </a:rPr>
                        <a:t>Pembaruan rencana manajemen proyek (Project management plan updates)</a:t>
                      </a:r>
                    </a:p>
                    <a:p>
                      <a:pPr>
                        <a:buNone/>
                      </a:pPr>
                      <a:r>
                        <a:rPr lang="en-US" sz="1800" noProof="1">
                          <a:latin typeface="Arial" panose="020B0604020202020204" pitchFamily="34" charset="0"/>
                          <a:cs typeface="Arial" panose="020B0604020202020204" pitchFamily="34" charset="0"/>
                        </a:rPr>
                        <a:t>Pembaruan dokumen proyek (Project document updates)</a:t>
                      </a:r>
                    </a:p>
                  </a:txBody>
                  <a:tcPr marL="26860" marR="26860" marT="13430" marB="13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3249038"/>
                  </a:ext>
                </a:extLst>
              </a:tr>
              <a:tr h="910427">
                <a:tc>
                  <a:txBody>
                    <a:bodyPr/>
                    <a:lstStyle/>
                    <a:p>
                      <a:pPr>
                        <a:buNone/>
                      </a:pPr>
                      <a:r>
                        <a:rPr lang="en-US" sz="1800" b="1" noProof="1">
                          <a:latin typeface="Arial" panose="020B0604020202020204" pitchFamily="34" charset="0"/>
                          <a:cs typeface="Arial" panose="020B0604020202020204" pitchFamily="34" charset="0"/>
                        </a:rPr>
                        <a:t>Manajemen Kualitas Proyek (Project Quality Management)</a:t>
                      </a:r>
                      <a:endParaRPr lang="en-US" sz="1800" noProof="1">
                        <a:latin typeface="Arial" panose="020B0604020202020204" pitchFamily="34" charset="0"/>
                        <a:cs typeface="Arial" panose="020B0604020202020204" pitchFamily="34" charset="0"/>
                      </a:endParaRPr>
                    </a:p>
                  </a:txBody>
                  <a:tcPr marL="26860" marR="26860" marT="13430" marB="13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Melakukan jaminan kualitas (Perform quality assurance)</a:t>
                      </a:r>
                    </a:p>
                  </a:txBody>
                  <a:tcPr marL="26860" marR="26860" marT="13430" marB="13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Pembaruan aset proses organisasi (Organizational process asset updates)</a:t>
                      </a:r>
                    </a:p>
                    <a:p>
                      <a:pPr>
                        <a:buNone/>
                      </a:pPr>
                      <a:r>
                        <a:rPr lang="en-US" sz="1800" noProof="1">
                          <a:latin typeface="Arial" panose="020B0604020202020204" pitchFamily="34" charset="0"/>
                          <a:cs typeface="Arial" panose="020B0604020202020204" pitchFamily="34" charset="0"/>
                        </a:rPr>
                        <a:t>Permintaan perubahan (Change requests)</a:t>
                      </a:r>
                    </a:p>
                    <a:p>
                      <a:pPr>
                        <a:buNone/>
                      </a:pPr>
                      <a:r>
                        <a:rPr lang="en-US" sz="1800" noProof="1">
                          <a:latin typeface="Arial" panose="020B0604020202020204" pitchFamily="34" charset="0"/>
                          <a:cs typeface="Arial" panose="020B0604020202020204" pitchFamily="34" charset="0"/>
                        </a:rPr>
                        <a:t>Pembaruan rencana manajemen proyek (Project management plan updates)</a:t>
                      </a:r>
                    </a:p>
                    <a:p>
                      <a:pPr>
                        <a:buNone/>
                      </a:pPr>
                      <a:r>
                        <a:rPr lang="en-US" sz="1800" noProof="1">
                          <a:latin typeface="Arial" panose="020B0604020202020204" pitchFamily="34" charset="0"/>
                          <a:cs typeface="Arial" panose="020B0604020202020204" pitchFamily="34" charset="0"/>
                        </a:rPr>
                        <a:t>Pembaruan dokumen proyek (Project document updates)</a:t>
                      </a:r>
                    </a:p>
                  </a:txBody>
                  <a:tcPr marL="26860" marR="26860" marT="13430" marB="13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5813978"/>
                  </a:ext>
                </a:extLst>
              </a:tr>
              <a:tr h="1458494">
                <a:tc>
                  <a:txBody>
                    <a:bodyPr/>
                    <a:lstStyle/>
                    <a:p>
                      <a:pPr>
                        <a:buNone/>
                      </a:pPr>
                      <a:r>
                        <a:rPr lang="en-US" sz="1800" b="1" noProof="1">
                          <a:latin typeface="Arial" panose="020B0604020202020204" pitchFamily="34" charset="0"/>
                          <a:cs typeface="Arial" panose="020B0604020202020204" pitchFamily="34" charset="0"/>
                        </a:rPr>
                        <a:t>Manajemen Sumber Daya Manusia Proyek (Project Human Resource Management)</a:t>
                      </a:r>
                      <a:endParaRPr lang="en-US" sz="1800" noProof="1">
                        <a:latin typeface="Arial" panose="020B0604020202020204" pitchFamily="34" charset="0"/>
                        <a:cs typeface="Arial" panose="020B0604020202020204" pitchFamily="34" charset="0"/>
                      </a:endParaRPr>
                    </a:p>
                  </a:txBody>
                  <a:tcPr marL="26860" marR="26860" marT="13430" marB="13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Memperoleh tim proyek (Acquire project team)Mengembangkan tim proyek (Develop project team)Mengelola tim proyek (Manage project team)</a:t>
                      </a:r>
                    </a:p>
                  </a:txBody>
                  <a:tcPr marL="26860" marR="26860" marT="13430" marB="13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Penugasan staf proyek (Project staff assignments)</a:t>
                      </a:r>
                    </a:p>
                    <a:p>
                      <a:pPr>
                        <a:buNone/>
                      </a:pPr>
                      <a:r>
                        <a:rPr lang="en-US" sz="1800" noProof="1">
                          <a:latin typeface="Arial" panose="020B0604020202020204" pitchFamily="34" charset="0"/>
                          <a:cs typeface="Arial" panose="020B0604020202020204" pitchFamily="34" charset="0"/>
                        </a:rPr>
                        <a:t>Kalender sumber daya (Resource calendars)</a:t>
                      </a:r>
                    </a:p>
                    <a:p>
                      <a:pPr>
                        <a:buNone/>
                      </a:pPr>
                      <a:r>
                        <a:rPr lang="en-US" sz="1800" noProof="1">
                          <a:latin typeface="Arial" panose="020B0604020202020204" pitchFamily="34" charset="0"/>
                          <a:cs typeface="Arial" panose="020B0604020202020204" pitchFamily="34" charset="0"/>
                        </a:rPr>
                        <a:t>Pembaruan rencana manajemen proyek (Project management plan updates)</a:t>
                      </a:r>
                    </a:p>
                    <a:p>
                      <a:pPr>
                        <a:buNone/>
                      </a:pPr>
                      <a:r>
                        <a:rPr lang="en-US" sz="1800" noProof="1">
                          <a:latin typeface="Arial" panose="020B0604020202020204" pitchFamily="34" charset="0"/>
                          <a:cs typeface="Arial" panose="020B0604020202020204" pitchFamily="34" charset="0"/>
                        </a:rPr>
                        <a:t>Penilaian kinerja tim (Team performance assessment)</a:t>
                      </a:r>
                    </a:p>
                    <a:p>
                      <a:pPr>
                        <a:buNone/>
                      </a:pPr>
                      <a:r>
                        <a:rPr lang="en-US" sz="1800" noProof="1">
                          <a:latin typeface="Arial" panose="020B0604020202020204" pitchFamily="34" charset="0"/>
                          <a:cs typeface="Arial" panose="020B0604020202020204" pitchFamily="34" charset="0"/>
                        </a:rPr>
                        <a:t>Pembaruan faktor lingkungan perusahaan (Enterprise environmental factor updates)</a:t>
                      </a:r>
                    </a:p>
                    <a:p>
                      <a:pPr>
                        <a:buNone/>
                      </a:pPr>
                      <a:r>
                        <a:rPr lang="en-US" sz="1800" noProof="1">
                          <a:latin typeface="Arial" panose="020B0604020202020204" pitchFamily="34" charset="0"/>
                          <a:cs typeface="Arial" panose="020B0604020202020204" pitchFamily="34" charset="0"/>
                        </a:rPr>
                        <a:t>Pembaruan aset proses organisasi (Organizational process assets updates)</a:t>
                      </a:r>
                    </a:p>
                    <a:p>
                      <a:pPr>
                        <a:buNone/>
                      </a:pPr>
                      <a:r>
                        <a:rPr lang="en-US" sz="1800" noProof="1">
                          <a:latin typeface="Arial" panose="020B0604020202020204" pitchFamily="34" charset="0"/>
                          <a:cs typeface="Arial" panose="020B0604020202020204" pitchFamily="34" charset="0"/>
                        </a:rPr>
                        <a:t>Permintaan perubahan (Change requests)</a:t>
                      </a:r>
                    </a:p>
                  </a:txBody>
                  <a:tcPr marL="26860" marR="26860" marT="13430" marB="13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7096042"/>
                  </a:ext>
                </a:extLst>
              </a:tr>
            </a:tbl>
          </a:graphicData>
        </a:graphic>
      </p:graphicFrame>
    </p:spTree>
    <p:extLst>
      <p:ext uri="{BB962C8B-B14F-4D97-AF65-F5344CB8AC3E}">
        <p14:creationId xmlns:p14="http://schemas.microsoft.com/office/powerpoint/2010/main" val="205885114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1525536-B5D4-0E47-167B-20FED73BEDB1}"/>
              </a:ext>
            </a:extLst>
          </p:cNvPr>
          <p:cNvGraphicFramePr>
            <a:graphicFrameLocks noGrp="1"/>
          </p:cNvGraphicFramePr>
          <p:nvPr>
            <p:ph idx="1"/>
            <p:extLst>
              <p:ext uri="{D42A27DB-BD31-4B8C-83A1-F6EECF244321}">
                <p14:modId xmlns:p14="http://schemas.microsoft.com/office/powerpoint/2010/main" val="1665190788"/>
              </p:ext>
            </p:extLst>
          </p:nvPr>
        </p:nvGraphicFramePr>
        <p:xfrm>
          <a:off x="571500" y="171450"/>
          <a:ext cx="11144249" cy="4469700"/>
        </p:xfrm>
        <a:graphic>
          <a:graphicData uri="http://schemas.openxmlformats.org/drawingml/2006/table">
            <a:tbl>
              <a:tblPr/>
              <a:tblGrid>
                <a:gridCol w="2127905">
                  <a:extLst>
                    <a:ext uri="{9D8B030D-6E8A-4147-A177-3AD203B41FA5}">
                      <a16:colId xmlns:a16="http://schemas.microsoft.com/office/drawing/2014/main" val="3304991251"/>
                    </a:ext>
                  </a:extLst>
                </a:gridCol>
                <a:gridCol w="2810289">
                  <a:extLst>
                    <a:ext uri="{9D8B030D-6E8A-4147-A177-3AD203B41FA5}">
                      <a16:colId xmlns:a16="http://schemas.microsoft.com/office/drawing/2014/main" val="3756041695"/>
                    </a:ext>
                  </a:extLst>
                </a:gridCol>
                <a:gridCol w="6206055">
                  <a:extLst>
                    <a:ext uri="{9D8B030D-6E8A-4147-A177-3AD203B41FA5}">
                      <a16:colId xmlns:a16="http://schemas.microsoft.com/office/drawing/2014/main" val="1477468030"/>
                    </a:ext>
                  </a:extLst>
                </a:gridCol>
              </a:tblGrid>
              <a:tr h="532316">
                <a:tc>
                  <a:txBody>
                    <a:bodyPr/>
                    <a:lstStyle/>
                    <a:p>
                      <a:pPr algn="ctr">
                        <a:buNone/>
                      </a:pPr>
                      <a:r>
                        <a:rPr lang="en-US" sz="1800" b="1" noProof="1">
                          <a:latin typeface="Arial" panose="020B0604020202020204" pitchFamily="34" charset="0"/>
                          <a:cs typeface="Arial" panose="020B0604020202020204" pitchFamily="34" charset="0"/>
                        </a:rPr>
                        <a:t>Area Pengetahuan (Knowledge Area)</a:t>
                      </a:r>
                      <a:endParaRPr lang="en-US" sz="1800" noProof="1">
                        <a:latin typeface="Arial" panose="020B0604020202020204" pitchFamily="34" charset="0"/>
                        <a:cs typeface="Arial" panose="020B0604020202020204" pitchFamily="34" charset="0"/>
                      </a:endParaRPr>
                    </a:p>
                  </a:txBody>
                  <a:tcPr marL="26860" marR="26860" marT="13430" marB="13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1" noProof="1">
                          <a:latin typeface="Arial" panose="020B0604020202020204" pitchFamily="34" charset="0"/>
                          <a:cs typeface="Arial" panose="020B0604020202020204" pitchFamily="34" charset="0"/>
                        </a:rPr>
                        <a:t>Proses Pelaksanaan (Executing Process)</a:t>
                      </a:r>
                      <a:endParaRPr lang="en-US" sz="1800" noProof="1">
                        <a:latin typeface="Arial" panose="020B0604020202020204" pitchFamily="34" charset="0"/>
                        <a:cs typeface="Arial" panose="020B0604020202020204" pitchFamily="34" charset="0"/>
                      </a:endParaRPr>
                    </a:p>
                  </a:txBody>
                  <a:tcPr marL="26860" marR="26860" marT="13430" marB="13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1" noProof="1">
                          <a:latin typeface="Arial" panose="020B0604020202020204" pitchFamily="34" charset="0"/>
                          <a:cs typeface="Arial" panose="020B0604020202020204" pitchFamily="34" charset="0"/>
                        </a:rPr>
                        <a:t>Keluaran (Outputs)</a:t>
                      </a:r>
                      <a:endParaRPr lang="en-US" sz="1800" noProof="1">
                        <a:latin typeface="Arial" panose="020B0604020202020204" pitchFamily="34" charset="0"/>
                        <a:cs typeface="Arial" panose="020B0604020202020204" pitchFamily="34" charset="0"/>
                      </a:endParaRPr>
                    </a:p>
                  </a:txBody>
                  <a:tcPr marL="26860" marR="26860" marT="13430" marB="134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903151"/>
                  </a:ext>
                </a:extLst>
              </a:tr>
              <a:tr h="1028215">
                <a:tc>
                  <a:txBody>
                    <a:bodyPr/>
                    <a:lstStyle/>
                    <a:p>
                      <a:pPr>
                        <a:buNone/>
                      </a:pPr>
                      <a:r>
                        <a:rPr lang="en-US" sz="1800" b="1" noProof="1">
                          <a:latin typeface="Arial" panose="020B0604020202020204" pitchFamily="34" charset="0"/>
                          <a:cs typeface="Arial" panose="020B0604020202020204" pitchFamily="34" charset="0"/>
                        </a:rPr>
                        <a:t>Manajemen Komunikasi Proyek (Project Communications Management)</a:t>
                      </a:r>
                      <a:endParaRPr lang="en-US" sz="1800" noProof="1">
                        <a:latin typeface="Arial" panose="020B0604020202020204" pitchFamily="34" charset="0"/>
                        <a:cs typeface="Arial" panose="020B0604020202020204" pitchFamily="34" charset="0"/>
                      </a:endParaRPr>
                    </a:p>
                  </a:txBody>
                  <a:tcPr marL="26860" marR="26860" marT="13430" marB="13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Mendistribusikan informasi (Distribute information)Mengelola ekspektasi pemangku kepentingan (Manage stakeholders expectations)</a:t>
                      </a:r>
                    </a:p>
                  </a:txBody>
                  <a:tcPr marL="26860" marR="26860" marT="13430" marB="13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Pembaruan aset proses organisasi (Organizational process assets updates)</a:t>
                      </a:r>
                    </a:p>
                    <a:p>
                      <a:pPr>
                        <a:buNone/>
                      </a:pPr>
                      <a:r>
                        <a:rPr lang="en-US" sz="1800" noProof="1">
                          <a:latin typeface="Arial" panose="020B0604020202020204" pitchFamily="34" charset="0"/>
                          <a:cs typeface="Arial" panose="020B0604020202020204" pitchFamily="34" charset="0"/>
                        </a:rPr>
                        <a:t>Permintaan perubahan (Change requests)</a:t>
                      </a:r>
                    </a:p>
                    <a:p>
                      <a:pPr>
                        <a:buNone/>
                      </a:pPr>
                      <a:r>
                        <a:rPr lang="en-US" sz="1800" noProof="1">
                          <a:latin typeface="Arial" panose="020B0604020202020204" pitchFamily="34" charset="0"/>
                          <a:cs typeface="Arial" panose="020B0604020202020204" pitchFamily="34" charset="0"/>
                        </a:rPr>
                        <a:t>Pembaruan rencana manajemen proyek (Project management plan updates)</a:t>
                      </a:r>
                    </a:p>
                    <a:p>
                      <a:pPr>
                        <a:buNone/>
                      </a:pPr>
                      <a:r>
                        <a:rPr lang="en-US" sz="1800" noProof="1">
                          <a:latin typeface="Arial" panose="020B0604020202020204" pitchFamily="34" charset="0"/>
                          <a:cs typeface="Arial" panose="020B0604020202020204" pitchFamily="34" charset="0"/>
                        </a:rPr>
                        <a:t>Pembaruan dokumen proyek (Project document updates)</a:t>
                      </a:r>
                    </a:p>
                  </a:txBody>
                  <a:tcPr marL="26860" marR="26860" marT="13430" marB="13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2996835"/>
                  </a:ext>
                </a:extLst>
              </a:tr>
              <a:tr h="1238180">
                <a:tc>
                  <a:txBody>
                    <a:bodyPr/>
                    <a:lstStyle/>
                    <a:p>
                      <a:pPr>
                        <a:buNone/>
                      </a:pPr>
                      <a:r>
                        <a:rPr lang="en-US" sz="1800" b="1" noProof="1">
                          <a:latin typeface="Arial" panose="020B0604020202020204" pitchFamily="34" charset="0"/>
                          <a:cs typeface="Arial" panose="020B0604020202020204" pitchFamily="34" charset="0"/>
                        </a:rPr>
                        <a:t>Manajemen Pengadaan Proyek (Project Procurement Management)</a:t>
                      </a:r>
                      <a:endParaRPr lang="en-US" sz="1800" noProof="1">
                        <a:latin typeface="Arial" panose="020B0604020202020204" pitchFamily="34" charset="0"/>
                        <a:cs typeface="Arial" panose="020B0604020202020204" pitchFamily="34" charset="0"/>
                      </a:endParaRPr>
                    </a:p>
                  </a:txBody>
                  <a:tcPr marL="26860" marR="26860" marT="13430" marB="13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Melaksanakan pengadaan (Conduct procurements)</a:t>
                      </a:r>
                    </a:p>
                  </a:txBody>
                  <a:tcPr marL="26860" marR="26860" marT="13430" marB="13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Penjual terpilih (Selected sellers)</a:t>
                      </a:r>
                    </a:p>
                    <a:p>
                      <a:pPr>
                        <a:buNone/>
                      </a:pPr>
                      <a:r>
                        <a:rPr lang="en-US" sz="1800" noProof="1">
                          <a:latin typeface="Arial" panose="020B0604020202020204" pitchFamily="34" charset="0"/>
                          <a:cs typeface="Arial" panose="020B0604020202020204" pitchFamily="34" charset="0"/>
                        </a:rPr>
                        <a:t>Penghargaan kontrak pengadaan (Procurement contract award)</a:t>
                      </a:r>
                    </a:p>
                    <a:p>
                      <a:pPr>
                        <a:buNone/>
                      </a:pPr>
                      <a:r>
                        <a:rPr lang="en-US" sz="1800" noProof="1">
                          <a:latin typeface="Arial" panose="020B0604020202020204" pitchFamily="34" charset="0"/>
                          <a:cs typeface="Arial" panose="020B0604020202020204" pitchFamily="34" charset="0"/>
                        </a:rPr>
                        <a:t>Kalender sumber daya (Resource calendars)Permintaan perubahan (Change requests)</a:t>
                      </a:r>
                    </a:p>
                    <a:p>
                      <a:pPr>
                        <a:buNone/>
                      </a:pPr>
                      <a:r>
                        <a:rPr lang="en-US" sz="1800" noProof="1">
                          <a:latin typeface="Arial" panose="020B0604020202020204" pitchFamily="34" charset="0"/>
                          <a:cs typeface="Arial" panose="020B0604020202020204" pitchFamily="34" charset="0"/>
                        </a:rPr>
                        <a:t>Pembaruan rencana manajemen proyek (Project management plan updates)</a:t>
                      </a:r>
                    </a:p>
                    <a:p>
                      <a:pPr>
                        <a:buNone/>
                      </a:pPr>
                      <a:r>
                        <a:rPr lang="en-US" sz="1800" noProof="1">
                          <a:latin typeface="Arial" panose="020B0604020202020204" pitchFamily="34" charset="0"/>
                          <a:cs typeface="Arial" panose="020B0604020202020204" pitchFamily="34" charset="0"/>
                        </a:rPr>
                        <a:t>Pembaruan dokumen proyek (Project document updates)</a:t>
                      </a:r>
                    </a:p>
                  </a:txBody>
                  <a:tcPr marL="26860" marR="26860" marT="13430" marB="13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2013599"/>
                  </a:ext>
                </a:extLst>
              </a:tr>
            </a:tbl>
          </a:graphicData>
        </a:graphic>
      </p:graphicFrame>
    </p:spTree>
    <p:extLst>
      <p:ext uri="{BB962C8B-B14F-4D97-AF65-F5344CB8AC3E}">
        <p14:creationId xmlns:p14="http://schemas.microsoft.com/office/powerpoint/2010/main" val="63468205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3392B-6C25-D3D5-170E-C5C7D1ABC657}"/>
              </a:ext>
            </a:extLst>
          </p:cNvPr>
          <p:cNvSpPr>
            <a:spLocks noGrp="1"/>
          </p:cNvSpPr>
          <p:nvPr>
            <p:ph type="title"/>
          </p:nvPr>
        </p:nvSpPr>
        <p:spPr/>
        <p:txBody>
          <a:bodyPr/>
          <a:lstStyle/>
          <a:p>
            <a:pPr algn="ctr"/>
            <a:r>
              <a:rPr lang="en-US" noProof="1"/>
              <a:t>Template Pelaksanaan Proyek</a:t>
            </a:r>
          </a:p>
        </p:txBody>
      </p:sp>
      <p:graphicFrame>
        <p:nvGraphicFramePr>
          <p:cNvPr id="5" name="Content Placeholder 4">
            <a:extLst>
              <a:ext uri="{FF2B5EF4-FFF2-40B4-BE49-F238E27FC236}">
                <a16:creationId xmlns:a16="http://schemas.microsoft.com/office/drawing/2014/main" id="{819D5641-A2C2-B2FB-42EE-E4E1D56DE587}"/>
              </a:ext>
            </a:extLst>
          </p:cNvPr>
          <p:cNvGraphicFramePr>
            <a:graphicFrameLocks noGrp="1"/>
          </p:cNvGraphicFramePr>
          <p:nvPr>
            <p:ph idx="1"/>
            <p:extLst>
              <p:ext uri="{D42A27DB-BD31-4B8C-83A1-F6EECF244321}">
                <p14:modId xmlns:p14="http://schemas.microsoft.com/office/powerpoint/2010/main" val="1072642981"/>
              </p:ext>
            </p:extLst>
          </p:nvPr>
        </p:nvGraphicFramePr>
        <p:xfrm>
          <a:off x="838200" y="2103914"/>
          <a:ext cx="10515600" cy="2377440"/>
        </p:xfrm>
        <a:graphic>
          <a:graphicData uri="http://schemas.openxmlformats.org/drawingml/2006/table">
            <a:tbl>
              <a:tblPr/>
              <a:tblGrid>
                <a:gridCol w="2103120">
                  <a:extLst>
                    <a:ext uri="{9D8B030D-6E8A-4147-A177-3AD203B41FA5}">
                      <a16:colId xmlns:a16="http://schemas.microsoft.com/office/drawing/2014/main" val="1453547081"/>
                    </a:ext>
                  </a:extLst>
                </a:gridCol>
                <a:gridCol w="2103120">
                  <a:extLst>
                    <a:ext uri="{9D8B030D-6E8A-4147-A177-3AD203B41FA5}">
                      <a16:colId xmlns:a16="http://schemas.microsoft.com/office/drawing/2014/main" val="1741146305"/>
                    </a:ext>
                  </a:extLst>
                </a:gridCol>
                <a:gridCol w="2103120">
                  <a:extLst>
                    <a:ext uri="{9D8B030D-6E8A-4147-A177-3AD203B41FA5}">
                      <a16:colId xmlns:a16="http://schemas.microsoft.com/office/drawing/2014/main" val="1274523170"/>
                    </a:ext>
                  </a:extLst>
                </a:gridCol>
                <a:gridCol w="2103120">
                  <a:extLst>
                    <a:ext uri="{9D8B030D-6E8A-4147-A177-3AD203B41FA5}">
                      <a16:colId xmlns:a16="http://schemas.microsoft.com/office/drawing/2014/main" val="4084495691"/>
                    </a:ext>
                  </a:extLst>
                </a:gridCol>
                <a:gridCol w="2103120">
                  <a:extLst>
                    <a:ext uri="{9D8B030D-6E8A-4147-A177-3AD203B41FA5}">
                      <a16:colId xmlns:a16="http://schemas.microsoft.com/office/drawing/2014/main" val="2759871072"/>
                    </a:ext>
                  </a:extLst>
                </a:gridCol>
              </a:tblGrid>
              <a:tr h="0">
                <a:tc>
                  <a:txBody>
                    <a:bodyPr/>
                    <a:lstStyle/>
                    <a:p>
                      <a:pPr>
                        <a:buNone/>
                      </a:pPr>
                      <a:r>
                        <a:rPr lang="en-US" b="1" noProof="1">
                          <a:latin typeface="Arial" panose="020B0604020202020204" pitchFamily="34" charset="0"/>
                          <a:cs typeface="Arial" panose="020B0604020202020204" pitchFamily="34" charset="0"/>
                        </a:rPr>
                        <a:t>Nama Template</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Kelompok Proses (Process Group)</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Bab Digunakan (Chapter(s) Where Used)</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Perangkat Lunak Aplikasi (Application Software)</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Nama File (File Name)</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7985218"/>
                  </a:ext>
                </a:extLst>
              </a:tr>
              <a:tr h="0">
                <a:tc>
                  <a:txBody>
                    <a:bodyPr/>
                    <a:lstStyle/>
                    <a:p>
                      <a:pPr>
                        <a:buNone/>
                      </a:pPr>
                      <a:r>
                        <a:rPr lang="en-US" b="1" noProof="1">
                          <a:latin typeface="Arial" panose="020B0604020202020204" pitchFamily="34" charset="0"/>
                          <a:cs typeface="Arial" panose="020B0604020202020204" pitchFamily="34" charset="0"/>
                        </a:rPr>
                        <a:t>Laporan Milestone (Milestone Report)</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Executing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3, 6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noProof="1">
                          <a:latin typeface="Arial" panose="020B0604020202020204" pitchFamily="34" charset="0"/>
                          <a:cs typeface="Arial" panose="020B0604020202020204" pitchFamily="34" charset="0"/>
                        </a:rPr>
                        <a:t>milestone_report.doc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8945025"/>
                  </a:ext>
                </a:extLst>
              </a:tr>
            </a:tbl>
          </a:graphicData>
        </a:graphic>
      </p:graphicFrame>
    </p:spTree>
    <p:extLst>
      <p:ext uri="{BB962C8B-B14F-4D97-AF65-F5344CB8AC3E}">
        <p14:creationId xmlns:p14="http://schemas.microsoft.com/office/powerpoint/2010/main" val="360917079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304A2AEE-B812-3BC6-F234-2C97AEAAD765}"/>
              </a:ext>
            </a:extLst>
          </p:cNvPr>
          <p:cNvGraphicFramePr>
            <a:graphicFrameLocks noGrp="1"/>
          </p:cNvGraphicFramePr>
          <p:nvPr>
            <p:ph idx="1"/>
            <p:extLst>
              <p:ext uri="{D42A27DB-BD31-4B8C-83A1-F6EECF244321}">
                <p14:modId xmlns:p14="http://schemas.microsoft.com/office/powerpoint/2010/main" val="2601884813"/>
              </p:ext>
            </p:extLst>
          </p:nvPr>
        </p:nvGraphicFramePr>
        <p:xfrm>
          <a:off x="838200" y="742951"/>
          <a:ext cx="10911840" cy="5809684"/>
        </p:xfrm>
        <a:graphic>
          <a:graphicData uri="http://schemas.openxmlformats.org/drawingml/2006/table">
            <a:tbl>
              <a:tblPr/>
              <a:tblGrid>
                <a:gridCol w="3637280">
                  <a:extLst>
                    <a:ext uri="{9D8B030D-6E8A-4147-A177-3AD203B41FA5}">
                      <a16:colId xmlns:a16="http://schemas.microsoft.com/office/drawing/2014/main" val="984518259"/>
                    </a:ext>
                  </a:extLst>
                </a:gridCol>
                <a:gridCol w="3637280">
                  <a:extLst>
                    <a:ext uri="{9D8B030D-6E8A-4147-A177-3AD203B41FA5}">
                      <a16:colId xmlns:a16="http://schemas.microsoft.com/office/drawing/2014/main" val="3042187699"/>
                    </a:ext>
                  </a:extLst>
                </a:gridCol>
                <a:gridCol w="3637280">
                  <a:extLst>
                    <a:ext uri="{9D8B030D-6E8A-4147-A177-3AD203B41FA5}">
                      <a16:colId xmlns:a16="http://schemas.microsoft.com/office/drawing/2014/main" val="135256528"/>
                    </a:ext>
                  </a:extLst>
                </a:gridCol>
              </a:tblGrid>
              <a:tr h="970360">
                <a:tc>
                  <a:txBody>
                    <a:bodyPr/>
                    <a:lstStyle/>
                    <a:p>
                      <a:pPr algn="ctr">
                        <a:buNone/>
                      </a:pPr>
                      <a:r>
                        <a:rPr lang="en-US" sz="1800" b="1" noProof="1">
                          <a:latin typeface="Arial" panose="020B0604020202020204" pitchFamily="34" charset="0"/>
                          <a:cs typeface="Arial" panose="020B0604020202020204" pitchFamily="34" charset="0"/>
                        </a:rPr>
                        <a:t>Knowledge Area (Area Pengetahuan)</a:t>
                      </a:r>
                      <a:endParaRPr lang="en-US" sz="1800" noProof="1">
                        <a:latin typeface="Arial" panose="020B0604020202020204" pitchFamily="34" charset="0"/>
                        <a:cs typeface="Arial" panose="020B0604020202020204" pitchFamily="34" charset="0"/>
                      </a:endParaRPr>
                    </a:p>
                  </a:txBody>
                  <a:tcPr marL="77702" marR="77702" marT="38851" marB="38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1" noProof="1">
                          <a:latin typeface="Arial" panose="020B0604020202020204" pitchFamily="34" charset="0"/>
                          <a:cs typeface="Arial" panose="020B0604020202020204" pitchFamily="34" charset="0"/>
                        </a:rPr>
                        <a:t>Monitoring &amp; Controlling Process (Proses Monitoring &amp; Pengendalian)</a:t>
                      </a:r>
                      <a:endParaRPr lang="en-US" sz="1800" noProof="1">
                        <a:latin typeface="Arial" panose="020B0604020202020204" pitchFamily="34" charset="0"/>
                        <a:cs typeface="Arial" panose="020B0604020202020204" pitchFamily="34" charset="0"/>
                      </a:endParaRPr>
                    </a:p>
                  </a:txBody>
                  <a:tcPr marL="77702" marR="77702" marT="38851" marB="38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1" noProof="1">
                          <a:latin typeface="Arial" panose="020B0604020202020204" pitchFamily="34" charset="0"/>
                          <a:cs typeface="Arial" panose="020B0604020202020204" pitchFamily="34" charset="0"/>
                        </a:rPr>
                        <a:t>Outputs (Keluaran)</a:t>
                      </a:r>
                      <a:endParaRPr lang="en-US" sz="1800" noProof="1">
                        <a:latin typeface="Arial" panose="020B0604020202020204" pitchFamily="34" charset="0"/>
                        <a:cs typeface="Arial" panose="020B0604020202020204" pitchFamily="34" charset="0"/>
                      </a:endParaRPr>
                    </a:p>
                  </a:txBody>
                  <a:tcPr marL="77702" marR="77702" marT="38851" marB="38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8307885"/>
                  </a:ext>
                </a:extLst>
              </a:tr>
              <a:tr h="970360">
                <a:tc>
                  <a:txBody>
                    <a:bodyPr/>
                    <a:lstStyle/>
                    <a:p>
                      <a:pPr>
                        <a:buNone/>
                      </a:pPr>
                      <a:r>
                        <a:rPr lang="en-US" sz="1800" b="1" noProof="1">
                          <a:latin typeface="Arial" panose="020B0604020202020204" pitchFamily="34" charset="0"/>
                          <a:cs typeface="Arial" panose="020B0604020202020204" pitchFamily="34" charset="0"/>
                        </a:rPr>
                        <a:t>Project Integration Management</a:t>
                      </a:r>
                      <a:endParaRPr lang="en-US" sz="1800" noProof="1">
                        <a:latin typeface="Arial" panose="020B0604020202020204" pitchFamily="34" charset="0"/>
                        <a:cs typeface="Arial" panose="020B0604020202020204" pitchFamily="34" charset="0"/>
                      </a:endParaRPr>
                    </a:p>
                  </a:txBody>
                  <a:tcPr marL="77702" marR="77702" marT="38851" marB="38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noProof="1">
                          <a:latin typeface="Arial" panose="020B0604020202020204" pitchFamily="34" charset="0"/>
                          <a:cs typeface="Arial" panose="020B0604020202020204" pitchFamily="34" charset="0"/>
                        </a:rPr>
                        <a:t>Monitor and control project work</a:t>
                      </a:r>
                      <a:r>
                        <a:rPr lang="en-US" sz="1800" noProof="1">
                          <a:latin typeface="Arial" panose="020B0604020202020204" pitchFamily="34" charset="0"/>
                          <a:cs typeface="Arial" panose="020B0604020202020204" pitchFamily="34" charset="0"/>
                        </a:rPr>
                        <a:t> (memantau &amp; mengendalikan pekerjaan proyek)</a:t>
                      </a:r>
                    </a:p>
                  </a:txBody>
                  <a:tcPr marL="77702" marR="77702" marT="38851" marB="38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noProof="1">
                          <a:latin typeface="Arial" panose="020B0604020202020204" pitchFamily="34" charset="0"/>
                          <a:cs typeface="Arial" panose="020B0604020202020204" pitchFamily="34" charset="0"/>
                        </a:rPr>
                        <a:t>Change requests</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Project management plan updates</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Project document updates</a:t>
                      </a:r>
                      <a:endParaRPr lang="en-US" sz="1800" noProof="1">
                        <a:latin typeface="Arial" panose="020B0604020202020204" pitchFamily="34" charset="0"/>
                        <a:cs typeface="Arial" panose="020B0604020202020204" pitchFamily="34" charset="0"/>
                      </a:endParaRPr>
                    </a:p>
                  </a:txBody>
                  <a:tcPr marL="77702" marR="77702" marT="38851" marB="38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944106"/>
                  </a:ext>
                </a:extLst>
              </a:tr>
              <a:tr h="970360">
                <a:tc>
                  <a:txBody>
                    <a:bodyPr/>
                    <a:lstStyle/>
                    <a:p>
                      <a:pPr>
                        <a:buNone/>
                      </a:pPr>
                      <a:r>
                        <a:rPr lang="en-US" sz="1800" b="1" noProof="1">
                          <a:latin typeface="Arial" panose="020B0604020202020204" pitchFamily="34" charset="0"/>
                          <a:cs typeface="Arial" panose="020B0604020202020204" pitchFamily="34" charset="0"/>
                        </a:rPr>
                        <a:t>Project Integration Management</a:t>
                      </a:r>
                      <a:endParaRPr lang="en-US" sz="1800" noProof="1">
                        <a:latin typeface="Arial" panose="020B0604020202020204" pitchFamily="34" charset="0"/>
                        <a:cs typeface="Arial" panose="020B0604020202020204" pitchFamily="34" charset="0"/>
                      </a:endParaRPr>
                    </a:p>
                  </a:txBody>
                  <a:tcPr marL="77702" marR="77702" marT="38851" marB="38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noProof="1">
                          <a:latin typeface="Arial" panose="020B0604020202020204" pitchFamily="34" charset="0"/>
                          <a:cs typeface="Arial" panose="020B0604020202020204" pitchFamily="34" charset="0"/>
                        </a:rPr>
                        <a:t>Perform integrated change control</a:t>
                      </a:r>
                      <a:r>
                        <a:rPr lang="en-US" sz="1800" noProof="1">
                          <a:latin typeface="Arial" panose="020B0604020202020204" pitchFamily="34" charset="0"/>
                          <a:cs typeface="Arial" panose="020B0604020202020204" pitchFamily="34" charset="0"/>
                        </a:rPr>
                        <a:t> (melakukan pengendalian perubahan terintegrasi)</a:t>
                      </a:r>
                    </a:p>
                  </a:txBody>
                  <a:tcPr marL="77702" marR="77702" marT="38851" marB="38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noProof="1">
                          <a:latin typeface="Arial" panose="020B0604020202020204" pitchFamily="34" charset="0"/>
                          <a:cs typeface="Arial" panose="020B0604020202020204" pitchFamily="34" charset="0"/>
                        </a:rPr>
                        <a:t>Change request status updates</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Project management plan updates</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Project document updates</a:t>
                      </a:r>
                      <a:endParaRPr lang="en-US" sz="1800" noProof="1">
                        <a:latin typeface="Arial" panose="020B0604020202020204" pitchFamily="34" charset="0"/>
                        <a:cs typeface="Arial" panose="020B0604020202020204" pitchFamily="34" charset="0"/>
                      </a:endParaRPr>
                    </a:p>
                  </a:txBody>
                  <a:tcPr marL="77702" marR="77702" marT="38851" marB="38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5254847"/>
                  </a:ext>
                </a:extLst>
              </a:tr>
              <a:tr h="970360">
                <a:tc>
                  <a:txBody>
                    <a:bodyPr/>
                    <a:lstStyle/>
                    <a:p>
                      <a:pPr>
                        <a:buNone/>
                      </a:pPr>
                      <a:r>
                        <a:rPr lang="en-US" sz="1800" b="1" noProof="1">
                          <a:latin typeface="Arial" panose="020B0604020202020204" pitchFamily="34" charset="0"/>
                          <a:cs typeface="Arial" panose="020B0604020202020204" pitchFamily="34" charset="0"/>
                        </a:rPr>
                        <a:t>Project Scope Management</a:t>
                      </a:r>
                      <a:endParaRPr lang="en-US" sz="1800" noProof="1">
                        <a:latin typeface="Arial" panose="020B0604020202020204" pitchFamily="34" charset="0"/>
                        <a:cs typeface="Arial" panose="020B0604020202020204" pitchFamily="34" charset="0"/>
                      </a:endParaRPr>
                    </a:p>
                  </a:txBody>
                  <a:tcPr marL="77702" marR="77702" marT="38851" marB="38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noProof="1">
                          <a:latin typeface="Arial" panose="020B0604020202020204" pitchFamily="34" charset="0"/>
                          <a:cs typeface="Arial" panose="020B0604020202020204" pitchFamily="34" charset="0"/>
                        </a:rPr>
                        <a:t>Verify scope</a:t>
                      </a:r>
                      <a:r>
                        <a:rPr lang="en-US" sz="1800" noProof="1">
                          <a:latin typeface="Arial" panose="020B0604020202020204" pitchFamily="34" charset="0"/>
                          <a:cs typeface="Arial" panose="020B0604020202020204" pitchFamily="34" charset="0"/>
                        </a:rPr>
                        <a:t> (verifikasi ruang lingkup)</a:t>
                      </a:r>
                    </a:p>
                  </a:txBody>
                  <a:tcPr marL="77702" marR="77702" marT="38851" marB="38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noProof="1">
                          <a:latin typeface="Arial" panose="020B0604020202020204" pitchFamily="34" charset="0"/>
                          <a:cs typeface="Arial" panose="020B0604020202020204" pitchFamily="34" charset="0"/>
                        </a:rPr>
                        <a:t>Accepted deliverables</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Change requests</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Project document updates</a:t>
                      </a:r>
                      <a:endParaRPr lang="en-US" sz="1800" noProof="1">
                        <a:latin typeface="Arial" panose="020B0604020202020204" pitchFamily="34" charset="0"/>
                        <a:cs typeface="Arial" panose="020B0604020202020204" pitchFamily="34" charset="0"/>
                      </a:endParaRPr>
                    </a:p>
                  </a:txBody>
                  <a:tcPr marL="77702" marR="77702" marT="38851" marB="38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6742585"/>
                  </a:ext>
                </a:extLst>
              </a:tr>
              <a:tr h="1552575">
                <a:tc>
                  <a:txBody>
                    <a:bodyPr/>
                    <a:lstStyle/>
                    <a:p>
                      <a:pPr>
                        <a:buNone/>
                      </a:pPr>
                      <a:r>
                        <a:rPr lang="en-US" sz="1800" b="1" noProof="1">
                          <a:latin typeface="Arial" panose="020B0604020202020204" pitchFamily="34" charset="0"/>
                          <a:cs typeface="Arial" panose="020B0604020202020204" pitchFamily="34" charset="0"/>
                        </a:rPr>
                        <a:t>Project Scope Management</a:t>
                      </a:r>
                      <a:endParaRPr lang="en-US" sz="1800" noProof="1">
                        <a:latin typeface="Arial" panose="020B0604020202020204" pitchFamily="34" charset="0"/>
                        <a:cs typeface="Arial" panose="020B0604020202020204" pitchFamily="34" charset="0"/>
                      </a:endParaRPr>
                    </a:p>
                  </a:txBody>
                  <a:tcPr marL="77702" marR="77702" marT="38851" marB="38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noProof="1">
                          <a:latin typeface="Arial" panose="020B0604020202020204" pitchFamily="34" charset="0"/>
                          <a:cs typeface="Arial" panose="020B0604020202020204" pitchFamily="34" charset="0"/>
                        </a:rPr>
                        <a:t>Control scope</a:t>
                      </a:r>
                      <a:r>
                        <a:rPr lang="en-US" sz="1800" noProof="1">
                          <a:latin typeface="Arial" panose="020B0604020202020204" pitchFamily="34" charset="0"/>
                          <a:cs typeface="Arial" panose="020B0604020202020204" pitchFamily="34" charset="0"/>
                        </a:rPr>
                        <a:t> (pengendalian ruang lingkup)</a:t>
                      </a:r>
                    </a:p>
                  </a:txBody>
                  <a:tcPr marL="77702" marR="77702" marT="38851" marB="38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noProof="1">
                          <a:latin typeface="Arial" panose="020B0604020202020204" pitchFamily="34" charset="0"/>
                          <a:cs typeface="Arial" panose="020B0604020202020204" pitchFamily="34" charset="0"/>
                        </a:rPr>
                        <a:t>Work performance measurements</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Organizational process assets updates</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Change requests</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Project management plan updates</a:t>
                      </a:r>
                      <a:r>
                        <a:rPr lang="en-US" sz="1800" noProof="1">
                          <a:latin typeface="Arial" panose="020B0604020202020204" pitchFamily="34" charset="0"/>
                          <a:cs typeface="Arial" panose="020B0604020202020204" pitchFamily="34" charset="0"/>
                        </a:rPr>
                        <a:t>; </a:t>
                      </a:r>
                      <a:r>
                        <a:rPr lang="en-US" sz="1800" b="1" noProof="1">
                          <a:latin typeface="Arial" panose="020B0604020202020204" pitchFamily="34" charset="0"/>
                          <a:cs typeface="Arial" panose="020B0604020202020204" pitchFamily="34" charset="0"/>
                        </a:rPr>
                        <a:t>Project document updates</a:t>
                      </a:r>
                      <a:endParaRPr lang="en-US" sz="1800" noProof="1">
                        <a:latin typeface="Arial" panose="020B0604020202020204" pitchFamily="34" charset="0"/>
                        <a:cs typeface="Arial" panose="020B0604020202020204" pitchFamily="34" charset="0"/>
                      </a:endParaRPr>
                    </a:p>
                  </a:txBody>
                  <a:tcPr marL="77702" marR="77702" marT="38851" marB="388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864743"/>
                  </a:ext>
                </a:extLst>
              </a:tr>
            </a:tbl>
          </a:graphicData>
        </a:graphic>
      </p:graphicFrame>
      <p:sp>
        <p:nvSpPr>
          <p:cNvPr id="5" name="TextBox 4">
            <a:extLst>
              <a:ext uri="{FF2B5EF4-FFF2-40B4-BE49-F238E27FC236}">
                <a16:creationId xmlns:a16="http://schemas.microsoft.com/office/drawing/2014/main" id="{03B48895-33DF-37B5-E6BA-09ED2DE7F893}"/>
              </a:ext>
            </a:extLst>
          </p:cNvPr>
          <p:cNvSpPr txBox="1"/>
          <p:nvPr/>
        </p:nvSpPr>
        <p:spPr>
          <a:xfrm>
            <a:off x="838200" y="158234"/>
            <a:ext cx="7334250" cy="369332"/>
          </a:xfrm>
          <a:prstGeom prst="rect">
            <a:avLst/>
          </a:prstGeom>
          <a:noFill/>
        </p:spPr>
        <p:txBody>
          <a:bodyPr wrap="square">
            <a:spAutoFit/>
          </a:bodyPr>
          <a:lstStyle/>
          <a:p>
            <a:r>
              <a:rPr lang="en-US" noProof="1">
                <a:latin typeface="Arial" panose="020B0604020202020204" pitchFamily="34" charset="0"/>
                <a:cs typeface="Arial" panose="020B0604020202020204" pitchFamily="34" charset="0"/>
              </a:rPr>
              <a:t>TABEL 3-13 — Proses Monitoring &amp; Controlling dan Output</a:t>
            </a:r>
          </a:p>
        </p:txBody>
      </p:sp>
    </p:spTree>
    <p:extLst>
      <p:ext uri="{BB962C8B-B14F-4D97-AF65-F5344CB8AC3E}">
        <p14:creationId xmlns:p14="http://schemas.microsoft.com/office/powerpoint/2010/main" val="340892675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DDCB5F41-7B3B-B6C7-25EA-5AAC8750E551}"/>
              </a:ext>
            </a:extLst>
          </p:cNvPr>
          <p:cNvGraphicFramePr>
            <a:graphicFrameLocks noGrp="1"/>
          </p:cNvGraphicFramePr>
          <p:nvPr>
            <p:ph idx="1"/>
            <p:extLst>
              <p:ext uri="{D42A27DB-BD31-4B8C-83A1-F6EECF244321}">
                <p14:modId xmlns:p14="http://schemas.microsoft.com/office/powerpoint/2010/main" val="1200590002"/>
              </p:ext>
            </p:extLst>
          </p:nvPr>
        </p:nvGraphicFramePr>
        <p:xfrm>
          <a:off x="285750" y="537658"/>
          <a:ext cx="11670030" cy="6103012"/>
        </p:xfrm>
        <a:graphic>
          <a:graphicData uri="http://schemas.openxmlformats.org/drawingml/2006/table">
            <a:tbl>
              <a:tblPr/>
              <a:tblGrid>
                <a:gridCol w="2103120">
                  <a:extLst>
                    <a:ext uri="{9D8B030D-6E8A-4147-A177-3AD203B41FA5}">
                      <a16:colId xmlns:a16="http://schemas.microsoft.com/office/drawing/2014/main" val="1831636538"/>
                    </a:ext>
                  </a:extLst>
                </a:gridCol>
                <a:gridCol w="3474720">
                  <a:extLst>
                    <a:ext uri="{9D8B030D-6E8A-4147-A177-3AD203B41FA5}">
                      <a16:colId xmlns:a16="http://schemas.microsoft.com/office/drawing/2014/main" val="1904484598"/>
                    </a:ext>
                  </a:extLst>
                </a:gridCol>
                <a:gridCol w="6092190">
                  <a:extLst>
                    <a:ext uri="{9D8B030D-6E8A-4147-A177-3AD203B41FA5}">
                      <a16:colId xmlns:a16="http://schemas.microsoft.com/office/drawing/2014/main" val="545817542"/>
                    </a:ext>
                  </a:extLst>
                </a:gridCol>
              </a:tblGrid>
              <a:tr h="520448">
                <a:tc>
                  <a:txBody>
                    <a:bodyPr/>
                    <a:lstStyle/>
                    <a:p>
                      <a:pPr>
                        <a:buNone/>
                      </a:pPr>
                      <a:r>
                        <a:rPr lang="en-US" sz="1600" b="1" noProof="1">
                          <a:latin typeface="Arial" panose="020B0604020202020204" pitchFamily="34" charset="0"/>
                          <a:cs typeface="Arial" panose="020B0604020202020204" pitchFamily="34" charset="0"/>
                        </a:rPr>
                        <a:t>Knowledge Area (Area Pengetahuan)</a:t>
                      </a:r>
                      <a:endParaRPr lang="en-US" sz="1600" noProof="1">
                        <a:latin typeface="Arial" panose="020B0604020202020204" pitchFamily="34" charset="0"/>
                        <a:cs typeface="Arial" panose="020B0604020202020204" pitchFamily="34" charset="0"/>
                      </a:endParaRP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Monitoring &amp; Controlling Process (Proses Monitoring &amp; Pengendalian)</a:t>
                      </a:r>
                      <a:endParaRPr lang="en-US" sz="1600" noProof="1">
                        <a:latin typeface="Arial" panose="020B0604020202020204" pitchFamily="34" charset="0"/>
                        <a:cs typeface="Arial" panose="020B0604020202020204" pitchFamily="34" charset="0"/>
                      </a:endParaRP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Outputs (Keluaran)</a:t>
                      </a:r>
                      <a:endParaRPr lang="en-US" sz="1600" noProof="1">
                        <a:latin typeface="Arial" panose="020B0604020202020204" pitchFamily="34" charset="0"/>
                        <a:cs typeface="Arial" panose="020B0604020202020204" pitchFamily="34" charset="0"/>
                      </a:endParaRP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9342915"/>
                  </a:ext>
                </a:extLst>
              </a:tr>
              <a:tr h="991122">
                <a:tc>
                  <a:txBody>
                    <a:bodyPr/>
                    <a:lstStyle/>
                    <a:p>
                      <a:pPr>
                        <a:buNone/>
                      </a:pPr>
                      <a:r>
                        <a:rPr lang="en-US" sz="1600" b="1" noProof="1">
                          <a:latin typeface="Arial" panose="020B0604020202020204" pitchFamily="34" charset="0"/>
                          <a:cs typeface="Arial" panose="020B0604020202020204" pitchFamily="34" charset="0"/>
                        </a:rPr>
                        <a:t>Project Time Management</a:t>
                      </a:r>
                      <a:endParaRPr lang="en-US" sz="1600" noProof="1">
                        <a:latin typeface="Arial" panose="020B0604020202020204" pitchFamily="34" charset="0"/>
                        <a:cs typeface="Arial" panose="020B0604020202020204" pitchFamily="34" charset="0"/>
                      </a:endParaRP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Control schedule</a:t>
                      </a:r>
                      <a:r>
                        <a:rPr lang="en-US" sz="1600" noProof="1">
                          <a:latin typeface="Arial" panose="020B0604020202020204" pitchFamily="34" charset="0"/>
                          <a:cs typeface="Arial" panose="020B0604020202020204" pitchFamily="34" charset="0"/>
                        </a:rPr>
                        <a:t> (mengendalikan jadwal)</a:t>
                      </a: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Work performance measurements; Organizational process assets updates; Change requests; Project management plan updates; Project document updates</a:t>
                      </a: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8722639"/>
                  </a:ext>
                </a:extLst>
              </a:tr>
              <a:tr h="896586">
                <a:tc>
                  <a:txBody>
                    <a:bodyPr/>
                    <a:lstStyle/>
                    <a:p>
                      <a:pPr>
                        <a:buNone/>
                      </a:pPr>
                      <a:r>
                        <a:rPr lang="en-US" sz="1600" b="1" noProof="1">
                          <a:latin typeface="Arial" panose="020B0604020202020204" pitchFamily="34" charset="0"/>
                          <a:cs typeface="Arial" panose="020B0604020202020204" pitchFamily="34" charset="0"/>
                        </a:rPr>
                        <a:t>Project Cost Management</a:t>
                      </a:r>
                      <a:endParaRPr lang="en-US" sz="1600" noProof="1">
                        <a:latin typeface="Arial" panose="020B0604020202020204" pitchFamily="34" charset="0"/>
                        <a:cs typeface="Arial" panose="020B0604020202020204" pitchFamily="34" charset="0"/>
                      </a:endParaRP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Control cost</a:t>
                      </a:r>
                      <a:r>
                        <a:rPr lang="en-US" sz="1600" noProof="1">
                          <a:latin typeface="Arial" panose="020B0604020202020204" pitchFamily="34" charset="0"/>
                          <a:cs typeface="Arial" panose="020B0604020202020204" pitchFamily="34" charset="0"/>
                        </a:rPr>
                        <a:t> (mengendalikan biaya)</a:t>
                      </a: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Work performance measurements; Budget forecasts; Organizational process assets updates; Change requests; Project management plan updates; Project document updates</a:t>
                      </a: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4121396"/>
                  </a:ext>
                </a:extLst>
              </a:tr>
              <a:tr h="971550">
                <a:tc>
                  <a:txBody>
                    <a:bodyPr/>
                    <a:lstStyle/>
                    <a:p>
                      <a:pPr>
                        <a:buNone/>
                      </a:pPr>
                      <a:r>
                        <a:rPr lang="en-US" sz="1600" b="1" noProof="1">
                          <a:latin typeface="Arial" panose="020B0604020202020204" pitchFamily="34" charset="0"/>
                          <a:cs typeface="Arial" panose="020B0604020202020204" pitchFamily="34" charset="0"/>
                        </a:rPr>
                        <a:t>Project Quality Management</a:t>
                      </a:r>
                      <a:endParaRPr lang="en-US" sz="1600" noProof="1">
                        <a:latin typeface="Arial" panose="020B0604020202020204" pitchFamily="34" charset="0"/>
                        <a:cs typeface="Arial" panose="020B0604020202020204" pitchFamily="34" charset="0"/>
                      </a:endParaRP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Perform quality control</a:t>
                      </a:r>
                      <a:r>
                        <a:rPr lang="en-US" sz="1600" noProof="1">
                          <a:latin typeface="Arial" panose="020B0604020202020204" pitchFamily="34" charset="0"/>
                          <a:cs typeface="Arial" panose="020B0604020202020204" pitchFamily="34" charset="0"/>
                        </a:rPr>
                        <a:t> (melakukan pengendalian kualitas)</a:t>
                      </a: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Quality control measurements; Validated deliverables; Organizational process assets updates; Change requests; Project management plan updates; Project document updates</a:t>
                      </a: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0852480"/>
                  </a:ext>
                </a:extLst>
              </a:tr>
              <a:tr h="520448">
                <a:tc>
                  <a:txBody>
                    <a:bodyPr/>
                    <a:lstStyle/>
                    <a:p>
                      <a:pPr>
                        <a:buNone/>
                      </a:pPr>
                      <a:r>
                        <a:rPr lang="en-US" sz="1600" b="1" noProof="1">
                          <a:latin typeface="Arial" panose="020B0604020202020204" pitchFamily="34" charset="0"/>
                          <a:cs typeface="Arial" panose="020B0604020202020204" pitchFamily="34" charset="0"/>
                        </a:rPr>
                        <a:t>Project Communications Management</a:t>
                      </a:r>
                      <a:endParaRPr lang="en-US" sz="1600" noProof="1">
                        <a:latin typeface="Arial" panose="020B0604020202020204" pitchFamily="34" charset="0"/>
                        <a:cs typeface="Arial" panose="020B0604020202020204" pitchFamily="34" charset="0"/>
                      </a:endParaRP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Report performance</a:t>
                      </a:r>
                      <a:r>
                        <a:rPr lang="en-US" sz="1600" noProof="1">
                          <a:latin typeface="Arial" panose="020B0604020202020204" pitchFamily="34" charset="0"/>
                          <a:cs typeface="Arial" panose="020B0604020202020204" pitchFamily="34" charset="0"/>
                        </a:rPr>
                        <a:t> (melaporkan kinerja)</a:t>
                      </a: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Performance reports; Organizational process assets updates; Change requests</a:t>
                      </a: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2530899"/>
                  </a:ext>
                </a:extLst>
              </a:tr>
              <a:tr h="859456">
                <a:tc>
                  <a:txBody>
                    <a:bodyPr/>
                    <a:lstStyle/>
                    <a:p>
                      <a:pPr>
                        <a:buNone/>
                      </a:pPr>
                      <a:r>
                        <a:rPr lang="en-US" sz="1600" b="1" noProof="1">
                          <a:latin typeface="Arial" panose="020B0604020202020204" pitchFamily="34" charset="0"/>
                          <a:cs typeface="Arial" panose="020B0604020202020204" pitchFamily="34" charset="0"/>
                        </a:rPr>
                        <a:t>Project Risk Management</a:t>
                      </a:r>
                      <a:endParaRPr lang="en-US" sz="1600" noProof="1">
                        <a:latin typeface="Arial" panose="020B0604020202020204" pitchFamily="34" charset="0"/>
                        <a:cs typeface="Arial" panose="020B0604020202020204" pitchFamily="34" charset="0"/>
                      </a:endParaRP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Monitor and control risks</a:t>
                      </a:r>
                      <a:r>
                        <a:rPr lang="en-US" sz="1600" noProof="1">
                          <a:latin typeface="Arial" panose="020B0604020202020204" pitchFamily="34" charset="0"/>
                          <a:cs typeface="Arial" panose="020B0604020202020204" pitchFamily="34" charset="0"/>
                        </a:rPr>
                        <a:t> (memantau &amp; mengendalikan risiko)</a:t>
                      </a: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Risk register updates; Organizational process assets updates; Change requests; Project management plan updates; Project document updates</a:t>
                      </a: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5274650"/>
                  </a:ext>
                </a:extLst>
              </a:tr>
              <a:tr h="834230">
                <a:tc>
                  <a:txBody>
                    <a:bodyPr/>
                    <a:lstStyle/>
                    <a:p>
                      <a:pPr>
                        <a:buNone/>
                      </a:pPr>
                      <a:r>
                        <a:rPr lang="en-US" sz="1600" b="1" noProof="1">
                          <a:latin typeface="Arial" panose="020B0604020202020204" pitchFamily="34" charset="0"/>
                          <a:cs typeface="Arial" panose="020B0604020202020204" pitchFamily="34" charset="0"/>
                        </a:rPr>
                        <a:t>Project Procurement Management</a:t>
                      </a:r>
                      <a:endParaRPr lang="en-US" sz="1600" noProof="1">
                        <a:latin typeface="Arial" panose="020B0604020202020204" pitchFamily="34" charset="0"/>
                        <a:cs typeface="Arial" panose="020B0604020202020204" pitchFamily="34" charset="0"/>
                      </a:endParaRP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Administer procurements</a:t>
                      </a:r>
                      <a:r>
                        <a:rPr lang="en-US" sz="1600" noProof="1">
                          <a:latin typeface="Arial" panose="020B0604020202020204" pitchFamily="34" charset="0"/>
                          <a:cs typeface="Arial" panose="020B0604020202020204" pitchFamily="34" charset="0"/>
                        </a:rPr>
                        <a:t> (mengelola pelaksanaan pengadaan)</a:t>
                      </a: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Procurement documentation; Organizational process assets updates; Change requests; Project management plan updates</a:t>
                      </a:r>
                    </a:p>
                  </a:txBody>
                  <a:tcPr marL="43513" marR="43513" marT="21757" marB="217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3476691"/>
                  </a:ext>
                </a:extLst>
              </a:tr>
            </a:tbl>
          </a:graphicData>
        </a:graphic>
      </p:graphicFrame>
      <p:sp>
        <p:nvSpPr>
          <p:cNvPr id="7" name="TextBox 6">
            <a:extLst>
              <a:ext uri="{FF2B5EF4-FFF2-40B4-BE49-F238E27FC236}">
                <a16:creationId xmlns:a16="http://schemas.microsoft.com/office/drawing/2014/main" id="{55484577-517F-DE58-168D-901F9F48C37A}"/>
              </a:ext>
            </a:extLst>
          </p:cNvPr>
          <p:cNvSpPr txBox="1"/>
          <p:nvPr/>
        </p:nvSpPr>
        <p:spPr>
          <a:xfrm>
            <a:off x="838200" y="168325"/>
            <a:ext cx="7311390" cy="369332"/>
          </a:xfrm>
          <a:prstGeom prst="rect">
            <a:avLst/>
          </a:prstGeom>
          <a:noFill/>
        </p:spPr>
        <p:txBody>
          <a:bodyPr wrap="square">
            <a:spAutoFit/>
          </a:bodyPr>
          <a:lstStyle/>
          <a:p>
            <a:r>
              <a:rPr lang="en-US" noProof="1">
                <a:latin typeface="Arial" panose="020B0604020202020204" pitchFamily="34" charset="0"/>
                <a:cs typeface="Arial" panose="020B0604020202020204" pitchFamily="34" charset="0"/>
              </a:rPr>
              <a:t>TABEL 3-13 — Proses Monitoring &amp; Controlling dan Output (lanjutan)</a:t>
            </a:r>
          </a:p>
        </p:txBody>
      </p:sp>
    </p:spTree>
    <p:extLst>
      <p:ext uri="{BB962C8B-B14F-4D97-AF65-F5344CB8AC3E}">
        <p14:creationId xmlns:p14="http://schemas.microsoft.com/office/powerpoint/2010/main" val="375696448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AAB5E-331F-D80D-8BCE-5F42752181BB}"/>
              </a:ext>
            </a:extLst>
          </p:cNvPr>
          <p:cNvSpPr>
            <a:spLocks noGrp="1"/>
          </p:cNvSpPr>
          <p:nvPr>
            <p:ph type="title"/>
          </p:nvPr>
        </p:nvSpPr>
        <p:spPr/>
        <p:txBody>
          <a:bodyPr/>
          <a:lstStyle/>
          <a:p>
            <a:pPr algn="ctr"/>
            <a:r>
              <a:rPr lang="en-US" noProof="1"/>
              <a:t>Template Pemantauan dan Pengendalian Proyek</a:t>
            </a:r>
          </a:p>
        </p:txBody>
      </p:sp>
      <p:graphicFrame>
        <p:nvGraphicFramePr>
          <p:cNvPr id="4" name="Content Placeholder 3">
            <a:extLst>
              <a:ext uri="{FF2B5EF4-FFF2-40B4-BE49-F238E27FC236}">
                <a16:creationId xmlns:a16="http://schemas.microsoft.com/office/drawing/2014/main" id="{3213FE3B-8FCA-A6AF-C1DF-078D04667810}"/>
              </a:ext>
            </a:extLst>
          </p:cNvPr>
          <p:cNvGraphicFramePr>
            <a:graphicFrameLocks noGrp="1"/>
          </p:cNvGraphicFramePr>
          <p:nvPr>
            <p:ph idx="1"/>
            <p:extLst>
              <p:ext uri="{D42A27DB-BD31-4B8C-83A1-F6EECF244321}">
                <p14:modId xmlns:p14="http://schemas.microsoft.com/office/powerpoint/2010/main" val="3033915301"/>
              </p:ext>
            </p:extLst>
          </p:nvPr>
        </p:nvGraphicFramePr>
        <p:xfrm>
          <a:off x="491490" y="1759514"/>
          <a:ext cx="11132820" cy="4775863"/>
        </p:xfrm>
        <a:graphic>
          <a:graphicData uri="http://schemas.openxmlformats.org/drawingml/2006/table">
            <a:tbl>
              <a:tblPr/>
              <a:tblGrid>
                <a:gridCol w="3372115">
                  <a:extLst>
                    <a:ext uri="{9D8B030D-6E8A-4147-A177-3AD203B41FA5}">
                      <a16:colId xmlns:a16="http://schemas.microsoft.com/office/drawing/2014/main" val="2757204773"/>
                    </a:ext>
                  </a:extLst>
                </a:gridCol>
                <a:gridCol w="2274967">
                  <a:extLst>
                    <a:ext uri="{9D8B030D-6E8A-4147-A177-3AD203B41FA5}">
                      <a16:colId xmlns:a16="http://schemas.microsoft.com/office/drawing/2014/main" val="150907884"/>
                    </a:ext>
                  </a:extLst>
                </a:gridCol>
                <a:gridCol w="1960344">
                  <a:extLst>
                    <a:ext uri="{9D8B030D-6E8A-4147-A177-3AD203B41FA5}">
                      <a16:colId xmlns:a16="http://schemas.microsoft.com/office/drawing/2014/main" val="1942789692"/>
                    </a:ext>
                  </a:extLst>
                </a:gridCol>
                <a:gridCol w="1839336">
                  <a:extLst>
                    <a:ext uri="{9D8B030D-6E8A-4147-A177-3AD203B41FA5}">
                      <a16:colId xmlns:a16="http://schemas.microsoft.com/office/drawing/2014/main" val="3588590785"/>
                    </a:ext>
                  </a:extLst>
                </a:gridCol>
                <a:gridCol w="1686058">
                  <a:extLst>
                    <a:ext uri="{9D8B030D-6E8A-4147-A177-3AD203B41FA5}">
                      <a16:colId xmlns:a16="http://schemas.microsoft.com/office/drawing/2014/main" val="2511482001"/>
                    </a:ext>
                  </a:extLst>
                </a:gridCol>
              </a:tblGrid>
              <a:tr h="958769">
                <a:tc>
                  <a:txBody>
                    <a:bodyPr/>
                    <a:lstStyle/>
                    <a:p>
                      <a:pPr algn="ctr">
                        <a:buNone/>
                      </a:pPr>
                      <a:r>
                        <a:rPr lang="en-US" sz="1800" b="1" noProof="1">
                          <a:latin typeface="Arial" panose="020B0604020202020204" pitchFamily="34" charset="0"/>
                          <a:cs typeface="Arial" panose="020B0604020202020204" pitchFamily="34" charset="0"/>
                        </a:rPr>
                        <a:t>Nama Template (Template Name)</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1" noProof="1">
                          <a:latin typeface="Arial" panose="020B0604020202020204" pitchFamily="34" charset="0"/>
                          <a:cs typeface="Arial" panose="020B0604020202020204" pitchFamily="34" charset="0"/>
                        </a:rPr>
                        <a:t>Kelompok Proses (Process Group)</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1" noProof="1">
                          <a:latin typeface="Arial" panose="020B0604020202020204" pitchFamily="34" charset="0"/>
                          <a:cs typeface="Arial" panose="020B0604020202020204" pitchFamily="34" charset="0"/>
                        </a:rPr>
                        <a:t>Bab Digunakan (Chapter(s) Where Used)</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1" noProof="1">
                          <a:latin typeface="Arial" panose="020B0604020202020204" pitchFamily="34" charset="0"/>
                          <a:cs typeface="Arial" panose="020B0604020202020204" pitchFamily="34" charset="0"/>
                        </a:rPr>
                        <a:t>Perangkat Lunak Aplikasi (Application Software)</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1" noProof="1">
                          <a:latin typeface="Arial" panose="020B0604020202020204" pitchFamily="34" charset="0"/>
                          <a:cs typeface="Arial" panose="020B0604020202020204" pitchFamily="34" charset="0"/>
                        </a:rPr>
                        <a:t>Nama File (File Name)</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1877512"/>
                  </a:ext>
                </a:extLst>
              </a:tr>
              <a:tr h="958769">
                <a:tc>
                  <a:txBody>
                    <a:bodyPr/>
                    <a:lstStyle/>
                    <a:p>
                      <a:pPr>
                        <a:buNone/>
                      </a:pPr>
                      <a:r>
                        <a:rPr lang="en-US" sz="1800" b="1" noProof="1">
                          <a:latin typeface="Arial" panose="020B0604020202020204" pitchFamily="34" charset="0"/>
                          <a:cs typeface="Arial" panose="020B0604020202020204" pitchFamily="34" charset="0"/>
                        </a:rPr>
                        <a:t>Formulir Permintaan Perubahan (Change Request Form)</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Planning; Monitoring and Controlling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4</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Word</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change_request.doc</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5304620"/>
                  </a:ext>
                </a:extLst>
              </a:tr>
              <a:tr h="516260">
                <a:tc>
                  <a:txBody>
                    <a:bodyPr/>
                    <a:lstStyle/>
                    <a:p>
                      <a:pPr>
                        <a:buNone/>
                      </a:pPr>
                      <a:r>
                        <a:rPr lang="en-US" sz="1800" b="1" noProof="1">
                          <a:latin typeface="Arial" panose="020B0604020202020204" pitchFamily="34" charset="0"/>
                          <a:cs typeface="Arial" panose="020B0604020202020204" pitchFamily="34" charset="0"/>
                        </a:rPr>
                        <a:t>Laporan Kemajuan (Progress Report)</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Monitoring and Controlling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3, 10</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Word</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progress_report.doc</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6110516"/>
                  </a:ext>
                </a:extLst>
              </a:tr>
              <a:tr h="1401278">
                <a:tc>
                  <a:txBody>
                    <a:bodyPr/>
                    <a:lstStyle/>
                    <a:p>
                      <a:pPr>
                        <a:buNone/>
                      </a:pPr>
                      <a:r>
                        <a:rPr lang="en-US" sz="1800" b="1" noProof="1">
                          <a:latin typeface="Arial" panose="020B0604020202020204" pitchFamily="34" charset="0"/>
                          <a:cs typeface="Arial" panose="020B0604020202020204" pitchFamily="34" charset="0"/>
                        </a:rPr>
                        <a:t>Matriks Manajemen Ekspektasi (Expectations Management Matrix)</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Monitoring and Controlling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10</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Word</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expectations.doc</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8561938"/>
                  </a:ext>
                </a:extLst>
              </a:tr>
              <a:tr h="516260">
                <a:tc>
                  <a:txBody>
                    <a:bodyPr/>
                    <a:lstStyle/>
                    <a:p>
                      <a:pPr>
                        <a:buNone/>
                      </a:pPr>
                      <a:r>
                        <a:rPr lang="en-US" sz="1800" b="1" noProof="1">
                          <a:latin typeface="Arial" panose="020B0604020202020204" pitchFamily="34" charset="0"/>
                          <a:cs typeface="Arial" panose="020B0604020202020204" pitchFamily="34" charset="0"/>
                        </a:rPr>
                        <a:t>Log Isu (Issue Log)</a:t>
                      </a:r>
                      <a:endParaRPr lang="en-US" sz="18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Monitoring and Controlling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10</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Word</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noProof="1">
                          <a:latin typeface="Arial" panose="020B0604020202020204" pitchFamily="34" charset="0"/>
                          <a:cs typeface="Arial" panose="020B0604020202020204" pitchFamily="34" charset="0"/>
                        </a:rPr>
                        <a:t>issue_log.doc</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913039"/>
                  </a:ext>
                </a:extLst>
              </a:tr>
            </a:tbl>
          </a:graphicData>
        </a:graphic>
      </p:graphicFrame>
    </p:spTree>
    <p:extLst>
      <p:ext uri="{BB962C8B-B14F-4D97-AF65-F5344CB8AC3E}">
        <p14:creationId xmlns:p14="http://schemas.microsoft.com/office/powerpoint/2010/main" val="356177895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E9407-AE3F-4AD4-F106-E9296E245029}"/>
              </a:ext>
            </a:extLst>
          </p:cNvPr>
          <p:cNvSpPr>
            <a:spLocks noGrp="1"/>
          </p:cNvSpPr>
          <p:nvPr>
            <p:ph type="title"/>
          </p:nvPr>
        </p:nvSpPr>
        <p:spPr/>
        <p:txBody>
          <a:bodyPr/>
          <a:lstStyle/>
          <a:p>
            <a:pPr algn="ctr"/>
            <a:r>
              <a:rPr lang="en-US" noProof="1"/>
              <a:t>Template Pemantauan dan Pengendalian Proyek</a:t>
            </a:r>
          </a:p>
        </p:txBody>
      </p:sp>
      <p:graphicFrame>
        <p:nvGraphicFramePr>
          <p:cNvPr id="4" name="Content Placeholder 3">
            <a:extLst>
              <a:ext uri="{FF2B5EF4-FFF2-40B4-BE49-F238E27FC236}">
                <a16:creationId xmlns:a16="http://schemas.microsoft.com/office/drawing/2014/main" id="{2197FEE2-7184-E432-EBF9-055AF26EEC00}"/>
              </a:ext>
            </a:extLst>
          </p:cNvPr>
          <p:cNvGraphicFramePr>
            <a:graphicFrameLocks noGrp="1"/>
          </p:cNvGraphicFramePr>
          <p:nvPr>
            <p:ph idx="1"/>
            <p:extLst>
              <p:ext uri="{D42A27DB-BD31-4B8C-83A1-F6EECF244321}">
                <p14:modId xmlns:p14="http://schemas.microsoft.com/office/powerpoint/2010/main" val="2777886216"/>
              </p:ext>
            </p:extLst>
          </p:nvPr>
        </p:nvGraphicFramePr>
        <p:xfrm>
          <a:off x="605790" y="1736654"/>
          <a:ext cx="11075670" cy="4509438"/>
        </p:xfrm>
        <a:graphic>
          <a:graphicData uri="http://schemas.openxmlformats.org/drawingml/2006/table">
            <a:tbl>
              <a:tblPr/>
              <a:tblGrid>
                <a:gridCol w="3028950">
                  <a:extLst>
                    <a:ext uri="{9D8B030D-6E8A-4147-A177-3AD203B41FA5}">
                      <a16:colId xmlns:a16="http://schemas.microsoft.com/office/drawing/2014/main" val="268088067"/>
                    </a:ext>
                  </a:extLst>
                </a:gridCol>
                <a:gridCol w="2137410">
                  <a:extLst>
                    <a:ext uri="{9D8B030D-6E8A-4147-A177-3AD203B41FA5}">
                      <a16:colId xmlns:a16="http://schemas.microsoft.com/office/drawing/2014/main" val="3170331895"/>
                    </a:ext>
                  </a:extLst>
                </a:gridCol>
                <a:gridCol w="2240280">
                  <a:extLst>
                    <a:ext uri="{9D8B030D-6E8A-4147-A177-3AD203B41FA5}">
                      <a16:colId xmlns:a16="http://schemas.microsoft.com/office/drawing/2014/main" val="2082552237"/>
                    </a:ext>
                  </a:extLst>
                </a:gridCol>
                <a:gridCol w="2114550">
                  <a:extLst>
                    <a:ext uri="{9D8B030D-6E8A-4147-A177-3AD203B41FA5}">
                      <a16:colId xmlns:a16="http://schemas.microsoft.com/office/drawing/2014/main" val="1374390832"/>
                    </a:ext>
                  </a:extLst>
                </a:gridCol>
                <a:gridCol w="1554480">
                  <a:extLst>
                    <a:ext uri="{9D8B030D-6E8A-4147-A177-3AD203B41FA5}">
                      <a16:colId xmlns:a16="http://schemas.microsoft.com/office/drawing/2014/main" val="965322102"/>
                    </a:ext>
                  </a:extLst>
                </a:gridCol>
              </a:tblGrid>
              <a:tr h="958769">
                <a:tc>
                  <a:txBody>
                    <a:bodyPr/>
                    <a:lstStyle/>
                    <a:p>
                      <a:pPr>
                        <a:buNone/>
                      </a:pPr>
                      <a:r>
                        <a:rPr lang="en-US" sz="1600" b="1" noProof="1">
                          <a:latin typeface="Arial" panose="020B0604020202020204" pitchFamily="34" charset="0"/>
                          <a:cs typeface="Arial" panose="020B0604020202020204" pitchFamily="34" charset="0"/>
                        </a:rPr>
                        <a:t>Nama Template (Template Name)</a:t>
                      </a:r>
                      <a:endParaRPr lang="en-US" sz="16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Kelompok Proses (Process Group)</a:t>
                      </a:r>
                      <a:endParaRPr lang="en-US" sz="16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Bab Digunakan (Chapter(s) Where Used)</a:t>
                      </a:r>
                      <a:endParaRPr lang="en-US" sz="16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Perangkat Lunak Aplikasi (Application Software)</a:t>
                      </a:r>
                      <a:endParaRPr lang="en-US" sz="16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noProof="1">
                          <a:latin typeface="Arial" panose="020B0604020202020204" pitchFamily="34" charset="0"/>
                          <a:cs typeface="Arial" panose="020B0604020202020204" pitchFamily="34" charset="0"/>
                        </a:rPr>
                        <a:t>Nama File (File Name)</a:t>
                      </a:r>
                      <a:endParaRPr lang="en-US" sz="16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5076011"/>
                  </a:ext>
                </a:extLst>
              </a:tr>
              <a:tr h="1180024">
                <a:tc>
                  <a:txBody>
                    <a:bodyPr/>
                    <a:lstStyle/>
                    <a:p>
                      <a:pPr>
                        <a:buNone/>
                      </a:pPr>
                      <a:r>
                        <a:rPr lang="en-US" sz="1600" b="1" noProof="1">
                          <a:latin typeface="Arial" panose="020B0604020202020204" pitchFamily="34" charset="0"/>
                          <a:cs typeface="Arial" panose="020B0604020202020204" pitchFamily="34" charset="0"/>
                        </a:rPr>
                        <a:t>Matriks Probabilitas/Dampak (Probability/Impact Matrix)</a:t>
                      </a:r>
                      <a:endParaRPr lang="en-US" sz="16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Planning, Executing, Monitoring and Controlling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11</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PowerPoint</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prob_impact_matrix.ppt</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890021"/>
                  </a:ext>
                </a:extLst>
              </a:tr>
              <a:tr h="737515">
                <a:tc>
                  <a:txBody>
                    <a:bodyPr/>
                    <a:lstStyle/>
                    <a:p>
                      <a:pPr>
                        <a:buNone/>
                      </a:pPr>
                      <a:r>
                        <a:rPr lang="en-US" sz="1600" b="1" noProof="1">
                          <a:latin typeface="Arial" panose="020B0604020202020204" pitchFamily="34" charset="0"/>
                          <a:cs typeface="Arial" panose="020B0604020202020204" pitchFamily="34" charset="0"/>
                        </a:rPr>
                        <a:t>Daftar Risiko yang Diprioritaskan (List of Prioritized Risks)</a:t>
                      </a:r>
                      <a:endParaRPr lang="en-US" sz="16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Planning, Executing, Monitoring and Controlling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3, 11</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Word</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list_of_risks.doc</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84628"/>
                  </a:ext>
                </a:extLst>
              </a:tr>
              <a:tr h="737515">
                <a:tc>
                  <a:txBody>
                    <a:bodyPr/>
                    <a:lstStyle/>
                    <a:p>
                      <a:pPr>
                        <a:buNone/>
                      </a:pPr>
                      <a:r>
                        <a:rPr lang="en-US" sz="1600" b="1" noProof="1">
                          <a:latin typeface="Arial" panose="020B0604020202020204" pitchFamily="34" charset="0"/>
                          <a:cs typeface="Arial" panose="020B0604020202020204" pitchFamily="34" charset="0"/>
                        </a:rPr>
                        <a:t>Register Risiko (Risk Register)</a:t>
                      </a:r>
                      <a:endParaRPr lang="en-US" sz="16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Planning, Monitoring and Controlling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11</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Excel</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risk_register.xls</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625377"/>
                  </a:ext>
                </a:extLst>
              </a:tr>
              <a:tr h="737515">
                <a:tc>
                  <a:txBody>
                    <a:bodyPr/>
                    <a:lstStyle/>
                    <a:p>
                      <a:pPr>
                        <a:buNone/>
                      </a:pPr>
                      <a:r>
                        <a:rPr lang="en-US" sz="1600" b="1" noProof="1">
                          <a:latin typeface="Arial" panose="020B0604020202020204" pitchFamily="34" charset="0"/>
                          <a:cs typeface="Arial" panose="020B0604020202020204" pitchFamily="34" charset="0"/>
                        </a:rPr>
                        <a:t>Pelacakan 10 Risiko Teratas (Top 10 Risk Item Tracking)</a:t>
                      </a:r>
                      <a:endParaRPr lang="en-US" sz="1600" noProof="1">
                        <a:latin typeface="Arial" panose="020B0604020202020204" pitchFamily="34" charset="0"/>
                        <a:cs typeface="Arial" panose="020B0604020202020204" pitchFamily="34" charset="0"/>
                      </a:endParaRP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Planning, Monitoring and Controlling</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11</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Excel</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noProof="1">
                          <a:latin typeface="Arial" panose="020B0604020202020204" pitchFamily="34" charset="0"/>
                          <a:cs typeface="Arial" panose="020B0604020202020204" pitchFamily="34" charset="0"/>
                        </a:rPr>
                        <a:t>top_10.xls</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0608244"/>
                  </a:ext>
                </a:extLst>
              </a:tr>
            </a:tbl>
          </a:graphicData>
        </a:graphic>
      </p:graphicFrame>
    </p:spTree>
    <p:extLst>
      <p:ext uri="{BB962C8B-B14F-4D97-AF65-F5344CB8AC3E}">
        <p14:creationId xmlns:p14="http://schemas.microsoft.com/office/powerpoint/2010/main" val="140550470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F3C9E33-700B-3ED2-4ECC-11FF02C7D880}"/>
              </a:ext>
            </a:extLst>
          </p:cNvPr>
          <p:cNvGraphicFramePr>
            <a:graphicFrameLocks noGrp="1"/>
          </p:cNvGraphicFramePr>
          <p:nvPr>
            <p:ph idx="1"/>
            <p:extLst>
              <p:ext uri="{D42A27DB-BD31-4B8C-83A1-F6EECF244321}">
                <p14:modId xmlns:p14="http://schemas.microsoft.com/office/powerpoint/2010/main" val="1305748307"/>
              </p:ext>
            </p:extLst>
          </p:nvPr>
        </p:nvGraphicFramePr>
        <p:xfrm>
          <a:off x="838200" y="2012474"/>
          <a:ext cx="10515600" cy="3291840"/>
        </p:xfrm>
        <a:graphic>
          <a:graphicData uri="http://schemas.openxmlformats.org/drawingml/2006/table">
            <a:tbl>
              <a:tblPr/>
              <a:tblGrid>
                <a:gridCol w="2693670">
                  <a:extLst>
                    <a:ext uri="{9D8B030D-6E8A-4147-A177-3AD203B41FA5}">
                      <a16:colId xmlns:a16="http://schemas.microsoft.com/office/drawing/2014/main" val="3341049444"/>
                    </a:ext>
                  </a:extLst>
                </a:gridCol>
                <a:gridCol w="3177540">
                  <a:extLst>
                    <a:ext uri="{9D8B030D-6E8A-4147-A177-3AD203B41FA5}">
                      <a16:colId xmlns:a16="http://schemas.microsoft.com/office/drawing/2014/main" val="2863569963"/>
                    </a:ext>
                  </a:extLst>
                </a:gridCol>
                <a:gridCol w="4644390">
                  <a:extLst>
                    <a:ext uri="{9D8B030D-6E8A-4147-A177-3AD203B41FA5}">
                      <a16:colId xmlns:a16="http://schemas.microsoft.com/office/drawing/2014/main" val="825468612"/>
                    </a:ext>
                  </a:extLst>
                </a:gridCol>
              </a:tblGrid>
              <a:tr h="0">
                <a:tc>
                  <a:txBody>
                    <a:bodyPr/>
                    <a:lstStyle/>
                    <a:p>
                      <a:pPr algn="ctr">
                        <a:buNone/>
                      </a:pPr>
                      <a:r>
                        <a:rPr lang="en-US" b="1" noProof="1">
                          <a:latin typeface="Arial" panose="020B0604020202020204" pitchFamily="34" charset="0"/>
                          <a:cs typeface="Arial" panose="020B0604020202020204" pitchFamily="34" charset="0"/>
                        </a:rPr>
                        <a:t>Knowledge Area (Area Pengetahuan)</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noProof="1">
                          <a:latin typeface="Arial" panose="020B0604020202020204" pitchFamily="34" charset="0"/>
                          <a:cs typeface="Arial" panose="020B0604020202020204" pitchFamily="34" charset="0"/>
                        </a:rPr>
                        <a:t>Closing Process (Proses Penutupan)</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noProof="1">
                          <a:latin typeface="Arial" panose="020B0604020202020204" pitchFamily="34" charset="0"/>
                          <a:cs typeface="Arial" panose="020B0604020202020204" pitchFamily="34" charset="0"/>
                        </a:rPr>
                        <a:t>Outputs (Keluaran)</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9235558"/>
                  </a:ext>
                </a:extLst>
              </a:tr>
              <a:tr h="0">
                <a:tc>
                  <a:txBody>
                    <a:bodyPr/>
                    <a:lstStyle/>
                    <a:p>
                      <a:pPr>
                        <a:buNone/>
                      </a:pPr>
                      <a:r>
                        <a:rPr lang="en-US" b="1" noProof="1">
                          <a:latin typeface="Arial" panose="020B0604020202020204" pitchFamily="34" charset="0"/>
                          <a:cs typeface="Arial" panose="020B0604020202020204" pitchFamily="34" charset="0"/>
                        </a:rPr>
                        <a:t>Project Integration Management</a:t>
                      </a:r>
                      <a:endParaRPr lang="en-US" noProof="1">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Close project or phase</a:t>
                      </a:r>
                      <a:r>
                        <a:rPr lang="en-US" noProof="1">
                          <a:latin typeface="Arial" panose="020B0604020202020204" pitchFamily="34" charset="0"/>
                          <a:cs typeface="Arial" panose="020B0604020202020204" pitchFamily="34" charset="0"/>
                        </a:rPr>
                        <a:t> (menutup proyek atau fase)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Final product, service, or result transition</a:t>
                      </a:r>
                      <a:r>
                        <a:rPr lang="en-US" noProof="1">
                          <a:latin typeface="Arial" panose="020B0604020202020204" pitchFamily="34" charset="0"/>
                          <a:cs typeface="Arial" panose="020B0604020202020204" pitchFamily="34" charset="0"/>
                        </a:rPr>
                        <a:t> (transisi produk/layanan/hasil akhir); </a:t>
                      </a:r>
                      <a:r>
                        <a:rPr lang="en-US" b="1" noProof="1">
                          <a:latin typeface="Arial" panose="020B0604020202020204" pitchFamily="34" charset="0"/>
                          <a:cs typeface="Arial" panose="020B0604020202020204" pitchFamily="34" charset="0"/>
                        </a:rPr>
                        <a:t>Organizational process assets updates</a:t>
                      </a:r>
                      <a:r>
                        <a:rPr lang="en-US" noProof="1">
                          <a:latin typeface="Arial" panose="020B0604020202020204" pitchFamily="34" charset="0"/>
                          <a:cs typeface="Arial" panose="020B0604020202020204" pitchFamily="34" charset="0"/>
                        </a:rPr>
                        <a:t> (pembaruan aset proses organisasi)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3496062"/>
                  </a:ext>
                </a:extLst>
              </a:tr>
              <a:tr h="0">
                <a:tc>
                  <a:txBody>
                    <a:bodyPr/>
                    <a:lstStyle/>
                    <a:p>
                      <a:pPr>
                        <a:buNone/>
                      </a:pPr>
                      <a:r>
                        <a:rPr lang="en-US" b="1" noProof="1">
                          <a:latin typeface="Arial" panose="020B0604020202020204" pitchFamily="34" charset="0"/>
                          <a:cs typeface="Arial" panose="020B0604020202020204" pitchFamily="34" charset="0"/>
                        </a:rPr>
                        <a:t>Project Procurement Management</a:t>
                      </a:r>
                      <a:endParaRPr lang="en-US" noProof="1">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Close procurements</a:t>
                      </a:r>
                      <a:r>
                        <a:rPr lang="en-US" noProof="1">
                          <a:latin typeface="Arial" panose="020B0604020202020204" pitchFamily="34" charset="0"/>
                          <a:cs typeface="Arial" panose="020B0604020202020204" pitchFamily="34" charset="0"/>
                        </a:rPr>
                        <a:t> (menutup pengadaan)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Closed procurements</a:t>
                      </a:r>
                      <a:r>
                        <a:rPr lang="en-US" noProof="1">
                          <a:latin typeface="Arial" panose="020B0604020202020204" pitchFamily="34" charset="0"/>
                          <a:cs typeface="Arial" panose="020B0604020202020204" pitchFamily="34" charset="0"/>
                        </a:rPr>
                        <a:t> (pengadaan yang telah ditutup); </a:t>
                      </a:r>
                      <a:r>
                        <a:rPr lang="en-US" b="1" noProof="1">
                          <a:latin typeface="Arial" panose="020B0604020202020204" pitchFamily="34" charset="0"/>
                          <a:cs typeface="Arial" panose="020B0604020202020204" pitchFamily="34" charset="0"/>
                        </a:rPr>
                        <a:t>Organizational process assets updates</a:t>
                      </a:r>
                      <a:r>
                        <a:rPr lang="en-US" noProof="1">
                          <a:latin typeface="Arial" panose="020B0604020202020204" pitchFamily="34" charset="0"/>
                          <a:cs typeface="Arial" panose="020B0604020202020204" pitchFamily="34" charset="0"/>
                        </a:rPr>
                        <a:t> (pembaruan aset proses organisasi)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708118"/>
                  </a:ext>
                </a:extLst>
              </a:tr>
            </a:tbl>
          </a:graphicData>
        </a:graphic>
      </p:graphicFrame>
      <p:sp>
        <p:nvSpPr>
          <p:cNvPr id="6" name="TextBox 5">
            <a:extLst>
              <a:ext uri="{FF2B5EF4-FFF2-40B4-BE49-F238E27FC236}">
                <a16:creationId xmlns:a16="http://schemas.microsoft.com/office/drawing/2014/main" id="{4168D6A3-70D2-8FAD-3728-AF60FE4B147F}"/>
              </a:ext>
            </a:extLst>
          </p:cNvPr>
          <p:cNvSpPr txBox="1"/>
          <p:nvPr/>
        </p:nvSpPr>
        <p:spPr>
          <a:xfrm>
            <a:off x="838200" y="1369020"/>
            <a:ext cx="6097904" cy="369332"/>
          </a:xfrm>
          <a:prstGeom prst="rect">
            <a:avLst/>
          </a:prstGeom>
          <a:noFill/>
        </p:spPr>
        <p:txBody>
          <a:bodyPr wrap="square">
            <a:spAutoFit/>
          </a:bodyPr>
          <a:lstStyle/>
          <a:p>
            <a:r>
              <a:rPr lang="en-US" noProof="1">
                <a:latin typeface="Arial" panose="020B0604020202020204" pitchFamily="34" charset="0"/>
                <a:cs typeface="Arial" panose="020B0604020202020204" pitchFamily="34" charset="0"/>
              </a:rPr>
              <a:t>Tabel 3-15 Proses Penutupan dan Keluaran</a:t>
            </a:r>
          </a:p>
        </p:txBody>
      </p:sp>
    </p:spTree>
    <p:extLst>
      <p:ext uri="{BB962C8B-B14F-4D97-AF65-F5344CB8AC3E}">
        <p14:creationId xmlns:p14="http://schemas.microsoft.com/office/powerpoint/2010/main" val="170962003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82ADA-A221-E1DF-CB66-5FBD7D8727AE}"/>
              </a:ext>
            </a:extLst>
          </p:cNvPr>
          <p:cNvSpPr>
            <a:spLocks noGrp="1"/>
          </p:cNvSpPr>
          <p:nvPr>
            <p:ph type="title"/>
          </p:nvPr>
        </p:nvSpPr>
        <p:spPr/>
        <p:txBody>
          <a:bodyPr/>
          <a:lstStyle/>
          <a:p>
            <a:pPr algn="ctr"/>
            <a:r>
              <a:rPr lang="en-US" noProof="1"/>
              <a:t>Template Penutupan Proyek</a:t>
            </a:r>
          </a:p>
        </p:txBody>
      </p:sp>
      <p:graphicFrame>
        <p:nvGraphicFramePr>
          <p:cNvPr id="4" name="Content Placeholder 3">
            <a:extLst>
              <a:ext uri="{FF2B5EF4-FFF2-40B4-BE49-F238E27FC236}">
                <a16:creationId xmlns:a16="http://schemas.microsoft.com/office/drawing/2014/main" id="{4A5B6C95-1C31-F0DA-AAD8-AD53939F5205}"/>
              </a:ext>
            </a:extLst>
          </p:cNvPr>
          <p:cNvGraphicFramePr>
            <a:graphicFrameLocks noGrp="1"/>
          </p:cNvGraphicFramePr>
          <p:nvPr>
            <p:ph idx="1"/>
            <p:extLst>
              <p:ext uri="{D42A27DB-BD31-4B8C-83A1-F6EECF244321}">
                <p14:modId xmlns:p14="http://schemas.microsoft.com/office/powerpoint/2010/main" val="3996090617"/>
              </p:ext>
            </p:extLst>
          </p:nvPr>
        </p:nvGraphicFramePr>
        <p:xfrm>
          <a:off x="838200" y="1977390"/>
          <a:ext cx="10934700" cy="4982481"/>
        </p:xfrm>
        <a:graphic>
          <a:graphicData uri="http://schemas.openxmlformats.org/drawingml/2006/table">
            <a:tbl>
              <a:tblPr/>
              <a:tblGrid>
                <a:gridCol w="2186940">
                  <a:extLst>
                    <a:ext uri="{9D8B030D-6E8A-4147-A177-3AD203B41FA5}">
                      <a16:colId xmlns:a16="http://schemas.microsoft.com/office/drawing/2014/main" val="3493439254"/>
                    </a:ext>
                  </a:extLst>
                </a:gridCol>
                <a:gridCol w="2186940">
                  <a:extLst>
                    <a:ext uri="{9D8B030D-6E8A-4147-A177-3AD203B41FA5}">
                      <a16:colId xmlns:a16="http://schemas.microsoft.com/office/drawing/2014/main" val="3273096278"/>
                    </a:ext>
                  </a:extLst>
                </a:gridCol>
                <a:gridCol w="2186940">
                  <a:extLst>
                    <a:ext uri="{9D8B030D-6E8A-4147-A177-3AD203B41FA5}">
                      <a16:colId xmlns:a16="http://schemas.microsoft.com/office/drawing/2014/main" val="400354836"/>
                    </a:ext>
                  </a:extLst>
                </a:gridCol>
                <a:gridCol w="1996440">
                  <a:extLst>
                    <a:ext uri="{9D8B030D-6E8A-4147-A177-3AD203B41FA5}">
                      <a16:colId xmlns:a16="http://schemas.microsoft.com/office/drawing/2014/main" val="2983792929"/>
                    </a:ext>
                  </a:extLst>
                </a:gridCol>
                <a:gridCol w="2377440">
                  <a:extLst>
                    <a:ext uri="{9D8B030D-6E8A-4147-A177-3AD203B41FA5}">
                      <a16:colId xmlns:a16="http://schemas.microsoft.com/office/drawing/2014/main" val="332060266"/>
                    </a:ext>
                  </a:extLst>
                </a:gridCol>
              </a:tblGrid>
              <a:tr h="1690641">
                <a:tc>
                  <a:txBody>
                    <a:bodyPr/>
                    <a:lstStyle/>
                    <a:p>
                      <a:pPr algn="ctr">
                        <a:buNone/>
                      </a:pPr>
                      <a:r>
                        <a:rPr lang="en-US" b="1" noProof="1">
                          <a:latin typeface="Arial" panose="020B0604020202020204" pitchFamily="34" charset="0"/>
                          <a:cs typeface="Arial" panose="020B0604020202020204" pitchFamily="34" charset="0"/>
                        </a:rPr>
                        <a:t>Template Name (Nama Template)</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noProof="1">
                          <a:latin typeface="Arial" panose="020B0604020202020204" pitchFamily="34" charset="0"/>
                          <a:cs typeface="Arial" panose="020B0604020202020204" pitchFamily="34" charset="0"/>
                        </a:rPr>
                        <a:t>Process Group (Kelompok Proses)</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noProof="1">
                          <a:latin typeface="Arial" panose="020B0604020202020204" pitchFamily="34" charset="0"/>
                          <a:cs typeface="Arial" panose="020B0604020202020204" pitchFamily="34" charset="0"/>
                        </a:rPr>
                        <a:t>Chapter(s) Where Used (Bab yang Digunakan)</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noProof="1">
                          <a:latin typeface="Arial" panose="020B0604020202020204" pitchFamily="34" charset="0"/>
                          <a:cs typeface="Arial" panose="020B0604020202020204" pitchFamily="34" charset="0"/>
                        </a:rPr>
                        <a:t>Application Software (Perangkat Lunak Aplikasi)</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noProof="1">
                          <a:latin typeface="Arial" panose="020B0604020202020204" pitchFamily="34" charset="0"/>
                          <a:cs typeface="Arial" panose="020B0604020202020204" pitchFamily="34" charset="0"/>
                        </a:rPr>
                        <a:t>File Name (Nama File)</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9379551"/>
                  </a:ext>
                </a:extLst>
              </a:tr>
              <a:tr h="520197">
                <a:tc>
                  <a:txBody>
                    <a:bodyPr/>
                    <a:lstStyle/>
                    <a:p>
                      <a:pPr>
                        <a:buNone/>
                      </a:pPr>
                      <a:r>
                        <a:rPr lang="en-US" b="1" noProof="1">
                          <a:latin typeface="Arial" panose="020B0604020202020204" pitchFamily="34" charset="0"/>
                          <a:cs typeface="Arial" panose="020B0604020202020204" pitchFamily="34" charset="0"/>
                        </a:rPr>
                        <a:t>Formulir Penerimaan Klien (Client Acceptance Form)</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Closing</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3</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Word</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client_acceptance.doc</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7648208"/>
                  </a:ext>
                </a:extLst>
              </a:tr>
              <a:tr h="910345">
                <a:tc>
                  <a:txBody>
                    <a:bodyPr/>
                    <a:lstStyle/>
                    <a:p>
                      <a:pPr>
                        <a:buNone/>
                      </a:pPr>
                      <a:r>
                        <a:rPr lang="en-US" b="1" noProof="1">
                          <a:latin typeface="Arial" panose="020B0604020202020204" pitchFamily="34" charset="0"/>
                          <a:cs typeface="Arial" panose="020B0604020202020204" pitchFamily="34" charset="0"/>
                        </a:rPr>
                        <a:t>Laporan Akhir Proyek (Final Project Report)</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Closing</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3</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Word</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final_report.doc</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3457480"/>
                  </a:ext>
                </a:extLst>
              </a:tr>
              <a:tr h="910345">
                <a:tc>
                  <a:txBody>
                    <a:bodyPr/>
                    <a:lstStyle/>
                    <a:p>
                      <a:pPr>
                        <a:buNone/>
                      </a:pPr>
                      <a:r>
                        <a:rPr lang="en-US" b="1" noProof="1">
                          <a:latin typeface="Arial" panose="020B0604020202020204" pitchFamily="34" charset="0"/>
                          <a:cs typeface="Arial" panose="020B0604020202020204" pitchFamily="34" charset="0"/>
                        </a:rPr>
                        <a:t>Laporan Lessons Learned (Lessons-Learned Report)</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Closing</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3</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Word</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noProof="1">
                          <a:latin typeface="Arial" panose="020B0604020202020204" pitchFamily="34" charset="0"/>
                          <a:cs typeface="Arial" panose="020B0604020202020204" pitchFamily="34" charset="0"/>
                        </a:rPr>
                        <a:t>lessons_learned.doc</a:t>
                      </a:r>
                      <a:endParaRPr lang="en-US" noProof="1">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7621396"/>
                  </a:ext>
                </a:extLst>
              </a:tr>
            </a:tbl>
          </a:graphicData>
        </a:graphic>
      </p:graphicFrame>
    </p:spTree>
    <p:extLst>
      <p:ext uri="{BB962C8B-B14F-4D97-AF65-F5344CB8AC3E}">
        <p14:creationId xmlns:p14="http://schemas.microsoft.com/office/powerpoint/2010/main" val="409709645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1DF7E-9D9F-88A1-B442-B7230A79C659}"/>
              </a:ext>
            </a:extLst>
          </p:cNvPr>
          <p:cNvSpPr>
            <a:spLocks noGrp="1"/>
          </p:cNvSpPr>
          <p:nvPr>
            <p:ph type="title"/>
          </p:nvPr>
        </p:nvSpPr>
        <p:spPr/>
        <p:txBody>
          <a:bodyPr/>
          <a:lstStyle/>
          <a:p>
            <a:pPr algn="ctr"/>
            <a:r>
              <a:rPr lang="en-US" noProof="1"/>
              <a:t>Templates</a:t>
            </a:r>
          </a:p>
        </p:txBody>
      </p:sp>
      <p:sp>
        <p:nvSpPr>
          <p:cNvPr id="3" name="Content Placeholder 2">
            <a:extLst>
              <a:ext uri="{FF2B5EF4-FFF2-40B4-BE49-F238E27FC236}">
                <a16:creationId xmlns:a16="http://schemas.microsoft.com/office/drawing/2014/main" id="{AF05866E-BFD8-6C0A-7F02-2E925C9C73B0}"/>
              </a:ext>
            </a:extLst>
          </p:cNvPr>
          <p:cNvSpPr>
            <a:spLocks noGrp="1"/>
          </p:cNvSpPr>
          <p:nvPr>
            <p:ph idx="1"/>
          </p:nvPr>
        </p:nvSpPr>
        <p:spPr/>
        <p:txBody>
          <a:bodyPr/>
          <a:lstStyle/>
          <a:p>
            <a:r>
              <a:rPr lang="en-US" b="1" noProof="1"/>
              <a:t>Tabel 3-18</a:t>
            </a:r>
            <a:r>
              <a:rPr lang="en-US" noProof="1"/>
              <a:t> pada </a:t>
            </a:r>
            <a:r>
              <a:rPr lang="en-US" b="1" noProof="1"/>
              <a:t>halaman 118–121</a:t>
            </a:r>
            <a:r>
              <a:rPr lang="en-US" noProof="1"/>
              <a:t> mencantumkan </a:t>
            </a:r>
            <a:r>
              <a:rPr lang="en-US" b="1" noProof="1"/>
              <a:t>template yang tersedia di:</a:t>
            </a:r>
            <a:endParaRPr lang="en-US" noProof="1"/>
          </a:p>
          <a:p>
            <a:pPr lvl="1"/>
            <a:r>
              <a:rPr lang="en-US" noProof="1"/>
              <a:t>http://www.kathyschwalbe.com</a:t>
            </a:r>
          </a:p>
          <a:p>
            <a:pPr lvl="1"/>
            <a:r>
              <a:rPr lang="en-US" noProof="1"/>
              <a:t>http://pmtexts.com/my-books/it-pm-book/</a:t>
            </a:r>
          </a:p>
          <a:p>
            <a:pPr marL="0" indent="0">
              <a:buNone/>
            </a:pPr>
            <a:endParaRPr lang="en-US" noProof="1"/>
          </a:p>
        </p:txBody>
      </p:sp>
    </p:spTree>
    <p:extLst>
      <p:ext uri="{BB962C8B-B14F-4D97-AF65-F5344CB8AC3E}">
        <p14:creationId xmlns:p14="http://schemas.microsoft.com/office/powerpoint/2010/main" val="875124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56*376"/>
  <p:tag name="TABLE_ENDDRAG_RECT" val="37*143*856*37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1725</TotalTime>
  <Words>13325</Words>
  <Application>Microsoft Office PowerPoint</Application>
  <PresentationFormat>Widescreen</PresentationFormat>
  <Paragraphs>1789</Paragraphs>
  <Slides>113</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113</vt:i4>
      </vt:variant>
    </vt:vector>
  </HeadingPairs>
  <TitlesOfParts>
    <vt:vector size="118" baseType="lpstr">
      <vt:lpstr>Aptos</vt:lpstr>
      <vt:lpstr>Arial</vt:lpstr>
      <vt:lpstr>Calibri</vt:lpstr>
      <vt:lpstr>Calibri Light</vt:lpstr>
      <vt:lpstr>Office Theme</vt:lpstr>
      <vt:lpstr>IT PROJECT MANAGEMENT Semester Ganjil 2026/2027 (Pertemuan 4)</vt:lpstr>
      <vt:lpstr>PowerPoint Presentation</vt:lpstr>
      <vt:lpstr>Apa itu Proyek?</vt:lpstr>
      <vt:lpstr>Apa Itu Proyek?</vt:lpstr>
      <vt:lpstr>Karakteristik Proyek</vt:lpstr>
      <vt:lpstr>Contoh Proyek TI</vt:lpstr>
      <vt:lpstr>Proyek vs Operasional</vt:lpstr>
      <vt:lpstr>Program &amp; Portfolio</vt:lpstr>
      <vt:lpstr>Dalam perkuliahan ini,  apa peran Anda dalam Proyek? (POV yang digunakan)</vt:lpstr>
      <vt:lpstr>Peran Project Manager</vt:lpstr>
      <vt:lpstr>Diskusi</vt:lpstr>
      <vt:lpstr>Big Picture</vt:lpstr>
      <vt:lpstr>Bagaimana upaya untuk meminimalisir kegagalan Proyek?</vt:lpstr>
      <vt:lpstr>Mengembangkan Metodologi Manajemen Proyek TI (1)</vt:lpstr>
      <vt:lpstr>Mengembangkan Metodologi Manajemen Proyek TI (2)</vt:lpstr>
      <vt:lpstr>Mengembangkan Metodologi Manajemen Proyek TI (3)</vt:lpstr>
      <vt:lpstr>Mengembangkan Metodologi Manajemen Proyek TI (4)</vt:lpstr>
      <vt:lpstr>Mengembangkan Metodologi Manajemen Proyek TI (5)</vt:lpstr>
      <vt:lpstr>Mengembangkan Metodologi Manajemen Proyek TI (6)</vt:lpstr>
      <vt:lpstr>Mengembangkan Metodologi Manajemen Proyek TI (7)</vt:lpstr>
      <vt:lpstr>Preview PMBOK</vt:lpstr>
      <vt:lpstr>PowerPoint Presentation</vt:lpstr>
      <vt:lpstr>PowerPoint Presentation</vt:lpstr>
      <vt:lpstr>PowerPoint Presentation</vt:lpstr>
      <vt:lpstr>PowerPoint Presentation</vt:lpstr>
      <vt:lpstr>PowerPoint Presentation</vt:lpstr>
      <vt:lpstr>PowerPoint Presentation</vt:lpstr>
      <vt:lpstr>Kelompok Proses ≠ Fase Proyek</vt:lpstr>
      <vt:lpstr>Diskusi Kritis: Analogi Produksi Film</vt:lpstr>
      <vt:lpstr>Persentase Waktu yang Dihabiskan pada Setiap Kelompok Proses (1)</vt:lpstr>
      <vt:lpstr>Persentase Waktu yang Dihabiskan pada Setiap Kelompok Proses (2)</vt:lpstr>
      <vt:lpstr>Apa yang Salah? (1) Lumpuhnya PDNS 2 Surabaya (2024)</vt:lpstr>
      <vt:lpstr>Apa yang Salah? (2) Peluncuran Coretax DJP (2025)</vt:lpstr>
      <vt:lpstr>Apa yang Salah? (3)  Diskusi</vt:lpstr>
      <vt:lpstr>Memetakan Kelompok Proses ke Area Pengetahuan (1)</vt:lpstr>
      <vt:lpstr>Memetakan Kelompok Proses ke Area Pengetahuan (2)</vt:lpstr>
      <vt:lpstr>Pemetaan Project Management Process Groups ke Knowledge Areas (PMBOK® Guide, 4th Ed., 2008) (3)</vt:lpstr>
      <vt:lpstr>Pemetaan Project Management Process Groups ke Knowledge Areas (PMBOK® Guide, 4th Ed., 2008) (4)</vt:lpstr>
      <vt:lpstr>Apa yang baru (Sesudah PMBOK® 2008/4th Ed.)(1)</vt:lpstr>
      <vt:lpstr>Apa yang baru (Sesudah PMBOK® 2008/4th Ed.)(2)</vt:lpstr>
      <vt:lpstr>Apa yang baru (3): PMBOK® Edisi ke-8 (2025)</vt:lpstr>
      <vt:lpstr>Apakah Edisi ke-4 Masih Relevan Saat Ini?</vt:lpstr>
      <vt:lpstr>Studi Kasus (Versi PMBOK® Edisi ke-4)(1)</vt:lpstr>
      <vt:lpstr>Studi Kasus (Versi PMBOK® Edisi ke-4)(2)</vt:lpstr>
      <vt:lpstr>Studi Kasus (Versi PMBOK® Edisi ke-4)(3)</vt:lpstr>
      <vt:lpstr>Studi Kasus (Versi PMBOK® Edisi ke-7)(1)</vt:lpstr>
      <vt:lpstr>Studi Kasus (Versi PMBOK® Edisi ke-7)(2)</vt:lpstr>
      <vt:lpstr>Studi Kasus (Versi PMBOK® Edisi ke-7)(3)</vt:lpstr>
      <vt:lpstr>Apa yang Berjalan Baik? (1)</vt:lpstr>
      <vt:lpstr>Apa yang Berjalan Baik? (2)</vt:lpstr>
      <vt:lpstr>Apa yang Berjalan Baik? (4)</vt:lpstr>
      <vt:lpstr>Studi Kasus: Situs Intranet Project Management JWD Consulting (1)</vt:lpstr>
      <vt:lpstr>Pra-Inisiasi Proyek (Project Pre-initiation)(1) Langkah-langkah awal sebelum proyek dimulai secara resmi</vt:lpstr>
      <vt:lpstr>Pra-Inisiasi Proyek (Project Pre-initiation)(2) Langkah-langkah awal sebelum proyek dimulai secara resmi</vt:lpstr>
      <vt:lpstr>Pra-Inisiasi Proyek: Business Case (1)</vt:lpstr>
      <vt:lpstr>Pra-Inisiasi Proyek: Business Case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Business Case RME — RS Yogyakarta (1)</vt:lpstr>
      <vt:lpstr>Business Case RME (2): Asumsi &amp; Kebutuhan Awal</vt:lpstr>
      <vt:lpstr>Business Case RME (3): Analisis Opsi</vt:lpstr>
      <vt:lpstr>Business Case RME (4): Analisis Finansial Opsi 3</vt:lpstr>
      <vt:lpstr>Business Case RME (5): Asumsi &amp; Opsi</vt:lpstr>
      <vt:lpstr>Business Case RME (6): Jadwal &amp; Risiko</vt:lpstr>
      <vt:lpstr>Tahap Inisiasi Proyek dan Output Utama (Project Initiation Phase and Key Output)</vt:lpstr>
      <vt:lpstr>Project Communications Management Contoh: Stakeholder Register (1)</vt:lpstr>
      <vt:lpstr>Project Communications Management Contoh: Stakeholder Register (2)</vt:lpstr>
      <vt:lpstr>Project Communications Management Contoh: Stakeholder Management Strategy (1)</vt:lpstr>
      <vt:lpstr>Project Communications Management Contoh: Stakeholder Management Strategy (2)</vt:lpstr>
      <vt:lpstr>Project Communications Management Contoh: Stakeholder Management Strategy (3)</vt:lpstr>
      <vt:lpstr>Project Integration Management Project Charters and Kick-off Meetings</vt:lpstr>
      <vt:lpstr>PowerPoint Presentation</vt:lpstr>
      <vt:lpstr>PowerPoint Presentation</vt:lpstr>
      <vt:lpstr>Perencanaan Proyek (Project Planning)</vt:lpstr>
      <vt:lpstr>Contoh Scope Statement (Ringkas) — JWD</vt:lpstr>
      <vt:lpstr>Contoh WBS — Proyek Intranet JWD</vt:lpstr>
      <vt:lpstr>Bagan Gantt Dasar Proyek Situs Intranet JWD Consulting</vt:lpstr>
      <vt:lpstr>Daftar Risiko yang Diprioritaskan</vt:lpstr>
      <vt:lpstr>Project Executing (Pelaksanaan Proyek)</vt:lpstr>
      <vt:lpstr>Bagian dari Laporan Milestone</vt:lpstr>
      <vt:lpstr>Best Practice (Praktik Terbaik)</vt:lpstr>
      <vt:lpstr>Project Monitoring and Controlling (Pemantauan dan Pengendalian Proyek)</vt:lpstr>
      <vt:lpstr>Penutupan Proyek (Project Closing)</vt:lpstr>
      <vt:lpstr>Contoh Dokumen Penutupan — JWD</vt:lpstr>
      <vt:lpstr>JWD: Versi Prediktif vs Versi Agile</vt:lpstr>
      <vt:lpstr>Latihan Pemetaan Proyek: Sistem Informasi Perpustakaan Digital (1)</vt:lpstr>
      <vt:lpstr>Latihan Pemetaan Proyek: Sistem Informasi Perpustakaan Digital (2)</vt:lpstr>
      <vt:lpstr>Discussion (Diskusi)</vt:lpstr>
      <vt:lpstr>Summary (Ringkasan)</vt:lpstr>
      <vt:lpstr>References (Daftar Pustaka)</vt:lpstr>
      <vt:lpstr>Lampiran</vt:lpstr>
      <vt:lpstr>Template Pra-Inisiasi Proyek</vt:lpstr>
      <vt:lpstr>Template Inisiasi Proyek</vt:lpstr>
      <vt:lpstr>PowerPoint Presentation</vt:lpstr>
      <vt:lpstr>PowerPoint Presentation</vt:lpstr>
      <vt:lpstr>PowerPoint Presentation</vt:lpstr>
      <vt:lpstr>Template Perencanaan Proyek</vt:lpstr>
      <vt:lpstr>Template Perencanaan Proyek</vt:lpstr>
      <vt:lpstr>PowerPoint Presentation</vt:lpstr>
      <vt:lpstr>PowerPoint Presentation</vt:lpstr>
      <vt:lpstr>Template Pelaksanaan Proyek</vt:lpstr>
      <vt:lpstr>PowerPoint Presentation</vt:lpstr>
      <vt:lpstr>PowerPoint Presentation</vt:lpstr>
      <vt:lpstr>Template Pemantauan dan Pengendalian Proyek</vt:lpstr>
      <vt:lpstr>Template Pemantauan dan Pengendalian Proyek</vt:lpstr>
      <vt:lpstr>PowerPoint Presentation</vt:lpstr>
      <vt:lpstr>Template Penutupan Proyek</vt:lpstr>
      <vt:lpstr>Templates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emhatl</dc:creator>
  <cp:lastModifiedBy>Emha Taufiq Luthfi</cp:lastModifiedBy>
  <cp:revision>121</cp:revision>
  <dcterms:created xsi:type="dcterms:W3CDTF">2025-07-23T00:59:00Z</dcterms:created>
  <dcterms:modified xsi:type="dcterms:W3CDTF">2026-10-13T06:36:56Z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53D98EA922644B478A13410A32A3BB50_13</vt:lpwstr>
  </property>
  <property fmtid="{D5CDD505-2E9C-101B-9397-08002B2CF9AE}" pid="3" name="KSOProductBuildVer">
    <vt:lpwstr>1033-12.2.0.23131</vt:lpwstr>
  </property>
</Properties>
</file>