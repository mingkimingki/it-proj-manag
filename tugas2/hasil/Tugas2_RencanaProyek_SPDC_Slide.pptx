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[Eka · ±0:15] Assalamualaikum, selamat pagi/siang. Kami kelompok Eka Putra Kurnia, Erlisnawati, dan Sri Rejeki. Kami menyusun rencana proyek Sistem Peringatan Dini Cuaca Publik, disingkat SPDC, yang terdiri atas tiga dokumen yang saling terhubung: WBS, jadwal, dan Risk Register, mengikuti PMBOK.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[Eka · ±1:00] BMKG menerbitkan peringatan dini cuaca per provinsi di situsnya, tetapi warga di pasar, terminal, atau bantaran sungai sering tidak membacanya tepat waktu. SPDC menjembatani itu. Server membuka halaman BMKG setiap 5 menit dengan Playwright dan mencari nama wilayah sasaran. Bila ketemu, server mengirim perintah lewat MQTT hanya ke perangkat di wilayah itu. Perangkat ESP32 menyalakan panel LED, lampu rotari, dan sirene. Peringatan selesai bila nama wilayah tidak muncul lagi pada 3 pengecekan berturut-turut. Admin memantau semua perangkat dari dasbor dan bisa menyalakan peringatan secara manual. Targetnya: 6 perangkat di 3 wilayah DIY, menyala paling lambat 10 menit, selesai dalam sekitar 4 bulan. Sponsornya BPBD.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[Eka · ±0:30] Kami memakai proses perencanaan PMBOK. Dari knowledge area Scope kami membuat WBS; dari Time, jadwal dengan estimasi PERT dan Critical Path Method; dari Risk, Risk Register dengan matriks kemungkinan kali dampak. Ketiganya dihubungkan oleh kode WBS yang sama. Pendekatannya prediktif atau Waterfall, karena pembelian, perakitan, dan pemasangan perangkat keras harus berurutan. WBS dan jadwal juga kami susun di ClickUp.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[Eka · ±1:30] Ini WBS proyek. Level 1 adalah proyek SPDC, level 2 adalah 8 fase, dan level 3 adalah 43 work package, yaitu pekerjaan terkecil yang bisa ditugaskan, diperkirakan durasinya, dan dipantau. WBS disusun per fase seperti contoh PMBOK edisi 4 Gambar 5-9. Kami memegang aturan 100 persen: semua pekerjaan yang diperlukan harus masuk, termasuk manajemen proyek, pengadaan dan izin, sampai pelatihan operator. Setiap work package punya uraian, hasil, dan penanggung jawab di kamus WBS, Lampiran A laporan. WBS menunjukkan pemecahan pekerjaan, bukan urutan; urutannya ada di jadwal.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[Eka · ±0:30] Contoh penerapan aturan 100 persen. Selain membuat server dan perangkat, WBS memuat manajemen proyek, izin pemasangan, deploy dan pengamanan server, sosialisasi warga, dan pelatihan operator. Perbaikan bug tidak dibuat work package terpisah; ia masuk ke fase pengujian dengan pola uji, perbaiki, uji ulang. Milestone tidak masuk WBS karena bukan pekerjaan, melainkan penanda waktu di jadwal. Selanjutnya, jadwal akan dijelaskan oleh Erlisnawati.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[Erlisnawati · ±1:00] Terima kasih. Setiap work package menjadi satu aktivitas. Durasinya kami perkirakan dengan estimasi tiga titik atau PERT: optimis ditambah empat kali paling mungkin ditambah pesimis, dibagi enam. Contohnya pembelian komponen: 7, 10, dan 20 hari menghasilkan 11 hari. Urutannya disusun dengan hubungan Finish-to-Start, total 65 ketergantungan. Hasilnya: proyek 92 hari kerja atau sekitar 4,2 bulan, dari 4 Januari sampai 11 Mei 2027, dengan 6 milestone yang masing-masing disetujui sponsor atau manajer proyek.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[Erlisnawati · ±1:30] Ini Gantt Chart di ClickUp, bagian Februari sampai Mei. Batang merah adalah jalur kritis, yaitu rangkaian aktivitas dengan float nol: bila satu saja terlambat, seluruh proyek mundur. Jalur kritisnya melewati pembelian komponen, prototipe dan firmware, uji perangkat keras, lalu bercabang dua dengan panjang sama: cabang perakitan dan pemasangan, serta cabang uji integrasi dan uji kegagalan. Keduanya bertemu di UAT, lalu serah terima dan penutupan. Perangkat lunak server tidak kritis; masih punya kelonggaran 10 hari. ClickUp menghitung jalur kritis sendiri, dan hasilnya sama dengan perhitungan CPM kami: 21 work package.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[Erlisnawati · ±0:30] Manajer proyek memegang cadangan waktu 5 hari kerja, terutama untuk bug yang lebih banyak dari perkiraan. Bila terpakai semua, proyek selesai paling lambat hari ke-97. Bila sponsor ingin lebih cepat, ada pilihan fast tracking: komponen prototipe dibeli lebih dulu. Hasilnya 88 hari dengan satu programmer atau 82 hari dengan dua, tetapi tidak kami terapkan karena 92 hari sudah sesuai target. Kami juga mengecek beban per peran: dengan satu programmer server pun hasilnya tetap 92 hari. Berikutnya Sri Rejeki akan membahas risiko.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[Sri Rejeki · ±1:15] Terima kasih. Kami mengidentifikasi 10 risiko dengan menelusuri WBS, jalur kritis, dan kategori risiko atau RBS. Setiap risiko dinilai kemungkinan dan dampaknya dengan skala 1 sampai 5; skala kemungkinan mengikuti contoh Risk Register dari Bapak, dan skala dampak mengikuti PMBOK. Nilai risiko adalah kemungkinan kali dampak. Sebelum respons ada 2 risiko Tinggi dan 8 Sedang. Setelah respons, tidak ada lagi risiko Tinggi: 6 Sedang dan 4 Rendah. Kelima strategi PMBOK dipakai: avoid, mitigate, transfer, accept aktif, dan escalate.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[Sri Rejeki · ±1:30] Tiga risiko yang kami soroti. Pertama, R-01: komponen terlambat datang. Pembelian komponen ada di jalur kritis, jadi keterlambatan 10 hari langsung memundurkan proyek. Responsnya menghindari barang impor, menyiapkan dua pemasok, dan membeli unit cadangan. Kedua, R-03: situs BMKG berubah atau memblokir akses otomatis, sehingga fungsi utama berhenti. Responsnya pembacaan yang tidak bergantung pada bentuk halaman, pengecekan yang tidak membebani server BMKG, dan rencana darurat berupa aktivasi manual dari dasbor. Ketiga, R-05: listrik atau internet putus saat cuaca buruk, justru saat sirene paling dibutuhkan. Ini tidak bisa diatasi dengan update perangkat lunak, sehingga responsnya baterai cadangan minimal 4 jam, modem 4G, dan simulasi padam saat uji kegagalan. Setiap risiko punya pemicu yang jelas dan pemiliknya.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[Sri Rejeki · ±0:30] Ketiga dokumen terhubung lewat kode WBS. Contohnya, R-01 menyangkut 1.4.2 yang kritis; responsnya masuk ke pekerjaan BOM dan pembelian. R-05 menambah baterai dan modem 4G ke daftar komponen. R-06 menghasilkan cadangan waktu 5 hari. R-03 menambah aktivasi manual ke dasbor. Kesimpulannya, lama proyek ditentukan oleh rantai perangkat keras dan pengujian akhir, dua risiko teratas berada di rantai itu, dan setelah respons tidak ada lagi risiko Tinggi. Terima kasih; kami siap menjawab pertanyaan.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cadangan untuk menjawab pertanyaan; tidak dipresentasikan. ES/EF = mulai/selesai paling awal (hari kerja ke-). Float = LS − ES; nol berarti kritis. Tabel lengkap ada di Lampiran B laporan.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cadangan untuk menjawab pertanyaan; tidak dipresentasikan.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cadangan; tidak dipresentasikan.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_amikom.png"/>
          <p:cNvPicPr>
            <a:picLocks noChangeAspect="1"/>
          </p:cNvPicPr>
          <p:nvPr/>
        </p:nvPicPr>
        <p:blipFill>
          <a:blip r:embed="rId2"/>
          <a:stretch>
            <a:fillRect/>
          </a:stretch>
        </p:blipFill>
        <p:spPr>
          <a:xfrm>
            <a:off x="10561320" y="411480"/>
            <a:ext cx="1035614" cy="1005840"/>
          </a:xfrm>
          <a:prstGeom prst="rect">
            <a:avLst/>
          </a:prstGeom>
        </p:spPr>
      </p:pic>
      <p:sp>
        <p:nvSpPr>
          <p:cNvPr id="3" name="TextBox 2"/>
          <p:cNvSpPr txBox="1"/>
          <p:nvPr/>
        </p:nvSpPr>
        <p:spPr>
          <a:xfrm>
            <a:off x="822960" y="1188720"/>
            <a:ext cx="9509760" cy="457200"/>
          </a:xfrm>
          <a:prstGeom prst="rect">
            <a:avLst/>
          </a:prstGeom>
          <a:noFill/>
        </p:spPr>
        <p:txBody>
          <a:bodyPr wrap="square" anchor="t" lIns="45720" rIns="45720">
            <a:spAutoFit/>
          </a:bodyPr>
          <a:lstStyle/>
          <a:p>
            <a:pPr algn="l">
              <a:spcAft>
                <a:spcPts val="600"/>
              </a:spcAft>
            </a:pPr>
            <a:r>
              <a:rPr sz="1600" b="1" i="0">
                <a:solidFill>
                  <a:srgbClr val="2A78D6"/>
                </a:solidFill>
                <a:latin typeface="Calibri"/>
              </a:rPr>
              <a:t>TUGAS KELOMPOK — IT PROJECT MANAGEMENT</a:t>
            </a:r>
          </a:p>
        </p:txBody>
      </p:sp>
      <p:sp>
        <p:nvSpPr>
          <p:cNvPr id="4" name="TextBox 3"/>
          <p:cNvSpPr txBox="1"/>
          <p:nvPr/>
        </p:nvSpPr>
        <p:spPr>
          <a:xfrm>
            <a:off x="822960" y="1691640"/>
            <a:ext cx="9509760" cy="1463040"/>
          </a:xfrm>
          <a:prstGeom prst="rect">
            <a:avLst/>
          </a:prstGeom>
          <a:noFill/>
        </p:spPr>
        <p:txBody>
          <a:bodyPr wrap="square" anchor="t" lIns="45720" rIns="45720">
            <a:spAutoFit/>
          </a:bodyPr>
          <a:lstStyle/>
          <a:p>
            <a:pPr algn="l">
              <a:spcAft>
                <a:spcPts val="0"/>
              </a:spcAft>
            </a:pPr>
            <a:r>
              <a:rPr sz="3400" b="1" i="0">
                <a:solidFill>
                  <a:srgbClr val="1B2A4A"/>
                </a:solidFill>
                <a:latin typeface="Cambria"/>
              </a:rPr>
              <a:t>Rencana Proyek Sistem Peringatan Dini</a:t>
            </a:r>
          </a:p>
          <a:p>
            <a:pPr algn="l">
              <a:spcAft>
                <a:spcPts val="0"/>
              </a:spcAft>
            </a:pPr>
            <a:r>
              <a:rPr sz="3400" b="1" i="0">
                <a:solidFill>
                  <a:srgbClr val="1B2A4A"/>
                </a:solidFill>
                <a:latin typeface="Cambria"/>
              </a:rPr>
              <a:t>Cuaca Publik (SPDC)</a:t>
            </a:r>
          </a:p>
        </p:txBody>
      </p:sp>
      <p:sp>
        <p:nvSpPr>
          <p:cNvPr id="5" name="TextBox 4"/>
          <p:cNvSpPr txBox="1"/>
          <p:nvPr/>
        </p:nvSpPr>
        <p:spPr>
          <a:xfrm>
            <a:off x="822960" y="3200400"/>
            <a:ext cx="10515600" cy="731520"/>
          </a:xfrm>
          <a:prstGeom prst="rect">
            <a:avLst/>
          </a:prstGeom>
          <a:noFill/>
        </p:spPr>
        <p:txBody>
          <a:bodyPr wrap="square" anchor="t" lIns="45720" rIns="45720">
            <a:spAutoFit/>
          </a:bodyPr>
          <a:lstStyle/>
          <a:p>
            <a:pPr algn="l">
              <a:spcAft>
                <a:spcPts val="600"/>
              </a:spcAft>
            </a:pPr>
            <a:r>
              <a:rPr sz="1800" b="0" i="1">
                <a:solidFill>
                  <a:srgbClr val="52514E"/>
                </a:solidFill>
                <a:latin typeface="Calibri"/>
              </a:rPr>
              <a:t>Sistem IoT audio-visual yang menyalakan panel LED, lampu rotari, dan sirene saat BMKG menerbitkan peringatan dini</a:t>
            </a:r>
          </a:p>
        </p:txBody>
      </p:sp>
      <p:sp>
        <p:nvSpPr>
          <p:cNvPr id="6" name="Rounded Rectangle 5"/>
          <p:cNvSpPr/>
          <p:nvPr/>
        </p:nvSpPr>
        <p:spPr>
          <a:xfrm>
            <a:off x="822960" y="4251960"/>
            <a:ext cx="2148840" cy="960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15968"/>
            <a:ext cx="1965960" cy="868680"/>
          </a:xfrm>
          <a:prstGeom prst="rect">
            <a:avLst/>
          </a:prstGeom>
          <a:noFill/>
        </p:spPr>
        <p:txBody>
          <a:bodyPr wrap="square" anchor="ctr" lIns="45720" rIns="45720">
            <a:spAutoFit/>
          </a:bodyPr>
          <a:lstStyle/>
          <a:p>
            <a:pPr algn="ctr">
              <a:spcAft>
                <a:spcPts val="0"/>
              </a:spcAft>
            </a:pPr>
            <a:r>
              <a:rPr sz="1800" b="1" i="0">
                <a:solidFill>
                  <a:srgbClr val="1B2A4A"/>
                </a:solidFill>
                <a:latin typeface="Calibri"/>
              </a:rPr>
              <a:t>WBS</a:t>
            </a:r>
          </a:p>
          <a:p>
            <a:pPr algn="ctr">
              <a:spcAft>
                <a:spcPts val="0"/>
              </a:spcAft>
            </a:pPr>
            <a:r>
              <a:rPr sz="1400" b="0" i="1">
                <a:solidFill>
                  <a:srgbClr val="2A78D6"/>
                </a:solidFill>
                <a:latin typeface="Calibri"/>
              </a:rPr>
              <a:t>apa saja pekerjaannya</a:t>
            </a:r>
          </a:p>
        </p:txBody>
      </p:sp>
      <p:sp>
        <p:nvSpPr>
          <p:cNvPr id="8" name="Rounded Rectangle 7"/>
          <p:cNvSpPr/>
          <p:nvPr/>
        </p:nvSpPr>
        <p:spPr>
          <a:xfrm>
            <a:off x="3154679" y="4251960"/>
            <a:ext cx="2148840" cy="960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4315968"/>
            <a:ext cx="1965960" cy="868680"/>
          </a:xfrm>
          <a:prstGeom prst="rect">
            <a:avLst/>
          </a:prstGeom>
          <a:noFill/>
        </p:spPr>
        <p:txBody>
          <a:bodyPr wrap="square" anchor="ctr" lIns="45720" rIns="45720">
            <a:spAutoFit/>
          </a:bodyPr>
          <a:lstStyle/>
          <a:p>
            <a:pPr algn="ctr">
              <a:spcAft>
                <a:spcPts val="0"/>
              </a:spcAft>
            </a:pPr>
            <a:r>
              <a:rPr sz="1800" b="1" i="0">
                <a:solidFill>
                  <a:srgbClr val="1B2A4A"/>
                </a:solidFill>
                <a:latin typeface="Calibri"/>
              </a:rPr>
              <a:t>Jadwal</a:t>
            </a:r>
          </a:p>
          <a:p>
            <a:pPr algn="ctr">
              <a:spcAft>
                <a:spcPts val="0"/>
              </a:spcAft>
            </a:pPr>
            <a:r>
              <a:rPr sz="1400" b="0" i="1">
                <a:solidFill>
                  <a:srgbClr val="2A78D6"/>
                </a:solidFill>
                <a:latin typeface="Calibri"/>
              </a:rPr>
              <a:t>kapan &amp; berapa lama</a:t>
            </a:r>
          </a:p>
        </p:txBody>
      </p:sp>
      <p:sp>
        <p:nvSpPr>
          <p:cNvPr id="10" name="Rounded Rectangle 9"/>
          <p:cNvSpPr/>
          <p:nvPr/>
        </p:nvSpPr>
        <p:spPr>
          <a:xfrm>
            <a:off x="5486400" y="4251960"/>
            <a:ext cx="2148840" cy="960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4315968"/>
            <a:ext cx="1965960" cy="868680"/>
          </a:xfrm>
          <a:prstGeom prst="rect">
            <a:avLst/>
          </a:prstGeom>
          <a:noFill/>
        </p:spPr>
        <p:txBody>
          <a:bodyPr wrap="square" anchor="ctr" lIns="45720" rIns="45720">
            <a:spAutoFit/>
          </a:bodyPr>
          <a:lstStyle/>
          <a:p>
            <a:pPr algn="ctr">
              <a:spcAft>
                <a:spcPts val="0"/>
              </a:spcAft>
            </a:pPr>
            <a:r>
              <a:rPr sz="1800" b="1" i="0">
                <a:solidFill>
                  <a:srgbClr val="1B2A4A"/>
                </a:solidFill>
                <a:latin typeface="Calibri"/>
              </a:rPr>
              <a:t>Risk Register</a:t>
            </a:r>
          </a:p>
          <a:p>
            <a:pPr algn="ctr">
              <a:spcAft>
                <a:spcPts val="0"/>
              </a:spcAft>
            </a:pPr>
            <a:r>
              <a:rPr sz="1400" b="0" i="1">
                <a:solidFill>
                  <a:srgbClr val="2A78D6"/>
                </a:solidFill>
                <a:latin typeface="Calibri"/>
              </a:rPr>
              <a:t>apa yang bisa salah</a:t>
            </a:r>
          </a:p>
        </p:txBody>
      </p:sp>
      <p:sp>
        <p:nvSpPr>
          <p:cNvPr id="12" name="TextBox 11"/>
          <p:cNvSpPr txBox="1"/>
          <p:nvPr/>
        </p:nvSpPr>
        <p:spPr>
          <a:xfrm>
            <a:off x="8229600" y="4069080"/>
            <a:ext cx="3566160" cy="2377440"/>
          </a:xfrm>
          <a:prstGeom prst="rect">
            <a:avLst/>
          </a:prstGeom>
          <a:noFill/>
        </p:spPr>
        <p:txBody>
          <a:bodyPr wrap="square" anchor="t" lIns="45720" rIns="45720">
            <a:spAutoFit/>
          </a:bodyPr>
          <a:lstStyle/>
          <a:p>
            <a:pPr algn="l">
              <a:spcAft>
                <a:spcPts val="200"/>
              </a:spcAft>
            </a:pPr>
            <a:r>
              <a:rPr sz="1300" b="1" i="0">
                <a:solidFill>
                  <a:srgbClr val="1F1F1F"/>
                </a:solidFill>
                <a:latin typeface="Calibri"/>
              </a:rPr>
              <a:t>Disusun oleh:</a:t>
            </a:r>
          </a:p>
          <a:p>
            <a:pPr algn="l">
              <a:spcAft>
                <a:spcPts val="200"/>
              </a:spcAft>
            </a:pPr>
            <a:r>
              <a:rPr sz="1300" b="0" i="0">
                <a:solidFill>
                  <a:srgbClr val="1F1F1F"/>
                </a:solidFill>
                <a:latin typeface="Calibri"/>
              </a:rPr>
              <a:t>EKA PUTRA KURNIA — 25.55.2927</a:t>
            </a:r>
          </a:p>
          <a:p>
            <a:pPr algn="l">
              <a:spcAft>
                <a:spcPts val="200"/>
              </a:spcAft>
            </a:pPr>
            <a:r>
              <a:rPr sz="1300" b="0" i="0">
                <a:solidFill>
                  <a:srgbClr val="1F1F1F"/>
                </a:solidFill>
                <a:latin typeface="Calibri"/>
              </a:rPr>
              <a:t>ERLISNAWATI — 25.55.2882</a:t>
            </a:r>
          </a:p>
          <a:p>
            <a:pPr algn="l">
              <a:spcAft>
                <a:spcPts val="200"/>
              </a:spcAft>
            </a:pPr>
            <a:r>
              <a:rPr sz="1300" b="0" i="0">
                <a:solidFill>
                  <a:srgbClr val="1F1F1F"/>
                </a:solidFill>
                <a:latin typeface="Calibri"/>
              </a:rPr>
              <a:t>SRI REJEKI — 25.55.2906</a:t>
            </a:r>
          </a:p>
          <a:p>
            <a:pPr algn="l">
              <a:spcAft>
                <a:spcPts val="200"/>
              </a:spcAft>
            </a:pPr>
            <a:r>
              <a:rPr sz="1300" b="0" i="0">
                <a:solidFill>
                  <a:srgbClr val="52514E"/>
                </a:solidFill>
                <a:latin typeface="Calibri"/>
              </a:rPr>
              <a:t>S2 Informatika — Universitas Amikom Yogyakarta</a:t>
            </a:r>
          </a:p>
          <a:p>
            <a:pPr algn="l">
              <a:spcAft>
                <a:spcPts val="200"/>
              </a:spcAft>
            </a:pPr>
            <a:r>
              <a:rPr sz="1300" b="0" i="0">
                <a:solidFill>
                  <a:srgbClr val="52514E"/>
                </a:solidFill>
                <a:latin typeface="Calibri"/>
              </a:rPr>
              <a:t>Dosen: Melwin Syafrizal, S.Kom., M.Eng., Ph.D.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SPDC: dari halaman BMKG ke sirene di lapangan</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2</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Eka Putra Kurnia</a:t>
            </a:r>
          </a:p>
        </p:txBody>
      </p:sp>
      <p:sp>
        <p:nvSpPr>
          <p:cNvPr id="6" name="Rounded Rectangle 5"/>
          <p:cNvSpPr/>
          <p:nvPr/>
        </p:nvSpPr>
        <p:spPr>
          <a:xfrm>
            <a:off x="548640" y="1371600"/>
            <a:ext cx="1965960" cy="1737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1783080" cy="685800"/>
          </a:xfrm>
          <a:prstGeom prst="rect">
            <a:avLst/>
          </a:prstGeom>
          <a:noFill/>
        </p:spPr>
        <p:txBody>
          <a:bodyPr wrap="square" anchor="ctr" lIns="45720" rIns="45720">
            <a:spAutoFit/>
          </a:bodyPr>
          <a:lstStyle/>
          <a:p>
            <a:pPr algn="ctr">
              <a:spcAft>
                <a:spcPts val="600"/>
              </a:spcAft>
            </a:pPr>
            <a:r>
              <a:rPr sz="1700" b="1" i="0">
                <a:solidFill>
                  <a:srgbClr val="1B2A4A"/>
                </a:solidFill>
                <a:latin typeface="Calibri"/>
              </a:rPr>
              <a:t>Halaman BMKG</a:t>
            </a:r>
          </a:p>
        </p:txBody>
      </p:sp>
      <p:sp>
        <p:nvSpPr>
          <p:cNvPr id="8" name="TextBox 7"/>
          <p:cNvSpPr txBox="1"/>
          <p:nvPr/>
        </p:nvSpPr>
        <p:spPr>
          <a:xfrm>
            <a:off x="640080" y="2148840"/>
            <a:ext cx="1783080" cy="914400"/>
          </a:xfrm>
          <a:prstGeom prst="rect">
            <a:avLst/>
          </a:prstGeom>
          <a:noFill/>
        </p:spPr>
        <p:txBody>
          <a:bodyPr wrap="square" anchor="t" lIns="45720" rIns="45720">
            <a:spAutoFit/>
          </a:bodyPr>
          <a:lstStyle/>
          <a:p>
            <a:pPr algn="ctr">
              <a:spcAft>
                <a:spcPts val="600"/>
              </a:spcAft>
            </a:pPr>
            <a:r>
              <a:rPr sz="1300" b="0" i="0">
                <a:solidFill>
                  <a:srgbClr val="1F1F1F"/>
                </a:solidFill>
                <a:latin typeface="Calibri"/>
              </a:rPr>
              <a:t>Peringatan dini cuaca per provinsi</a:t>
            </a:r>
          </a:p>
        </p:txBody>
      </p:sp>
      <p:sp>
        <p:nvSpPr>
          <p:cNvPr id="9" name="Right Arrow 8"/>
          <p:cNvSpPr/>
          <p:nvPr/>
        </p:nvSpPr>
        <p:spPr>
          <a:xfrm>
            <a:off x="2542032" y="2103120"/>
            <a:ext cx="265176" cy="274320"/>
          </a:xfrm>
          <a:prstGeom prst="rightArrow">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1371600"/>
            <a:ext cx="1965960" cy="1737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463040"/>
            <a:ext cx="1783080" cy="685800"/>
          </a:xfrm>
          <a:prstGeom prst="rect">
            <a:avLst/>
          </a:prstGeom>
          <a:noFill/>
        </p:spPr>
        <p:txBody>
          <a:bodyPr wrap="square" anchor="ctr" lIns="45720" rIns="45720">
            <a:spAutoFit/>
          </a:bodyPr>
          <a:lstStyle/>
          <a:p>
            <a:pPr algn="ctr">
              <a:spcAft>
                <a:spcPts val="600"/>
              </a:spcAft>
            </a:pPr>
            <a:r>
              <a:rPr sz="1700" b="1" i="0">
                <a:solidFill>
                  <a:srgbClr val="1B2A4A"/>
                </a:solidFill>
                <a:latin typeface="Calibri"/>
              </a:rPr>
              <a:t>Server</a:t>
            </a:r>
          </a:p>
        </p:txBody>
      </p:sp>
      <p:sp>
        <p:nvSpPr>
          <p:cNvPr id="12" name="TextBox 11"/>
          <p:cNvSpPr txBox="1"/>
          <p:nvPr/>
        </p:nvSpPr>
        <p:spPr>
          <a:xfrm>
            <a:off x="2926080" y="2148840"/>
            <a:ext cx="1783080" cy="914400"/>
          </a:xfrm>
          <a:prstGeom prst="rect">
            <a:avLst/>
          </a:prstGeom>
          <a:noFill/>
        </p:spPr>
        <p:txBody>
          <a:bodyPr wrap="square" anchor="t" lIns="45720" rIns="45720">
            <a:spAutoFit/>
          </a:bodyPr>
          <a:lstStyle/>
          <a:p>
            <a:pPr algn="ctr">
              <a:spcAft>
                <a:spcPts val="600"/>
              </a:spcAft>
            </a:pPr>
            <a:r>
              <a:rPr sz="1300" b="0" i="0">
                <a:solidFill>
                  <a:srgbClr val="1F1F1F"/>
                </a:solidFill>
                <a:latin typeface="Calibri"/>
              </a:rPr>
              <a:t>Playwright membuka halaman tiap 5 menit, mencari nama wilayah</a:t>
            </a:r>
          </a:p>
        </p:txBody>
      </p:sp>
      <p:sp>
        <p:nvSpPr>
          <p:cNvPr id="13" name="Right Arrow 12"/>
          <p:cNvSpPr/>
          <p:nvPr/>
        </p:nvSpPr>
        <p:spPr>
          <a:xfrm>
            <a:off x="4828032" y="2103120"/>
            <a:ext cx="265176" cy="274320"/>
          </a:xfrm>
          <a:prstGeom prst="rightArrow">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371600"/>
            <a:ext cx="1965960" cy="1737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1463040"/>
            <a:ext cx="1783080" cy="685800"/>
          </a:xfrm>
          <a:prstGeom prst="rect">
            <a:avLst/>
          </a:prstGeom>
          <a:noFill/>
        </p:spPr>
        <p:txBody>
          <a:bodyPr wrap="square" anchor="ctr" lIns="45720" rIns="45720">
            <a:spAutoFit/>
          </a:bodyPr>
          <a:lstStyle/>
          <a:p>
            <a:pPr algn="ctr">
              <a:spcAft>
                <a:spcPts val="600"/>
              </a:spcAft>
            </a:pPr>
            <a:r>
              <a:rPr sz="1700" b="1" i="0">
                <a:solidFill>
                  <a:srgbClr val="1B2A4A"/>
                </a:solidFill>
                <a:latin typeface="Calibri"/>
              </a:rPr>
              <a:t>MQTT</a:t>
            </a:r>
          </a:p>
        </p:txBody>
      </p:sp>
      <p:sp>
        <p:nvSpPr>
          <p:cNvPr id="16" name="TextBox 15"/>
          <p:cNvSpPr txBox="1"/>
          <p:nvPr/>
        </p:nvSpPr>
        <p:spPr>
          <a:xfrm>
            <a:off x="5212079" y="2148840"/>
            <a:ext cx="1783080" cy="914400"/>
          </a:xfrm>
          <a:prstGeom prst="rect">
            <a:avLst/>
          </a:prstGeom>
          <a:noFill/>
        </p:spPr>
        <p:txBody>
          <a:bodyPr wrap="square" anchor="t" lIns="45720" rIns="45720">
            <a:spAutoFit/>
          </a:bodyPr>
          <a:lstStyle/>
          <a:p>
            <a:pPr algn="ctr">
              <a:spcAft>
                <a:spcPts val="600"/>
              </a:spcAft>
            </a:pPr>
            <a:r>
              <a:rPr sz="1300" b="0" i="0">
                <a:solidFill>
                  <a:srgbClr val="1F1F1F"/>
                </a:solidFill>
                <a:latin typeface="Calibri"/>
              </a:rPr>
              <a:t>Perintah hanya ke perangkat di wilayah itu</a:t>
            </a:r>
          </a:p>
        </p:txBody>
      </p:sp>
      <p:sp>
        <p:nvSpPr>
          <p:cNvPr id="17" name="Right Arrow 16"/>
          <p:cNvSpPr/>
          <p:nvPr/>
        </p:nvSpPr>
        <p:spPr>
          <a:xfrm>
            <a:off x="7114031" y="2103120"/>
            <a:ext cx="265176" cy="274320"/>
          </a:xfrm>
          <a:prstGeom prst="rightArrow">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06640" y="1371600"/>
            <a:ext cx="1965960" cy="17373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79" y="1463040"/>
            <a:ext cx="1783080" cy="685800"/>
          </a:xfrm>
          <a:prstGeom prst="rect">
            <a:avLst/>
          </a:prstGeom>
          <a:noFill/>
        </p:spPr>
        <p:txBody>
          <a:bodyPr wrap="square" anchor="ctr" lIns="45720" rIns="45720">
            <a:spAutoFit/>
          </a:bodyPr>
          <a:lstStyle/>
          <a:p>
            <a:pPr algn="ctr">
              <a:spcAft>
                <a:spcPts val="600"/>
              </a:spcAft>
            </a:pPr>
            <a:r>
              <a:rPr sz="1700" b="1" i="0">
                <a:solidFill>
                  <a:srgbClr val="1B2A4A"/>
                </a:solidFill>
                <a:latin typeface="Calibri"/>
              </a:rPr>
              <a:t>ESP32</a:t>
            </a:r>
          </a:p>
        </p:txBody>
      </p:sp>
      <p:sp>
        <p:nvSpPr>
          <p:cNvPr id="20" name="TextBox 19"/>
          <p:cNvSpPr txBox="1"/>
          <p:nvPr/>
        </p:nvSpPr>
        <p:spPr>
          <a:xfrm>
            <a:off x="7498079" y="2148840"/>
            <a:ext cx="1783080" cy="914400"/>
          </a:xfrm>
          <a:prstGeom prst="rect">
            <a:avLst/>
          </a:prstGeom>
          <a:noFill/>
        </p:spPr>
        <p:txBody>
          <a:bodyPr wrap="square" anchor="t" lIns="45720" rIns="45720">
            <a:spAutoFit/>
          </a:bodyPr>
          <a:lstStyle/>
          <a:p>
            <a:pPr algn="ctr">
              <a:spcAft>
                <a:spcPts val="600"/>
              </a:spcAft>
            </a:pPr>
            <a:r>
              <a:rPr sz="1300" b="0" i="0">
                <a:solidFill>
                  <a:srgbClr val="1F1F1F"/>
                </a:solidFill>
                <a:latin typeface="Calibri"/>
              </a:rPr>
              <a:t>Perangkat IoT di tiap lokasi (firmware C++)</a:t>
            </a:r>
          </a:p>
        </p:txBody>
      </p:sp>
      <p:sp>
        <p:nvSpPr>
          <p:cNvPr id="21" name="Right Arrow 20"/>
          <p:cNvSpPr/>
          <p:nvPr/>
        </p:nvSpPr>
        <p:spPr>
          <a:xfrm>
            <a:off x="9400032" y="2103120"/>
            <a:ext cx="265176" cy="274320"/>
          </a:xfrm>
          <a:prstGeom prst="rightArrow">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92640" y="1371600"/>
            <a:ext cx="1965960" cy="173736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1463040"/>
            <a:ext cx="1783080" cy="685800"/>
          </a:xfrm>
          <a:prstGeom prst="rect">
            <a:avLst/>
          </a:prstGeom>
          <a:noFill/>
        </p:spPr>
        <p:txBody>
          <a:bodyPr wrap="square" anchor="ctr" lIns="45720" rIns="45720">
            <a:spAutoFit/>
          </a:bodyPr>
          <a:lstStyle/>
          <a:p>
            <a:pPr algn="ctr">
              <a:spcAft>
                <a:spcPts val="600"/>
              </a:spcAft>
            </a:pPr>
            <a:r>
              <a:rPr sz="1700" b="1" i="0">
                <a:solidFill>
                  <a:srgbClr val="D03B3B"/>
                </a:solidFill>
                <a:latin typeface="Calibri"/>
              </a:rPr>
              <a:t>LED · Lampu rotari · Sirene</a:t>
            </a:r>
          </a:p>
        </p:txBody>
      </p:sp>
      <p:sp>
        <p:nvSpPr>
          <p:cNvPr id="24" name="TextBox 23"/>
          <p:cNvSpPr txBox="1"/>
          <p:nvPr/>
        </p:nvSpPr>
        <p:spPr>
          <a:xfrm>
            <a:off x="9784080" y="2148840"/>
            <a:ext cx="1783080" cy="914400"/>
          </a:xfrm>
          <a:prstGeom prst="rect">
            <a:avLst/>
          </a:prstGeom>
          <a:noFill/>
        </p:spPr>
        <p:txBody>
          <a:bodyPr wrap="square" anchor="t" lIns="45720" rIns="45720">
            <a:spAutoFit/>
          </a:bodyPr>
          <a:lstStyle/>
          <a:p>
            <a:pPr algn="ctr">
              <a:spcAft>
                <a:spcPts val="600"/>
              </a:spcAft>
            </a:pPr>
            <a:r>
              <a:rPr sz="1300" b="0" i="0">
                <a:solidFill>
                  <a:srgbClr val="1F1F1F"/>
                </a:solidFill>
                <a:latin typeface="Calibri"/>
              </a:rPr>
              <a:t>Peringatan audio-visual untuk warga</a:t>
            </a:r>
          </a:p>
        </p:txBody>
      </p:sp>
      <p:sp>
        <p:nvSpPr>
          <p:cNvPr id="25" name="Rounded Rectangle 24"/>
          <p:cNvSpPr/>
          <p:nvPr/>
        </p:nvSpPr>
        <p:spPr>
          <a:xfrm>
            <a:off x="2834640" y="3429000"/>
            <a:ext cx="6537960" cy="868680"/>
          </a:xfrm>
          <a:prstGeom prst="roundRect">
            <a:avLst>
              <a:gd name="adj" fmla="val 8000"/>
            </a:avLst>
          </a:prstGeom>
          <a:solidFill>
            <a:srgbClr val="FFFFFF"/>
          </a:solidFill>
          <a:ln w="158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3474720"/>
            <a:ext cx="6263640" cy="777240"/>
          </a:xfrm>
          <a:prstGeom prst="rect">
            <a:avLst/>
          </a:prstGeom>
          <a:noFill/>
        </p:spPr>
        <p:txBody>
          <a:bodyPr wrap="square" anchor="ctr" lIns="45720" rIns="45720">
            <a:spAutoFit/>
          </a:bodyPr>
          <a:lstStyle/>
          <a:p>
            <a:pPr algn="ctr">
              <a:spcAft>
                <a:spcPts val="200"/>
              </a:spcAft>
            </a:pPr>
            <a:r>
              <a:rPr sz="1300" b="1" i="0">
                <a:solidFill>
                  <a:srgbClr val="2A78D6"/>
                </a:solidFill>
                <a:latin typeface="Calibri"/>
              </a:rPr>
              <a:t>Dasbor admin  </a:t>
            </a:r>
            <a:r>
              <a:rPr sz="1300" b="0" i="0">
                <a:solidFill>
                  <a:srgbClr val="1F1F1F"/>
                </a:solidFill>
                <a:latin typeface="Calibri"/>
              </a:rPr>
              <a:t>◄ heartbeat &amp; diagnosa dari setiap perangkat</a:t>
            </a:r>
          </a:p>
          <a:p>
            <a:pPr algn="ctr">
              <a:spcAft>
                <a:spcPts val="200"/>
              </a:spcAft>
            </a:pPr>
            <a:r>
              <a:rPr sz="1300" b="0" i="0">
                <a:solidFill>
                  <a:srgbClr val="1F1F1F"/>
                </a:solidFill>
                <a:latin typeface="Calibri"/>
              </a:rPr>
              <a:t>Admin bisa menyalakan peringatan secara manual bila pembacaan otomatis terganggu</a:t>
            </a:r>
          </a:p>
        </p:txBody>
      </p:sp>
      <p:sp>
        <p:nvSpPr>
          <p:cNvPr id="27" name="Rounded Rectangle 26"/>
          <p:cNvSpPr/>
          <p:nvPr/>
        </p:nvSpPr>
        <p:spPr>
          <a:xfrm>
            <a:off x="548640" y="4572000"/>
            <a:ext cx="3566160" cy="16002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663440"/>
            <a:ext cx="3200400" cy="1463040"/>
          </a:xfrm>
          <a:prstGeom prst="rect">
            <a:avLst/>
          </a:prstGeom>
          <a:noFill/>
        </p:spPr>
        <p:txBody>
          <a:bodyPr wrap="square" anchor="t" lIns="45720" rIns="45720">
            <a:spAutoFit/>
          </a:bodyPr>
          <a:lstStyle/>
          <a:p>
            <a:pPr algn="l">
              <a:spcAft>
                <a:spcPts val="400"/>
              </a:spcAft>
            </a:pPr>
            <a:r>
              <a:rPr sz="1600" b="1" i="0">
                <a:solidFill>
                  <a:srgbClr val="1B2A4A"/>
                </a:solidFill>
                <a:latin typeface="Calibri"/>
              </a:rPr>
              <a:t>Tujuan (±4 bulan)</a:t>
            </a:r>
          </a:p>
          <a:p>
            <a:pPr algn="l">
              <a:spcAft>
                <a:spcPts val="400"/>
              </a:spcAft>
            </a:pPr>
            <a:r>
              <a:rPr sz="1400" b="0" i="0">
                <a:solidFill>
                  <a:srgbClr val="1F1F1F"/>
                </a:solidFill>
                <a:latin typeface="Calibri"/>
              </a:rPr>
              <a:t>6 perangkat di 3 wilayah DIY menyala ≤ 10 menit setelah wilayahnya muncul di BMKG</a:t>
            </a:r>
          </a:p>
        </p:txBody>
      </p:sp>
      <p:sp>
        <p:nvSpPr>
          <p:cNvPr id="29" name="Rounded Rectangle 28"/>
          <p:cNvSpPr/>
          <p:nvPr/>
        </p:nvSpPr>
        <p:spPr>
          <a:xfrm>
            <a:off x="4297679" y="4572000"/>
            <a:ext cx="3566160" cy="16002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59" y="4663440"/>
            <a:ext cx="3200400" cy="1463040"/>
          </a:xfrm>
          <a:prstGeom prst="rect">
            <a:avLst/>
          </a:prstGeom>
          <a:noFill/>
        </p:spPr>
        <p:txBody>
          <a:bodyPr wrap="square" anchor="t" lIns="45720" rIns="45720">
            <a:spAutoFit/>
          </a:bodyPr>
          <a:lstStyle/>
          <a:p>
            <a:pPr algn="l">
              <a:spcAft>
                <a:spcPts val="400"/>
              </a:spcAft>
            </a:pPr>
            <a:r>
              <a:rPr sz="1600" b="1" i="0">
                <a:solidFill>
                  <a:srgbClr val="1B2A4A"/>
                </a:solidFill>
                <a:latin typeface="Calibri"/>
              </a:rPr>
              <a:t>Sponsor &amp; tim</a:t>
            </a:r>
          </a:p>
          <a:p>
            <a:pPr algn="l">
              <a:spcAft>
                <a:spcPts val="400"/>
              </a:spcAft>
            </a:pPr>
            <a:r>
              <a:rPr sz="1400" b="0" i="0">
                <a:solidFill>
                  <a:srgbClr val="1F1F1F"/>
                </a:solidFill>
                <a:latin typeface="Calibri"/>
              </a:rPr>
              <a:t>BPBD sebagai pendana dan operator; tim proyek 5 orang (skenario)</a:t>
            </a:r>
          </a:p>
        </p:txBody>
      </p:sp>
      <p:sp>
        <p:nvSpPr>
          <p:cNvPr id="31" name="Rounded Rectangle 30"/>
          <p:cNvSpPr/>
          <p:nvPr/>
        </p:nvSpPr>
        <p:spPr>
          <a:xfrm>
            <a:off x="8046719" y="4572000"/>
            <a:ext cx="3566160" cy="16002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9" y="4663440"/>
            <a:ext cx="3200400" cy="1463040"/>
          </a:xfrm>
          <a:prstGeom prst="rect">
            <a:avLst/>
          </a:prstGeom>
          <a:noFill/>
        </p:spPr>
        <p:txBody>
          <a:bodyPr wrap="square" anchor="t" lIns="45720" rIns="45720">
            <a:spAutoFit/>
          </a:bodyPr>
          <a:lstStyle/>
          <a:p>
            <a:pPr algn="l">
              <a:spcAft>
                <a:spcPts val="400"/>
              </a:spcAft>
            </a:pPr>
            <a:r>
              <a:rPr sz="1600" b="1" i="0">
                <a:solidFill>
                  <a:srgbClr val="1B2A4A"/>
                </a:solidFill>
                <a:latin typeface="Calibri"/>
              </a:rPr>
              <a:t>Di luar lingkup</a:t>
            </a:r>
          </a:p>
          <a:p>
            <a:pPr algn="l">
              <a:spcAft>
                <a:spcPts val="400"/>
              </a:spcAft>
            </a:pPr>
            <a:r>
              <a:rPr sz="1400" b="0" i="0">
                <a:solidFill>
                  <a:srgbClr val="1F1F1F"/>
                </a:solidFill>
                <a:latin typeface="Calibri"/>
              </a:rPr>
              <a:t>Prakiraan cuaca sendiri, sensor cuaca, aplikasi HP, perawatan setelah serah terima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Kerangka PMBOK: tiga dokumen, satu rencana</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3</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Eka Putra Kurnia</a:t>
            </a:r>
          </a:p>
        </p:txBody>
      </p:sp>
      <p:sp>
        <p:nvSpPr>
          <p:cNvPr id="6" name="Rounded Rectangle 5"/>
          <p:cNvSpPr/>
          <p:nvPr/>
        </p:nvSpPr>
        <p:spPr>
          <a:xfrm>
            <a:off x="548640" y="1325880"/>
            <a:ext cx="3566160" cy="3246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3108960" cy="365760"/>
          </a:xfrm>
          <a:prstGeom prst="rect">
            <a:avLst/>
          </a:prstGeom>
          <a:noFill/>
        </p:spPr>
        <p:txBody>
          <a:bodyPr wrap="square" anchor="t" lIns="45720" rIns="45720">
            <a:spAutoFit/>
          </a:bodyPr>
          <a:lstStyle/>
          <a:p>
            <a:pPr algn="l">
              <a:spcAft>
                <a:spcPts val="600"/>
              </a:spcAft>
            </a:pPr>
            <a:r>
              <a:rPr sz="1300" b="1" i="0">
                <a:solidFill>
                  <a:srgbClr val="2A78D6"/>
                </a:solidFill>
                <a:latin typeface="Calibri"/>
              </a:rPr>
              <a:t>Knowledge area: Scope</a:t>
            </a:r>
          </a:p>
        </p:txBody>
      </p:sp>
      <p:sp>
        <p:nvSpPr>
          <p:cNvPr id="8" name="TextBox 7"/>
          <p:cNvSpPr txBox="1"/>
          <p:nvPr/>
        </p:nvSpPr>
        <p:spPr>
          <a:xfrm>
            <a:off x="777240" y="1828800"/>
            <a:ext cx="3108960" cy="548640"/>
          </a:xfrm>
          <a:prstGeom prst="rect">
            <a:avLst/>
          </a:prstGeom>
          <a:noFill/>
        </p:spPr>
        <p:txBody>
          <a:bodyPr wrap="square" anchor="t" lIns="45720" rIns="45720">
            <a:spAutoFit/>
          </a:bodyPr>
          <a:lstStyle/>
          <a:p>
            <a:pPr algn="l">
              <a:spcAft>
                <a:spcPts val="600"/>
              </a:spcAft>
            </a:pPr>
            <a:r>
              <a:rPr sz="2400" b="1" i="0">
                <a:solidFill>
                  <a:srgbClr val="1B2A4A"/>
                </a:solidFill>
                <a:latin typeface="Cambria"/>
              </a:rPr>
              <a:t>WBS</a:t>
            </a:r>
          </a:p>
        </p:txBody>
      </p:sp>
      <p:sp>
        <p:nvSpPr>
          <p:cNvPr id="9" name="TextBox 8"/>
          <p:cNvSpPr txBox="1"/>
          <p:nvPr/>
        </p:nvSpPr>
        <p:spPr>
          <a:xfrm>
            <a:off x="777240" y="2514600"/>
            <a:ext cx="3108960" cy="20116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 Create WBS: 3 level</a:t>
            </a:r>
          </a:p>
          <a:p>
            <a:pPr algn="l">
              <a:spcAft>
                <a:spcPts val="600"/>
              </a:spcAft>
            </a:pPr>
            <a:r>
              <a:rPr sz="1500" b="0" i="0">
                <a:solidFill>
                  <a:srgbClr val="1F1F1F"/>
                </a:solidFill>
                <a:latin typeface="Calibri"/>
              </a:rPr>
              <a:t>• Aturan 100%</a:t>
            </a:r>
          </a:p>
          <a:p>
            <a:pPr algn="l">
              <a:spcAft>
                <a:spcPts val="600"/>
              </a:spcAft>
            </a:pPr>
            <a:r>
              <a:rPr sz="1500" b="0" i="0">
                <a:solidFill>
                  <a:srgbClr val="1F1F1F"/>
                </a:solidFill>
                <a:latin typeface="Calibri"/>
              </a:rPr>
              <a:t>• Kamus WBS + penanggung jawab</a:t>
            </a:r>
          </a:p>
        </p:txBody>
      </p:sp>
      <p:sp>
        <p:nvSpPr>
          <p:cNvPr id="10" name="Right Arrow 9"/>
          <p:cNvSpPr/>
          <p:nvPr/>
        </p:nvSpPr>
        <p:spPr>
          <a:xfrm>
            <a:off x="4133087" y="2788920"/>
            <a:ext cx="146304" cy="27432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79" y="1325880"/>
            <a:ext cx="3566160" cy="3246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1463040"/>
            <a:ext cx="3108960" cy="365760"/>
          </a:xfrm>
          <a:prstGeom prst="rect">
            <a:avLst/>
          </a:prstGeom>
          <a:noFill/>
        </p:spPr>
        <p:txBody>
          <a:bodyPr wrap="square" anchor="t" lIns="45720" rIns="45720">
            <a:spAutoFit/>
          </a:bodyPr>
          <a:lstStyle/>
          <a:p>
            <a:pPr algn="l">
              <a:spcAft>
                <a:spcPts val="600"/>
              </a:spcAft>
            </a:pPr>
            <a:r>
              <a:rPr sz="1300" b="1" i="0">
                <a:solidFill>
                  <a:srgbClr val="2A78D6"/>
                </a:solidFill>
                <a:latin typeface="Calibri"/>
              </a:rPr>
              <a:t>Knowledge area: Time / Schedule</a:t>
            </a:r>
          </a:p>
        </p:txBody>
      </p:sp>
      <p:sp>
        <p:nvSpPr>
          <p:cNvPr id="13" name="TextBox 12"/>
          <p:cNvSpPr txBox="1"/>
          <p:nvPr/>
        </p:nvSpPr>
        <p:spPr>
          <a:xfrm>
            <a:off x="4526279" y="1828800"/>
            <a:ext cx="3108960" cy="548640"/>
          </a:xfrm>
          <a:prstGeom prst="rect">
            <a:avLst/>
          </a:prstGeom>
          <a:noFill/>
        </p:spPr>
        <p:txBody>
          <a:bodyPr wrap="square" anchor="t" lIns="45720" rIns="45720">
            <a:spAutoFit/>
          </a:bodyPr>
          <a:lstStyle/>
          <a:p>
            <a:pPr algn="l">
              <a:spcAft>
                <a:spcPts val="600"/>
              </a:spcAft>
            </a:pPr>
            <a:r>
              <a:rPr sz="2400" b="1" i="0">
                <a:solidFill>
                  <a:srgbClr val="1B2A4A"/>
                </a:solidFill>
                <a:latin typeface="Cambria"/>
              </a:rPr>
              <a:t>Jadwal &amp; Gantt</a:t>
            </a:r>
          </a:p>
        </p:txBody>
      </p:sp>
      <p:sp>
        <p:nvSpPr>
          <p:cNvPr id="14" name="TextBox 13"/>
          <p:cNvSpPr txBox="1"/>
          <p:nvPr/>
        </p:nvSpPr>
        <p:spPr>
          <a:xfrm>
            <a:off x="4526279" y="2514600"/>
            <a:ext cx="3108960" cy="20116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 Urutan: hubungan Finish-to-Start</a:t>
            </a:r>
          </a:p>
          <a:p>
            <a:pPr algn="l">
              <a:spcAft>
                <a:spcPts val="600"/>
              </a:spcAft>
            </a:pPr>
            <a:r>
              <a:rPr sz="1500" b="0" i="0">
                <a:solidFill>
                  <a:srgbClr val="1F1F1F"/>
                </a:solidFill>
                <a:latin typeface="Calibri"/>
              </a:rPr>
              <a:t>• Durasi: estimasi PERT (3 titik)</a:t>
            </a:r>
          </a:p>
          <a:p>
            <a:pPr algn="l">
              <a:spcAft>
                <a:spcPts val="600"/>
              </a:spcAft>
            </a:pPr>
            <a:r>
              <a:rPr sz="1500" b="0" i="0">
                <a:solidFill>
                  <a:srgbClr val="1F1F1F"/>
                </a:solidFill>
                <a:latin typeface="Calibri"/>
              </a:rPr>
              <a:t>• Jalur kritis: Critical Path Method</a:t>
            </a:r>
          </a:p>
        </p:txBody>
      </p:sp>
      <p:sp>
        <p:nvSpPr>
          <p:cNvPr id="15" name="Right Arrow 14"/>
          <p:cNvSpPr/>
          <p:nvPr/>
        </p:nvSpPr>
        <p:spPr>
          <a:xfrm>
            <a:off x="7882127" y="2788920"/>
            <a:ext cx="146304" cy="27432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19" y="1325880"/>
            <a:ext cx="3566160" cy="324612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1463040"/>
            <a:ext cx="3108960" cy="365760"/>
          </a:xfrm>
          <a:prstGeom prst="rect">
            <a:avLst/>
          </a:prstGeom>
          <a:noFill/>
        </p:spPr>
        <p:txBody>
          <a:bodyPr wrap="square" anchor="t" lIns="45720" rIns="45720">
            <a:spAutoFit/>
          </a:bodyPr>
          <a:lstStyle/>
          <a:p>
            <a:pPr algn="l">
              <a:spcAft>
                <a:spcPts val="600"/>
              </a:spcAft>
            </a:pPr>
            <a:r>
              <a:rPr sz="1300" b="1" i="0">
                <a:solidFill>
                  <a:srgbClr val="2A78D6"/>
                </a:solidFill>
                <a:latin typeface="Calibri"/>
              </a:rPr>
              <a:t>Knowledge area: Risk</a:t>
            </a:r>
          </a:p>
        </p:txBody>
      </p:sp>
      <p:sp>
        <p:nvSpPr>
          <p:cNvPr id="18" name="TextBox 17"/>
          <p:cNvSpPr txBox="1"/>
          <p:nvPr/>
        </p:nvSpPr>
        <p:spPr>
          <a:xfrm>
            <a:off x="8275319" y="1828800"/>
            <a:ext cx="3108960" cy="548640"/>
          </a:xfrm>
          <a:prstGeom prst="rect">
            <a:avLst/>
          </a:prstGeom>
          <a:noFill/>
        </p:spPr>
        <p:txBody>
          <a:bodyPr wrap="square" anchor="t" lIns="45720" rIns="45720">
            <a:spAutoFit/>
          </a:bodyPr>
          <a:lstStyle/>
          <a:p>
            <a:pPr algn="l">
              <a:spcAft>
                <a:spcPts val="600"/>
              </a:spcAft>
            </a:pPr>
            <a:r>
              <a:rPr sz="2400" b="1" i="0">
                <a:solidFill>
                  <a:srgbClr val="1B2A4A"/>
                </a:solidFill>
                <a:latin typeface="Cambria"/>
              </a:rPr>
              <a:t>Risk Register</a:t>
            </a:r>
          </a:p>
        </p:txBody>
      </p:sp>
      <p:sp>
        <p:nvSpPr>
          <p:cNvPr id="19" name="TextBox 18"/>
          <p:cNvSpPr txBox="1"/>
          <p:nvPr/>
        </p:nvSpPr>
        <p:spPr>
          <a:xfrm>
            <a:off x="8275319" y="2514600"/>
            <a:ext cx="3108960" cy="2011680"/>
          </a:xfrm>
          <a:prstGeom prst="rect">
            <a:avLst/>
          </a:prstGeom>
          <a:noFill/>
        </p:spPr>
        <p:txBody>
          <a:bodyPr wrap="square" anchor="t" lIns="45720" rIns="45720">
            <a:spAutoFit/>
          </a:bodyPr>
          <a:lstStyle/>
          <a:p>
            <a:pPr algn="l">
              <a:spcAft>
                <a:spcPts val="600"/>
              </a:spcAft>
            </a:pPr>
            <a:r>
              <a:rPr sz="1500" b="0" i="0">
                <a:solidFill>
                  <a:srgbClr val="1F1F1F"/>
                </a:solidFill>
                <a:latin typeface="Calibri"/>
              </a:rPr>
              <a:t>• 10 risiko, kategori RBS</a:t>
            </a:r>
          </a:p>
          <a:p>
            <a:pPr algn="l">
              <a:spcAft>
                <a:spcPts val="600"/>
              </a:spcAft>
            </a:pPr>
            <a:r>
              <a:rPr sz="1500" b="0" i="0">
                <a:solidFill>
                  <a:srgbClr val="1F1F1F"/>
                </a:solidFill>
                <a:latin typeface="Calibri"/>
              </a:rPr>
              <a:t>• Matriks kemungkinan × dampak 5×5</a:t>
            </a:r>
          </a:p>
          <a:p>
            <a:pPr algn="l">
              <a:spcAft>
                <a:spcPts val="600"/>
              </a:spcAft>
            </a:pPr>
            <a:r>
              <a:rPr sz="1500" b="0" i="0">
                <a:solidFill>
                  <a:srgbClr val="1F1F1F"/>
                </a:solidFill>
                <a:latin typeface="Calibri"/>
              </a:rPr>
              <a:t>• 5 strategi respons + pemicu</a:t>
            </a:r>
          </a:p>
        </p:txBody>
      </p:sp>
      <p:sp>
        <p:nvSpPr>
          <p:cNvPr id="20" name="Rounded Rectangle 19"/>
          <p:cNvSpPr/>
          <p:nvPr/>
        </p:nvSpPr>
        <p:spPr>
          <a:xfrm>
            <a:off x="548640" y="4800600"/>
            <a:ext cx="11064240" cy="132588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92040"/>
            <a:ext cx="10607040" cy="1188720"/>
          </a:xfrm>
          <a:prstGeom prst="rect">
            <a:avLst/>
          </a:prstGeom>
          <a:noFill/>
        </p:spPr>
        <p:txBody>
          <a:bodyPr wrap="square" anchor="t" lIns="45720" rIns="45720">
            <a:spAutoFit/>
          </a:bodyPr>
          <a:lstStyle/>
          <a:p>
            <a:pPr algn="l">
              <a:spcAft>
                <a:spcPts val="600"/>
              </a:spcAft>
            </a:pPr>
            <a:r>
              <a:rPr sz="1500" b="1" i="0">
                <a:solidFill>
                  <a:srgbClr val="1B2A4A"/>
                </a:solidFill>
                <a:latin typeface="Calibri"/>
              </a:rPr>
              <a:t>Dihubungkan oleh kode WBS yang sama: </a:t>
            </a:r>
            <a:r>
              <a:rPr sz="1500" b="0" i="0">
                <a:solidFill>
                  <a:srgbClr val="1F1F1F"/>
                </a:solidFill>
                <a:latin typeface="Calibri"/>
              </a:rPr>
              <a:t>risiko dicari dari work package dan jalur kritis; respons risiko dikembalikan ke WBS dan jadwal.</a:t>
            </a:r>
          </a:p>
          <a:p>
            <a:pPr algn="l">
              <a:spcAft>
                <a:spcPts val="600"/>
              </a:spcAft>
            </a:pPr>
            <a:r>
              <a:rPr sz="1500" b="1" i="0">
                <a:solidFill>
                  <a:srgbClr val="1B2A4A"/>
                </a:solidFill>
                <a:latin typeface="Calibri"/>
              </a:rPr>
              <a:t>Pendekatan prediktif (Waterfall): </a:t>
            </a:r>
            <a:r>
              <a:rPr sz="1500" b="0" i="0">
                <a:solidFill>
                  <a:srgbClr val="1F1F1F"/>
                </a:solidFill>
                <a:latin typeface="Calibri"/>
              </a:rPr>
              <a:t>pembelian, perakitan, dan pemasangan perangkat keras harus berurutan.  </a:t>
            </a:r>
            <a:r>
              <a:rPr sz="1500" b="1" i="0">
                <a:solidFill>
                  <a:srgbClr val="1B2A4A"/>
                </a:solidFill>
                <a:latin typeface="Calibri"/>
              </a:rPr>
              <a:t>Alat digital: </a:t>
            </a:r>
            <a:r>
              <a:rPr sz="1500" b="0" i="0">
                <a:solidFill>
                  <a:srgbClr val="1F1F1F"/>
                </a:solidFill>
                <a:latin typeface="Calibri"/>
              </a:rPr>
              <a:t>ClickUp (WBS + Gantt + jalur kritis).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WBS: 3 level, 8 fase, 43 work package</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4</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Eka Putra Kurnia</a:t>
            </a:r>
          </a:p>
        </p:txBody>
      </p:sp>
      <p:sp>
        <p:nvSpPr>
          <p:cNvPr id="6" name="Rounded Rectangle 5"/>
          <p:cNvSpPr/>
          <p:nvPr/>
        </p:nvSpPr>
        <p:spPr>
          <a:xfrm>
            <a:off x="3566160" y="1143000"/>
            <a:ext cx="5029200" cy="502920"/>
          </a:xfrm>
          <a:prstGeom prst="roundRect">
            <a:avLst>
              <a:gd name="adj" fmla="val 1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1  Sistem Peringatan Dini Cuaca Publik (SPDC)</a:t>
            </a:r>
          </a:p>
        </p:txBody>
      </p:sp>
      <p:sp>
        <p:nvSpPr>
          <p:cNvPr id="7" name="Rectangle 6"/>
          <p:cNvSpPr/>
          <p:nvPr/>
        </p:nvSpPr>
        <p:spPr>
          <a:xfrm>
            <a:off x="6071616" y="1645920"/>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25295" y="1801368"/>
            <a:ext cx="9921240" cy="22860"/>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1386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1.1</a:t>
            </a:r>
          </a:p>
          <a:p>
            <a:pPr algn="ctr"/>
            <a:r>
              <a:rPr sz="1100" b="1">
                <a:solidFill>
                  <a:srgbClr val="FFFFFF"/>
                </a:solidFill>
                <a:latin typeface="Calibri"/>
              </a:rPr>
              <a:t>Manajemen Proyek</a:t>
            </a:r>
          </a:p>
        </p:txBody>
      </p:sp>
      <p:sp>
        <p:nvSpPr>
          <p:cNvPr id="11" name="Rounded Rectangle 10"/>
          <p:cNvSpPr/>
          <p:nvPr/>
        </p:nvSpPr>
        <p:spPr>
          <a:xfrm>
            <a:off x="54864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1.1.1 </a:t>
            </a:r>
            <a:r>
              <a:rPr sz="1000" b="0" i="0">
                <a:solidFill>
                  <a:srgbClr val="1F1F1F"/>
                </a:solidFill>
                <a:latin typeface="Calibri"/>
              </a:rPr>
              <a:t>Project charter dan rencana proyek</a:t>
            </a:r>
          </a:p>
          <a:p>
            <a:pPr algn="l">
              <a:spcAft>
                <a:spcPts val="300"/>
              </a:spcAft>
            </a:pPr>
            <a:r>
              <a:rPr sz="1000" b="1" i="0">
                <a:solidFill>
                  <a:srgbClr val="1B2A4A"/>
                </a:solidFill>
                <a:latin typeface="Calibri"/>
              </a:rPr>
              <a:t>1.1.2 </a:t>
            </a:r>
            <a:r>
              <a:rPr sz="1000" b="0" i="0">
                <a:solidFill>
                  <a:srgbClr val="1F1F1F"/>
                </a:solidFill>
                <a:latin typeface="Calibri"/>
              </a:rPr>
              <a:t>Rapat dan laporan kemajuan</a:t>
            </a:r>
          </a:p>
          <a:p>
            <a:pPr algn="l">
              <a:spcAft>
                <a:spcPts val="300"/>
              </a:spcAft>
            </a:pPr>
            <a:r>
              <a:rPr sz="1000" b="1" i="0">
                <a:solidFill>
                  <a:srgbClr val="1B2A4A"/>
                </a:solidFill>
                <a:latin typeface="Calibri"/>
              </a:rPr>
              <a:t>1.1.3 </a:t>
            </a:r>
            <a:r>
              <a:rPr sz="1000" b="0" i="0">
                <a:solidFill>
                  <a:srgbClr val="1F1F1F"/>
                </a:solidFill>
                <a:latin typeface="Calibri"/>
              </a:rPr>
              <a:t>Pengendalian perubahan dan pemantauan risiko</a:t>
            </a:r>
          </a:p>
          <a:p>
            <a:pPr algn="l">
              <a:spcAft>
                <a:spcPts val="300"/>
              </a:spcAft>
            </a:pPr>
            <a:r>
              <a:rPr sz="1000" b="1" i="0">
                <a:solidFill>
                  <a:srgbClr val="1B2A4A"/>
                </a:solidFill>
                <a:latin typeface="Calibri"/>
              </a:rPr>
              <a:t>1.1.4 </a:t>
            </a:r>
            <a:r>
              <a:rPr sz="1000" b="0" i="0">
                <a:solidFill>
                  <a:srgbClr val="1F1F1F"/>
                </a:solidFill>
                <a:latin typeface="Calibri"/>
              </a:rPr>
              <a:t>Penutupan proyek dan lessons learned</a:t>
            </a:r>
          </a:p>
        </p:txBody>
      </p:sp>
      <p:sp>
        <p:nvSpPr>
          <p:cNvPr id="13" name="Rectangle 12"/>
          <p:cNvSpPr/>
          <p:nvPr/>
        </p:nvSpPr>
        <p:spPr>
          <a:xfrm>
            <a:off x="2631185"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1.2</a:t>
            </a:r>
          </a:p>
          <a:p>
            <a:pPr algn="ctr"/>
            <a:r>
              <a:rPr sz="1100" b="1">
                <a:solidFill>
                  <a:srgbClr val="FFFFFF"/>
                </a:solidFill>
                <a:latin typeface="Calibri"/>
              </a:rPr>
              <a:t>Analisis Kebutuhan</a:t>
            </a:r>
          </a:p>
        </p:txBody>
      </p:sp>
      <p:sp>
        <p:nvSpPr>
          <p:cNvPr id="15" name="Rounded Rectangle 14"/>
          <p:cNvSpPr/>
          <p:nvPr/>
        </p:nvSpPr>
        <p:spPr>
          <a:xfrm>
            <a:off x="196596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93391"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1.2.1 </a:t>
            </a:r>
            <a:r>
              <a:rPr sz="1000" b="0" i="0">
                <a:solidFill>
                  <a:srgbClr val="1F1F1F"/>
                </a:solidFill>
                <a:latin typeface="Calibri"/>
              </a:rPr>
              <a:t>Kebutuhan pemangku kepentingan</a:t>
            </a:r>
          </a:p>
          <a:p>
            <a:pPr algn="l">
              <a:spcAft>
                <a:spcPts val="300"/>
              </a:spcAft>
            </a:pPr>
            <a:r>
              <a:rPr sz="1000" b="1" i="0">
                <a:solidFill>
                  <a:srgbClr val="1B2A4A"/>
                </a:solidFill>
                <a:latin typeface="Calibri"/>
              </a:rPr>
              <a:t>1.2.2 </a:t>
            </a:r>
            <a:r>
              <a:rPr sz="1000" b="0" i="0">
                <a:solidFill>
                  <a:srgbClr val="1F1F1F"/>
                </a:solidFill>
                <a:latin typeface="Calibri"/>
              </a:rPr>
              <a:t>Studi halaman peringatan dini BMKG</a:t>
            </a:r>
          </a:p>
          <a:p>
            <a:pPr algn="l">
              <a:spcAft>
                <a:spcPts val="300"/>
              </a:spcAft>
            </a:pPr>
            <a:r>
              <a:rPr sz="1000" b="1" i="0">
                <a:solidFill>
                  <a:srgbClr val="1B2A4A"/>
                </a:solidFill>
                <a:latin typeface="Calibri"/>
              </a:rPr>
              <a:t>1.2.3 </a:t>
            </a:r>
            <a:r>
              <a:rPr sz="1000" b="0" i="0">
                <a:solidFill>
                  <a:srgbClr val="1F1F1F"/>
                </a:solidFill>
                <a:latin typeface="Calibri"/>
              </a:rPr>
              <a:t>Daftar wilayah sasaran dan variasi nama</a:t>
            </a:r>
          </a:p>
          <a:p>
            <a:pPr algn="l">
              <a:spcAft>
                <a:spcPts val="300"/>
              </a:spcAft>
            </a:pPr>
            <a:r>
              <a:rPr sz="1000" b="1" i="0">
                <a:solidFill>
                  <a:srgbClr val="1B2A4A"/>
                </a:solidFill>
                <a:latin typeface="Calibri"/>
              </a:rPr>
              <a:t>1.2.4 </a:t>
            </a:r>
            <a:r>
              <a:rPr sz="1000" b="0" i="0">
                <a:solidFill>
                  <a:srgbClr val="1F1F1F"/>
                </a:solidFill>
                <a:latin typeface="Calibri"/>
              </a:rPr>
              <a:t>Survei lokasi pemasangan</a:t>
            </a:r>
          </a:p>
          <a:p>
            <a:pPr algn="l">
              <a:spcAft>
                <a:spcPts val="300"/>
              </a:spcAft>
            </a:pPr>
            <a:r>
              <a:rPr sz="1000" b="1" i="0">
                <a:solidFill>
                  <a:srgbClr val="1B2A4A"/>
                </a:solidFill>
                <a:latin typeface="Calibri"/>
              </a:rPr>
              <a:t>1.2.5 </a:t>
            </a:r>
            <a:r>
              <a:rPr sz="1000" b="0" i="0">
                <a:solidFill>
                  <a:srgbClr val="1F1F1F"/>
                </a:solidFill>
                <a:latin typeface="Calibri"/>
              </a:rPr>
              <a:t>Spesifikasi kebutuhan sistem (SRS)</a:t>
            </a:r>
          </a:p>
        </p:txBody>
      </p:sp>
      <p:sp>
        <p:nvSpPr>
          <p:cNvPr id="17" name="Rectangle 16"/>
          <p:cNvSpPr/>
          <p:nvPr/>
        </p:nvSpPr>
        <p:spPr>
          <a:xfrm>
            <a:off x="404850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8328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1.3</a:t>
            </a:r>
          </a:p>
          <a:p>
            <a:pPr algn="ctr"/>
            <a:r>
              <a:rPr sz="1100" b="1">
                <a:solidFill>
                  <a:srgbClr val="FFFFFF"/>
                </a:solidFill>
                <a:latin typeface="Calibri"/>
              </a:rPr>
              <a:t>Desain Sistem</a:t>
            </a:r>
          </a:p>
        </p:txBody>
      </p:sp>
      <p:sp>
        <p:nvSpPr>
          <p:cNvPr id="19" name="Rounded Rectangle 18"/>
          <p:cNvSpPr/>
          <p:nvPr/>
        </p:nvSpPr>
        <p:spPr>
          <a:xfrm>
            <a:off x="338328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712"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1.3.1 </a:t>
            </a:r>
            <a:r>
              <a:rPr sz="1000" b="0" i="0">
                <a:solidFill>
                  <a:srgbClr val="1F1F1F"/>
                </a:solidFill>
                <a:latin typeface="Calibri"/>
              </a:rPr>
              <a:t>Arsitektur sistem</a:t>
            </a:r>
          </a:p>
          <a:p>
            <a:pPr algn="l">
              <a:spcAft>
                <a:spcPts val="300"/>
              </a:spcAft>
            </a:pPr>
            <a:r>
              <a:rPr sz="1000" b="1" i="0">
                <a:solidFill>
                  <a:srgbClr val="1B2A4A"/>
                </a:solidFill>
                <a:latin typeface="Calibri"/>
              </a:rPr>
              <a:t>1.3.2 </a:t>
            </a:r>
            <a:r>
              <a:rPr sz="1000" b="0" i="0">
                <a:solidFill>
                  <a:srgbClr val="1F1F1F"/>
                </a:solidFill>
                <a:latin typeface="Calibri"/>
              </a:rPr>
              <a:t>Desain logika status peringatan</a:t>
            </a:r>
          </a:p>
          <a:p>
            <a:pPr algn="l">
              <a:spcAft>
                <a:spcPts val="300"/>
              </a:spcAft>
            </a:pPr>
            <a:r>
              <a:rPr sz="1000" b="1" i="0">
                <a:solidFill>
                  <a:srgbClr val="1B2A4A"/>
                </a:solidFill>
                <a:latin typeface="Calibri"/>
              </a:rPr>
              <a:t>1.3.3 </a:t>
            </a:r>
            <a:r>
              <a:rPr sz="1000" b="0" i="0">
                <a:solidFill>
                  <a:srgbClr val="1F1F1F"/>
                </a:solidFill>
                <a:latin typeface="Calibri"/>
              </a:rPr>
              <a:t>Desain database wilayah dan perangkat</a:t>
            </a:r>
          </a:p>
          <a:p>
            <a:pPr algn="l">
              <a:spcAft>
                <a:spcPts val="300"/>
              </a:spcAft>
            </a:pPr>
            <a:r>
              <a:rPr sz="1000" b="1" i="0">
                <a:solidFill>
                  <a:srgbClr val="1B2A4A"/>
                </a:solidFill>
                <a:latin typeface="Calibri"/>
              </a:rPr>
              <a:t>1.3.4 </a:t>
            </a:r>
            <a:r>
              <a:rPr sz="1000" b="0" i="0">
                <a:solidFill>
                  <a:srgbClr val="1F1F1F"/>
                </a:solidFill>
                <a:latin typeface="Calibri"/>
              </a:rPr>
              <a:t>Desain rangkaian perangkat keras</a:t>
            </a:r>
          </a:p>
          <a:p>
            <a:pPr algn="l">
              <a:spcAft>
                <a:spcPts val="300"/>
              </a:spcAft>
            </a:pPr>
            <a:r>
              <a:rPr sz="1000" b="1" i="0">
                <a:solidFill>
                  <a:srgbClr val="1B2A4A"/>
                </a:solidFill>
                <a:latin typeface="Calibri"/>
              </a:rPr>
              <a:t>1.3.5 </a:t>
            </a:r>
            <a:r>
              <a:rPr sz="1000" b="0" i="0">
                <a:solidFill>
                  <a:srgbClr val="1F1F1F"/>
                </a:solidFill>
                <a:latin typeface="Calibri"/>
              </a:rPr>
              <a:t>Desain pesan LED dan pola audio-lampu</a:t>
            </a:r>
          </a:p>
          <a:p>
            <a:pPr algn="l">
              <a:spcAft>
                <a:spcPts val="300"/>
              </a:spcAft>
            </a:pPr>
            <a:r>
              <a:rPr sz="1000" b="1" i="0">
                <a:solidFill>
                  <a:srgbClr val="1B2A4A"/>
                </a:solidFill>
                <a:latin typeface="Calibri"/>
              </a:rPr>
              <a:t>1.3.6 </a:t>
            </a:r>
            <a:r>
              <a:rPr sz="1000" b="0" i="0">
                <a:solidFill>
                  <a:srgbClr val="1F1F1F"/>
                </a:solidFill>
                <a:latin typeface="Calibri"/>
              </a:rPr>
              <a:t>Desain dasbor admin</a:t>
            </a:r>
          </a:p>
        </p:txBody>
      </p:sp>
      <p:sp>
        <p:nvSpPr>
          <p:cNvPr id="21" name="Rectangle 20"/>
          <p:cNvSpPr/>
          <p:nvPr/>
        </p:nvSpPr>
        <p:spPr>
          <a:xfrm>
            <a:off x="546582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0060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1.4</a:t>
            </a:r>
          </a:p>
          <a:p>
            <a:pPr algn="ctr"/>
            <a:r>
              <a:rPr sz="1100" b="1">
                <a:solidFill>
                  <a:srgbClr val="FFFFFF"/>
                </a:solidFill>
                <a:latin typeface="Calibri"/>
              </a:rPr>
              <a:t>Pengadaan</a:t>
            </a:r>
          </a:p>
        </p:txBody>
      </p:sp>
      <p:sp>
        <p:nvSpPr>
          <p:cNvPr id="23" name="Rounded Rectangle 22"/>
          <p:cNvSpPr/>
          <p:nvPr/>
        </p:nvSpPr>
        <p:spPr>
          <a:xfrm>
            <a:off x="480060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8032"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1.4.1 </a:t>
            </a:r>
            <a:r>
              <a:rPr sz="1000" b="0" i="0">
                <a:solidFill>
                  <a:srgbClr val="1F1F1F"/>
                </a:solidFill>
                <a:latin typeface="Calibri"/>
              </a:rPr>
              <a:t>Daftar komponen (BOM)</a:t>
            </a:r>
          </a:p>
          <a:p>
            <a:pPr algn="l">
              <a:spcAft>
                <a:spcPts val="300"/>
              </a:spcAft>
            </a:pPr>
            <a:r>
              <a:rPr sz="1000" b="1" i="0">
                <a:solidFill>
                  <a:srgbClr val="1B2A4A"/>
                </a:solidFill>
                <a:latin typeface="Calibri"/>
              </a:rPr>
              <a:t>1.4.2 </a:t>
            </a:r>
            <a:r>
              <a:rPr sz="1000" b="0" i="0">
                <a:solidFill>
                  <a:srgbClr val="1F1F1F"/>
                </a:solidFill>
                <a:latin typeface="Calibri"/>
              </a:rPr>
              <a:t>Pemilihan pemasok dan pembelian komponen</a:t>
            </a:r>
          </a:p>
          <a:p>
            <a:pPr algn="l">
              <a:spcAft>
                <a:spcPts val="300"/>
              </a:spcAft>
            </a:pPr>
            <a:r>
              <a:rPr sz="1000" b="1" i="0">
                <a:solidFill>
                  <a:srgbClr val="1B2A4A"/>
                </a:solidFill>
                <a:latin typeface="Calibri"/>
              </a:rPr>
              <a:t>1.4.3 </a:t>
            </a:r>
            <a:r>
              <a:rPr sz="1000" b="0" i="0">
                <a:solidFill>
                  <a:srgbClr val="1F1F1F"/>
                </a:solidFill>
                <a:latin typeface="Calibri"/>
              </a:rPr>
              <a:t>Sewa server (VPS) dan domain</a:t>
            </a:r>
          </a:p>
          <a:p>
            <a:pPr algn="l">
              <a:spcAft>
                <a:spcPts val="300"/>
              </a:spcAft>
            </a:pPr>
            <a:r>
              <a:rPr sz="1000" b="1" i="0">
                <a:solidFill>
                  <a:srgbClr val="1B2A4A"/>
                </a:solidFill>
                <a:latin typeface="Calibri"/>
              </a:rPr>
              <a:t>1.4.4 </a:t>
            </a:r>
            <a:r>
              <a:rPr sz="1000" b="0" i="0">
                <a:solidFill>
                  <a:srgbClr val="1F1F1F"/>
                </a:solidFill>
                <a:latin typeface="Calibri"/>
              </a:rPr>
              <a:t>Izin pemasangan</a:t>
            </a:r>
          </a:p>
          <a:p>
            <a:pPr algn="l">
              <a:spcAft>
                <a:spcPts val="300"/>
              </a:spcAft>
            </a:pPr>
            <a:r>
              <a:rPr sz="1000" b="1" i="0">
                <a:solidFill>
                  <a:srgbClr val="1B2A4A"/>
                </a:solidFill>
                <a:latin typeface="Calibri"/>
              </a:rPr>
              <a:t>1.4.5 </a:t>
            </a:r>
            <a:r>
              <a:rPr sz="1000" b="0" i="0">
                <a:solidFill>
                  <a:srgbClr val="1F1F1F"/>
                </a:solidFill>
                <a:latin typeface="Calibri"/>
              </a:rPr>
              <a:t>Penyiapan alat pengembangan</a:t>
            </a:r>
          </a:p>
        </p:txBody>
      </p:sp>
      <p:sp>
        <p:nvSpPr>
          <p:cNvPr id="25" name="Rectangle 24"/>
          <p:cNvSpPr/>
          <p:nvPr/>
        </p:nvSpPr>
        <p:spPr>
          <a:xfrm>
            <a:off x="688314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2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1.5</a:t>
            </a:r>
          </a:p>
          <a:p>
            <a:pPr algn="ctr"/>
            <a:r>
              <a:rPr sz="1100" b="1">
                <a:solidFill>
                  <a:srgbClr val="FFFFFF"/>
                </a:solidFill>
                <a:latin typeface="Calibri"/>
              </a:rPr>
              <a:t>Pengembangan Perangkat Lunak Server</a:t>
            </a:r>
          </a:p>
        </p:txBody>
      </p:sp>
      <p:sp>
        <p:nvSpPr>
          <p:cNvPr id="27" name="Rounded Rectangle 26"/>
          <p:cNvSpPr/>
          <p:nvPr/>
        </p:nvSpPr>
        <p:spPr>
          <a:xfrm>
            <a:off x="621792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5352"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1.5.1 </a:t>
            </a:r>
            <a:r>
              <a:rPr sz="1000" b="0" i="0">
                <a:solidFill>
                  <a:srgbClr val="1F1F1F"/>
                </a:solidFill>
                <a:latin typeface="Calibri"/>
              </a:rPr>
              <a:t>Modul pemantau BMKG (Playwright)</a:t>
            </a:r>
          </a:p>
          <a:p>
            <a:pPr algn="l">
              <a:spcAft>
                <a:spcPts val="300"/>
              </a:spcAft>
            </a:pPr>
            <a:r>
              <a:rPr sz="1000" b="1" i="0">
                <a:solidFill>
                  <a:srgbClr val="1B2A4A"/>
                </a:solidFill>
                <a:latin typeface="Calibri"/>
              </a:rPr>
              <a:t>1.5.2 </a:t>
            </a:r>
            <a:r>
              <a:rPr sz="1000" b="0" i="0">
                <a:solidFill>
                  <a:srgbClr val="1F1F1F"/>
                </a:solidFill>
                <a:latin typeface="Calibri"/>
              </a:rPr>
              <a:t>Modul pencocokan nama wilayah</a:t>
            </a:r>
          </a:p>
          <a:p>
            <a:pPr algn="l">
              <a:spcAft>
                <a:spcPts val="300"/>
              </a:spcAft>
            </a:pPr>
            <a:r>
              <a:rPr sz="1000" b="1" i="0">
                <a:solidFill>
                  <a:srgbClr val="1B2A4A"/>
                </a:solidFill>
                <a:latin typeface="Calibri"/>
              </a:rPr>
              <a:t>1.5.3 </a:t>
            </a:r>
            <a:r>
              <a:rPr sz="1000" b="0" i="0">
                <a:solidFill>
                  <a:srgbClr val="1F1F1F"/>
                </a:solidFill>
                <a:latin typeface="Calibri"/>
              </a:rPr>
              <a:t>Modul pengelola status peringatan</a:t>
            </a:r>
          </a:p>
          <a:p>
            <a:pPr algn="l">
              <a:spcAft>
                <a:spcPts val="300"/>
              </a:spcAft>
            </a:pPr>
            <a:r>
              <a:rPr sz="1000" b="1" i="0">
                <a:solidFill>
                  <a:srgbClr val="1B2A4A"/>
                </a:solidFill>
                <a:latin typeface="Calibri"/>
              </a:rPr>
              <a:t>1.5.4 </a:t>
            </a:r>
            <a:r>
              <a:rPr sz="1000" b="0" i="0">
                <a:solidFill>
                  <a:srgbClr val="1F1F1F"/>
                </a:solidFill>
                <a:latin typeface="Calibri"/>
              </a:rPr>
              <a:t>Layanan pengirim perintah (MQTT)</a:t>
            </a:r>
          </a:p>
          <a:p>
            <a:pPr algn="l">
              <a:spcAft>
                <a:spcPts val="300"/>
              </a:spcAft>
            </a:pPr>
            <a:r>
              <a:rPr sz="1000" b="1" i="0">
                <a:solidFill>
                  <a:srgbClr val="1B2A4A"/>
                </a:solidFill>
                <a:latin typeface="Calibri"/>
              </a:rPr>
              <a:t>1.5.5 </a:t>
            </a:r>
            <a:r>
              <a:rPr sz="1000" b="0" i="0">
                <a:solidFill>
                  <a:srgbClr val="1F1F1F"/>
                </a:solidFill>
                <a:latin typeface="Calibri"/>
              </a:rPr>
              <a:t>Dasbor admin</a:t>
            </a:r>
          </a:p>
          <a:p>
            <a:pPr algn="l">
              <a:spcAft>
                <a:spcPts val="300"/>
              </a:spcAft>
            </a:pPr>
            <a:r>
              <a:rPr sz="1000" b="1" i="0">
                <a:solidFill>
                  <a:srgbClr val="1B2A4A"/>
                </a:solidFill>
                <a:latin typeface="Calibri"/>
              </a:rPr>
              <a:t>1.5.6 </a:t>
            </a:r>
            <a:r>
              <a:rPr sz="1000" b="0" i="0">
                <a:solidFill>
                  <a:srgbClr val="1F1F1F"/>
                </a:solidFill>
                <a:latin typeface="Calibri"/>
              </a:rPr>
              <a:t>Pemantauan heartbeat dan notifikasi admin</a:t>
            </a:r>
          </a:p>
        </p:txBody>
      </p:sp>
      <p:sp>
        <p:nvSpPr>
          <p:cNvPr id="29" name="Rectangle 28"/>
          <p:cNvSpPr/>
          <p:nvPr/>
        </p:nvSpPr>
        <p:spPr>
          <a:xfrm>
            <a:off x="830046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3524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1.6</a:t>
            </a:r>
          </a:p>
          <a:p>
            <a:pPr algn="ctr"/>
            <a:r>
              <a:rPr sz="1100" b="1">
                <a:solidFill>
                  <a:srgbClr val="FFFFFF"/>
                </a:solidFill>
                <a:latin typeface="Calibri"/>
              </a:rPr>
              <a:t>Pengembangan Perangkat IoT</a:t>
            </a:r>
          </a:p>
        </p:txBody>
      </p:sp>
      <p:sp>
        <p:nvSpPr>
          <p:cNvPr id="31" name="Rounded Rectangle 30"/>
          <p:cNvSpPr/>
          <p:nvPr/>
        </p:nvSpPr>
        <p:spPr>
          <a:xfrm>
            <a:off x="763524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62671"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1.6.1 </a:t>
            </a:r>
            <a:r>
              <a:rPr sz="1000" b="0" i="0">
                <a:solidFill>
                  <a:srgbClr val="1F1F1F"/>
                </a:solidFill>
                <a:latin typeface="Calibri"/>
              </a:rPr>
              <a:t>Perakitan prototipe</a:t>
            </a:r>
          </a:p>
          <a:p>
            <a:pPr algn="l">
              <a:spcAft>
                <a:spcPts val="300"/>
              </a:spcAft>
            </a:pPr>
            <a:r>
              <a:rPr sz="1000" b="1" i="0">
                <a:solidFill>
                  <a:srgbClr val="1B2A4A"/>
                </a:solidFill>
                <a:latin typeface="Calibri"/>
              </a:rPr>
              <a:t>1.6.2 </a:t>
            </a:r>
            <a:r>
              <a:rPr sz="1000" b="0" i="0">
                <a:solidFill>
                  <a:srgbClr val="1F1F1F"/>
                </a:solidFill>
                <a:latin typeface="Calibri"/>
              </a:rPr>
              <a:t>Firmware C++</a:t>
            </a:r>
          </a:p>
          <a:p>
            <a:pPr algn="l">
              <a:spcAft>
                <a:spcPts val="300"/>
              </a:spcAft>
            </a:pPr>
            <a:r>
              <a:rPr sz="1000" b="1" i="0">
                <a:solidFill>
                  <a:srgbClr val="1B2A4A"/>
                </a:solidFill>
                <a:latin typeface="Calibri"/>
              </a:rPr>
              <a:t>1.6.3 </a:t>
            </a:r>
            <a:r>
              <a:rPr sz="1000" b="0" i="0">
                <a:solidFill>
                  <a:srgbClr val="1F1F1F"/>
                </a:solidFill>
                <a:latin typeface="Calibri"/>
              </a:rPr>
              <a:t>Fitur heartbeat dan sambung ulang otomatis</a:t>
            </a:r>
          </a:p>
          <a:p>
            <a:pPr algn="l">
              <a:spcAft>
                <a:spcPts val="300"/>
              </a:spcAft>
            </a:pPr>
            <a:r>
              <a:rPr sz="1000" b="1" i="0">
                <a:solidFill>
                  <a:srgbClr val="1B2A4A"/>
                </a:solidFill>
                <a:latin typeface="Calibri"/>
              </a:rPr>
              <a:t>1.6.4 </a:t>
            </a:r>
            <a:r>
              <a:rPr sz="1000" b="0" i="0">
                <a:solidFill>
                  <a:srgbClr val="1F1F1F"/>
                </a:solidFill>
                <a:latin typeface="Calibri"/>
              </a:rPr>
              <a:t>Fitur diagnosa jarak jauh</a:t>
            </a:r>
          </a:p>
          <a:p>
            <a:pPr algn="l">
              <a:spcAft>
                <a:spcPts val="300"/>
              </a:spcAft>
            </a:pPr>
            <a:r>
              <a:rPr sz="1000" b="1" i="0">
                <a:solidFill>
                  <a:srgbClr val="1B2A4A"/>
                </a:solidFill>
                <a:latin typeface="Calibri"/>
              </a:rPr>
              <a:t>1.6.5 </a:t>
            </a:r>
            <a:r>
              <a:rPr sz="1000" b="0" i="0">
                <a:solidFill>
                  <a:srgbClr val="1F1F1F"/>
                </a:solidFill>
                <a:latin typeface="Calibri"/>
              </a:rPr>
              <a:t>Perakitan unit produksi</a:t>
            </a:r>
          </a:p>
        </p:txBody>
      </p:sp>
      <p:sp>
        <p:nvSpPr>
          <p:cNvPr id="33" name="Rectangle 32"/>
          <p:cNvSpPr/>
          <p:nvPr/>
        </p:nvSpPr>
        <p:spPr>
          <a:xfrm>
            <a:off x="971778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05256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1.7</a:t>
            </a:r>
          </a:p>
          <a:p>
            <a:pPr algn="ctr"/>
            <a:r>
              <a:rPr sz="1100" b="1">
                <a:solidFill>
                  <a:srgbClr val="FFFFFF"/>
                </a:solidFill>
                <a:latin typeface="Calibri"/>
              </a:rPr>
              <a:t>Pengujian</a:t>
            </a:r>
          </a:p>
        </p:txBody>
      </p:sp>
      <p:sp>
        <p:nvSpPr>
          <p:cNvPr id="35" name="Rounded Rectangle 34"/>
          <p:cNvSpPr/>
          <p:nvPr/>
        </p:nvSpPr>
        <p:spPr>
          <a:xfrm>
            <a:off x="905256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79992"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1.7.1 </a:t>
            </a:r>
            <a:r>
              <a:rPr sz="1000" b="0" i="0">
                <a:solidFill>
                  <a:srgbClr val="1F1F1F"/>
                </a:solidFill>
                <a:latin typeface="Calibri"/>
              </a:rPr>
              <a:t>Uji unit perangkat lunak</a:t>
            </a:r>
          </a:p>
          <a:p>
            <a:pPr algn="l">
              <a:spcAft>
                <a:spcPts val="300"/>
              </a:spcAft>
            </a:pPr>
            <a:r>
              <a:rPr sz="1000" b="1" i="0">
                <a:solidFill>
                  <a:srgbClr val="1B2A4A"/>
                </a:solidFill>
                <a:latin typeface="Calibri"/>
              </a:rPr>
              <a:t>1.7.2 </a:t>
            </a:r>
            <a:r>
              <a:rPr sz="1000" b="0" i="0">
                <a:solidFill>
                  <a:srgbClr val="1F1F1F"/>
                </a:solidFill>
                <a:latin typeface="Calibri"/>
              </a:rPr>
              <a:t>Uji pencocokan nama wilayah</a:t>
            </a:r>
          </a:p>
          <a:p>
            <a:pPr algn="l">
              <a:spcAft>
                <a:spcPts val="300"/>
              </a:spcAft>
            </a:pPr>
            <a:r>
              <a:rPr sz="1000" b="1" i="0">
                <a:solidFill>
                  <a:srgbClr val="1B2A4A"/>
                </a:solidFill>
                <a:latin typeface="Calibri"/>
              </a:rPr>
              <a:t>1.7.3 </a:t>
            </a:r>
            <a:r>
              <a:rPr sz="1000" b="0" i="0">
                <a:solidFill>
                  <a:srgbClr val="1F1F1F"/>
                </a:solidFill>
                <a:latin typeface="Calibri"/>
              </a:rPr>
              <a:t>Uji perangkat keras</a:t>
            </a:r>
          </a:p>
          <a:p>
            <a:pPr algn="l">
              <a:spcAft>
                <a:spcPts val="300"/>
              </a:spcAft>
            </a:pPr>
            <a:r>
              <a:rPr sz="1000" b="1" i="0">
                <a:solidFill>
                  <a:srgbClr val="1B2A4A"/>
                </a:solidFill>
                <a:latin typeface="Calibri"/>
              </a:rPr>
              <a:t>1.7.4 </a:t>
            </a:r>
            <a:r>
              <a:rPr sz="1000" b="0" i="0">
                <a:solidFill>
                  <a:srgbClr val="1F1F1F"/>
                </a:solidFill>
                <a:latin typeface="Calibri"/>
              </a:rPr>
              <a:t>Uji integrasi ujung ke ujung</a:t>
            </a:r>
          </a:p>
          <a:p>
            <a:pPr algn="l">
              <a:spcAft>
                <a:spcPts val="300"/>
              </a:spcAft>
            </a:pPr>
            <a:r>
              <a:rPr sz="1000" b="1" i="0">
                <a:solidFill>
                  <a:srgbClr val="1B2A4A"/>
                </a:solidFill>
                <a:latin typeface="Calibri"/>
              </a:rPr>
              <a:t>1.7.5 </a:t>
            </a:r>
            <a:r>
              <a:rPr sz="1000" b="0" i="0">
                <a:solidFill>
                  <a:srgbClr val="1F1F1F"/>
                </a:solidFill>
                <a:latin typeface="Calibri"/>
              </a:rPr>
              <a:t>Uji kegagalan</a:t>
            </a:r>
          </a:p>
          <a:p>
            <a:pPr algn="l">
              <a:spcAft>
                <a:spcPts val="300"/>
              </a:spcAft>
            </a:pPr>
            <a:r>
              <a:rPr sz="1000" b="1" i="0">
                <a:solidFill>
                  <a:srgbClr val="1B2A4A"/>
                </a:solidFill>
                <a:latin typeface="Calibri"/>
              </a:rPr>
              <a:t>1.7.6 </a:t>
            </a:r>
            <a:r>
              <a:rPr sz="1000" b="0" i="0">
                <a:solidFill>
                  <a:srgbClr val="1F1F1F"/>
                </a:solidFill>
                <a:latin typeface="Calibri"/>
              </a:rPr>
              <a:t>Uji coba lapangan dan UAT</a:t>
            </a:r>
          </a:p>
        </p:txBody>
      </p:sp>
      <p:sp>
        <p:nvSpPr>
          <p:cNvPr id="37" name="Rectangle 36"/>
          <p:cNvSpPr/>
          <p:nvPr/>
        </p:nvSpPr>
        <p:spPr>
          <a:xfrm>
            <a:off x="11135106" y="1801368"/>
            <a:ext cx="22860" cy="164592"/>
          </a:xfrm>
          <a:prstGeom prst="rect">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469880" y="1965960"/>
            <a:ext cx="1353312" cy="86868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1.8</a:t>
            </a:r>
          </a:p>
          <a:p>
            <a:pPr algn="ctr"/>
            <a:r>
              <a:rPr sz="1100" b="1">
                <a:solidFill>
                  <a:srgbClr val="FFFFFF"/>
                </a:solidFill>
                <a:latin typeface="Calibri"/>
              </a:rPr>
              <a:t>Pemasangan dan Peluncuran</a:t>
            </a:r>
          </a:p>
        </p:txBody>
      </p:sp>
      <p:sp>
        <p:nvSpPr>
          <p:cNvPr id="39" name="Rounded Rectangle 38"/>
          <p:cNvSpPr/>
          <p:nvPr/>
        </p:nvSpPr>
        <p:spPr>
          <a:xfrm>
            <a:off x="10469880" y="2898648"/>
            <a:ext cx="1353312" cy="3108960"/>
          </a:xfrm>
          <a:prstGeom prst="roundRect">
            <a:avLst>
              <a:gd name="adj" fmla="val 4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97311" y="2944368"/>
            <a:ext cx="1298448" cy="3017520"/>
          </a:xfrm>
          <a:prstGeom prst="rect">
            <a:avLst/>
          </a:prstGeom>
          <a:noFill/>
        </p:spPr>
        <p:txBody>
          <a:bodyPr wrap="square" anchor="t" lIns="45720" rIns="45720">
            <a:spAutoFit/>
          </a:bodyPr>
          <a:lstStyle/>
          <a:p>
            <a:pPr algn="l">
              <a:spcAft>
                <a:spcPts val="300"/>
              </a:spcAft>
            </a:pPr>
            <a:r>
              <a:rPr sz="1000" b="1" i="0">
                <a:solidFill>
                  <a:srgbClr val="1B2A4A"/>
                </a:solidFill>
                <a:latin typeface="Calibri"/>
              </a:rPr>
              <a:t>1.8.1 </a:t>
            </a:r>
            <a:r>
              <a:rPr sz="1000" b="0" i="0">
                <a:solidFill>
                  <a:srgbClr val="1F1F1F"/>
                </a:solidFill>
                <a:latin typeface="Calibri"/>
              </a:rPr>
              <a:t>Pemasangan perangkat di lokasi</a:t>
            </a:r>
          </a:p>
          <a:p>
            <a:pPr algn="l">
              <a:spcAft>
                <a:spcPts val="300"/>
              </a:spcAft>
            </a:pPr>
            <a:r>
              <a:rPr sz="1000" b="1" i="0">
                <a:solidFill>
                  <a:srgbClr val="1B2A4A"/>
                </a:solidFill>
                <a:latin typeface="Calibri"/>
              </a:rPr>
              <a:t>1.8.2 </a:t>
            </a:r>
            <a:r>
              <a:rPr sz="1000" b="0" i="0">
                <a:solidFill>
                  <a:srgbClr val="1F1F1F"/>
                </a:solidFill>
                <a:latin typeface="Calibri"/>
              </a:rPr>
              <a:t>Deploy perangkat lunak server dan pengamanan dasar</a:t>
            </a:r>
          </a:p>
          <a:p>
            <a:pPr algn="l">
              <a:spcAft>
                <a:spcPts val="300"/>
              </a:spcAft>
            </a:pPr>
            <a:r>
              <a:rPr sz="1000" b="1" i="0">
                <a:solidFill>
                  <a:srgbClr val="1B2A4A"/>
                </a:solidFill>
                <a:latin typeface="Calibri"/>
              </a:rPr>
              <a:t>1.8.3 </a:t>
            </a:r>
            <a:r>
              <a:rPr sz="1000" b="0" i="0">
                <a:solidFill>
                  <a:srgbClr val="1F1F1F"/>
                </a:solidFill>
                <a:latin typeface="Calibri"/>
              </a:rPr>
              <a:t>Konfigurasi wilayah dan pendaftaran perangkat</a:t>
            </a:r>
          </a:p>
          <a:p>
            <a:pPr algn="l">
              <a:spcAft>
                <a:spcPts val="300"/>
              </a:spcAft>
            </a:pPr>
            <a:r>
              <a:rPr sz="1000" b="1" i="0">
                <a:solidFill>
                  <a:srgbClr val="1B2A4A"/>
                </a:solidFill>
                <a:latin typeface="Calibri"/>
              </a:rPr>
              <a:t>1.8.4 </a:t>
            </a:r>
            <a:r>
              <a:rPr sz="1000" b="0" i="0">
                <a:solidFill>
                  <a:srgbClr val="1F1F1F"/>
                </a:solidFill>
                <a:latin typeface="Calibri"/>
              </a:rPr>
              <a:t>Sosialisasi ke warga</a:t>
            </a:r>
          </a:p>
          <a:p>
            <a:pPr algn="l">
              <a:spcAft>
                <a:spcPts val="300"/>
              </a:spcAft>
            </a:pPr>
            <a:r>
              <a:rPr sz="1000" b="1" i="0">
                <a:solidFill>
                  <a:srgbClr val="1B2A4A"/>
                </a:solidFill>
                <a:latin typeface="Calibri"/>
              </a:rPr>
              <a:t>1.8.5 </a:t>
            </a:r>
            <a:r>
              <a:rPr sz="1000" b="0" i="0">
                <a:solidFill>
                  <a:srgbClr val="1F1F1F"/>
                </a:solidFill>
                <a:latin typeface="Calibri"/>
              </a:rPr>
              <a:t>Pelatihan operator</a:t>
            </a:r>
          </a:p>
          <a:p>
            <a:pPr algn="l">
              <a:spcAft>
                <a:spcPts val="300"/>
              </a:spcAft>
            </a:pPr>
            <a:r>
              <a:rPr sz="1000" b="1" i="0">
                <a:solidFill>
                  <a:srgbClr val="1B2A4A"/>
                </a:solidFill>
                <a:latin typeface="Calibri"/>
              </a:rPr>
              <a:t>1.8.6 </a:t>
            </a:r>
            <a:r>
              <a:rPr sz="1000" b="0" i="0">
                <a:solidFill>
                  <a:srgbClr val="1F1F1F"/>
                </a:solidFill>
                <a:latin typeface="Calibri"/>
              </a:rPr>
              <a:t>Serah terima dan dokumentasi</a:t>
            </a:r>
          </a:p>
        </p:txBody>
      </p:sp>
      <p:sp>
        <p:nvSpPr>
          <p:cNvPr id="41" name="TextBox 40"/>
          <p:cNvSpPr txBox="1"/>
          <p:nvPr/>
        </p:nvSpPr>
        <p:spPr>
          <a:xfrm>
            <a:off x="548640" y="6035040"/>
            <a:ext cx="110642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Level 1 </a:t>
            </a:r>
            <a:r>
              <a:rPr sz="1200" b="0" i="0">
                <a:solidFill>
                  <a:srgbClr val="52514E"/>
                </a:solidFill>
                <a:latin typeface="Calibri"/>
              </a:rPr>
              <a:t>proyek  ·  </a:t>
            </a:r>
            <a:r>
              <a:rPr sz="1200" b="1" i="0">
                <a:solidFill>
                  <a:srgbClr val="2A78D6"/>
                </a:solidFill>
                <a:latin typeface="Calibri"/>
              </a:rPr>
              <a:t>Level 2 </a:t>
            </a:r>
            <a:r>
              <a:rPr sz="1200" b="0" i="0">
                <a:solidFill>
                  <a:srgbClr val="52514E"/>
                </a:solidFill>
                <a:latin typeface="Calibri"/>
              </a:rPr>
              <a:t>fase  ·  </a:t>
            </a:r>
            <a:r>
              <a:rPr sz="1200" b="1" i="0">
                <a:solidFill>
                  <a:srgbClr val="1B2A4A"/>
                </a:solidFill>
                <a:latin typeface="Calibri"/>
              </a:rPr>
              <a:t>Level 3 </a:t>
            </a:r>
            <a:r>
              <a:rPr sz="1200" b="0" i="0">
                <a:solidFill>
                  <a:srgbClr val="52514E"/>
                </a:solidFill>
                <a:latin typeface="Calibri"/>
              </a:rPr>
              <a:t>work package (paket kerja)  ·  </a:t>
            </a:r>
            <a:r>
              <a:rPr sz="1200" b="1" i="0">
                <a:solidFill>
                  <a:srgbClr val="52514E"/>
                </a:solidFill>
                <a:latin typeface="Calibri"/>
              </a:rPr>
              <a:t>Aturan 100%: </a:t>
            </a:r>
            <a:r>
              <a:rPr sz="1200" b="0" i="0">
                <a:solidFill>
                  <a:srgbClr val="52514E"/>
                </a:solidFill>
                <a:latin typeface="Calibri"/>
              </a:rPr>
              <a:t>semua pekerjaan masuk, tidak ada yang di luar WBS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Pekerjaan yang sering terlupa juga masuk WBS</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5</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Eka Putra Kurnia</a:t>
            </a:r>
          </a:p>
        </p:txBody>
      </p:sp>
      <p:sp>
        <p:nvSpPr>
          <p:cNvPr id="6" name="Rounded Rectangle 5"/>
          <p:cNvSpPr/>
          <p:nvPr/>
        </p:nvSpPr>
        <p:spPr>
          <a:xfrm>
            <a:off x="548640" y="132588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3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1.1</a:t>
            </a:r>
          </a:p>
        </p:txBody>
      </p:sp>
      <p:sp>
        <p:nvSpPr>
          <p:cNvPr id="8" name="TextBox 7"/>
          <p:cNvSpPr txBox="1"/>
          <p:nvPr/>
        </p:nvSpPr>
        <p:spPr>
          <a:xfrm>
            <a:off x="777240" y="1828800"/>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Manajemen proyek</a:t>
            </a:r>
          </a:p>
        </p:txBody>
      </p:sp>
      <p:sp>
        <p:nvSpPr>
          <p:cNvPr id="9" name="TextBox 8"/>
          <p:cNvSpPr txBox="1"/>
          <p:nvPr/>
        </p:nvSpPr>
        <p:spPr>
          <a:xfrm>
            <a:off x="777240" y="233172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Project charter, rapat mingguan, pengendalian perubahan, penutupan</a:t>
            </a:r>
          </a:p>
        </p:txBody>
      </p:sp>
      <p:sp>
        <p:nvSpPr>
          <p:cNvPr id="10" name="Rounded Rectangle 9"/>
          <p:cNvSpPr/>
          <p:nvPr/>
        </p:nvSpPr>
        <p:spPr>
          <a:xfrm>
            <a:off x="4297679" y="132588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46303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1.4.4</a:t>
            </a:r>
          </a:p>
        </p:txBody>
      </p:sp>
      <p:sp>
        <p:nvSpPr>
          <p:cNvPr id="12" name="TextBox 11"/>
          <p:cNvSpPr txBox="1"/>
          <p:nvPr/>
        </p:nvSpPr>
        <p:spPr>
          <a:xfrm>
            <a:off x="4526279" y="1828800"/>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Izin pemasangan</a:t>
            </a:r>
          </a:p>
        </p:txBody>
      </p:sp>
      <p:sp>
        <p:nvSpPr>
          <p:cNvPr id="13" name="TextBox 12"/>
          <p:cNvSpPr txBox="1"/>
          <p:nvPr/>
        </p:nvSpPr>
        <p:spPr>
          <a:xfrm>
            <a:off x="4526279" y="233172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Dari pemilik lokasi dan pemda; paling tidak pasti (10–30 hari)</a:t>
            </a:r>
          </a:p>
        </p:txBody>
      </p:sp>
      <p:sp>
        <p:nvSpPr>
          <p:cNvPr id="14" name="Rounded Rectangle 13"/>
          <p:cNvSpPr/>
          <p:nvPr/>
        </p:nvSpPr>
        <p:spPr>
          <a:xfrm>
            <a:off x="8046719" y="132588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46303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1.8.2</a:t>
            </a:r>
          </a:p>
        </p:txBody>
      </p:sp>
      <p:sp>
        <p:nvSpPr>
          <p:cNvPr id="16" name="TextBox 15"/>
          <p:cNvSpPr txBox="1"/>
          <p:nvPr/>
        </p:nvSpPr>
        <p:spPr>
          <a:xfrm>
            <a:off x="8275319" y="1828800"/>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Deploy &amp; pengamanan</a:t>
            </a:r>
          </a:p>
        </p:txBody>
      </p:sp>
      <p:sp>
        <p:nvSpPr>
          <p:cNvPr id="17" name="TextBox 16"/>
          <p:cNvSpPr txBox="1"/>
          <p:nvPr/>
        </p:nvSpPr>
        <p:spPr>
          <a:xfrm>
            <a:off x="8275319" y="233172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Server dipasang online dengan firewall dan HTTPS</a:t>
            </a:r>
          </a:p>
        </p:txBody>
      </p:sp>
      <p:sp>
        <p:nvSpPr>
          <p:cNvPr id="18" name="Rounded Rectangle 17"/>
          <p:cNvSpPr/>
          <p:nvPr/>
        </p:nvSpPr>
        <p:spPr>
          <a:xfrm>
            <a:off x="548640" y="347472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7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1.8.4</a:t>
            </a:r>
          </a:p>
        </p:txBody>
      </p:sp>
      <p:sp>
        <p:nvSpPr>
          <p:cNvPr id="20" name="TextBox 19"/>
          <p:cNvSpPr txBox="1"/>
          <p:nvPr/>
        </p:nvSpPr>
        <p:spPr>
          <a:xfrm>
            <a:off x="777240" y="3977639"/>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Sosialisasi warga</a:t>
            </a:r>
          </a:p>
        </p:txBody>
      </p:sp>
      <p:sp>
        <p:nvSpPr>
          <p:cNvPr id="21" name="TextBox 20"/>
          <p:cNvSpPr txBox="1"/>
          <p:nvPr/>
        </p:nvSpPr>
        <p:spPr>
          <a:xfrm>
            <a:off x="777240" y="448056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Arti setiap bunyi dan lampu, serta tindakan warga</a:t>
            </a:r>
          </a:p>
        </p:txBody>
      </p:sp>
      <p:sp>
        <p:nvSpPr>
          <p:cNvPr id="22" name="Rounded Rectangle 21"/>
          <p:cNvSpPr/>
          <p:nvPr/>
        </p:nvSpPr>
        <p:spPr>
          <a:xfrm>
            <a:off x="4297679" y="347472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361187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1.8.5</a:t>
            </a:r>
          </a:p>
        </p:txBody>
      </p:sp>
      <p:sp>
        <p:nvSpPr>
          <p:cNvPr id="24" name="TextBox 23"/>
          <p:cNvSpPr txBox="1"/>
          <p:nvPr/>
        </p:nvSpPr>
        <p:spPr>
          <a:xfrm>
            <a:off x="4526279" y="3977639"/>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Pelatihan operator</a:t>
            </a:r>
          </a:p>
        </p:txBody>
      </p:sp>
      <p:sp>
        <p:nvSpPr>
          <p:cNvPr id="25" name="TextBox 24"/>
          <p:cNvSpPr txBox="1"/>
          <p:nvPr/>
        </p:nvSpPr>
        <p:spPr>
          <a:xfrm>
            <a:off x="4526279" y="448056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Petugas BPBD memakai dasbor dan mode uji</a:t>
            </a:r>
          </a:p>
        </p:txBody>
      </p:sp>
      <p:sp>
        <p:nvSpPr>
          <p:cNvPr id="26" name="Rounded Rectangle 25"/>
          <p:cNvSpPr/>
          <p:nvPr/>
        </p:nvSpPr>
        <p:spPr>
          <a:xfrm>
            <a:off x="8046719" y="3474720"/>
            <a:ext cx="3566160" cy="19659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3611879"/>
            <a:ext cx="3108960" cy="411480"/>
          </a:xfrm>
          <a:prstGeom prst="rect">
            <a:avLst/>
          </a:prstGeom>
          <a:noFill/>
        </p:spPr>
        <p:txBody>
          <a:bodyPr wrap="square" anchor="t" lIns="45720" rIns="45720">
            <a:spAutoFit/>
          </a:bodyPr>
          <a:lstStyle/>
          <a:p>
            <a:pPr algn="l">
              <a:spcAft>
                <a:spcPts val="600"/>
              </a:spcAft>
            </a:pPr>
            <a:r>
              <a:rPr sz="1500" b="1" i="0">
                <a:solidFill>
                  <a:srgbClr val="2A78D6"/>
                </a:solidFill>
                <a:latin typeface="Calibri"/>
              </a:rPr>
              <a:t>1.7.x</a:t>
            </a:r>
          </a:p>
        </p:txBody>
      </p:sp>
      <p:sp>
        <p:nvSpPr>
          <p:cNvPr id="28" name="TextBox 27"/>
          <p:cNvSpPr txBox="1"/>
          <p:nvPr/>
        </p:nvSpPr>
        <p:spPr>
          <a:xfrm>
            <a:off x="8275319" y="3977639"/>
            <a:ext cx="3108960" cy="457200"/>
          </a:xfrm>
          <a:prstGeom prst="rect">
            <a:avLst/>
          </a:prstGeom>
          <a:noFill/>
        </p:spPr>
        <p:txBody>
          <a:bodyPr wrap="square" anchor="t" lIns="45720" rIns="45720">
            <a:spAutoFit/>
          </a:bodyPr>
          <a:lstStyle/>
          <a:p>
            <a:pPr algn="l">
              <a:spcAft>
                <a:spcPts val="600"/>
              </a:spcAft>
            </a:pPr>
            <a:r>
              <a:rPr sz="1900" b="1" i="0">
                <a:solidFill>
                  <a:srgbClr val="1B2A4A"/>
                </a:solidFill>
                <a:latin typeface="Calibri"/>
              </a:rPr>
              <a:t>Perbaikan bug</a:t>
            </a:r>
          </a:p>
        </p:txBody>
      </p:sp>
      <p:sp>
        <p:nvSpPr>
          <p:cNvPr id="29" name="TextBox 28"/>
          <p:cNvSpPr txBox="1"/>
          <p:nvPr/>
        </p:nvSpPr>
        <p:spPr>
          <a:xfrm>
            <a:off x="8275319" y="4480560"/>
            <a:ext cx="3108960" cy="914400"/>
          </a:xfrm>
          <a:prstGeom prst="rect">
            <a:avLst/>
          </a:prstGeom>
          <a:noFill/>
        </p:spPr>
        <p:txBody>
          <a:bodyPr wrap="square" anchor="t" lIns="45720" rIns="45720">
            <a:spAutoFit/>
          </a:bodyPr>
          <a:lstStyle/>
          <a:p>
            <a:pPr algn="l">
              <a:spcAft>
                <a:spcPts val="600"/>
              </a:spcAft>
            </a:pPr>
            <a:r>
              <a:rPr sz="1400" b="0" i="0">
                <a:solidFill>
                  <a:srgbClr val="1F1F1F"/>
                </a:solidFill>
                <a:latin typeface="Calibri"/>
              </a:rPr>
              <a:t>Masuk 31 hari pengujian: uji → perbaiki → uji ulang</a:t>
            </a:r>
          </a:p>
        </p:txBody>
      </p:sp>
      <p:sp>
        <p:nvSpPr>
          <p:cNvPr id="30" name="TextBox 29"/>
          <p:cNvSpPr txBox="1"/>
          <p:nvPr/>
        </p:nvSpPr>
        <p:spPr>
          <a:xfrm>
            <a:off x="548640" y="5715000"/>
            <a:ext cx="11064240" cy="457200"/>
          </a:xfrm>
          <a:prstGeom prst="rect">
            <a:avLst/>
          </a:prstGeom>
          <a:noFill/>
        </p:spPr>
        <p:txBody>
          <a:bodyPr wrap="square" anchor="t" lIns="45720" rIns="45720">
            <a:spAutoFit/>
          </a:bodyPr>
          <a:lstStyle/>
          <a:p>
            <a:pPr algn="l">
              <a:spcAft>
                <a:spcPts val="600"/>
              </a:spcAft>
            </a:pPr>
            <a:r>
              <a:rPr sz="1400" b="1" i="0">
                <a:solidFill>
                  <a:srgbClr val="52514E"/>
                </a:solidFill>
                <a:latin typeface="Calibri"/>
              </a:rPr>
              <a:t>Milestone tidak masuk WBS: </a:t>
            </a:r>
            <a:r>
              <a:rPr sz="1400" b="0" i="0">
                <a:solidFill>
                  <a:srgbClr val="52514E"/>
                </a:solidFill>
                <a:latin typeface="Calibri"/>
              </a:rPr>
              <a:t>milestone bukan pekerjaan, melainkan penanda waktu di jadwal.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Estimasi durasi dan ringkasan jadwal</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6</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Erlisnawati</a:t>
            </a:r>
          </a:p>
        </p:txBody>
      </p:sp>
      <p:sp>
        <p:nvSpPr>
          <p:cNvPr id="6" name="Rounded Rectangle 5"/>
          <p:cNvSpPr/>
          <p:nvPr/>
        </p:nvSpPr>
        <p:spPr>
          <a:xfrm>
            <a:off x="548640" y="1325880"/>
            <a:ext cx="5212080" cy="269748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4754880" cy="2560320"/>
          </a:xfrm>
          <a:prstGeom prst="rect">
            <a:avLst/>
          </a:prstGeom>
          <a:noFill/>
        </p:spPr>
        <p:txBody>
          <a:bodyPr wrap="square" anchor="t" lIns="45720" rIns="45720">
            <a:spAutoFit/>
          </a:bodyPr>
          <a:lstStyle/>
          <a:p>
            <a:pPr algn="l">
              <a:spcAft>
                <a:spcPts val="500"/>
              </a:spcAft>
            </a:pPr>
            <a:r>
              <a:rPr sz="1800" b="1" i="0">
                <a:solidFill>
                  <a:srgbClr val="1B2A4A"/>
                </a:solidFill>
                <a:latin typeface="Calibri"/>
              </a:rPr>
              <a:t>Estimasi tiga titik (PERT)</a:t>
            </a:r>
          </a:p>
          <a:p>
            <a:pPr algn="l">
              <a:spcAft>
                <a:spcPts val="500"/>
              </a:spcAft>
            </a:pPr>
            <a:r>
              <a:rPr sz="2200" b="1" i="0">
                <a:solidFill>
                  <a:srgbClr val="2A78D6"/>
                </a:solidFill>
                <a:latin typeface="Cambria"/>
              </a:rPr>
              <a:t>Durasi = (O + 4M + P) / 6</a:t>
            </a:r>
          </a:p>
          <a:p>
            <a:pPr algn="l">
              <a:spcAft>
                <a:spcPts val="500"/>
              </a:spcAft>
            </a:pPr>
            <a:r>
              <a:rPr sz="1500" b="0" i="0">
                <a:solidFill>
                  <a:srgbClr val="1F1F1F"/>
                </a:solidFill>
                <a:latin typeface="Calibri"/>
              </a:rPr>
              <a:t>O = optimis · M = paling mungkin · P = pesimis</a:t>
            </a:r>
          </a:p>
          <a:p>
            <a:pPr algn="l">
              <a:spcAft>
                <a:spcPts val="500"/>
              </a:spcAft>
            </a:pPr>
            <a:r>
              <a:rPr sz="1500" b="1" i="0">
                <a:solidFill>
                  <a:srgbClr val="1F1F1F"/>
                </a:solidFill>
                <a:latin typeface="Calibri"/>
              </a:rPr>
              <a:t>Contoh 1.4.2 Pembelian komponen:</a:t>
            </a:r>
          </a:p>
          <a:p>
            <a:pPr algn="l">
              <a:spcAft>
                <a:spcPts val="500"/>
              </a:spcAft>
            </a:pPr>
            <a:r>
              <a:rPr sz="1500" b="0" i="0">
                <a:solidFill>
                  <a:srgbClr val="1F1F1F"/>
                </a:solidFill>
                <a:latin typeface="Calibri"/>
              </a:rPr>
              <a:t>(7 + 4×10 + 20) / 6 = 11,17 → 11 hari kerja</a:t>
            </a:r>
          </a:p>
          <a:p>
            <a:pPr algn="l">
              <a:spcAft>
                <a:spcPts val="500"/>
              </a:spcAft>
            </a:pPr>
            <a:r>
              <a:rPr sz="1500" b="0" i="1">
                <a:solidFill>
                  <a:srgbClr val="D03B3B"/>
                </a:solidFill>
                <a:latin typeface="Calibri"/>
              </a:rPr>
              <a:t>Rentangnya lebar (7–20 hari) → jadi risiko R-01</a:t>
            </a:r>
          </a:p>
        </p:txBody>
      </p:sp>
      <p:sp>
        <p:nvSpPr>
          <p:cNvPr id="8" name="Rounded Rectangle 7"/>
          <p:cNvSpPr/>
          <p:nvPr/>
        </p:nvSpPr>
        <p:spPr>
          <a:xfrm>
            <a:off x="5989320" y="1325880"/>
            <a:ext cx="2697480" cy="12801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435607"/>
            <a:ext cx="2423160" cy="594360"/>
          </a:xfrm>
          <a:prstGeom prst="rect">
            <a:avLst/>
          </a:prstGeom>
          <a:noFill/>
        </p:spPr>
        <p:txBody>
          <a:bodyPr wrap="square" anchor="t" lIns="45720" rIns="45720">
            <a:spAutoFit/>
          </a:bodyPr>
          <a:lstStyle/>
          <a:p>
            <a:pPr algn="l">
              <a:spcAft>
                <a:spcPts val="600"/>
              </a:spcAft>
            </a:pPr>
            <a:r>
              <a:rPr sz="2200" b="1" i="0">
                <a:solidFill>
                  <a:srgbClr val="1B2A4A"/>
                </a:solidFill>
                <a:latin typeface="Cambria"/>
              </a:rPr>
              <a:t>92 hari kerja</a:t>
            </a:r>
          </a:p>
        </p:txBody>
      </p:sp>
      <p:sp>
        <p:nvSpPr>
          <p:cNvPr id="10" name="TextBox 9"/>
          <p:cNvSpPr txBox="1"/>
          <p:nvPr/>
        </p:nvSpPr>
        <p:spPr>
          <a:xfrm>
            <a:off x="6126480" y="2057400"/>
            <a:ext cx="2423160" cy="457200"/>
          </a:xfrm>
          <a:prstGeom prst="rect">
            <a:avLst/>
          </a:prstGeom>
          <a:noFill/>
        </p:spPr>
        <p:txBody>
          <a:bodyPr wrap="square" anchor="t" lIns="45720" rIns="45720">
            <a:spAutoFit/>
          </a:bodyPr>
          <a:lstStyle/>
          <a:p>
            <a:pPr algn="l">
              <a:spcAft>
                <a:spcPts val="600"/>
              </a:spcAft>
            </a:pPr>
            <a:r>
              <a:rPr sz="1300" b="0" i="0">
                <a:solidFill>
                  <a:srgbClr val="52514E"/>
                </a:solidFill>
                <a:latin typeface="Calibri"/>
              </a:rPr>
              <a:t>≈ 18,4 minggu ≈ 4,2 bulan</a:t>
            </a:r>
          </a:p>
        </p:txBody>
      </p:sp>
      <p:sp>
        <p:nvSpPr>
          <p:cNvPr id="11" name="Rounded Rectangle 10"/>
          <p:cNvSpPr/>
          <p:nvPr/>
        </p:nvSpPr>
        <p:spPr>
          <a:xfrm>
            <a:off x="8823960" y="1325880"/>
            <a:ext cx="2697480" cy="12801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435607"/>
            <a:ext cx="2423160" cy="594360"/>
          </a:xfrm>
          <a:prstGeom prst="rect">
            <a:avLst/>
          </a:prstGeom>
          <a:noFill/>
        </p:spPr>
        <p:txBody>
          <a:bodyPr wrap="square" anchor="t" lIns="45720" rIns="45720">
            <a:spAutoFit/>
          </a:bodyPr>
          <a:lstStyle/>
          <a:p>
            <a:pPr algn="l">
              <a:spcAft>
                <a:spcPts val="600"/>
              </a:spcAft>
            </a:pPr>
            <a:r>
              <a:rPr sz="2200" b="1" i="0">
                <a:solidFill>
                  <a:srgbClr val="1B2A4A"/>
                </a:solidFill>
                <a:latin typeface="Cambria"/>
              </a:rPr>
              <a:t>4 Jan – 11 Mei</a:t>
            </a:r>
          </a:p>
        </p:txBody>
      </p:sp>
      <p:sp>
        <p:nvSpPr>
          <p:cNvPr id="13" name="TextBox 12"/>
          <p:cNvSpPr txBox="1"/>
          <p:nvPr/>
        </p:nvSpPr>
        <p:spPr>
          <a:xfrm>
            <a:off x="8961120" y="2057400"/>
            <a:ext cx="2423160" cy="457200"/>
          </a:xfrm>
          <a:prstGeom prst="rect">
            <a:avLst/>
          </a:prstGeom>
          <a:noFill/>
        </p:spPr>
        <p:txBody>
          <a:bodyPr wrap="square" anchor="t" lIns="45720" rIns="45720">
            <a:spAutoFit/>
          </a:bodyPr>
          <a:lstStyle/>
          <a:p>
            <a:pPr algn="l">
              <a:spcAft>
                <a:spcPts val="600"/>
              </a:spcAft>
            </a:pPr>
            <a:r>
              <a:rPr sz="1300" b="0" i="0">
                <a:solidFill>
                  <a:srgbClr val="52514E"/>
                </a:solidFill>
                <a:latin typeface="Calibri"/>
              </a:rPr>
              <a:t>2027; Senin–Jumat</a:t>
            </a:r>
          </a:p>
        </p:txBody>
      </p:sp>
      <p:sp>
        <p:nvSpPr>
          <p:cNvPr id="14" name="Rounded Rectangle 13"/>
          <p:cNvSpPr/>
          <p:nvPr/>
        </p:nvSpPr>
        <p:spPr>
          <a:xfrm>
            <a:off x="5989320" y="2697480"/>
            <a:ext cx="2697480" cy="12801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807208"/>
            <a:ext cx="2423160" cy="594360"/>
          </a:xfrm>
          <a:prstGeom prst="rect">
            <a:avLst/>
          </a:prstGeom>
          <a:noFill/>
        </p:spPr>
        <p:txBody>
          <a:bodyPr wrap="square" anchor="t" lIns="45720" rIns="45720">
            <a:spAutoFit/>
          </a:bodyPr>
          <a:lstStyle/>
          <a:p>
            <a:pPr algn="l">
              <a:spcAft>
                <a:spcPts val="600"/>
              </a:spcAft>
            </a:pPr>
            <a:r>
              <a:rPr sz="2200" b="1" i="0">
                <a:solidFill>
                  <a:srgbClr val="1B2A4A"/>
                </a:solidFill>
                <a:latin typeface="Cambria"/>
              </a:rPr>
              <a:t>43 + 6</a:t>
            </a:r>
          </a:p>
        </p:txBody>
      </p:sp>
      <p:sp>
        <p:nvSpPr>
          <p:cNvPr id="16" name="TextBox 15"/>
          <p:cNvSpPr txBox="1"/>
          <p:nvPr/>
        </p:nvSpPr>
        <p:spPr>
          <a:xfrm>
            <a:off x="6126480" y="3429000"/>
            <a:ext cx="2423160" cy="457200"/>
          </a:xfrm>
          <a:prstGeom prst="rect">
            <a:avLst/>
          </a:prstGeom>
          <a:noFill/>
        </p:spPr>
        <p:txBody>
          <a:bodyPr wrap="square" anchor="t" lIns="45720" rIns="45720">
            <a:spAutoFit/>
          </a:bodyPr>
          <a:lstStyle/>
          <a:p>
            <a:pPr algn="l">
              <a:spcAft>
                <a:spcPts val="600"/>
              </a:spcAft>
            </a:pPr>
            <a:r>
              <a:rPr sz="1300" b="0" i="0">
                <a:solidFill>
                  <a:srgbClr val="52514E"/>
                </a:solidFill>
                <a:latin typeface="Calibri"/>
              </a:rPr>
              <a:t>work package + milestone</a:t>
            </a:r>
          </a:p>
        </p:txBody>
      </p:sp>
      <p:sp>
        <p:nvSpPr>
          <p:cNvPr id="17" name="Rounded Rectangle 16"/>
          <p:cNvSpPr/>
          <p:nvPr/>
        </p:nvSpPr>
        <p:spPr>
          <a:xfrm>
            <a:off x="8823960" y="2697480"/>
            <a:ext cx="2697480" cy="128016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2807208"/>
            <a:ext cx="2423160" cy="594360"/>
          </a:xfrm>
          <a:prstGeom prst="rect">
            <a:avLst/>
          </a:prstGeom>
          <a:noFill/>
        </p:spPr>
        <p:txBody>
          <a:bodyPr wrap="square" anchor="t" lIns="45720" rIns="45720">
            <a:spAutoFit/>
          </a:bodyPr>
          <a:lstStyle/>
          <a:p>
            <a:pPr algn="l">
              <a:spcAft>
                <a:spcPts val="600"/>
              </a:spcAft>
            </a:pPr>
            <a:r>
              <a:rPr sz="2200" b="1" i="0">
                <a:solidFill>
                  <a:srgbClr val="1B2A4A"/>
                </a:solidFill>
                <a:latin typeface="Cambria"/>
              </a:rPr>
              <a:t>65</a:t>
            </a:r>
          </a:p>
        </p:txBody>
      </p:sp>
      <p:sp>
        <p:nvSpPr>
          <p:cNvPr id="19" name="TextBox 18"/>
          <p:cNvSpPr txBox="1"/>
          <p:nvPr/>
        </p:nvSpPr>
        <p:spPr>
          <a:xfrm>
            <a:off x="8961120" y="3429000"/>
            <a:ext cx="2423160" cy="457200"/>
          </a:xfrm>
          <a:prstGeom prst="rect">
            <a:avLst/>
          </a:prstGeom>
          <a:noFill/>
        </p:spPr>
        <p:txBody>
          <a:bodyPr wrap="square" anchor="t" lIns="45720" rIns="45720">
            <a:spAutoFit/>
          </a:bodyPr>
          <a:lstStyle/>
          <a:p>
            <a:pPr algn="l">
              <a:spcAft>
                <a:spcPts val="600"/>
              </a:spcAft>
            </a:pPr>
            <a:r>
              <a:rPr sz="1300" b="0" i="0">
                <a:solidFill>
                  <a:srgbClr val="52514E"/>
                </a:solidFill>
                <a:latin typeface="Calibri"/>
              </a:rPr>
              <a:t>ketergantungan Finish-to-Start</a:t>
            </a:r>
          </a:p>
        </p:txBody>
      </p:sp>
      <p:sp>
        <p:nvSpPr>
          <p:cNvPr id="20" name="Rectangle 19"/>
          <p:cNvSpPr/>
          <p:nvPr/>
        </p:nvSpPr>
        <p:spPr>
          <a:xfrm>
            <a:off x="822960" y="4937760"/>
            <a:ext cx="10515600" cy="457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160520"/>
            <a:ext cx="3657600" cy="365760"/>
          </a:xfrm>
          <a:prstGeom prst="rect">
            <a:avLst/>
          </a:prstGeom>
          <a:noFill/>
        </p:spPr>
        <p:txBody>
          <a:bodyPr wrap="square" anchor="t" lIns="45720" rIns="45720">
            <a:spAutoFit/>
          </a:bodyPr>
          <a:lstStyle/>
          <a:p>
            <a:pPr algn="l">
              <a:spcAft>
                <a:spcPts val="600"/>
              </a:spcAft>
            </a:pPr>
            <a:r>
              <a:rPr sz="1300" b="1" i="0">
                <a:solidFill>
                  <a:srgbClr val="1B2A4A"/>
                </a:solidFill>
                <a:latin typeface="Calibri"/>
              </a:rPr>
              <a:t>Milestone (hari kerja ke-)</a:t>
            </a:r>
          </a:p>
        </p:txBody>
      </p:sp>
      <p:sp>
        <p:nvSpPr>
          <p:cNvPr id="22" name="Diamond 21"/>
          <p:cNvSpPr/>
          <p:nvPr/>
        </p:nvSpPr>
        <p:spPr>
          <a:xfrm>
            <a:off x="1293875" y="4860036"/>
            <a:ext cx="201168" cy="201168"/>
          </a:xfrm>
          <a:prstGeom prst="diamond">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0139"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M1</a:t>
            </a:r>
          </a:p>
        </p:txBody>
      </p:sp>
      <p:sp>
        <p:nvSpPr>
          <p:cNvPr id="24" name="Diamond 23"/>
          <p:cNvSpPr/>
          <p:nvPr/>
        </p:nvSpPr>
        <p:spPr>
          <a:xfrm>
            <a:off x="3122676" y="4860036"/>
            <a:ext cx="201168" cy="201168"/>
          </a:xfrm>
          <a:prstGeom prst="diamond">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48940"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M2</a:t>
            </a:r>
          </a:p>
        </p:txBody>
      </p:sp>
      <p:sp>
        <p:nvSpPr>
          <p:cNvPr id="26" name="Diamond 25"/>
          <p:cNvSpPr/>
          <p:nvPr/>
        </p:nvSpPr>
        <p:spPr>
          <a:xfrm>
            <a:off x="4037076" y="4860036"/>
            <a:ext cx="201168" cy="201168"/>
          </a:xfrm>
          <a:prstGeom prst="diamond">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63340"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M3</a:t>
            </a:r>
          </a:p>
        </p:txBody>
      </p:sp>
      <p:sp>
        <p:nvSpPr>
          <p:cNvPr id="28" name="Diamond 27"/>
          <p:cNvSpPr/>
          <p:nvPr/>
        </p:nvSpPr>
        <p:spPr>
          <a:xfrm>
            <a:off x="10552176" y="4860036"/>
            <a:ext cx="201168" cy="201168"/>
          </a:xfrm>
          <a:prstGeom prst="diamond">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78440"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M4</a:t>
            </a:r>
          </a:p>
        </p:txBody>
      </p:sp>
      <p:sp>
        <p:nvSpPr>
          <p:cNvPr id="30" name="Diamond 29"/>
          <p:cNvSpPr/>
          <p:nvPr/>
        </p:nvSpPr>
        <p:spPr>
          <a:xfrm>
            <a:off x="10895076" y="4860036"/>
            <a:ext cx="201168" cy="201168"/>
          </a:xfrm>
          <a:prstGeom prst="diamond">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21340"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M5</a:t>
            </a:r>
          </a:p>
        </p:txBody>
      </p:sp>
      <p:sp>
        <p:nvSpPr>
          <p:cNvPr id="32" name="Diamond 31"/>
          <p:cNvSpPr/>
          <p:nvPr/>
        </p:nvSpPr>
        <p:spPr>
          <a:xfrm>
            <a:off x="11237976" y="4860036"/>
            <a:ext cx="201168" cy="201168"/>
          </a:xfrm>
          <a:prstGeom prst="diamond">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64240" y="4526280"/>
            <a:ext cx="548640" cy="320040"/>
          </a:xfrm>
          <a:prstGeom prst="rect">
            <a:avLst/>
          </a:prstGeom>
          <a:noFill/>
        </p:spPr>
        <p:txBody>
          <a:bodyPr wrap="square" anchor="t" lIns="45720" rIns="45720">
            <a:spAutoFit/>
          </a:bodyPr>
          <a:lstStyle/>
          <a:p>
            <a:pPr algn="ctr">
              <a:spcAft>
                <a:spcPts val="600"/>
              </a:spcAft>
            </a:pPr>
            <a:r>
              <a:rPr sz="1200" b="1" i="0">
                <a:solidFill>
                  <a:srgbClr val="1B2A4A"/>
                </a:solidFill>
                <a:latin typeface="Calibri"/>
              </a:rPr>
              <a:t>M6</a:t>
            </a:r>
          </a:p>
        </p:txBody>
      </p:sp>
      <p:sp>
        <p:nvSpPr>
          <p:cNvPr id="34" name="TextBox 33"/>
          <p:cNvSpPr txBox="1"/>
          <p:nvPr/>
        </p:nvSpPr>
        <p:spPr>
          <a:xfrm>
            <a:off x="548640" y="5257800"/>
            <a:ext cx="11064240" cy="822960"/>
          </a:xfrm>
          <a:prstGeom prst="rect">
            <a:avLst/>
          </a:prstGeom>
          <a:noFill/>
        </p:spPr>
        <p:txBody>
          <a:bodyPr wrap="square" anchor="t" lIns="45720" rIns="45720">
            <a:spAutoFit/>
          </a:bodyPr>
          <a:lstStyle/>
          <a:p>
            <a:pPr algn="ctr">
              <a:spcAft>
                <a:spcPts val="200"/>
              </a:spcAft>
            </a:pPr>
            <a:r>
              <a:rPr sz="1300" b="0" i="0">
                <a:solidFill>
                  <a:srgbClr val="1F1F1F"/>
                </a:solidFill>
                <a:latin typeface="Calibri"/>
              </a:rPr>
              <a:t>M1 Proyek disahkan (5; 8 Jan)   M2 Kebutuhan disetujui (21; 1 Feb)   M3 Desain disetujui (29; 11 Feb)</a:t>
            </a:r>
          </a:p>
          <a:p>
            <a:pPr algn="ctr">
              <a:spcAft>
                <a:spcPts val="200"/>
              </a:spcAft>
            </a:pPr>
            <a:r>
              <a:rPr sz="1300" b="0" i="0">
                <a:solidFill>
                  <a:srgbClr val="1F1F1F"/>
                </a:solidFill>
                <a:latin typeface="Calibri"/>
              </a:rPr>
              <a:t>M4 UAT disetujui (86; 3 Mei)   M5 Serah terima (89; 6 Mei)   M6 Proyek ditutup (92; 11 Mei)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Gantt Chart dan jalur kritis (ClickUp)</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7</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Erlisnawati</a:t>
            </a:r>
          </a:p>
        </p:txBody>
      </p:sp>
      <p:pic>
        <p:nvPicPr>
          <p:cNvPr id="6" name="Picture 5" descr="02_gantt_bawah.png"/>
          <p:cNvPicPr>
            <a:picLocks noChangeAspect="1"/>
          </p:cNvPicPr>
          <p:nvPr/>
        </p:nvPicPr>
        <p:blipFill>
          <a:blip r:embed="rId4"/>
          <a:srcRect l="35938" r="1042" t="11752" b="3264"/>
          <a:stretch>
            <a:fillRect/>
          </a:stretch>
        </p:blipFill>
        <p:spPr>
          <a:xfrm>
            <a:off x="457200" y="1188720"/>
            <a:ext cx="7791585" cy="5029200"/>
          </a:xfrm>
          <a:prstGeom prst="rect">
            <a:avLst/>
          </a:prstGeom>
          <a:ln>
            <a:solidFill>
              <a:srgbClr val="898781"/>
            </a:solidFill>
          </a:ln>
        </p:spPr>
      </p:pic>
      <p:sp>
        <p:nvSpPr>
          <p:cNvPr id="7" name="Rounded Rectangle 6"/>
          <p:cNvSpPr/>
          <p:nvPr/>
        </p:nvSpPr>
        <p:spPr>
          <a:xfrm>
            <a:off x="8477385" y="1188720"/>
            <a:ext cx="3181215" cy="50292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14545" y="1280160"/>
            <a:ext cx="2906895" cy="411480"/>
          </a:xfrm>
          <a:prstGeom prst="rect">
            <a:avLst/>
          </a:prstGeom>
          <a:noFill/>
        </p:spPr>
        <p:txBody>
          <a:bodyPr wrap="square" anchor="t" lIns="45720" rIns="45720">
            <a:spAutoFit/>
          </a:bodyPr>
          <a:lstStyle/>
          <a:p>
            <a:pPr algn="l">
              <a:spcAft>
                <a:spcPts val="600"/>
              </a:spcAft>
            </a:pPr>
            <a:r>
              <a:rPr sz="1600" b="1" i="0">
                <a:solidFill>
                  <a:srgbClr val="D03B3B"/>
                </a:solidFill>
                <a:latin typeface="Calibri"/>
              </a:rPr>
              <a:t>Rantai merah = jalur kritis</a:t>
            </a:r>
          </a:p>
        </p:txBody>
      </p:sp>
      <p:sp>
        <p:nvSpPr>
          <p:cNvPr id="9" name="TextBox 8"/>
          <p:cNvSpPr txBox="1"/>
          <p:nvPr/>
        </p:nvSpPr>
        <p:spPr>
          <a:xfrm>
            <a:off x="8614545" y="1737360"/>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1.4.1–1.4.2</a:t>
            </a:r>
          </a:p>
          <a:p>
            <a:pPr algn="l">
              <a:spcAft>
                <a:spcPts val="0"/>
              </a:spcAft>
            </a:pPr>
            <a:r>
              <a:rPr sz="1200" b="0" i="0">
                <a:solidFill>
                  <a:srgbClr val="1F1F1F"/>
                </a:solidFill>
                <a:latin typeface="Calibri"/>
              </a:rPr>
              <a:t>Daftar &amp; beli komponen</a:t>
            </a:r>
          </a:p>
        </p:txBody>
      </p:sp>
      <p:sp>
        <p:nvSpPr>
          <p:cNvPr id="10" name="TextBox 9"/>
          <p:cNvSpPr txBox="1"/>
          <p:nvPr/>
        </p:nvSpPr>
        <p:spPr>
          <a:xfrm>
            <a:off x="8614545" y="2304288"/>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1.6.1–1.6.4</a:t>
            </a:r>
          </a:p>
          <a:p>
            <a:pPr algn="l">
              <a:spcAft>
                <a:spcPts val="0"/>
              </a:spcAft>
            </a:pPr>
            <a:r>
              <a:rPr sz="1200" b="0" i="0">
                <a:solidFill>
                  <a:srgbClr val="1F1F1F"/>
                </a:solidFill>
                <a:latin typeface="Calibri"/>
              </a:rPr>
              <a:t>Prototipe dan firmware</a:t>
            </a:r>
          </a:p>
        </p:txBody>
      </p:sp>
      <p:sp>
        <p:nvSpPr>
          <p:cNvPr id="11" name="TextBox 10"/>
          <p:cNvSpPr txBox="1"/>
          <p:nvPr/>
        </p:nvSpPr>
        <p:spPr>
          <a:xfrm>
            <a:off x="8614545" y="2871215"/>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1.7.3</a:t>
            </a:r>
          </a:p>
          <a:p>
            <a:pPr algn="l">
              <a:spcAft>
                <a:spcPts val="0"/>
              </a:spcAft>
            </a:pPr>
            <a:r>
              <a:rPr sz="1200" b="0" i="0">
                <a:solidFill>
                  <a:srgbClr val="1F1F1F"/>
                </a:solidFill>
                <a:latin typeface="Calibri"/>
              </a:rPr>
              <a:t>Uji perangkat keras</a:t>
            </a:r>
          </a:p>
        </p:txBody>
      </p:sp>
      <p:sp>
        <p:nvSpPr>
          <p:cNvPr id="12" name="TextBox 11"/>
          <p:cNvSpPr txBox="1"/>
          <p:nvPr/>
        </p:nvSpPr>
        <p:spPr>
          <a:xfrm>
            <a:off x="8614545" y="3438144"/>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A: 1.6.5 · 1.8.1 · 1.8.3</a:t>
            </a:r>
          </a:p>
          <a:p>
            <a:pPr algn="l">
              <a:spcAft>
                <a:spcPts val="0"/>
              </a:spcAft>
            </a:pPr>
            <a:r>
              <a:rPr sz="1200" b="0" i="0">
                <a:solidFill>
                  <a:srgbClr val="1F1F1F"/>
                </a:solidFill>
                <a:latin typeface="Calibri"/>
              </a:rPr>
              <a:t>Rakit, pasang, konfigurasi</a:t>
            </a:r>
          </a:p>
        </p:txBody>
      </p:sp>
      <p:sp>
        <p:nvSpPr>
          <p:cNvPr id="13" name="TextBox 12"/>
          <p:cNvSpPr txBox="1"/>
          <p:nvPr/>
        </p:nvSpPr>
        <p:spPr>
          <a:xfrm>
            <a:off x="8614545" y="4005072"/>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B: 1.7.4 · 1.7.5</a:t>
            </a:r>
          </a:p>
          <a:p>
            <a:pPr algn="l">
              <a:spcAft>
                <a:spcPts val="0"/>
              </a:spcAft>
            </a:pPr>
            <a:r>
              <a:rPr sz="1200" b="0" i="0">
                <a:solidFill>
                  <a:srgbClr val="1F1F1F"/>
                </a:solidFill>
                <a:latin typeface="Calibri"/>
              </a:rPr>
              <a:t>Uji integrasi &amp; uji kegagalan</a:t>
            </a:r>
          </a:p>
        </p:txBody>
      </p:sp>
      <p:sp>
        <p:nvSpPr>
          <p:cNvPr id="14" name="TextBox 13"/>
          <p:cNvSpPr txBox="1"/>
          <p:nvPr/>
        </p:nvSpPr>
        <p:spPr>
          <a:xfrm>
            <a:off x="8614545" y="4572000"/>
            <a:ext cx="2906895" cy="548640"/>
          </a:xfrm>
          <a:prstGeom prst="rect">
            <a:avLst/>
          </a:prstGeom>
          <a:noFill/>
        </p:spPr>
        <p:txBody>
          <a:bodyPr wrap="square" anchor="t" lIns="45720" rIns="45720">
            <a:spAutoFit/>
          </a:bodyPr>
          <a:lstStyle/>
          <a:p>
            <a:pPr algn="l">
              <a:spcAft>
                <a:spcPts val="0"/>
              </a:spcAft>
            </a:pPr>
            <a:r>
              <a:rPr sz="1200" b="1" i="0">
                <a:solidFill>
                  <a:srgbClr val="1B2A4A"/>
                </a:solidFill>
                <a:latin typeface="Calibri"/>
              </a:rPr>
              <a:t>1.7.6 → 1.8.6 → 1.1.4</a:t>
            </a:r>
          </a:p>
          <a:p>
            <a:pPr algn="l">
              <a:spcAft>
                <a:spcPts val="0"/>
              </a:spcAft>
            </a:pPr>
            <a:r>
              <a:rPr sz="1200" b="0" i="0">
                <a:solidFill>
                  <a:srgbClr val="1F1F1F"/>
                </a:solidFill>
                <a:latin typeface="Calibri"/>
              </a:rPr>
              <a:t>UAT, serah terima, penutupan</a:t>
            </a:r>
          </a:p>
        </p:txBody>
      </p:sp>
      <p:sp>
        <p:nvSpPr>
          <p:cNvPr id="15" name="TextBox 14"/>
          <p:cNvSpPr txBox="1"/>
          <p:nvPr/>
        </p:nvSpPr>
        <p:spPr>
          <a:xfrm>
            <a:off x="8614545" y="5166360"/>
            <a:ext cx="2906895" cy="1005840"/>
          </a:xfrm>
          <a:prstGeom prst="rect">
            <a:avLst/>
          </a:prstGeom>
          <a:noFill/>
        </p:spPr>
        <p:txBody>
          <a:bodyPr wrap="square" anchor="t" lIns="45720" rIns="45720">
            <a:spAutoFit/>
          </a:bodyPr>
          <a:lstStyle/>
          <a:p>
            <a:pPr algn="l">
              <a:spcAft>
                <a:spcPts val="200"/>
              </a:spcAft>
            </a:pPr>
            <a:r>
              <a:rPr sz="1200" b="1" i="0">
                <a:solidFill>
                  <a:srgbClr val="1F1F1F"/>
                </a:solidFill>
                <a:latin typeface="Calibri"/>
              </a:rPr>
              <a:t>Float 0: </a:t>
            </a:r>
            <a:r>
              <a:rPr sz="1200" b="0" i="0">
                <a:solidFill>
                  <a:srgbClr val="1F1F1F"/>
                </a:solidFill>
                <a:latin typeface="Calibri"/>
              </a:rPr>
              <a:t>terlambat sehari = proyek mundur sehari</a:t>
            </a:r>
          </a:p>
          <a:p>
            <a:pPr algn="l">
              <a:spcAft>
                <a:spcPts val="200"/>
              </a:spcAft>
            </a:pPr>
            <a:r>
              <a:rPr sz="1200" b="1" i="0">
                <a:solidFill>
                  <a:srgbClr val="1F1F1F"/>
                </a:solidFill>
                <a:latin typeface="Calibri"/>
              </a:rPr>
              <a:t>Server: </a:t>
            </a:r>
            <a:r>
              <a:rPr sz="1200" b="0" i="0">
                <a:solidFill>
                  <a:srgbClr val="1F1F1F"/>
                </a:solidFill>
                <a:latin typeface="Calibri"/>
              </a:rPr>
              <a:t>float 10 hari, tidak kritis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Cadangan waktu dan pilihan mempercepat</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8</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Erlisnawati</a:t>
            </a:r>
          </a:p>
        </p:txBody>
      </p:sp>
      <p:sp>
        <p:nvSpPr>
          <p:cNvPr id="6" name="Rounded Rectangle 5"/>
          <p:cNvSpPr/>
          <p:nvPr/>
        </p:nvSpPr>
        <p:spPr>
          <a:xfrm>
            <a:off x="548640" y="1325880"/>
            <a:ext cx="3566160" cy="420624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3108960" cy="411480"/>
          </a:xfrm>
          <a:prstGeom prst="rect">
            <a:avLst/>
          </a:prstGeom>
          <a:noFill/>
        </p:spPr>
        <p:txBody>
          <a:bodyPr wrap="square" anchor="t" lIns="45720" rIns="45720">
            <a:spAutoFit/>
          </a:bodyPr>
          <a:lstStyle/>
          <a:p>
            <a:pPr algn="l">
              <a:spcAft>
                <a:spcPts val="600"/>
              </a:spcAft>
            </a:pPr>
            <a:r>
              <a:rPr sz="1700" b="1" i="0">
                <a:solidFill>
                  <a:srgbClr val="2A78D6"/>
                </a:solidFill>
                <a:latin typeface="Calibri"/>
              </a:rPr>
              <a:t>Cadangan waktu</a:t>
            </a:r>
          </a:p>
        </p:txBody>
      </p:sp>
      <p:sp>
        <p:nvSpPr>
          <p:cNvPr id="8" name="TextBox 7"/>
          <p:cNvSpPr txBox="1"/>
          <p:nvPr/>
        </p:nvSpPr>
        <p:spPr>
          <a:xfrm>
            <a:off x="777240" y="1965960"/>
            <a:ext cx="3108960" cy="731520"/>
          </a:xfrm>
          <a:prstGeom prst="rect">
            <a:avLst/>
          </a:prstGeom>
          <a:noFill/>
        </p:spPr>
        <p:txBody>
          <a:bodyPr wrap="square" anchor="t" lIns="45720" rIns="45720">
            <a:spAutoFit/>
          </a:bodyPr>
          <a:lstStyle/>
          <a:p>
            <a:pPr algn="l">
              <a:spcAft>
                <a:spcPts val="600"/>
              </a:spcAft>
            </a:pPr>
            <a:r>
              <a:rPr sz="3000" b="1" i="0">
                <a:solidFill>
                  <a:srgbClr val="2A78D6"/>
                </a:solidFill>
                <a:latin typeface="Cambria"/>
              </a:rPr>
              <a:t>5 hari kerja</a:t>
            </a:r>
          </a:p>
        </p:txBody>
      </p:sp>
      <p:sp>
        <p:nvSpPr>
          <p:cNvPr id="9" name="TextBox 8"/>
          <p:cNvSpPr txBox="1"/>
          <p:nvPr/>
        </p:nvSpPr>
        <p:spPr>
          <a:xfrm>
            <a:off x="777240" y="2880360"/>
            <a:ext cx="3108960" cy="3108960"/>
          </a:xfrm>
          <a:prstGeom prst="rect">
            <a:avLst/>
          </a:prstGeom>
          <a:noFill/>
        </p:spPr>
        <p:txBody>
          <a:bodyPr wrap="square" anchor="t" lIns="45720" rIns="45720">
            <a:spAutoFit/>
          </a:bodyPr>
          <a:lstStyle/>
          <a:p>
            <a:pPr algn="l">
              <a:spcAft>
                <a:spcPts val="1000"/>
              </a:spcAft>
            </a:pPr>
            <a:r>
              <a:rPr sz="1500" b="0" i="0">
                <a:solidFill>
                  <a:srgbClr val="1F1F1F"/>
                </a:solidFill>
                <a:latin typeface="Calibri"/>
              </a:rPr>
              <a:t>• Contingency reserve, dipegang manajer proyek</a:t>
            </a:r>
          </a:p>
          <a:p>
            <a:pPr algn="l">
              <a:spcAft>
                <a:spcPts val="1000"/>
              </a:spcAft>
            </a:pPr>
            <a:r>
              <a:rPr sz="1500" b="0" i="0">
                <a:solidFill>
                  <a:srgbClr val="1F1F1F"/>
                </a:solidFill>
                <a:latin typeface="Calibri"/>
              </a:rPr>
              <a:t>• Tidak masuk jadwal; batas terburuk hari ke-97</a:t>
            </a:r>
          </a:p>
          <a:p>
            <a:pPr algn="l">
              <a:spcAft>
                <a:spcPts val="1000"/>
              </a:spcAft>
            </a:pPr>
            <a:r>
              <a:rPr sz="1500" b="0" i="0">
                <a:solidFill>
                  <a:srgbClr val="1F1F1F"/>
                </a:solidFill>
                <a:latin typeface="Calibri"/>
              </a:rPr>
              <a:t>• Untuk bug yang lebih banyak dari perkiraan (R-06)</a:t>
            </a:r>
          </a:p>
        </p:txBody>
      </p:sp>
      <p:sp>
        <p:nvSpPr>
          <p:cNvPr id="10" name="Rounded Rectangle 9"/>
          <p:cNvSpPr/>
          <p:nvPr/>
        </p:nvSpPr>
        <p:spPr>
          <a:xfrm>
            <a:off x="4297679" y="1325880"/>
            <a:ext cx="3566160" cy="42062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508760"/>
            <a:ext cx="3108960" cy="411480"/>
          </a:xfrm>
          <a:prstGeom prst="rect">
            <a:avLst/>
          </a:prstGeom>
          <a:noFill/>
        </p:spPr>
        <p:txBody>
          <a:bodyPr wrap="square" anchor="t" lIns="45720" rIns="45720">
            <a:spAutoFit/>
          </a:bodyPr>
          <a:lstStyle/>
          <a:p>
            <a:pPr algn="l">
              <a:spcAft>
                <a:spcPts val="600"/>
              </a:spcAft>
            </a:pPr>
            <a:r>
              <a:rPr sz="1700" b="1" i="0">
                <a:solidFill>
                  <a:srgbClr val="1B2A4A"/>
                </a:solidFill>
                <a:latin typeface="Calibri"/>
              </a:rPr>
              <a:t>Fast tracking</a:t>
            </a:r>
          </a:p>
        </p:txBody>
      </p:sp>
      <p:sp>
        <p:nvSpPr>
          <p:cNvPr id="12" name="TextBox 11"/>
          <p:cNvSpPr txBox="1"/>
          <p:nvPr/>
        </p:nvSpPr>
        <p:spPr>
          <a:xfrm>
            <a:off x="4526279" y="1965960"/>
            <a:ext cx="3108960" cy="731520"/>
          </a:xfrm>
          <a:prstGeom prst="rect">
            <a:avLst/>
          </a:prstGeom>
          <a:noFill/>
        </p:spPr>
        <p:txBody>
          <a:bodyPr wrap="square" anchor="t" lIns="45720" rIns="45720">
            <a:spAutoFit/>
          </a:bodyPr>
          <a:lstStyle/>
          <a:p>
            <a:pPr algn="l">
              <a:spcAft>
                <a:spcPts val="600"/>
              </a:spcAft>
            </a:pPr>
            <a:r>
              <a:rPr sz="3000" b="1" i="0">
                <a:solidFill>
                  <a:srgbClr val="1B2A4A"/>
                </a:solidFill>
                <a:latin typeface="Cambria"/>
              </a:rPr>
              <a:t>88 / 82 hari</a:t>
            </a:r>
          </a:p>
        </p:txBody>
      </p:sp>
      <p:sp>
        <p:nvSpPr>
          <p:cNvPr id="13" name="TextBox 12"/>
          <p:cNvSpPr txBox="1"/>
          <p:nvPr/>
        </p:nvSpPr>
        <p:spPr>
          <a:xfrm>
            <a:off x="4526279" y="2880360"/>
            <a:ext cx="3108960" cy="3108960"/>
          </a:xfrm>
          <a:prstGeom prst="rect">
            <a:avLst/>
          </a:prstGeom>
          <a:noFill/>
        </p:spPr>
        <p:txBody>
          <a:bodyPr wrap="square" anchor="t" lIns="45720" rIns="45720">
            <a:spAutoFit/>
          </a:bodyPr>
          <a:lstStyle/>
          <a:p>
            <a:pPr algn="l">
              <a:spcAft>
                <a:spcPts val="1000"/>
              </a:spcAft>
            </a:pPr>
            <a:r>
              <a:rPr sz="1500" b="0" i="0">
                <a:solidFill>
                  <a:srgbClr val="1F1F1F"/>
                </a:solidFill>
                <a:latin typeface="Calibri"/>
              </a:rPr>
              <a:t>• Komponen prototipe dibeli lebih dulu</a:t>
            </a:r>
          </a:p>
          <a:p>
            <a:pPr algn="l">
              <a:spcAft>
                <a:spcPts val="1000"/>
              </a:spcAft>
            </a:pPr>
            <a:r>
              <a:rPr sz="1500" b="0" i="0">
                <a:solidFill>
                  <a:srgbClr val="1F1F1F"/>
                </a:solidFill>
                <a:latin typeface="Calibri"/>
              </a:rPr>
              <a:t>• 88 hari (1 programmer) atau 82 hari (2 programmer)</a:t>
            </a:r>
          </a:p>
          <a:p>
            <a:pPr algn="l">
              <a:spcAft>
                <a:spcPts val="1000"/>
              </a:spcAft>
            </a:pPr>
            <a:r>
              <a:rPr sz="1500" b="0" i="0">
                <a:solidFill>
                  <a:srgbClr val="1F1F1F"/>
                </a:solidFill>
                <a:latin typeface="Calibri"/>
              </a:rPr>
              <a:t>• Tidak diterapkan: 92 hari sudah sesuai target</a:t>
            </a:r>
          </a:p>
        </p:txBody>
      </p:sp>
      <p:sp>
        <p:nvSpPr>
          <p:cNvPr id="14" name="Rounded Rectangle 13"/>
          <p:cNvSpPr/>
          <p:nvPr/>
        </p:nvSpPr>
        <p:spPr>
          <a:xfrm>
            <a:off x="8046719" y="1325880"/>
            <a:ext cx="3566160" cy="420624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508760"/>
            <a:ext cx="3108960" cy="411480"/>
          </a:xfrm>
          <a:prstGeom prst="rect">
            <a:avLst/>
          </a:prstGeom>
          <a:noFill/>
        </p:spPr>
        <p:txBody>
          <a:bodyPr wrap="square" anchor="t" lIns="45720" rIns="45720">
            <a:spAutoFit/>
          </a:bodyPr>
          <a:lstStyle/>
          <a:p>
            <a:pPr algn="l">
              <a:spcAft>
                <a:spcPts val="600"/>
              </a:spcAft>
            </a:pPr>
            <a:r>
              <a:rPr sz="1700" b="1" i="0">
                <a:solidFill>
                  <a:srgbClr val="1B2A4A"/>
                </a:solidFill>
                <a:latin typeface="Calibri"/>
              </a:rPr>
              <a:t>Cek sumber daya</a:t>
            </a:r>
          </a:p>
        </p:txBody>
      </p:sp>
      <p:sp>
        <p:nvSpPr>
          <p:cNvPr id="16" name="TextBox 15"/>
          <p:cNvSpPr txBox="1"/>
          <p:nvPr/>
        </p:nvSpPr>
        <p:spPr>
          <a:xfrm>
            <a:off x="8275319" y="1965960"/>
            <a:ext cx="3108960" cy="731520"/>
          </a:xfrm>
          <a:prstGeom prst="rect">
            <a:avLst/>
          </a:prstGeom>
          <a:noFill/>
        </p:spPr>
        <p:txBody>
          <a:bodyPr wrap="square" anchor="t" lIns="45720" rIns="45720">
            <a:spAutoFit/>
          </a:bodyPr>
          <a:lstStyle/>
          <a:p>
            <a:pPr algn="l">
              <a:spcAft>
                <a:spcPts val="600"/>
              </a:spcAft>
            </a:pPr>
            <a:r>
              <a:rPr sz="3000" b="1" i="0">
                <a:solidFill>
                  <a:srgbClr val="1B2A4A"/>
                </a:solidFill>
                <a:latin typeface="Cambria"/>
              </a:rPr>
              <a:t>Tetap 92 hari</a:t>
            </a:r>
          </a:p>
        </p:txBody>
      </p:sp>
      <p:sp>
        <p:nvSpPr>
          <p:cNvPr id="17" name="TextBox 16"/>
          <p:cNvSpPr txBox="1"/>
          <p:nvPr/>
        </p:nvSpPr>
        <p:spPr>
          <a:xfrm>
            <a:off x="8275319" y="2880360"/>
            <a:ext cx="3108960" cy="3108960"/>
          </a:xfrm>
          <a:prstGeom prst="rect">
            <a:avLst/>
          </a:prstGeom>
          <a:noFill/>
        </p:spPr>
        <p:txBody>
          <a:bodyPr wrap="square" anchor="t" lIns="45720" rIns="45720">
            <a:spAutoFit/>
          </a:bodyPr>
          <a:lstStyle/>
          <a:p>
            <a:pPr algn="l">
              <a:spcAft>
                <a:spcPts val="1000"/>
              </a:spcAft>
            </a:pPr>
            <a:r>
              <a:rPr sz="1500" b="0" i="0">
                <a:solidFill>
                  <a:srgbClr val="1F1F1F"/>
                </a:solidFill>
                <a:latin typeface="Calibri"/>
              </a:rPr>
              <a:t>• Tim 5 orang; Engineer IoT merangkap teknisi lapangan</a:t>
            </a:r>
          </a:p>
          <a:p>
            <a:pPr algn="l">
              <a:spcAft>
                <a:spcPts val="1000"/>
              </a:spcAft>
            </a:pPr>
            <a:r>
              <a:rPr sz="1500" b="0" i="0">
                <a:solidFill>
                  <a:srgbClr val="1F1F1F"/>
                </a:solidFill>
                <a:latin typeface="Calibri"/>
              </a:rPr>
              <a:t>• Pekerjaan yang bertumpuk masih muat dalam float</a:t>
            </a:r>
          </a:p>
          <a:p>
            <a:pPr algn="l">
              <a:spcAft>
                <a:spcPts val="1000"/>
              </a:spcAft>
            </a:pPr>
            <a:r>
              <a:rPr sz="1500" b="0" i="0">
                <a:solidFill>
                  <a:srgbClr val="1F1F1F"/>
                </a:solidFill>
                <a:latin typeface="Calibri"/>
              </a:rPr>
              <a:t>• Satu programmer server pun cukup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Risk Register: 10 risiko dalam matriks 5 × 5</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9</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Sri Rejeki</a:t>
            </a:r>
          </a:p>
        </p:txBody>
      </p:sp>
      <p:sp>
        <p:nvSpPr>
          <p:cNvPr id="6" name="TextBox 5"/>
          <p:cNvSpPr txBox="1"/>
          <p:nvPr/>
        </p:nvSpPr>
        <p:spPr>
          <a:xfrm>
            <a:off x="548640" y="1234440"/>
            <a:ext cx="5120640" cy="365760"/>
          </a:xfrm>
          <a:prstGeom prst="rect">
            <a:avLst/>
          </a:prstGeom>
          <a:noFill/>
        </p:spPr>
        <p:txBody>
          <a:bodyPr wrap="square" anchor="t" lIns="45720" rIns="45720">
            <a:spAutoFit/>
          </a:bodyPr>
          <a:lstStyle/>
          <a:p>
            <a:pPr algn="ctr">
              <a:spcAft>
                <a:spcPts val="600"/>
              </a:spcAft>
            </a:pPr>
            <a:r>
              <a:rPr sz="1600" b="1" i="0">
                <a:solidFill>
                  <a:srgbClr val="1B2A4A"/>
                </a:solidFill>
                <a:latin typeface="Calibri"/>
              </a:rPr>
              <a:t>Sebelum respons</a:t>
            </a:r>
          </a:p>
        </p:txBody>
      </p:sp>
      <p:graphicFrame>
        <p:nvGraphicFramePr>
          <p:cNvPr id="7" name="Table 6"/>
          <p:cNvGraphicFramePr>
            <a:graphicFrameLocks noGrp="1"/>
          </p:cNvGraphicFramePr>
          <p:nvPr/>
        </p:nvGraphicFramePr>
        <p:xfrm>
          <a:off x="868680" y="1645920"/>
          <a:ext cx="4800600" cy="3291840"/>
        </p:xfrm>
        <a:graphic>
          <a:graphicData uri="http://schemas.openxmlformats.org/drawingml/2006/table">
            <a:tbl>
              <a:tblPr firstRow="1" bandRow="1">
                <a:tableStyleId>{5C22544A-7EE6-4342-B048-85BDC9FD1C3A}</a:tableStyleId>
              </a:tblPr>
              <a:tblGrid>
                <a:gridCol w="457200"/>
                <a:gridCol w="868680"/>
                <a:gridCol w="868680"/>
                <a:gridCol w="868680"/>
                <a:gridCol w="868680"/>
                <a:gridCol w="868680"/>
              </a:tblGrid>
              <a:tr h="548640">
                <a:tc>
                  <a:txBody>
                    <a:bodyPr/>
                    <a:lstStyle/>
                    <a:p>
                      <a:pPr algn="ctr"/>
                      <a:r>
                        <a:rPr sz="1000" b="1">
                          <a:solidFill>
                            <a:srgbClr val="1F1F1F"/>
                          </a:solidFill>
                          <a:latin typeface="Calibri"/>
                        </a:rPr>
                        <a:t>K \ D</a:t>
                      </a:r>
                    </a:p>
                  </a:txBody>
                  <a:tcPr marL="54864" marR="54864" marT="27432" marB="27432" anchor="ctr">
                    <a:solidFill>
                      <a:srgbClr val="F3F3F1"/>
                    </a:solidFill>
                  </a:tcPr>
                </a:tc>
                <a:tc>
                  <a:txBody>
                    <a:bodyPr/>
                    <a:lstStyle/>
                    <a:p>
                      <a:pPr algn="ctr"/>
                      <a:r>
                        <a:rPr sz="1200" b="1">
                          <a:solidFill>
                            <a:srgbClr val="1F1F1F"/>
                          </a:solidFill>
                          <a:latin typeface="Calibri"/>
                        </a:rPr>
                        <a:t>1</a:t>
                      </a:r>
                    </a:p>
                  </a:txBody>
                  <a:tcPr marL="54864" marR="54864" marT="27432" marB="27432" anchor="ctr">
                    <a:solidFill>
                      <a:srgbClr val="F3F3F1"/>
                    </a:solidFill>
                  </a:tcPr>
                </a:tc>
                <a:tc>
                  <a:txBody>
                    <a:bodyPr/>
                    <a:lstStyle/>
                    <a:p>
                      <a:pPr algn="ctr"/>
                      <a:r>
                        <a:rPr sz="1200" b="1">
                          <a:solidFill>
                            <a:srgbClr val="1F1F1F"/>
                          </a:solidFill>
                          <a:latin typeface="Calibri"/>
                        </a:rPr>
                        <a:t>2</a:t>
                      </a:r>
                    </a:p>
                  </a:txBody>
                  <a:tcPr marL="54864" marR="54864" marT="27432" marB="27432" anchor="ctr">
                    <a:solidFill>
                      <a:srgbClr val="F3F3F1"/>
                    </a:solidFill>
                  </a:tcPr>
                </a:tc>
                <a:tc>
                  <a:txBody>
                    <a:bodyPr/>
                    <a:lstStyle/>
                    <a:p>
                      <a:pPr algn="ctr"/>
                      <a:r>
                        <a:rPr sz="1200" b="1">
                          <a:solidFill>
                            <a:srgbClr val="1F1F1F"/>
                          </a:solidFill>
                          <a:latin typeface="Calibri"/>
                        </a:rPr>
                        <a:t>3</a:t>
                      </a:r>
                    </a:p>
                  </a:txBody>
                  <a:tcPr marL="54864" marR="54864" marT="27432" marB="27432" anchor="ctr">
                    <a:solidFill>
                      <a:srgbClr val="F3F3F1"/>
                    </a:solidFill>
                  </a:tcPr>
                </a:tc>
                <a:tc>
                  <a:txBody>
                    <a:bodyPr/>
                    <a:lstStyle/>
                    <a:p>
                      <a:pPr algn="ctr"/>
                      <a:r>
                        <a:rPr sz="1200" b="1">
                          <a:solidFill>
                            <a:srgbClr val="1F1F1F"/>
                          </a:solidFill>
                          <a:latin typeface="Calibri"/>
                        </a:rPr>
                        <a:t>4</a:t>
                      </a:r>
                    </a:p>
                  </a:txBody>
                  <a:tcPr marL="54864" marR="54864" marT="27432" marB="27432" anchor="ctr">
                    <a:solidFill>
                      <a:srgbClr val="F3F3F1"/>
                    </a:solidFill>
                  </a:tcPr>
                </a:tc>
                <a:tc>
                  <a:txBody>
                    <a:bodyPr/>
                    <a:lstStyle/>
                    <a:p>
                      <a:pPr algn="ctr"/>
                      <a:r>
                        <a:rPr sz="1200" b="1">
                          <a:solidFill>
                            <a:srgbClr val="1F1F1F"/>
                          </a:solidFill>
                          <a:latin typeface="Calibri"/>
                        </a:rPr>
                        <a:t>5</a:t>
                      </a:r>
                    </a:p>
                  </a:txBody>
                  <a:tcPr marL="54864" marR="54864" marT="27432" marB="27432" anchor="ctr">
                    <a:solidFill>
                      <a:srgbClr val="F3F3F1"/>
                    </a:solidFill>
                  </a:tcPr>
                </a:tc>
              </a:tr>
              <a:tr h="548640">
                <a:tc>
                  <a:txBody>
                    <a:bodyPr/>
                    <a:lstStyle/>
                    <a:p>
                      <a:pPr algn="ctr"/>
                      <a:r>
                        <a:rPr sz="1200" b="1">
                          <a:solidFill>
                            <a:srgbClr val="1F1F1F"/>
                          </a:solidFill>
                          <a:latin typeface="Calibri"/>
                        </a:rPr>
                        <a:t>5</a:t>
                      </a:r>
                    </a:p>
                  </a:txBody>
                  <a:tcPr marL="54864" marR="54864" marT="27432" marB="27432" anchor="ctr">
                    <a:solidFill>
                      <a:srgbClr val="F3F3F1"/>
                    </a:solidFill>
                  </a:tcPr>
                </a:tc>
                <a:tc>
                  <a:txBody>
                    <a:bodyPr/>
                    <a:lstStyle/>
                    <a:p>
                      <a:pPr algn="ctr"/>
                      <a:r>
                        <a:rPr sz="900" b="0">
                          <a:solidFill>
                            <a:srgbClr val="52514E"/>
                          </a:solidFill>
                          <a:latin typeface="Calibri"/>
                        </a:rPr>
                        <a:t>5</a:t>
                      </a:r>
                    </a:p>
                  </a:txBody>
                  <a:tcPr marL="54864" marR="54864" marT="27432" marB="27432" anchor="ctr">
                    <a:solidFill>
                      <a:srgbClr val="C6E0B4"/>
                    </a:solidFill>
                  </a:tcPr>
                </a:tc>
                <a:tc>
                  <a:txBody>
                    <a:bodyPr/>
                    <a:lstStyle/>
                    <a:p>
                      <a:pPr algn="ctr"/>
                      <a:r>
                        <a:rPr sz="900" b="0">
                          <a:solidFill>
                            <a:srgbClr val="52514E"/>
                          </a:solidFill>
                          <a:latin typeface="Calibri"/>
                        </a:rPr>
                        <a:t>10</a:t>
                      </a:r>
                    </a:p>
                  </a:txBody>
                  <a:tcPr marL="54864" marR="54864" marT="27432" marB="27432" anchor="ctr">
                    <a:solidFill>
                      <a:srgbClr val="FFE699"/>
                    </a:solidFill>
                  </a:tcPr>
                </a:tc>
                <a:tc>
                  <a:txBody>
                    <a:bodyPr/>
                    <a:lstStyle/>
                    <a:p>
                      <a:pPr algn="ctr"/>
                      <a:r>
                        <a:rPr sz="900" b="0">
                          <a:solidFill>
                            <a:srgbClr val="52514E"/>
                          </a:solidFill>
                          <a:latin typeface="Calibri"/>
                        </a:rPr>
                        <a:t>15</a:t>
                      </a:r>
                    </a:p>
                  </a:txBody>
                  <a:tcPr marL="54864" marR="54864" marT="27432" marB="27432" anchor="ctr">
                    <a:solidFill>
                      <a:srgbClr val="F4B183"/>
                    </a:solidFill>
                  </a:tcPr>
                </a:tc>
                <a:tc>
                  <a:txBody>
                    <a:bodyPr/>
                    <a:lstStyle/>
                    <a:p>
                      <a:pPr algn="ctr"/>
                      <a:r>
                        <a:rPr sz="900" b="0">
                          <a:solidFill>
                            <a:srgbClr val="52514E"/>
                          </a:solidFill>
                          <a:latin typeface="Calibri"/>
                        </a:rPr>
                        <a:t>20</a:t>
                      </a:r>
                    </a:p>
                  </a:txBody>
                  <a:tcPr marL="54864" marR="54864" marT="27432" marB="27432" anchor="ctr">
                    <a:solidFill>
                      <a:srgbClr val="FF7C80"/>
                    </a:solidFill>
                  </a:tcPr>
                </a:tc>
                <a:tc>
                  <a:txBody>
                    <a:bodyPr/>
                    <a:lstStyle/>
                    <a:p>
                      <a:pPr algn="ctr"/>
                      <a:r>
                        <a:rPr sz="900" b="0">
                          <a:solidFill>
                            <a:srgbClr val="52514E"/>
                          </a:solidFill>
                          <a:latin typeface="Calibri"/>
                        </a:rPr>
                        <a:t>25</a:t>
                      </a:r>
                    </a:p>
                  </a:txBody>
                  <a:tcPr marL="54864" marR="54864" marT="27432" marB="27432" anchor="ctr">
                    <a:solidFill>
                      <a:srgbClr val="FF7C80"/>
                    </a:solidFill>
                  </a:tcPr>
                </a:tc>
              </a:tr>
              <a:tr h="548640">
                <a:tc>
                  <a:txBody>
                    <a:bodyPr/>
                    <a:lstStyle/>
                    <a:p>
                      <a:pPr algn="ctr"/>
                      <a:r>
                        <a:rPr sz="1200" b="1">
                          <a:solidFill>
                            <a:srgbClr val="1F1F1F"/>
                          </a:solidFill>
                          <a:latin typeface="Calibri"/>
                        </a:rPr>
                        <a:t>4</a:t>
                      </a:r>
                    </a:p>
                  </a:txBody>
                  <a:tcPr marL="54864" marR="54864" marT="27432" marB="27432" anchor="ctr">
                    <a:solidFill>
                      <a:srgbClr val="F3F3F1"/>
                    </a:solidFill>
                  </a:tcPr>
                </a:tc>
                <a:tc>
                  <a:txBody>
                    <a:bodyPr/>
                    <a:lstStyle/>
                    <a:p>
                      <a:pPr algn="ctr"/>
                      <a:r>
                        <a:rPr sz="900" b="0">
                          <a:solidFill>
                            <a:srgbClr val="52514E"/>
                          </a:solidFill>
                          <a:latin typeface="Calibri"/>
                        </a:rPr>
                        <a:t>4</a:t>
                      </a:r>
                    </a:p>
                  </a:txBody>
                  <a:tcPr marL="54864" marR="54864" marT="27432" marB="27432" anchor="ctr">
                    <a:solidFill>
                      <a:srgbClr val="C6E0B4"/>
                    </a:solidFill>
                  </a:tcPr>
                </a:tc>
                <a:tc>
                  <a:txBody>
                    <a:bodyPr/>
                    <a:lstStyle/>
                    <a:p>
                      <a:pPr algn="ctr"/>
                      <a:r>
                        <a:rPr sz="900" b="0">
                          <a:solidFill>
                            <a:srgbClr val="52514E"/>
                          </a:solidFill>
                          <a:latin typeface="Calibri"/>
                        </a:rPr>
                        <a:t>8</a:t>
                      </a:r>
                    </a:p>
                  </a:txBody>
                  <a:tcPr marL="54864" marR="54864" marT="27432" marB="27432" anchor="ctr">
                    <a:solidFill>
                      <a:srgbClr val="FFE699"/>
                    </a:solidFill>
                  </a:tcPr>
                </a:tc>
                <a:tc>
                  <a:txBody>
                    <a:bodyPr/>
                    <a:lstStyle/>
                    <a:p>
                      <a:pPr algn="ctr"/>
                      <a:r>
                        <a:rPr sz="900" b="0">
                          <a:solidFill>
                            <a:srgbClr val="52514E"/>
                          </a:solidFill>
                          <a:latin typeface="Calibri"/>
                        </a:rPr>
                        <a:t>12</a:t>
                      </a:r>
                    </a:p>
                    <a:p>
                      <a:pPr algn="ctr"/>
                      <a:r>
                        <a:rPr sz="1200" b="1">
                          <a:solidFill>
                            <a:srgbClr val="1F1F1F"/>
                          </a:solidFill>
                          <a:latin typeface="Calibri"/>
                        </a:rPr>
                        <a:t>09</a:t>
                      </a:r>
                    </a:p>
                  </a:txBody>
                  <a:tcPr marL="54864" marR="54864" marT="27432" marB="27432" anchor="ctr">
                    <a:solidFill>
                      <a:srgbClr val="FFE699"/>
                    </a:solidFill>
                  </a:tcPr>
                </a:tc>
                <a:tc>
                  <a:txBody>
                    <a:bodyPr/>
                    <a:lstStyle/>
                    <a:p>
                      <a:pPr algn="ctr"/>
                      <a:r>
                        <a:rPr sz="900" b="0">
                          <a:solidFill>
                            <a:srgbClr val="52514E"/>
                          </a:solidFill>
                          <a:latin typeface="Calibri"/>
                        </a:rPr>
                        <a:t>16</a:t>
                      </a:r>
                    </a:p>
                    <a:p>
                      <a:pPr algn="ctr"/>
                      <a:r>
                        <a:rPr sz="1200" b="1">
                          <a:solidFill>
                            <a:srgbClr val="1F1F1F"/>
                          </a:solidFill>
                          <a:latin typeface="Calibri"/>
                        </a:rPr>
                        <a:t>01</a:t>
                      </a:r>
                    </a:p>
                  </a:txBody>
                  <a:tcPr marL="54864" marR="54864" marT="27432" marB="27432" anchor="ctr">
                    <a:solidFill>
                      <a:srgbClr val="F4B183"/>
                    </a:solidFill>
                  </a:tcPr>
                </a:tc>
                <a:tc>
                  <a:txBody>
                    <a:bodyPr/>
                    <a:lstStyle/>
                    <a:p>
                      <a:pPr algn="ctr"/>
                      <a:r>
                        <a:rPr sz="900" b="0">
                          <a:solidFill>
                            <a:srgbClr val="52514E"/>
                          </a:solidFill>
                          <a:latin typeface="Calibri"/>
                        </a:rPr>
                        <a:t>20</a:t>
                      </a:r>
                    </a:p>
                  </a:txBody>
                  <a:tcPr marL="54864" marR="54864" marT="27432" marB="27432" anchor="ctr">
                    <a:solidFill>
                      <a:srgbClr val="FF7C80"/>
                    </a:solidFill>
                  </a:tcPr>
                </a:tc>
              </a:tr>
              <a:tr h="548640">
                <a:tc>
                  <a:txBody>
                    <a:bodyPr/>
                    <a:lstStyle/>
                    <a:p>
                      <a:pPr algn="ctr"/>
                      <a:r>
                        <a:rPr sz="1200" b="1">
                          <a:solidFill>
                            <a:srgbClr val="1F1F1F"/>
                          </a:solidFill>
                          <a:latin typeface="Calibri"/>
                        </a:rPr>
                        <a:t>3</a:t>
                      </a:r>
                    </a:p>
                  </a:txBody>
                  <a:tcPr marL="54864" marR="54864" marT="27432" marB="27432" anchor="ctr">
                    <a:solidFill>
                      <a:srgbClr val="F3F3F1"/>
                    </a:solidFill>
                  </a:tcPr>
                </a:tc>
                <a:tc>
                  <a:txBody>
                    <a:bodyPr/>
                    <a:lstStyle/>
                    <a:p>
                      <a:pPr algn="ctr"/>
                      <a:r>
                        <a:rPr sz="900" b="0">
                          <a:solidFill>
                            <a:srgbClr val="52514E"/>
                          </a:solidFill>
                          <a:latin typeface="Calibri"/>
                        </a:rPr>
                        <a:t>3</a:t>
                      </a:r>
                    </a:p>
                  </a:txBody>
                  <a:tcPr marL="54864" marR="54864" marT="27432" marB="27432" anchor="ctr">
                    <a:solidFill>
                      <a:srgbClr val="C6E0B4"/>
                    </a:solidFill>
                  </a:tcPr>
                </a:tc>
                <a:tc>
                  <a:txBody>
                    <a:bodyPr/>
                    <a:lstStyle/>
                    <a:p>
                      <a:pPr algn="ctr"/>
                      <a:r>
                        <a:rPr sz="900" b="0">
                          <a:solidFill>
                            <a:srgbClr val="52514E"/>
                          </a:solidFill>
                          <a:latin typeface="Calibri"/>
                        </a:rPr>
                        <a:t>6</a:t>
                      </a:r>
                    </a:p>
                  </a:txBody>
                  <a:tcPr marL="54864" marR="54864" marT="27432" marB="27432" anchor="ctr">
                    <a:solidFill>
                      <a:srgbClr val="FFE699"/>
                    </a:solidFill>
                  </a:tcPr>
                </a:tc>
                <a:tc>
                  <a:txBody>
                    <a:bodyPr/>
                    <a:lstStyle/>
                    <a:p>
                      <a:pPr algn="ctr"/>
                      <a:r>
                        <a:rPr sz="900" b="0">
                          <a:solidFill>
                            <a:srgbClr val="52514E"/>
                          </a:solidFill>
                          <a:latin typeface="Calibri"/>
                        </a:rPr>
                        <a:t>9</a:t>
                      </a:r>
                    </a:p>
                    <a:p>
                      <a:pPr algn="ctr"/>
                      <a:r>
                        <a:rPr sz="1200" b="1">
                          <a:solidFill>
                            <a:srgbClr val="1F1F1F"/>
                          </a:solidFill>
                          <a:latin typeface="Calibri"/>
                        </a:rPr>
                        <a:t>06</a:t>
                      </a:r>
                    </a:p>
                  </a:txBody>
                  <a:tcPr marL="54864" marR="54864" marT="27432" marB="27432" anchor="ctr">
                    <a:solidFill>
                      <a:srgbClr val="FFE699"/>
                    </a:solidFill>
                  </a:tcPr>
                </a:tc>
                <a:tc>
                  <a:txBody>
                    <a:bodyPr/>
                    <a:lstStyle/>
                    <a:p>
                      <a:pPr algn="ctr"/>
                      <a:r>
                        <a:rPr sz="900" b="0">
                          <a:solidFill>
                            <a:srgbClr val="52514E"/>
                          </a:solidFill>
                          <a:latin typeface="Calibri"/>
                        </a:rPr>
                        <a:t>12</a:t>
                      </a:r>
                    </a:p>
                    <a:p>
                      <a:pPr algn="ctr"/>
                      <a:r>
                        <a:rPr sz="1200" b="1">
                          <a:solidFill>
                            <a:srgbClr val="1F1F1F"/>
                          </a:solidFill>
                          <a:latin typeface="Calibri"/>
                        </a:rPr>
                        <a:t>04, 05, 08</a:t>
                      </a:r>
                    </a:p>
                  </a:txBody>
                  <a:tcPr marL="54864" marR="54864" marT="27432" marB="27432" anchor="ctr">
                    <a:solidFill>
                      <a:srgbClr val="FFE699"/>
                    </a:solidFill>
                  </a:tcPr>
                </a:tc>
                <a:tc>
                  <a:txBody>
                    <a:bodyPr/>
                    <a:lstStyle/>
                    <a:p>
                      <a:pPr algn="ctr"/>
                      <a:r>
                        <a:rPr sz="900" b="0">
                          <a:solidFill>
                            <a:srgbClr val="52514E"/>
                          </a:solidFill>
                          <a:latin typeface="Calibri"/>
                        </a:rPr>
                        <a:t>15</a:t>
                      </a:r>
                    </a:p>
                    <a:p>
                      <a:pPr algn="ctr"/>
                      <a:r>
                        <a:rPr sz="1200" b="1">
                          <a:solidFill>
                            <a:srgbClr val="1F1F1F"/>
                          </a:solidFill>
                          <a:latin typeface="Calibri"/>
                        </a:rPr>
                        <a:t>03</a:t>
                      </a:r>
                    </a:p>
                  </a:txBody>
                  <a:tcPr marL="54864" marR="54864" marT="27432" marB="27432" anchor="ctr">
                    <a:solidFill>
                      <a:srgbClr val="F4B183"/>
                    </a:solidFill>
                  </a:tcPr>
                </a:tc>
              </a:tr>
              <a:tr h="548640">
                <a:tc>
                  <a:txBody>
                    <a:bodyPr/>
                    <a:lstStyle/>
                    <a:p>
                      <a:pPr algn="ctr"/>
                      <a:r>
                        <a:rPr sz="1200" b="1">
                          <a:solidFill>
                            <a:srgbClr val="1F1F1F"/>
                          </a:solidFill>
                          <a:latin typeface="Calibri"/>
                        </a:rPr>
                        <a:t>2</a:t>
                      </a:r>
                    </a:p>
                  </a:txBody>
                  <a:tcPr marL="54864" marR="54864" marT="27432" marB="27432" anchor="ctr">
                    <a:solidFill>
                      <a:srgbClr val="F3F3F1"/>
                    </a:solidFill>
                  </a:tcPr>
                </a:tc>
                <a:tc>
                  <a:txBody>
                    <a:bodyPr/>
                    <a:lstStyle/>
                    <a:p>
                      <a:pPr algn="ctr"/>
                      <a:r>
                        <a:rPr sz="900" b="0">
                          <a:solidFill>
                            <a:srgbClr val="52514E"/>
                          </a:solidFill>
                          <a:latin typeface="Calibri"/>
                        </a:rPr>
                        <a:t>2</a:t>
                      </a:r>
                    </a:p>
                  </a:txBody>
                  <a:tcPr marL="54864" marR="54864" marT="27432" marB="27432" anchor="ctr">
                    <a:solidFill>
                      <a:srgbClr val="C6E0B4"/>
                    </a:solidFill>
                  </a:tcPr>
                </a:tc>
                <a:tc>
                  <a:txBody>
                    <a:bodyPr/>
                    <a:lstStyle/>
                    <a:p>
                      <a:pPr algn="ctr"/>
                      <a:r>
                        <a:rPr sz="900" b="0">
                          <a:solidFill>
                            <a:srgbClr val="52514E"/>
                          </a:solidFill>
                          <a:latin typeface="Calibri"/>
                        </a:rPr>
                        <a:t>4</a:t>
                      </a:r>
                    </a:p>
                  </a:txBody>
                  <a:tcPr marL="54864" marR="54864" marT="27432" marB="27432" anchor="ctr">
                    <a:solidFill>
                      <a:srgbClr val="C6E0B4"/>
                    </a:solidFill>
                  </a:tcPr>
                </a:tc>
                <a:tc>
                  <a:txBody>
                    <a:bodyPr/>
                    <a:lstStyle/>
                    <a:p>
                      <a:pPr algn="ctr"/>
                      <a:r>
                        <a:rPr sz="900" b="0">
                          <a:solidFill>
                            <a:srgbClr val="52514E"/>
                          </a:solidFill>
                          <a:latin typeface="Calibri"/>
                        </a:rPr>
                        <a:t>6</a:t>
                      </a:r>
                    </a:p>
                    <a:p>
                      <a:pPr algn="ctr"/>
                      <a:r>
                        <a:rPr sz="1200" b="1">
                          <a:solidFill>
                            <a:srgbClr val="1F1F1F"/>
                          </a:solidFill>
                          <a:latin typeface="Calibri"/>
                        </a:rPr>
                        <a:t>10</a:t>
                      </a:r>
                    </a:p>
                  </a:txBody>
                  <a:tcPr marL="54864" marR="54864" marT="27432" marB="27432" anchor="ctr">
                    <a:solidFill>
                      <a:srgbClr val="FFE699"/>
                    </a:solidFill>
                  </a:tcPr>
                </a:tc>
                <a:tc>
                  <a:txBody>
                    <a:bodyPr/>
                    <a:lstStyle/>
                    <a:p>
                      <a:pPr algn="ctr"/>
                      <a:r>
                        <a:rPr sz="900" b="0">
                          <a:solidFill>
                            <a:srgbClr val="52514E"/>
                          </a:solidFill>
                          <a:latin typeface="Calibri"/>
                        </a:rPr>
                        <a:t>8</a:t>
                      </a:r>
                    </a:p>
                    <a:p>
                      <a:pPr algn="ctr"/>
                      <a:r>
                        <a:rPr sz="1200" b="1">
                          <a:solidFill>
                            <a:srgbClr val="1F1F1F"/>
                          </a:solidFill>
                          <a:latin typeface="Calibri"/>
                        </a:rPr>
                        <a:t>02, 07</a:t>
                      </a:r>
                    </a:p>
                  </a:txBody>
                  <a:tcPr marL="54864" marR="54864" marT="27432" marB="27432" anchor="ctr">
                    <a:solidFill>
                      <a:srgbClr val="FFE699"/>
                    </a:solidFill>
                  </a:tcPr>
                </a:tc>
                <a:tc>
                  <a:txBody>
                    <a:bodyPr/>
                    <a:lstStyle/>
                    <a:p>
                      <a:pPr algn="ctr"/>
                      <a:r>
                        <a:rPr sz="900" b="0">
                          <a:solidFill>
                            <a:srgbClr val="52514E"/>
                          </a:solidFill>
                          <a:latin typeface="Calibri"/>
                        </a:rPr>
                        <a:t>10</a:t>
                      </a:r>
                    </a:p>
                  </a:txBody>
                  <a:tcPr marL="54864" marR="54864" marT="27432" marB="27432" anchor="ctr">
                    <a:solidFill>
                      <a:srgbClr val="FFE699"/>
                    </a:solidFill>
                  </a:tcPr>
                </a:tc>
              </a:tr>
              <a:tr h="548640">
                <a:tc>
                  <a:txBody>
                    <a:bodyPr/>
                    <a:lstStyle/>
                    <a:p>
                      <a:pPr algn="ctr"/>
                      <a:r>
                        <a:rPr sz="1200" b="1">
                          <a:solidFill>
                            <a:srgbClr val="1F1F1F"/>
                          </a:solidFill>
                          <a:latin typeface="Calibri"/>
                        </a:rPr>
                        <a:t>1</a:t>
                      </a:r>
                    </a:p>
                  </a:txBody>
                  <a:tcPr marL="54864" marR="54864" marT="27432" marB="27432" anchor="ctr">
                    <a:solidFill>
                      <a:srgbClr val="F3F3F1"/>
                    </a:solidFill>
                  </a:tcPr>
                </a:tc>
                <a:tc>
                  <a:txBody>
                    <a:bodyPr/>
                    <a:lstStyle/>
                    <a:p>
                      <a:pPr algn="ctr"/>
                      <a:r>
                        <a:rPr sz="900" b="0">
                          <a:solidFill>
                            <a:srgbClr val="52514E"/>
                          </a:solidFill>
                          <a:latin typeface="Calibri"/>
                        </a:rPr>
                        <a:t>1</a:t>
                      </a:r>
                    </a:p>
                  </a:txBody>
                  <a:tcPr marL="54864" marR="54864" marT="27432" marB="27432" anchor="ctr">
                    <a:solidFill>
                      <a:srgbClr val="C6E0B4"/>
                    </a:solidFill>
                  </a:tcPr>
                </a:tc>
                <a:tc>
                  <a:txBody>
                    <a:bodyPr/>
                    <a:lstStyle/>
                    <a:p>
                      <a:pPr algn="ctr"/>
                      <a:r>
                        <a:rPr sz="900" b="0">
                          <a:solidFill>
                            <a:srgbClr val="52514E"/>
                          </a:solidFill>
                          <a:latin typeface="Calibri"/>
                        </a:rPr>
                        <a:t>2</a:t>
                      </a:r>
                    </a:p>
                  </a:txBody>
                  <a:tcPr marL="54864" marR="54864" marT="27432" marB="27432" anchor="ctr">
                    <a:solidFill>
                      <a:srgbClr val="C6E0B4"/>
                    </a:solidFill>
                  </a:tcPr>
                </a:tc>
                <a:tc>
                  <a:txBody>
                    <a:bodyPr/>
                    <a:lstStyle/>
                    <a:p>
                      <a:pPr algn="ctr"/>
                      <a:r>
                        <a:rPr sz="900" b="0">
                          <a:solidFill>
                            <a:srgbClr val="52514E"/>
                          </a:solidFill>
                          <a:latin typeface="Calibri"/>
                        </a:rPr>
                        <a:t>3</a:t>
                      </a:r>
                    </a:p>
                  </a:txBody>
                  <a:tcPr marL="54864" marR="54864" marT="27432" marB="27432" anchor="ctr">
                    <a:solidFill>
                      <a:srgbClr val="C6E0B4"/>
                    </a:solidFill>
                  </a:tcPr>
                </a:tc>
                <a:tc>
                  <a:txBody>
                    <a:bodyPr/>
                    <a:lstStyle/>
                    <a:p>
                      <a:pPr algn="ctr"/>
                      <a:r>
                        <a:rPr sz="900" b="0">
                          <a:solidFill>
                            <a:srgbClr val="52514E"/>
                          </a:solidFill>
                          <a:latin typeface="Calibri"/>
                        </a:rPr>
                        <a:t>4</a:t>
                      </a:r>
                    </a:p>
                  </a:txBody>
                  <a:tcPr marL="54864" marR="54864" marT="27432" marB="27432" anchor="ctr">
                    <a:solidFill>
                      <a:srgbClr val="C6E0B4"/>
                    </a:solidFill>
                  </a:tcPr>
                </a:tc>
                <a:tc>
                  <a:txBody>
                    <a:bodyPr/>
                    <a:lstStyle/>
                    <a:p>
                      <a:pPr algn="ctr"/>
                      <a:r>
                        <a:rPr sz="900" b="0">
                          <a:solidFill>
                            <a:srgbClr val="52514E"/>
                          </a:solidFill>
                          <a:latin typeface="Calibri"/>
                        </a:rPr>
                        <a:t>5</a:t>
                      </a:r>
                    </a:p>
                  </a:txBody>
                  <a:tcPr marL="54864" marR="54864" marT="27432" marB="27432" anchor="ctr">
                    <a:solidFill>
                      <a:srgbClr val="C6E0B4"/>
                    </a:solidFill>
                  </a:tcPr>
                </a:tc>
              </a:tr>
            </a:tbl>
          </a:graphicData>
        </a:graphic>
      </p:graphicFrame>
      <p:sp>
        <p:nvSpPr>
          <p:cNvPr id="8" name="TextBox 7"/>
          <p:cNvSpPr txBox="1"/>
          <p:nvPr/>
        </p:nvSpPr>
        <p:spPr>
          <a:xfrm>
            <a:off x="548640" y="2926080"/>
            <a:ext cx="320040" cy="548640"/>
          </a:xfrm>
          <a:prstGeom prst="rect">
            <a:avLst/>
          </a:prstGeom>
          <a:noFill/>
        </p:spPr>
        <p:txBody>
          <a:bodyPr wrap="square" anchor="t" lIns="45720" rIns="45720">
            <a:spAutoFit/>
          </a:bodyPr>
          <a:lstStyle/>
          <a:p>
            <a:pPr algn="ctr">
              <a:spcAft>
                <a:spcPts val="600"/>
              </a:spcAft>
            </a:pPr>
            <a:r>
              <a:rPr sz="1300" b="1" i="0">
                <a:solidFill>
                  <a:srgbClr val="1B2A4A"/>
                </a:solidFill>
                <a:latin typeface="Calibri"/>
              </a:rPr>
              <a:t>K</a:t>
            </a:r>
          </a:p>
        </p:txBody>
      </p:sp>
      <p:sp>
        <p:nvSpPr>
          <p:cNvPr id="9" name="TextBox 8"/>
          <p:cNvSpPr txBox="1"/>
          <p:nvPr/>
        </p:nvSpPr>
        <p:spPr>
          <a:xfrm>
            <a:off x="6537960" y="1234440"/>
            <a:ext cx="5120640" cy="365760"/>
          </a:xfrm>
          <a:prstGeom prst="rect">
            <a:avLst/>
          </a:prstGeom>
          <a:noFill/>
        </p:spPr>
        <p:txBody>
          <a:bodyPr wrap="square" anchor="t" lIns="45720" rIns="45720">
            <a:spAutoFit/>
          </a:bodyPr>
          <a:lstStyle/>
          <a:p>
            <a:pPr algn="ctr">
              <a:spcAft>
                <a:spcPts val="600"/>
              </a:spcAft>
            </a:pPr>
            <a:r>
              <a:rPr sz="1600" b="1" i="0">
                <a:solidFill>
                  <a:srgbClr val="1B2A4A"/>
                </a:solidFill>
                <a:latin typeface="Calibri"/>
              </a:rPr>
              <a:t>Sesudah respons (residual)</a:t>
            </a:r>
          </a:p>
        </p:txBody>
      </p:sp>
      <p:graphicFrame>
        <p:nvGraphicFramePr>
          <p:cNvPr id="10" name="Table 9"/>
          <p:cNvGraphicFramePr>
            <a:graphicFrameLocks noGrp="1"/>
          </p:cNvGraphicFramePr>
          <p:nvPr/>
        </p:nvGraphicFramePr>
        <p:xfrm>
          <a:off x="6858000" y="1645920"/>
          <a:ext cx="4800600" cy="3291840"/>
        </p:xfrm>
        <a:graphic>
          <a:graphicData uri="http://schemas.openxmlformats.org/drawingml/2006/table">
            <a:tbl>
              <a:tblPr firstRow="1" bandRow="1">
                <a:tableStyleId>{5C22544A-7EE6-4342-B048-85BDC9FD1C3A}</a:tableStyleId>
              </a:tblPr>
              <a:tblGrid>
                <a:gridCol w="457200"/>
                <a:gridCol w="868680"/>
                <a:gridCol w="868680"/>
                <a:gridCol w="868680"/>
                <a:gridCol w="868680"/>
                <a:gridCol w="868680"/>
              </a:tblGrid>
              <a:tr h="548640">
                <a:tc>
                  <a:txBody>
                    <a:bodyPr/>
                    <a:lstStyle/>
                    <a:p>
                      <a:pPr algn="ctr"/>
                      <a:r>
                        <a:rPr sz="1000" b="1">
                          <a:solidFill>
                            <a:srgbClr val="1F1F1F"/>
                          </a:solidFill>
                          <a:latin typeface="Calibri"/>
                        </a:rPr>
                        <a:t>K \ D</a:t>
                      </a:r>
                    </a:p>
                  </a:txBody>
                  <a:tcPr marL="54864" marR="54864" marT="27432" marB="27432" anchor="ctr">
                    <a:solidFill>
                      <a:srgbClr val="F3F3F1"/>
                    </a:solidFill>
                  </a:tcPr>
                </a:tc>
                <a:tc>
                  <a:txBody>
                    <a:bodyPr/>
                    <a:lstStyle/>
                    <a:p>
                      <a:pPr algn="ctr"/>
                      <a:r>
                        <a:rPr sz="1200" b="1">
                          <a:solidFill>
                            <a:srgbClr val="1F1F1F"/>
                          </a:solidFill>
                          <a:latin typeface="Calibri"/>
                        </a:rPr>
                        <a:t>1</a:t>
                      </a:r>
                    </a:p>
                  </a:txBody>
                  <a:tcPr marL="54864" marR="54864" marT="27432" marB="27432" anchor="ctr">
                    <a:solidFill>
                      <a:srgbClr val="F3F3F1"/>
                    </a:solidFill>
                  </a:tcPr>
                </a:tc>
                <a:tc>
                  <a:txBody>
                    <a:bodyPr/>
                    <a:lstStyle/>
                    <a:p>
                      <a:pPr algn="ctr"/>
                      <a:r>
                        <a:rPr sz="1200" b="1">
                          <a:solidFill>
                            <a:srgbClr val="1F1F1F"/>
                          </a:solidFill>
                          <a:latin typeface="Calibri"/>
                        </a:rPr>
                        <a:t>2</a:t>
                      </a:r>
                    </a:p>
                  </a:txBody>
                  <a:tcPr marL="54864" marR="54864" marT="27432" marB="27432" anchor="ctr">
                    <a:solidFill>
                      <a:srgbClr val="F3F3F1"/>
                    </a:solidFill>
                  </a:tcPr>
                </a:tc>
                <a:tc>
                  <a:txBody>
                    <a:bodyPr/>
                    <a:lstStyle/>
                    <a:p>
                      <a:pPr algn="ctr"/>
                      <a:r>
                        <a:rPr sz="1200" b="1">
                          <a:solidFill>
                            <a:srgbClr val="1F1F1F"/>
                          </a:solidFill>
                          <a:latin typeface="Calibri"/>
                        </a:rPr>
                        <a:t>3</a:t>
                      </a:r>
                    </a:p>
                  </a:txBody>
                  <a:tcPr marL="54864" marR="54864" marT="27432" marB="27432" anchor="ctr">
                    <a:solidFill>
                      <a:srgbClr val="F3F3F1"/>
                    </a:solidFill>
                  </a:tcPr>
                </a:tc>
                <a:tc>
                  <a:txBody>
                    <a:bodyPr/>
                    <a:lstStyle/>
                    <a:p>
                      <a:pPr algn="ctr"/>
                      <a:r>
                        <a:rPr sz="1200" b="1">
                          <a:solidFill>
                            <a:srgbClr val="1F1F1F"/>
                          </a:solidFill>
                          <a:latin typeface="Calibri"/>
                        </a:rPr>
                        <a:t>4</a:t>
                      </a:r>
                    </a:p>
                  </a:txBody>
                  <a:tcPr marL="54864" marR="54864" marT="27432" marB="27432" anchor="ctr">
                    <a:solidFill>
                      <a:srgbClr val="F3F3F1"/>
                    </a:solidFill>
                  </a:tcPr>
                </a:tc>
                <a:tc>
                  <a:txBody>
                    <a:bodyPr/>
                    <a:lstStyle/>
                    <a:p>
                      <a:pPr algn="ctr"/>
                      <a:r>
                        <a:rPr sz="1200" b="1">
                          <a:solidFill>
                            <a:srgbClr val="1F1F1F"/>
                          </a:solidFill>
                          <a:latin typeface="Calibri"/>
                        </a:rPr>
                        <a:t>5</a:t>
                      </a:r>
                    </a:p>
                  </a:txBody>
                  <a:tcPr marL="54864" marR="54864" marT="27432" marB="27432" anchor="ctr">
                    <a:solidFill>
                      <a:srgbClr val="F3F3F1"/>
                    </a:solidFill>
                  </a:tcPr>
                </a:tc>
              </a:tr>
              <a:tr h="548640">
                <a:tc>
                  <a:txBody>
                    <a:bodyPr/>
                    <a:lstStyle/>
                    <a:p>
                      <a:pPr algn="ctr"/>
                      <a:r>
                        <a:rPr sz="1200" b="1">
                          <a:solidFill>
                            <a:srgbClr val="1F1F1F"/>
                          </a:solidFill>
                          <a:latin typeface="Calibri"/>
                        </a:rPr>
                        <a:t>5</a:t>
                      </a:r>
                    </a:p>
                  </a:txBody>
                  <a:tcPr marL="54864" marR="54864" marT="27432" marB="27432" anchor="ctr">
                    <a:solidFill>
                      <a:srgbClr val="F3F3F1"/>
                    </a:solidFill>
                  </a:tcPr>
                </a:tc>
                <a:tc>
                  <a:txBody>
                    <a:bodyPr/>
                    <a:lstStyle/>
                    <a:p>
                      <a:pPr algn="ctr"/>
                      <a:r>
                        <a:rPr sz="900" b="0">
                          <a:solidFill>
                            <a:srgbClr val="52514E"/>
                          </a:solidFill>
                          <a:latin typeface="Calibri"/>
                        </a:rPr>
                        <a:t>5</a:t>
                      </a:r>
                    </a:p>
                  </a:txBody>
                  <a:tcPr marL="54864" marR="54864" marT="27432" marB="27432" anchor="ctr">
                    <a:solidFill>
                      <a:srgbClr val="C6E0B4"/>
                    </a:solidFill>
                  </a:tcPr>
                </a:tc>
                <a:tc>
                  <a:txBody>
                    <a:bodyPr/>
                    <a:lstStyle/>
                    <a:p>
                      <a:pPr algn="ctr"/>
                      <a:r>
                        <a:rPr sz="900" b="0">
                          <a:solidFill>
                            <a:srgbClr val="52514E"/>
                          </a:solidFill>
                          <a:latin typeface="Calibri"/>
                        </a:rPr>
                        <a:t>10</a:t>
                      </a:r>
                    </a:p>
                  </a:txBody>
                  <a:tcPr marL="54864" marR="54864" marT="27432" marB="27432" anchor="ctr">
                    <a:solidFill>
                      <a:srgbClr val="FFE699"/>
                    </a:solidFill>
                  </a:tcPr>
                </a:tc>
                <a:tc>
                  <a:txBody>
                    <a:bodyPr/>
                    <a:lstStyle/>
                    <a:p>
                      <a:pPr algn="ctr"/>
                      <a:r>
                        <a:rPr sz="900" b="0">
                          <a:solidFill>
                            <a:srgbClr val="52514E"/>
                          </a:solidFill>
                          <a:latin typeface="Calibri"/>
                        </a:rPr>
                        <a:t>15</a:t>
                      </a:r>
                    </a:p>
                  </a:txBody>
                  <a:tcPr marL="54864" marR="54864" marT="27432" marB="27432" anchor="ctr">
                    <a:solidFill>
                      <a:srgbClr val="F4B183"/>
                    </a:solidFill>
                  </a:tcPr>
                </a:tc>
                <a:tc>
                  <a:txBody>
                    <a:bodyPr/>
                    <a:lstStyle/>
                    <a:p>
                      <a:pPr algn="ctr"/>
                      <a:r>
                        <a:rPr sz="900" b="0">
                          <a:solidFill>
                            <a:srgbClr val="52514E"/>
                          </a:solidFill>
                          <a:latin typeface="Calibri"/>
                        </a:rPr>
                        <a:t>20</a:t>
                      </a:r>
                    </a:p>
                  </a:txBody>
                  <a:tcPr marL="54864" marR="54864" marT="27432" marB="27432" anchor="ctr">
                    <a:solidFill>
                      <a:srgbClr val="FF7C80"/>
                    </a:solidFill>
                  </a:tcPr>
                </a:tc>
                <a:tc>
                  <a:txBody>
                    <a:bodyPr/>
                    <a:lstStyle/>
                    <a:p>
                      <a:pPr algn="ctr"/>
                      <a:r>
                        <a:rPr sz="900" b="0">
                          <a:solidFill>
                            <a:srgbClr val="52514E"/>
                          </a:solidFill>
                          <a:latin typeface="Calibri"/>
                        </a:rPr>
                        <a:t>25</a:t>
                      </a:r>
                    </a:p>
                  </a:txBody>
                  <a:tcPr marL="54864" marR="54864" marT="27432" marB="27432" anchor="ctr">
                    <a:solidFill>
                      <a:srgbClr val="FF7C80"/>
                    </a:solidFill>
                  </a:tcPr>
                </a:tc>
              </a:tr>
              <a:tr h="548640">
                <a:tc>
                  <a:txBody>
                    <a:bodyPr/>
                    <a:lstStyle/>
                    <a:p>
                      <a:pPr algn="ctr"/>
                      <a:r>
                        <a:rPr sz="1200" b="1">
                          <a:solidFill>
                            <a:srgbClr val="1F1F1F"/>
                          </a:solidFill>
                          <a:latin typeface="Calibri"/>
                        </a:rPr>
                        <a:t>4</a:t>
                      </a:r>
                    </a:p>
                  </a:txBody>
                  <a:tcPr marL="54864" marR="54864" marT="27432" marB="27432" anchor="ctr">
                    <a:solidFill>
                      <a:srgbClr val="F3F3F1"/>
                    </a:solidFill>
                  </a:tcPr>
                </a:tc>
                <a:tc>
                  <a:txBody>
                    <a:bodyPr/>
                    <a:lstStyle/>
                    <a:p>
                      <a:pPr algn="ctr"/>
                      <a:r>
                        <a:rPr sz="900" b="0">
                          <a:solidFill>
                            <a:srgbClr val="52514E"/>
                          </a:solidFill>
                          <a:latin typeface="Calibri"/>
                        </a:rPr>
                        <a:t>4</a:t>
                      </a:r>
                    </a:p>
                  </a:txBody>
                  <a:tcPr marL="54864" marR="54864" marT="27432" marB="27432" anchor="ctr">
                    <a:solidFill>
                      <a:srgbClr val="C6E0B4"/>
                    </a:solidFill>
                  </a:tcPr>
                </a:tc>
                <a:tc>
                  <a:txBody>
                    <a:bodyPr/>
                    <a:lstStyle/>
                    <a:p>
                      <a:pPr algn="ctr"/>
                      <a:r>
                        <a:rPr sz="900" b="0">
                          <a:solidFill>
                            <a:srgbClr val="52514E"/>
                          </a:solidFill>
                          <a:latin typeface="Calibri"/>
                        </a:rPr>
                        <a:t>8</a:t>
                      </a:r>
                    </a:p>
                  </a:txBody>
                  <a:tcPr marL="54864" marR="54864" marT="27432" marB="27432" anchor="ctr">
                    <a:solidFill>
                      <a:srgbClr val="FFE699"/>
                    </a:solidFill>
                  </a:tcPr>
                </a:tc>
                <a:tc>
                  <a:txBody>
                    <a:bodyPr/>
                    <a:lstStyle/>
                    <a:p>
                      <a:pPr algn="ctr"/>
                      <a:r>
                        <a:rPr sz="900" b="0">
                          <a:solidFill>
                            <a:srgbClr val="52514E"/>
                          </a:solidFill>
                          <a:latin typeface="Calibri"/>
                        </a:rPr>
                        <a:t>12</a:t>
                      </a:r>
                    </a:p>
                  </a:txBody>
                  <a:tcPr marL="54864" marR="54864" marT="27432" marB="27432" anchor="ctr">
                    <a:solidFill>
                      <a:srgbClr val="FFE699"/>
                    </a:solidFill>
                  </a:tcPr>
                </a:tc>
                <a:tc>
                  <a:txBody>
                    <a:bodyPr/>
                    <a:lstStyle/>
                    <a:p>
                      <a:pPr algn="ctr"/>
                      <a:r>
                        <a:rPr sz="900" b="0">
                          <a:solidFill>
                            <a:srgbClr val="52514E"/>
                          </a:solidFill>
                          <a:latin typeface="Calibri"/>
                        </a:rPr>
                        <a:t>16</a:t>
                      </a:r>
                    </a:p>
                  </a:txBody>
                  <a:tcPr marL="54864" marR="54864" marT="27432" marB="27432" anchor="ctr">
                    <a:solidFill>
                      <a:srgbClr val="F4B183"/>
                    </a:solidFill>
                  </a:tcPr>
                </a:tc>
                <a:tc>
                  <a:txBody>
                    <a:bodyPr/>
                    <a:lstStyle/>
                    <a:p>
                      <a:pPr algn="ctr"/>
                      <a:r>
                        <a:rPr sz="900" b="0">
                          <a:solidFill>
                            <a:srgbClr val="52514E"/>
                          </a:solidFill>
                          <a:latin typeface="Calibri"/>
                        </a:rPr>
                        <a:t>20</a:t>
                      </a:r>
                    </a:p>
                  </a:txBody>
                  <a:tcPr marL="54864" marR="54864" marT="27432" marB="27432" anchor="ctr">
                    <a:solidFill>
                      <a:srgbClr val="FF7C80"/>
                    </a:solidFill>
                  </a:tcPr>
                </a:tc>
              </a:tr>
              <a:tr h="548640">
                <a:tc>
                  <a:txBody>
                    <a:bodyPr/>
                    <a:lstStyle/>
                    <a:p>
                      <a:pPr algn="ctr"/>
                      <a:r>
                        <a:rPr sz="1200" b="1">
                          <a:solidFill>
                            <a:srgbClr val="1F1F1F"/>
                          </a:solidFill>
                          <a:latin typeface="Calibri"/>
                        </a:rPr>
                        <a:t>3</a:t>
                      </a:r>
                    </a:p>
                  </a:txBody>
                  <a:tcPr marL="54864" marR="54864" marT="27432" marB="27432" anchor="ctr">
                    <a:solidFill>
                      <a:srgbClr val="F3F3F1"/>
                    </a:solidFill>
                  </a:tcPr>
                </a:tc>
                <a:tc>
                  <a:txBody>
                    <a:bodyPr/>
                    <a:lstStyle/>
                    <a:p>
                      <a:pPr algn="ctr"/>
                      <a:r>
                        <a:rPr sz="900" b="0">
                          <a:solidFill>
                            <a:srgbClr val="52514E"/>
                          </a:solidFill>
                          <a:latin typeface="Calibri"/>
                        </a:rPr>
                        <a:t>3</a:t>
                      </a:r>
                    </a:p>
                  </a:txBody>
                  <a:tcPr marL="54864" marR="54864" marT="27432" marB="27432" anchor="ctr">
                    <a:solidFill>
                      <a:srgbClr val="C6E0B4"/>
                    </a:solidFill>
                  </a:tcPr>
                </a:tc>
                <a:tc>
                  <a:txBody>
                    <a:bodyPr/>
                    <a:lstStyle/>
                    <a:p>
                      <a:pPr algn="ctr"/>
                      <a:r>
                        <a:rPr sz="900" b="0">
                          <a:solidFill>
                            <a:srgbClr val="52514E"/>
                          </a:solidFill>
                          <a:latin typeface="Calibri"/>
                        </a:rPr>
                        <a:t>6</a:t>
                      </a:r>
                    </a:p>
                  </a:txBody>
                  <a:tcPr marL="54864" marR="54864" marT="27432" marB="27432" anchor="ctr">
                    <a:solidFill>
                      <a:srgbClr val="FFE699"/>
                    </a:solidFill>
                  </a:tcPr>
                </a:tc>
                <a:tc>
                  <a:txBody>
                    <a:bodyPr/>
                    <a:lstStyle/>
                    <a:p>
                      <a:pPr algn="ctr"/>
                      <a:r>
                        <a:rPr sz="900" b="0">
                          <a:solidFill>
                            <a:srgbClr val="52514E"/>
                          </a:solidFill>
                          <a:latin typeface="Calibri"/>
                        </a:rPr>
                        <a:t>9</a:t>
                      </a:r>
                    </a:p>
                  </a:txBody>
                  <a:tcPr marL="54864" marR="54864" marT="27432" marB="27432" anchor="ctr">
                    <a:solidFill>
                      <a:srgbClr val="FFE699"/>
                    </a:solidFill>
                  </a:tcPr>
                </a:tc>
                <a:tc>
                  <a:txBody>
                    <a:bodyPr/>
                    <a:lstStyle/>
                    <a:p>
                      <a:pPr algn="ctr"/>
                      <a:r>
                        <a:rPr sz="900" b="0">
                          <a:solidFill>
                            <a:srgbClr val="52514E"/>
                          </a:solidFill>
                          <a:latin typeface="Calibri"/>
                        </a:rPr>
                        <a:t>12</a:t>
                      </a:r>
                    </a:p>
                  </a:txBody>
                  <a:tcPr marL="54864" marR="54864" marT="27432" marB="27432" anchor="ctr">
                    <a:solidFill>
                      <a:srgbClr val="FFE699"/>
                    </a:solidFill>
                  </a:tcPr>
                </a:tc>
                <a:tc>
                  <a:txBody>
                    <a:bodyPr/>
                    <a:lstStyle/>
                    <a:p>
                      <a:pPr algn="ctr"/>
                      <a:r>
                        <a:rPr sz="900" b="0">
                          <a:solidFill>
                            <a:srgbClr val="52514E"/>
                          </a:solidFill>
                          <a:latin typeface="Calibri"/>
                        </a:rPr>
                        <a:t>15</a:t>
                      </a:r>
                    </a:p>
                  </a:txBody>
                  <a:tcPr marL="54864" marR="54864" marT="27432" marB="27432" anchor="ctr">
                    <a:solidFill>
                      <a:srgbClr val="F4B183"/>
                    </a:solidFill>
                  </a:tcPr>
                </a:tc>
              </a:tr>
              <a:tr h="548640">
                <a:tc>
                  <a:txBody>
                    <a:bodyPr/>
                    <a:lstStyle/>
                    <a:p>
                      <a:pPr algn="ctr"/>
                      <a:r>
                        <a:rPr sz="1200" b="1">
                          <a:solidFill>
                            <a:srgbClr val="1F1F1F"/>
                          </a:solidFill>
                          <a:latin typeface="Calibri"/>
                        </a:rPr>
                        <a:t>2</a:t>
                      </a:r>
                    </a:p>
                  </a:txBody>
                  <a:tcPr marL="54864" marR="54864" marT="27432" marB="27432" anchor="ctr">
                    <a:solidFill>
                      <a:srgbClr val="F3F3F1"/>
                    </a:solidFill>
                  </a:tcPr>
                </a:tc>
                <a:tc>
                  <a:txBody>
                    <a:bodyPr/>
                    <a:lstStyle/>
                    <a:p>
                      <a:pPr algn="ctr"/>
                      <a:r>
                        <a:rPr sz="900" b="0">
                          <a:solidFill>
                            <a:srgbClr val="52514E"/>
                          </a:solidFill>
                          <a:latin typeface="Calibri"/>
                        </a:rPr>
                        <a:t>2</a:t>
                      </a:r>
                    </a:p>
                  </a:txBody>
                  <a:tcPr marL="54864" marR="54864" marT="27432" marB="27432" anchor="ctr">
                    <a:solidFill>
                      <a:srgbClr val="C6E0B4"/>
                    </a:solidFill>
                  </a:tcPr>
                </a:tc>
                <a:tc>
                  <a:txBody>
                    <a:bodyPr/>
                    <a:lstStyle/>
                    <a:p>
                      <a:pPr algn="ctr"/>
                      <a:r>
                        <a:rPr sz="900" b="0">
                          <a:solidFill>
                            <a:srgbClr val="52514E"/>
                          </a:solidFill>
                          <a:latin typeface="Calibri"/>
                        </a:rPr>
                        <a:t>4</a:t>
                      </a:r>
                    </a:p>
                    <a:p>
                      <a:pPr algn="ctr"/>
                      <a:r>
                        <a:rPr sz="1200" b="1">
                          <a:solidFill>
                            <a:srgbClr val="1F1F1F"/>
                          </a:solidFill>
                          <a:latin typeface="Calibri"/>
                        </a:rPr>
                        <a:t>06, 10</a:t>
                      </a:r>
                    </a:p>
                  </a:txBody>
                  <a:tcPr marL="54864" marR="54864" marT="27432" marB="27432" anchor="ctr">
                    <a:solidFill>
                      <a:srgbClr val="C6E0B4"/>
                    </a:solidFill>
                  </a:tcPr>
                </a:tc>
                <a:tc>
                  <a:txBody>
                    <a:bodyPr/>
                    <a:lstStyle/>
                    <a:p>
                      <a:pPr algn="ctr"/>
                      <a:r>
                        <a:rPr sz="900" b="0">
                          <a:solidFill>
                            <a:srgbClr val="52514E"/>
                          </a:solidFill>
                          <a:latin typeface="Calibri"/>
                        </a:rPr>
                        <a:t>6</a:t>
                      </a:r>
                    </a:p>
                    <a:p>
                      <a:pPr algn="ctr"/>
                      <a:r>
                        <a:rPr sz="1000" b="1">
                          <a:solidFill>
                            <a:srgbClr val="1F1F1F"/>
                          </a:solidFill>
                          <a:latin typeface="Calibri"/>
                        </a:rPr>
                        <a:t>01, 03, 05, 07, 08, 09</a:t>
                      </a:r>
                    </a:p>
                  </a:txBody>
                  <a:tcPr marL="54864" marR="54864" marT="27432" marB="27432" anchor="ctr">
                    <a:solidFill>
                      <a:srgbClr val="FFE699"/>
                    </a:solidFill>
                  </a:tcPr>
                </a:tc>
                <a:tc>
                  <a:txBody>
                    <a:bodyPr/>
                    <a:lstStyle/>
                    <a:p>
                      <a:pPr algn="ctr"/>
                      <a:r>
                        <a:rPr sz="900" b="0">
                          <a:solidFill>
                            <a:srgbClr val="52514E"/>
                          </a:solidFill>
                          <a:latin typeface="Calibri"/>
                        </a:rPr>
                        <a:t>8</a:t>
                      </a:r>
                    </a:p>
                  </a:txBody>
                  <a:tcPr marL="54864" marR="54864" marT="27432" marB="27432" anchor="ctr">
                    <a:solidFill>
                      <a:srgbClr val="FFE699"/>
                    </a:solidFill>
                  </a:tcPr>
                </a:tc>
                <a:tc>
                  <a:txBody>
                    <a:bodyPr/>
                    <a:lstStyle/>
                    <a:p>
                      <a:pPr algn="ctr"/>
                      <a:r>
                        <a:rPr sz="900" b="0">
                          <a:solidFill>
                            <a:srgbClr val="52514E"/>
                          </a:solidFill>
                          <a:latin typeface="Calibri"/>
                        </a:rPr>
                        <a:t>10</a:t>
                      </a:r>
                    </a:p>
                  </a:txBody>
                  <a:tcPr marL="54864" marR="54864" marT="27432" marB="27432" anchor="ctr">
                    <a:solidFill>
                      <a:srgbClr val="FFE699"/>
                    </a:solidFill>
                  </a:tcPr>
                </a:tc>
              </a:tr>
              <a:tr h="548640">
                <a:tc>
                  <a:txBody>
                    <a:bodyPr/>
                    <a:lstStyle/>
                    <a:p>
                      <a:pPr algn="ctr"/>
                      <a:r>
                        <a:rPr sz="1200" b="1">
                          <a:solidFill>
                            <a:srgbClr val="1F1F1F"/>
                          </a:solidFill>
                          <a:latin typeface="Calibri"/>
                        </a:rPr>
                        <a:t>1</a:t>
                      </a:r>
                    </a:p>
                  </a:txBody>
                  <a:tcPr marL="54864" marR="54864" marT="27432" marB="27432" anchor="ctr">
                    <a:solidFill>
                      <a:srgbClr val="F3F3F1"/>
                    </a:solidFill>
                  </a:tcPr>
                </a:tc>
                <a:tc>
                  <a:txBody>
                    <a:bodyPr/>
                    <a:lstStyle/>
                    <a:p>
                      <a:pPr algn="ctr"/>
                      <a:r>
                        <a:rPr sz="900" b="0">
                          <a:solidFill>
                            <a:srgbClr val="52514E"/>
                          </a:solidFill>
                          <a:latin typeface="Calibri"/>
                        </a:rPr>
                        <a:t>1</a:t>
                      </a:r>
                    </a:p>
                  </a:txBody>
                  <a:tcPr marL="54864" marR="54864" marT="27432" marB="27432" anchor="ctr">
                    <a:solidFill>
                      <a:srgbClr val="C6E0B4"/>
                    </a:solidFill>
                  </a:tcPr>
                </a:tc>
                <a:tc>
                  <a:txBody>
                    <a:bodyPr/>
                    <a:lstStyle/>
                    <a:p>
                      <a:pPr algn="ctr"/>
                      <a:r>
                        <a:rPr sz="900" b="0">
                          <a:solidFill>
                            <a:srgbClr val="52514E"/>
                          </a:solidFill>
                          <a:latin typeface="Calibri"/>
                        </a:rPr>
                        <a:t>2</a:t>
                      </a:r>
                    </a:p>
                  </a:txBody>
                  <a:tcPr marL="54864" marR="54864" marT="27432" marB="27432" anchor="ctr">
                    <a:solidFill>
                      <a:srgbClr val="C6E0B4"/>
                    </a:solidFill>
                  </a:tcPr>
                </a:tc>
                <a:tc>
                  <a:txBody>
                    <a:bodyPr/>
                    <a:lstStyle/>
                    <a:p>
                      <a:pPr algn="ctr"/>
                      <a:r>
                        <a:rPr sz="900" b="0">
                          <a:solidFill>
                            <a:srgbClr val="52514E"/>
                          </a:solidFill>
                          <a:latin typeface="Calibri"/>
                        </a:rPr>
                        <a:t>3</a:t>
                      </a:r>
                    </a:p>
                  </a:txBody>
                  <a:tcPr marL="54864" marR="54864" marT="27432" marB="27432" anchor="ctr">
                    <a:solidFill>
                      <a:srgbClr val="C6E0B4"/>
                    </a:solidFill>
                  </a:tcPr>
                </a:tc>
                <a:tc>
                  <a:txBody>
                    <a:bodyPr/>
                    <a:lstStyle/>
                    <a:p>
                      <a:pPr algn="ctr"/>
                      <a:r>
                        <a:rPr sz="900" b="0">
                          <a:solidFill>
                            <a:srgbClr val="52514E"/>
                          </a:solidFill>
                          <a:latin typeface="Calibri"/>
                        </a:rPr>
                        <a:t>4</a:t>
                      </a:r>
                    </a:p>
                    <a:p>
                      <a:pPr algn="ctr"/>
                      <a:r>
                        <a:rPr sz="1200" b="1">
                          <a:solidFill>
                            <a:srgbClr val="1F1F1F"/>
                          </a:solidFill>
                          <a:latin typeface="Calibri"/>
                        </a:rPr>
                        <a:t>02, 04</a:t>
                      </a:r>
                    </a:p>
                  </a:txBody>
                  <a:tcPr marL="54864" marR="54864" marT="27432" marB="27432" anchor="ctr">
                    <a:solidFill>
                      <a:srgbClr val="C6E0B4"/>
                    </a:solidFill>
                  </a:tcPr>
                </a:tc>
                <a:tc>
                  <a:txBody>
                    <a:bodyPr/>
                    <a:lstStyle/>
                    <a:p>
                      <a:pPr algn="ctr"/>
                      <a:r>
                        <a:rPr sz="900" b="0">
                          <a:solidFill>
                            <a:srgbClr val="52514E"/>
                          </a:solidFill>
                          <a:latin typeface="Calibri"/>
                        </a:rPr>
                        <a:t>5</a:t>
                      </a:r>
                    </a:p>
                  </a:txBody>
                  <a:tcPr marL="54864" marR="54864" marT="27432" marB="27432" anchor="ctr">
                    <a:solidFill>
                      <a:srgbClr val="C6E0B4"/>
                    </a:solidFill>
                  </a:tcPr>
                </a:tc>
              </a:tr>
            </a:tbl>
          </a:graphicData>
        </a:graphic>
      </p:graphicFrame>
      <p:sp>
        <p:nvSpPr>
          <p:cNvPr id="11" name="TextBox 10"/>
          <p:cNvSpPr txBox="1"/>
          <p:nvPr/>
        </p:nvSpPr>
        <p:spPr>
          <a:xfrm>
            <a:off x="6537960" y="2926080"/>
            <a:ext cx="320040" cy="548640"/>
          </a:xfrm>
          <a:prstGeom prst="rect">
            <a:avLst/>
          </a:prstGeom>
          <a:noFill/>
        </p:spPr>
        <p:txBody>
          <a:bodyPr wrap="square" anchor="t" lIns="45720" rIns="45720">
            <a:spAutoFit/>
          </a:bodyPr>
          <a:lstStyle/>
          <a:p>
            <a:pPr algn="ctr">
              <a:spcAft>
                <a:spcPts val="600"/>
              </a:spcAft>
            </a:pPr>
            <a:r>
              <a:rPr sz="1300" b="1" i="0">
                <a:solidFill>
                  <a:srgbClr val="1B2A4A"/>
                </a:solidFill>
                <a:latin typeface="Calibri"/>
              </a:rPr>
              <a:t>K</a:t>
            </a:r>
          </a:p>
        </p:txBody>
      </p:sp>
      <p:sp>
        <p:nvSpPr>
          <p:cNvPr id="12" name="Right Arrow 11"/>
          <p:cNvSpPr/>
          <p:nvPr/>
        </p:nvSpPr>
        <p:spPr>
          <a:xfrm>
            <a:off x="5760720" y="3108960"/>
            <a:ext cx="502920" cy="365760"/>
          </a:xfrm>
          <a:prstGeom prst="rightArrow">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983480"/>
            <a:ext cx="11064240" cy="320040"/>
          </a:xfrm>
          <a:prstGeom prst="rect">
            <a:avLst/>
          </a:prstGeom>
          <a:noFill/>
        </p:spPr>
        <p:txBody>
          <a:bodyPr wrap="square" anchor="t" lIns="45720" rIns="45720">
            <a:spAutoFit/>
          </a:bodyPr>
          <a:lstStyle/>
          <a:p>
            <a:pPr algn="ctr">
              <a:spcAft>
                <a:spcPts val="600"/>
              </a:spcAft>
            </a:pPr>
            <a:r>
              <a:rPr sz="1200" b="0" i="0">
                <a:solidFill>
                  <a:srgbClr val="52514E"/>
                </a:solidFill>
                <a:latin typeface="Calibri"/>
              </a:rPr>
              <a:t>K = kemungkinan (1–5)  ·  D = dampak (1–5)  ·  angka tebal = nomor risiko (R-xx)  ·  Rendah 1–5 · Sedang 6–12 · Tinggi 13–19 · Kritikal 20–25</a:t>
            </a:r>
          </a:p>
        </p:txBody>
      </p:sp>
      <p:sp>
        <p:nvSpPr>
          <p:cNvPr id="14" name="Rounded Rectangle 13"/>
          <p:cNvSpPr/>
          <p:nvPr/>
        </p:nvSpPr>
        <p:spPr>
          <a:xfrm>
            <a:off x="548640" y="5349240"/>
            <a:ext cx="11064240" cy="91440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94960"/>
            <a:ext cx="10607040" cy="822960"/>
          </a:xfrm>
          <a:prstGeom prst="rect">
            <a:avLst/>
          </a:prstGeom>
          <a:noFill/>
        </p:spPr>
        <p:txBody>
          <a:bodyPr wrap="square" anchor="ctr" lIns="45720" rIns="45720">
            <a:spAutoFit/>
          </a:bodyPr>
          <a:lstStyle/>
          <a:p>
            <a:pPr algn="l">
              <a:spcAft>
                <a:spcPts val="200"/>
              </a:spcAft>
            </a:pPr>
            <a:r>
              <a:rPr sz="1400" b="1" i="0">
                <a:solidFill>
                  <a:srgbClr val="1F1F1F"/>
                </a:solidFill>
                <a:latin typeface="Calibri"/>
              </a:rPr>
              <a:t>Sebelum: </a:t>
            </a:r>
            <a:r>
              <a:rPr sz="1400" b="0" i="0">
                <a:solidFill>
                  <a:srgbClr val="1F1F1F"/>
                </a:solidFill>
                <a:latin typeface="Calibri"/>
              </a:rPr>
              <a:t>2 Tinggi, 8 Sedang  →  </a:t>
            </a:r>
            <a:r>
              <a:rPr sz="1400" b="1" i="0">
                <a:solidFill>
                  <a:srgbClr val="1F1F1F"/>
                </a:solidFill>
                <a:latin typeface="Calibri"/>
              </a:rPr>
              <a:t>Sesudah: </a:t>
            </a:r>
            <a:r>
              <a:rPr sz="1400" b="0" i="0">
                <a:solidFill>
                  <a:srgbClr val="1F1F1F"/>
                </a:solidFill>
                <a:latin typeface="Calibri"/>
              </a:rPr>
              <a:t>0 Tinggi, 6 Sedang, 4 Rendah</a:t>
            </a:r>
          </a:p>
          <a:p>
            <a:pPr algn="l">
              <a:spcAft>
                <a:spcPts val="200"/>
              </a:spcAft>
            </a:pPr>
            <a:r>
              <a:rPr sz="1400" b="1" i="0">
                <a:solidFill>
                  <a:srgbClr val="1F1F1F"/>
                </a:solidFill>
                <a:latin typeface="Calibri"/>
              </a:rPr>
              <a:t>Strategi: </a:t>
            </a:r>
            <a:r>
              <a:rPr sz="1400" b="0" i="0">
                <a:solidFill>
                  <a:srgbClr val="1F1F1F"/>
                </a:solidFill>
                <a:latin typeface="Calibri"/>
              </a:rPr>
              <a:t>Avoid (hindari) · Mitigate (kurangi) · Transfer (alihkan) · Accept aktif (terima + rencana darurat) · Escalate (serahkan ke yang berwenang)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Tiga risiko utama dan responsnya</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10</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Sri Rejeki</a:t>
            </a:r>
          </a:p>
        </p:txBody>
      </p:sp>
      <p:sp>
        <p:nvSpPr>
          <p:cNvPr id="6" name="Rounded Rectangle 5"/>
          <p:cNvSpPr/>
          <p:nvPr/>
        </p:nvSpPr>
        <p:spPr>
          <a:xfrm>
            <a:off x="548640" y="1280160"/>
            <a:ext cx="3566160" cy="493776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71600"/>
            <a:ext cx="3200400" cy="685800"/>
          </a:xfrm>
          <a:prstGeom prst="rect">
            <a:avLst/>
          </a:prstGeom>
          <a:noFill/>
        </p:spPr>
        <p:txBody>
          <a:bodyPr wrap="square" anchor="t" lIns="45720" rIns="45720">
            <a:spAutoFit/>
          </a:bodyPr>
          <a:lstStyle/>
          <a:p>
            <a:pPr algn="l">
              <a:spcAft>
                <a:spcPts val="600"/>
              </a:spcAft>
            </a:pPr>
            <a:r>
              <a:rPr sz="1700" b="1" i="0">
                <a:solidFill>
                  <a:srgbClr val="D03B3B"/>
                </a:solidFill>
                <a:latin typeface="Calibri"/>
              </a:rPr>
              <a:t>R-01  </a:t>
            </a:r>
            <a:r>
              <a:rPr sz="1700" b="1" i="0">
                <a:solidFill>
                  <a:srgbClr val="1B2A4A"/>
                </a:solidFill>
                <a:latin typeface="Calibri"/>
              </a:rPr>
              <a:t>Komponen terlambat datang</a:t>
            </a:r>
          </a:p>
        </p:txBody>
      </p:sp>
      <p:sp>
        <p:nvSpPr>
          <p:cNvPr id="8" name="TextBox 7"/>
          <p:cNvSpPr txBox="1"/>
          <p:nvPr/>
        </p:nvSpPr>
        <p:spPr>
          <a:xfrm>
            <a:off x="731520" y="2011680"/>
            <a:ext cx="3200400" cy="365760"/>
          </a:xfrm>
          <a:prstGeom prst="rect">
            <a:avLst/>
          </a:prstGeom>
          <a:noFill/>
        </p:spPr>
        <p:txBody>
          <a:bodyPr wrap="square" anchor="t" lIns="45720" rIns="45720">
            <a:spAutoFit/>
          </a:bodyPr>
          <a:lstStyle/>
          <a:p>
            <a:pPr algn="l">
              <a:spcAft>
                <a:spcPts val="600"/>
              </a:spcAft>
            </a:pPr>
            <a:r>
              <a:rPr sz="1300" b="1" i="0">
                <a:solidFill>
                  <a:srgbClr val="1F1F1F"/>
                </a:solidFill>
                <a:latin typeface="Calibri"/>
              </a:rPr>
              <a:t>K4 × D4 = 16 Tinggi </a:t>
            </a:r>
            <a:r>
              <a:rPr sz="1300" b="0" i="0">
                <a:solidFill>
                  <a:srgbClr val="52514E"/>
                </a:solidFill>
                <a:latin typeface="Calibri"/>
              </a:rPr>
              <a:t>→ 6 Sedang</a:t>
            </a:r>
          </a:p>
        </p:txBody>
      </p:sp>
      <p:sp>
        <p:nvSpPr>
          <p:cNvPr id="9" name="TextBox 8"/>
          <p:cNvSpPr txBox="1"/>
          <p:nvPr/>
        </p:nvSpPr>
        <p:spPr>
          <a:xfrm>
            <a:off x="731520" y="2377440"/>
            <a:ext cx="3200400" cy="914400"/>
          </a:xfrm>
          <a:prstGeom prst="rect">
            <a:avLst/>
          </a:prstGeom>
          <a:noFill/>
        </p:spPr>
        <p:txBody>
          <a:bodyPr wrap="square" anchor="t" lIns="45720" rIns="45720">
            <a:spAutoFit/>
          </a:bodyPr>
          <a:lstStyle/>
          <a:p>
            <a:pPr algn="l">
              <a:spcAft>
                <a:spcPts val="600"/>
              </a:spcAft>
            </a:pPr>
            <a:r>
              <a:rPr sz="1200" b="0" i="1">
                <a:solidFill>
                  <a:srgbClr val="52514E"/>
                </a:solidFill>
                <a:latin typeface="Calibri"/>
              </a:rPr>
              <a:t>Stok kosong atau barang impor → telat ±10 hari → 1.4.2 di jalur kritis, proyek mundur</a:t>
            </a:r>
          </a:p>
        </p:txBody>
      </p:sp>
      <p:sp>
        <p:nvSpPr>
          <p:cNvPr id="10" name="TextBox 9"/>
          <p:cNvSpPr txBox="1"/>
          <p:nvPr/>
        </p:nvSpPr>
        <p:spPr>
          <a:xfrm>
            <a:off x="731520" y="3291840"/>
            <a:ext cx="3200400" cy="365760"/>
          </a:xfrm>
          <a:prstGeom prst="rect">
            <a:avLst/>
          </a:prstGeom>
          <a:noFill/>
        </p:spPr>
        <p:txBody>
          <a:bodyPr wrap="square" anchor="t" lIns="45720" rIns="45720">
            <a:spAutoFit/>
          </a:bodyPr>
          <a:lstStyle/>
          <a:p>
            <a:pPr algn="l">
              <a:spcAft>
                <a:spcPts val="600"/>
              </a:spcAft>
            </a:pPr>
            <a:r>
              <a:rPr sz="1400" b="1" i="0">
                <a:solidFill>
                  <a:srgbClr val="1B2A4A"/>
                </a:solidFill>
                <a:latin typeface="Calibri"/>
              </a:rPr>
              <a:t>Avoid + Mitigate</a:t>
            </a:r>
          </a:p>
        </p:txBody>
      </p:sp>
      <p:sp>
        <p:nvSpPr>
          <p:cNvPr id="11" name="TextBox 10"/>
          <p:cNvSpPr txBox="1"/>
          <p:nvPr/>
        </p:nvSpPr>
        <p:spPr>
          <a:xfrm>
            <a:off x="731520" y="3657600"/>
            <a:ext cx="3200400" cy="1600200"/>
          </a:xfrm>
          <a:prstGeom prst="rect">
            <a:avLst/>
          </a:prstGeom>
          <a:noFill/>
        </p:spPr>
        <p:txBody>
          <a:bodyPr wrap="square" anchor="t" lIns="45720" rIns="45720">
            <a:spAutoFit/>
          </a:bodyPr>
          <a:lstStyle/>
          <a:p>
            <a:pPr algn="l">
              <a:spcAft>
                <a:spcPts val="400"/>
              </a:spcAft>
            </a:pPr>
            <a:r>
              <a:rPr sz="1300" b="0" i="0">
                <a:solidFill>
                  <a:srgbClr val="1F1F1F"/>
                </a:solidFill>
                <a:latin typeface="Calibri"/>
              </a:rPr>
              <a:t>• Utamakan pemasok dalam negeri (ESP32 mudah didapat)</a:t>
            </a:r>
          </a:p>
          <a:p>
            <a:pPr algn="l">
              <a:spcAft>
                <a:spcPts val="400"/>
              </a:spcAft>
            </a:pPr>
            <a:r>
              <a:rPr sz="1300" b="0" i="0">
                <a:solidFill>
                  <a:srgbClr val="1F1F1F"/>
                </a:solidFill>
                <a:latin typeface="Calibri"/>
              </a:rPr>
              <a:t>• Minimal 2 pemasok per komponen</a:t>
            </a:r>
          </a:p>
          <a:p>
            <a:pPr algn="l">
              <a:spcAft>
                <a:spcPts val="400"/>
              </a:spcAft>
            </a:pPr>
            <a:r>
              <a:rPr sz="1300" b="0" i="0">
                <a:solidFill>
                  <a:srgbClr val="1F1F1F"/>
                </a:solidFill>
                <a:latin typeface="Calibri"/>
              </a:rPr>
              <a:t>• Pesan segera + 1 unit cadangan per jenis</a:t>
            </a:r>
          </a:p>
        </p:txBody>
      </p:sp>
      <p:sp>
        <p:nvSpPr>
          <p:cNvPr id="12" name="TextBox 11"/>
          <p:cNvSpPr txBox="1"/>
          <p:nvPr/>
        </p:nvSpPr>
        <p:spPr>
          <a:xfrm>
            <a:off x="731520" y="5257800"/>
            <a:ext cx="3200400" cy="914400"/>
          </a:xfrm>
          <a:prstGeom prst="rect">
            <a:avLst/>
          </a:prstGeom>
          <a:noFill/>
        </p:spPr>
        <p:txBody>
          <a:bodyPr wrap="square" anchor="t" lIns="45720" rIns="45720">
            <a:spAutoFit/>
          </a:bodyPr>
          <a:lstStyle/>
          <a:p>
            <a:pPr algn="l">
              <a:spcAft>
                <a:spcPts val="200"/>
              </a:spcAft>
            </a:pPr>
            <a:r>
              <a:rPr sz="1150" b="1" i="0">
                <a:solidFill>
                  <a:srgbClr val="1F1F1F"/>
                </a:solidFill>
                <a:latin typeface="Calibri"/>
              </a:rPr>
              <a:t>Pemicu: </a:t>
            </a:r>
            <a:r>
              <a:rPr sz="1150" b="0" i="0">
                <a:solidFill>
                  <a:srgbClr val="1F1F1F"/>
                </a:solidFill>
                <a:latin typeface="Calibri"/>
              </a:rPr>
              <a:t>Stok belum dikonfirmasi 2 hari kerja setelah pesan</a:t>
            </a:r>
          </a:p>
          <a:p>
            <a:pPr algn="l">
              <a:spcAft>
                <a:spcPts val="200"/>
              </a:spcAft>
            </a:pPr>
            <a:r>
              <a:rPr sz="1150" b="1" i="0">
                <a:solidFill>
                  <a:srgbClr val="1F1F1F"/>
                </a:solidFill>
                <a:latin typeface="Calibri"/>
              </a:rPr>
              <a:t>Pemilik: </a:t>
            </a:r>
            <a:r>
              <a:rPr sz="1150" b="0" i="0">
                <a:solidFill>
                  <a:srgbClr val="1F1F1F"/>
                </a:solidFill>
                <a:latin typeface="Calibri"/>
              </a:rPr>
              <a:t>Manajer Proyek</a:t>
            </a:r>
          </a:p>
        </p:txBody>
      </p:sp>
      <p:sp>
        <p:nvSpPr>
          <p:cNvPr id="13" name="Rounded Rectangle 12"/>
          <p:cNvSpPr/>
          <p:nvPr/>
        </p:nvSpPr>
        <p:spPr>
          <a:xfrm>
            <a:off x="4297679" y="1280160"/>
            <a:ext cx="3566160" cy="493776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1371600"/>
            <a:ext cx="3200400" cy="685800"/>
          </a:xfrm>
          <a:prstGeom prst="rect">
            <a:avLst/>
          </a:prstGeom>
          <a:noFill/>
        </p:spPr>
        <p:txBody>
          <a:bodyPr wrap="square" anchor="t" lIns="45720" rIns="45720">
            <a:spAutoFit/>
          </a:bodyPr>
          <a:lstStyle/>
          <a:p>
            <a:pPr algn="l">
              <a:spcAft>
                <a:spcPts val="600"/>
              </a:spcAft>
            </a:pPr>
            <a:r>
              <a:rPr sz="1700" b="1" i="0">
                <a:solidFill>
                  <a:srgbClr val="D03B3B"/>
                </a:solidFill>
                <a:latin typeface="Calibri"/>
              </a:rPr>
              <a:t>R-03  </a:t>
            </a:r>
            <a:r>
              <a:rPr sz="1700" b="1" i="0">
                <a:solidFill>
                  <a:srgbClr val="1B2A4A"/>
                </a:solidFill>
                <a:latin typeface="Calibri"/>
              </a:rPr>
              <a:t>Situs BMKG berubah / memblokir</a:t>
            </a:r>
          </a:p>
        </p:txBody>
      </p:sp>
      <p:sp>
        <p:nvSpPr>
          <p:cNvPr id="15" name="TextBox 14"/>
          <p:cNvSpPr txBox="1"/>
          <p:nvPr/>
        </p:nvSpPr>
        <p:spPr>
          <a:xfrm>
            <a:off x="4480559" y="2011680"/>
            <a:ext cx="3200400" cy="365760"/>
          </a:xfrm>
          <a:prstGeom prst="rect">
            <a:avLst/>
          </a:prstGeom>
          <a:noFill/>
        </p:spPr>
        <p:txBody>
          <a:bodyPr wrap="square" anchor="t" lIns="45720" rIns="45720">
            <a:spAutoFit/>
          </a:bodyPr>
          <a:lstStyle/>
          <a:p>
            <a:pPr algn="l">
              <a:spcAft>
                <a:spcPts val="600"/>
              </a:spcAft>
            </a:pPr>
            <a:r>
              <a:rPr sz="1300" b="1" i="0">
                <a:solidFill>
                  <a:srgbClr val="1F1F1F"/>
                </a:solidFill>
                <a:latin typeface="Calibri"/>
              </a:rPr>
              <a:t>K3 × D5 = 15 Tinggi </a:t>
            </a:r>
            <a:r>
              <a:rPr sz="1300" b="0" i="0">
                <a:solidFill>
                  <a:srgbClr val="52514E"/>
                </a:solidFill>
                <a:latin typeface="Calibri"/>
              </a:rPr>
              <a:t>→ 6 Sedang</a:t>
            </a:r>
          </a:p>
        </p:txBody>
      </p:sp>
      <p:sp>
        <p:nvSpPr>
          <p:cNvPr id="16" name="TextBox 15"/>
          <p:cNvSpPr txBox="1"/>
          <p:nvPr/>
        </p:nvSpPr>
        <p:spPr>
          <a:xfrm>
            <a:off x="4480559" y="2377440"/>
            <a:ext cx="3200400" cy="914400"/>
          </a:xfrm>
          <a:prstGeom prst="rect">
            <a:avLst/>
          </a:prstGeom>
          <a:noFill/>
        </p:spPr>
        <p:txBody>
          <a:bodyPr wrap="square" anchor="t" lIns="45720" rIns="45720">
            <a:spAutoFit/>
          </a:bodyPr>
          <a:lstStyle/>
          <a:p>
            <a:pPr algn="l">
              <a:spcAft>
                <a:spcPts val="600"/>
              </a:spcAft>
            </a:pPr>
            <a:r>
              <a:rPr sz="1200" b="0" i="1">
                <a:solidFill>
                  <a:srgbClr val="52514E"/>
                </a:solidFill>
                <a:latin typeface="Calibri"/>
              </a:rPr>
              <a:t>Tampilan diubah atau akses otomatis dibatasi → peringatan tak terbaca → fungsi utama berhenti</a:t>
            </a:r>
          </a:p>
        </p:txBody>
      </p:sp>
      <p:sp>
        <p:nvSpPr>
          <p:cNvPr id="17" name="TextBox 16"/>
          <p:cNvSpPr txBox="1"/>
          <p:nvPr/>
        </p:nvSpPr>
        <p:spPr>
          <a:xfrm>
            <a:off x="4480559" y="3291840"/>
            <a:ext cx="3200400" cy="365760"/>
          </a:xfrm>
          <a:prstGeom prst="rect">
            <a:avLst/>
          </a:prstGeom>
          <a:noFill/>
        </p:spPr>
        <p:txBody>
          <a:bodyPr wrap="square" anchor="t" lIns="45720" rIns="45720">
            <a:spAutoFit/>
          </a:bodyPr>
          <a:lstStyle/>
          <a:p>
            <a:pPr algn="l">
              <a:spcAft>
                <a:spcPts val="600"/>
              </a:spcAft>
            </a:pPr>
            <a:r>
              <a:rPr sz="1400" b="1" i="0">
                <a:solidFill>
                  <a:srgbClr val="1B2A4A"/>
                </a:solidFill>
                <a:latin typeface="Calibri"/>
              </a:rPr>
              <a:t>Mitigate + Accept aktif</a:t>
            </a:r>
          </a:p>
        </p:txBody>
      </p:sp>
      <p:sp>
        <p:nvSpPr>
          <p:cNvPr id="18" name="TextBox 17"/>
          <p:cNvSpPr txBox="1"/>
          <p:nvPr/>
        </p:nvSpPr>
        <p:spPr>
          <a:xfrm>
            <a:off x="4480559" y="3657600"/>
            <a:ext cx="3200400" cy="1600200"/>
          </a:xfrm>
          <a:prstGeom prst="rect">
            <a:avLst/>
          </a:prstGeom>
          <a:noFill/>
        </p:spPr>
        <p:txBody>
          <a:bodyPr wrap="square" anchor="t" lIns="45720" rIns="45720">
            <a:spAutoFit/>
          </a:bodyPr>
          <a:lstStyle/>
          <a:p>
            <a:pPr algn="l">
              <a:spcAft>
                <a:spcPts val="400"/>
              </a:spcAft>
            </a:pPr>
            <a:r>
              <a:rPr sz="1300" b="0" i="0">
                <a:solidFill>
                  <a:srgbClr val="1F1F1F"/>
                </a:solidFill>
                <a:latin typeface="Calibri"/>
              </a:rPr>
              <a:t>• Cari teks nama wilayah, tak bergantung bentuk halaman</a:t>
            </a:r>
          </a:p>
          <a:p>
            <a:pPr algn="l">
              <a:spcAft>
                <a:spcPts val="400"/>
              </a:spcAft>
            </a:pPr>
            <a:r>
              <a:rPr sz="1300" b="0" i="0">
                <a:solidFill>
                  <a:srgbClr val="1F1F1F"/>
                </a:solidFill>
                <a:latin typeface="Calibri"/>
              </a:rPr>
              <a:t>• Cek tiap 5 menit, hanya provinsi yang relevan</a:t>
            </a:r>
          </a:p>
          <a:p>
            <a:pPr algn="l">
              <a:spcAft>
                <a:spcPts val="400"/>
              </a:spcAft>
            </a:pPr>
            <a:r>
              <a:rPr sz="1300" b="0" i="0">
                <a:solidFill>
                  <a:srgbClr val="1F1F1F"/>
                </a:solidFill>
                <a:latin typeface="Calibri"/>
              </a:rPr>
              <a:t>• Darurat: aktivasi manual dari dasbor</a:t>
            </a:r>
          </a:p>
        </p:txBody>
      </p:sp>
      <p:sp>
        <p:nvSpPr>
          <p:cNvPr id="19" name="TextBox 18"/>
          <p:cNvSpPr txBox="1"/>
          <p:nvPr/>
        </p:nvSpPr>
        <p:spPr>
          <a:xfrm>
            <a:off x="4480559" y="5257800"/>
            <a:ext cx="3200400" cy="914400"/>
          </a:xfrm>
          <a:prstGeom prst="rect">
            <a:avLst/>
          </a:prstGeom>
          <a:noFill/>
        </p:spPr>
        <p:txBody>
          <a:bodyPr wrap="square" anchor="t" lIns="45720" rIns="45720">
            <a:spAutoFit/>
          </a:bodyPr>
          <a:lstStyle/>
          <a:p>
            <a:pPr algn="l">
              <a:spcAft>
                <a:spcPts val="200"/>
              </a:spcAft>
            </a:pPr>
            <a:r>
              <a:rPr sz="1150" b="1" i="0">
                <a:solidFill>
                  <a:srgbClr val="1F1F1F"/>
                </a:solidFill>
                <a:latin typeface="Calibri"/>
              </a:rPr>
              <a:t>Pemicu: </a:t>
            </a:r>
            <a:r>
              <a:rPr sz="1150" b="0" i="0">
                <a:solidFill>
                  <a:srgbClr val="1F1F1F"/>
                </a:solidFill>
                <a:latin typeface="Calibri"/>
              </a:rPr>
              <a:t>Gagal muat 3 kali berturut-turut</a:t>
            </a:r>
          </a:p>
          <a:p>
            <a:pPr algn="l">
              <a:spcAft>
                <a:spcPts val="200"/>
              </a:spcAft>
            </a:pPr>
            <a:r>
              <a:rPr sz="1150" b="1" i="0">
                <a:solidFill>
                  <a:srgbClr val="1F1F1F"/>
                </a:solidFill>
                <a:latin typeface="Calibri"/>
              </a:rPr>
              <a:t>Pemilik: </a:t>
            </a:r>
            <a:r>
              <a:rPr sz="1150" b="0" i="0">
                <a:solidFill>
                  <a:srgbClr val="1F1F1F"/>
                </a:solidFill>
                <a:latin typeface="Calibri"/>
              </a:rPr>
              <a:t>Programmer Server</a:t>
            </a:r>
          </a:p>
        </p:txBody>
      </p:sp>
      <p:sp>
        <p:nvSpPr>
          <p:cNvPr id="20" name="Rounded Rectangle 19"/>
          <p:cNvSpPr/>
          <p:nvPr/>
        </p:nvSpPr>
        <p:spPr>
          <a:xfrm>
            <a:off x="8046719" y="1280160"/>
            <a:ext cx="3566160" cy="4937760"/>
          </a:xfrm>
          <a:prstGeom prst="roundRect">
            <a:avLst>
              <a:gd name="adj" fmla="val 8000"/>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1371600"/>
            <a:ext cx="3200400" cy="685800"/>
          </a:xfrm>
          <a:prstGeom prst="rect">
            <a:avLst/>
          </a:prstGeom>
          <a:noFill/>
        </p:spPr>
        <p:txBody>
          <a:bodyPr wrap="square" anchor="t" lIns="45720" rIns="45720">
            <a:spAutoFit/>
          </a:bodyPr>
          <a:lstStyle/>
          <a:p>
            <a:pPr algn="l">
              <a:spcAft>
                <a:spcPts val="600"/>
              </a:spcAft>
            </a:pPr>
            <a:r>
              <a:rPr sz="1700" b="1" i="0">
                <a:solidFill>
                  <a:srgbClr val="2A78D6"/>
                </a:solidFill>
                <a:latin typeface="Calibri"/>
              </a:rPr>
              <a:t>R-05  </a:t>
            </a:r>
            <a:r>
              <a:rPr sz="1700" b="1" i="0">
                <a:solidFill>
                  <a:srgbClr val="1B2A4A"/>
                </a:solidFill>
                <a:latin typeface="Calibri"/>
              </a:rPr>
              <a:t>Listrik / internet putus</a:t>
            </a:r>
          </a:p>
        </p:txBody>
      </p:sp>
      <p:sp>
        <p:nvSpPr>
          <p:cNvPr id="22" name="TextBox 21"/>
          <p:cNvSpPr txBox="1"/>
          <p:nvPr/>
        </p:nvSpPr>
        <p:spPr>
          <a:xfrm>
            <a:off x="8229599" y="2011680"/>
            <a:ext cx="3200400" cy="365760"/>
          </a:xfrm>
          <a:prstGeom prst="rect">
            <a:avLst/>
          </a:prstGeom>
          <a:noFill/>
        </p:spPr>
        <p:txBody>
          <a:bodyPr wrap="square" anchor="t" lIns="45720" rIns="45720">
            <a:spAutoFit/>
          </a:bodyPr>
          <a:lstStyle/>
          <a:p>
            <a:pPr algn="l">
              <a:spcAft>
                <a:spcPts val="600"/>
              </a:spcAft>
            </a:pPr>
            <a:r>
              <a:rPr sz="1300" b="1" i="0">
                <a:solidFill>
                  <a:srgbClr val="1F1F1F"/>
                </a:solidFill>
                <a:latin typeface="Calibri"/>
              </a:rPr>
              <a:t>K3 × D4 = 12 Sedang </a:t>
            </a:r>
            <a:r>
              <a:rPr sz="1300" b="0" i="0">
                <a:solidFill>
                  <a:srgbClr val="52514E"/>
                </a:solidFill>
                <a:latin typeface="Calibri"/>
              </a:rPr>
              <a:t>→ 6 Sedang</a:t>
            </a:r>
          </a:p>
        </p:txBody>
      </p:sp>
      <p:sp>
        <p:nvSpPr>
          <p:cNvPr id="23" name="TextBox 22"/>
          <p:cNvSpPr txBox="1"/>
          <p:nvPr/>
        </p:nvSpPr>
        <p:spPr>
          <a:xfrm>
            <a:off x="8229599" y="2377440"/>
            <a:ext cx="3200400" cy="914400"/>
          </a:xfrm>
          <a:prstGeom prst="rect">
            <a:avLst/>
          </a:prstGeom>
          <a:noFill/>
        </p:spPr>
        <p:txBody>
          <a:bodyPr wrap="square" anchor="t" lIns="45720" rIns="45720">
            <a:spAutoFit/>
          </a:bodyPr>
          <a:lstStyle/>
          <a:p>
            <a:pPr algn="l">
              <a:spcAft>
                <a:spcPts val="600"/>
              </a:spcAft>
            </a:pPr>
            <a:r>
              <a:rPr sz="1200" b="0" i="1">
                <a:solidFill>
                  <a:srgbClr val="52514E"/>
                </a:solidFill>
                <a:latin typeface="Calibri"/>
              </a:rPr>
              <a:t>Padam saat cuaca buruk → perangkat tak menerima perintah, justru saat paling dibutuhkan</a:t>
            </a:r>
          </a:p>
        </p:txBody>
      </p:sp>
      <p:sp>
        <p:nvSpPr>
          <p:cNvPr id="24" name="TextBox 23"/>
          <p:cNvSpPr txBox="1"/>
          <p:nvPr/>
        </p:nvSpPr>
        <p:spPr>
          <a:xfrm>
            <a:off x="8229599" y="3291840"/>
            <a:ext cx="3200400" cy="365760"/>
          </a:xfrm>
          <a:prstGeom prst="rect">
            <a:avLst/>
          </a:prstGeom>
          <a:noFill/>
        </p:spPr>
        <p:txBody>
          <a:bodyPr wrap="square" anchor="t" lIns="45720" rIns="45720">
            <a:spAutoFit/>
          </a:bodyPr>
          <a:lstStyle/>
          <a:p>
            <a:pPr algn="l">
              <a:spcAft>
                <a:spcPts val="600"/>
              </a:spcAft>
            </a:pPr>
            <a:r>
              <a:rPr sz="1400" b="1" i="0">
                <a:solidFill>
                  <a:srgbClr val="1B2A4A"/>
                </a:solidFill>
                <a:latin typeface="Calibri"/>
              </a:rPr>
              <a:t>Mitigate</a:t>
            </a:r>
          </a:p>
        </p:txBody>
      </p:sp>
      <p:sp>
        <p:nvSpPr>
          <p:cNvPr id="25" name="TextBox 24"/>
          <p:cNvSpPr txBox="1"/>
          <p:nvPr/>
        </p:nvSpPr>
        <p:spPr>
          <a:xfrm>
            <a:off x="8229599" y="3657600"/>
            <a:ext cx="3200400" cy="1600200"/>
          </a:xfrm>
          <a:prstGeom prst="rect">
            <a:avLst/>
          </a:prstGeom>
          <a:noFill/>
        </p:spPr>
        <p:txBody>
          <a:bodyPr wrap="square" anchor="t" lIns="45720" rIns="45720">
            <a:spAutoFit/>
          </a:bodyPr>
          <a:lstStyle/>
          <a:p>
            <a:pPr algn="l">
              <a:spcAft>
                <a:spcPts val="400"/>
              </a:spcAft>
            </a:pPr>
            <a:r>
              <a:rPr sz="1300" b="0" i="0">
                <a:solidFill>
                  <a:srgbClr val="1F1F1F"/>
                </a:solidFill>
                <a:latin typeface="Calibri"/>
              </a:rPr>
              <a:t>• Baterai cadangan ≥ 4 jam</a:t>
            </a:r>
          </a:p>
          <a:p>
            <a:pPr algn="l">
              <a:spcAft>
                <a:spcPts val="400"/>
              </a:spcAft>
            </a:pPr>
            <a:r>
              <a:rPr sz="1300" b="0" i="0">
                <a:solidFill>
                  <a:srgbClr val="1F1F1F"/>
                </a:solidFill>
                <a:latin typeface="Calibri"/>
              </a:rPr>
              <a:t>• Modem 4G bila Wi-Fi mati; sambung ulang otomatis</a:t>
            </a:r>
          </a:p>
          <a:p>
            <a:pPr algn="l">
              <a:spcAft>
                <a:spcPts val="400"/>
              </a:spcAft>
            </a:pPr>
            <a:r>
              <a:rPr sz="1300" b="0" i="0">
                <a:solidFill>
                  <a:srgbClr val="1F1F1F"/>
                </a:solidFill>
                <a:latin typeface="Calibri"/>
              </a:rPr>
              <a:t>• Simulasi padam di uji kegagalan (1.7.5)</a:t>
            </a:r>
          </a:p>
        </p:txBody>
      </p:sp>
      <p:sp>
        <p:nvSpPr>
          <p:cNvPr id="26" name="TextBox 25"/>
          <p:cNvSpPr txBox="1"/>
          <p:nvPr/>
        </p:nvSpPr>
        <p:spPr>
          <a:xfrm>
            <a:off x="8229599" y="5257800"/>
            <a:ext cx="3200400" cy="914400"/>
          </a:xfrm>
          <a:prstGeom prst="rect">
            <a:avLst/>
          </a:prstGeom>
          <a:noFill/>
        </p:spPr>
        <p:txBody>
          <a:bodyPr wrap="square" anchor="t" lIns="45720" rIns="45720">
            <a:spAutoFit/>
          </a:bodyPr>
          <a:lstStyle/>
          <a:p>
            <a:pPr algn="l">
              <a:spcAft>
                <a:spcPts val="200"/>
              </a:spcAft>
            </a:pPr>
            <a:r>
              <a:rPr sz="1150" b="1" i="0">
                <a:solidFill>
                  <a:srgbClr val="1F1F1F"/>
                </a:solidFill>
                <a:latin typeface="Calibri"/>
              </a:rPr>
              <a:t>Pemicu: </a:t>
            </a:r>
            <a:r>
              <a:rPr sz="1150" b="0" i="0">
                <a:solidFill>
                  <a:srgbClr val="1F1F1F"/>
                </a:solidFill>
                <a:latin typeface="Calibri"/>
              </a:rPr>
              <a:t>Baterai &lt; 4 jam atau heartbeat hilang &gt; 5 menit saat uji</a:t>
            </a:r>
          </a:p>
          <a:p>
            <a:pPr algn="l">
              <a:spcAft>
                <a:spcPts val="200"/>
              </a:spcAft>
            </a:pPr>
            <a:r>
              <a:rPr sz="1150" b="1" i="0">
                <a:solidFill>
                  <a:srgbClr val="1F1F1F"/>
                </a:solidFill>
                <a:latin typeface="Calibri"/>
              </a:rPr>
              <a:t>Pemilik: </a:t>
            </a:r>
            <a:r>
              <a:rPr sz="1150" b="0" i="0">
                <a:solidFill>
                  <a:srgbClr val="1F1F1F"/>
                </a:solidFill>
                <a:latin typeface="Calibri"/>
              </a:rPr>
              <a:t>Engineer IoT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Keterkaitan: respons risiko kembali ke WBS dan jadwal</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11</a:t>
            </a:r>
          </a:p>
        </p:txBody>
      </p:sp>
      <p:sp>
        <p:nvSpPr>
          <p:cNvPr id="5" name="TextBox 4"/>
          <p:cNvSpPr txBox="1"/>
          <p:nvPr/>
        </p:nvSpPr>
        <p:spPr>
          <a:xfrm>
            <a:off x="7315200" y="6400800"/>
            <a:ext cx="384048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Penyaji: Sri Rejeki</a:t>
            </a:r>
          </a:p>
        </p:txBody>
      </p:sp>
      <p:graphicFrame>
        <p:nvGraphicFramePr>
          <p:cNvPr id="6" name="Table 5"/>
          <p:cNvGraphicFramePr>
            <a:graphicFrameLocks noGrp="1"/>
          </p:cNvGraphicFramePr>
          <p:nvPr/>
        </p:nvGraphicFramePr>
        <p:xfrm>
          <a:off x="548640" y="1280160"/>
          <a:ext cx="11064240" cy="3108960"/>
        </p:xfrm>
        <a:graphic>
          <a:graphicData uri="http://schemas.openxmlformats.org/drawingml/2006/table">
            <a:tbl>
              <a:tblPr firstRow="1" bandRow="1">
                <a:tableStyleId>{5C22544A-7EE6-4342-B048-85BDC9FD1C3A}</a:tableStyleId>
              </a:tblPr>
              <a:tblGrid>
                <a:gridCol w="2926080"/>
                <a:gridCol w="3108960"/>
                <a:gridCol w="5029200"/>
              </a:tblGrid>
              <a:tr h="621792">
                <a:tc>
                  <a:txBody>
                    <a:bodyPr/>
                    <a:lstStyle/>
                    <a:p>
                      <a:pPr algn="l"/>
                      <a:r>
                        <a:rPr sz="1400" b="1">
                          <a:solidFill>
                            <a:srgbClr val="FFFFFF"/>
                          </a:solidFill>
                          <a:latin typeface="Calibri"/>
                        </a:rPr>
                        <a:t>Risiko</a:t>
                      </a:r>
                    </a:p>
                  </a:txBody>
                  <a:tcPr marL="54864" marR="54864" marT="27432" marB="27432" anchor="ctr">
                    <a:solidFill>
                      <a:srgbClr val="1B2A4A"/>
                    </a:solidFill>
                  </a:tcPr>
                </a:tc>
                <a:tc>
                  <a:txBody>
                    <a:bodyPr/>
                    <a:lstStyle/>
                    <a:p>
                      <a:pPr algn="l"/>
                      <a:r>
                        <a:rPr sz="1400" b="1">
                          <a:solidFill>
                            <a:srgbClr val="FFFFFF"/>
                          </a:solidFill>
                          <a:latin typeface="Calibri"/>
                        </a:rPr>
                        <a:t>WBS dan posisi di jadwal</a:t>
                      </a:r>
                    </a:p>
                  </a:txBody>
                  <a:tcPr marL="54864" marR="54864" marT="27432" marB="27432" anchor="ctr">
                    <a:solidFill>
                      <a:srgbClr val="1B2A4A"/>
                    </a:solidFill>
                  </a:tcPr>
                </a:tc>
                <a:tc>
                  <a:txBody>
                    <a:bodyPr/>
                    <a:lstStyle/>
                    <a:p>
                      <a:pPr algn="l"/>
                      <a:r>
                        <a:rPr sz="1400" b="1">
                          <a:solidFill>
                            <a:srgbClr val="FFFFFF"/>
                          </a:solidFill>
                          <a:latin typeface="Calibri"/>
                        </a:rPr>
                        <a:t>Respons yang masuk kembali ke rencana</a:t>
                      </a:r>
                    </a:p>
                  </a:txBody>
                  <a:tcPr marL="54864" marR="54864" marT="27432" marB="27432" anchor="ctr">
                    <a:solidFill>
                      <a:srgbClr val="1B2A4A"/>
                    </a:solidFill>
                  </a:tcPr>
                </a:tc>
              </a:tr>
              <a:tr h="621792">
                <a:tc>
                  <a:txBody>
                    <a:bodyPr/>
                    <a:lstStyle/>
                    <a:p>
                      <a:pPr algn="l"/>
                      <a:r>
                        <a:rPr sz="1300" b="1">
                          <a:solidFill>
                            <a:srgbClr val="1B2A4A"/>
                          </a:solidFill>
                          <a:latin typeface="Calibri"/>
                        </a:rPr>
                        <a:t>R-01 Komponen terlambat</a:t>
                      </a:r>
                    </a:p>
                  </a:txBody>
                  <a:tcPr marL="54864" marR="54864" marT="27432" marB="27432" anchor="ctr">
                    <a:solidFill>
                      <a:srgbClr val="EAF2FC"/>
                    </a:solidFill>
                  </a:tcPr>
                </a:tc>
                <a:tc>
                  <a:txBody>
                    <a:bodyPr/>
                    <a:lstStyle/>
                    <a:p>
                      <a:pPr algn="l"/>
                      <a:r>
                        <a:rPr sz="1300" b="0">
                          <a:solidFill>
                            <a:srgbClr val="1F1F1F"/>
                          </a:solidFill>
                          <a:latin typeface="Calibri"/>
                        </a:rPr>
                        <a:t>1.4.2 (kritis)</a:t>
                      </a:r>
                    </a:p>
                  </a:txBody>
                  <a:tcPr marL="54864" marR="54864" marT="27432" marB="27432" anchor="ctr">
                    <a:solidFill>
                      <a:srgbClr val="EAF2FC"/>
                    </a:solidFill>
                  </a:tcPr>
                </a:tc>
                <a:tc>
                  <a:txBody>
                    <a:bodyPr/>
                    <a:lstStyle/>
                    <a:p>
                      <a:pPr algn="l"/>
                      <a:r>
                        <a:rPr sz="1300" b="0">
                          <a:solidFill>
                            <a:srgbClr val="1F1F1F"/>
                          </a:solidFill>
                          <a:latin typeface="Calibri"/>
                        </a:rPr>
                        <a:t>Pemasok dalam negeri, 2 pemasok, unit cadangan di 1.4.1–1.4.2; opsi fast tracking</a:t>
                      </a:r>
                    </a:p>
                  </a:txBody>
                  <a:tcPr marL="54864" marR="54864" marT="27432" marB="27432" anchor="ctr">
                    <a:solidFill>
                      <a:srgbClr val="EAF2FC"/>
                    </a:solidFill>
                  </a:tcPr>
                </a:tc>
              </a:tr>
              <a:tr h="621792">
                <a:tc>
                  <a:txBody>
                    <a:bodyPr/>
                    <a:lstStyle/>
                    <a:p>
                      <a:pPr algn="l"/>
                      <a:r>
                        <a:rPr sz="1300" b="1">
                          <a:solidFill>
                            <a:srgbClr val="1B2A4A"/>
                          </a:solidFill>
                          <a:latin typeface="Calibri"/>
                        </a:rPr>
                        <a:t>R-03 Situs BMKG berubah</a:t>
                      </a:r>
                    </a:p>
                  </a:txBody>
                  <a:tcPr marL="54864" marR="54864" marT="27432" marB="27432" anchor="ctr">
                    <a:solidFill>
                      <a:srgbClr val="FFFFFF"/>
                    </a:solidFill>
                  </a:tcPr>
                </a:tc>
                <a:tc>
                  <a:txBody>
                    <a:bodyPr/>
                    <a:lstStyle/>
                    <a:p>
                      <a:pPr algn="l"/>
                      <a:r>
                        <a:rPr sz="1300" b="0">
                          <a:solidFill>
                            <a:srgbClr val="1F1F1F"/>
                          </a:solidFill>
                          <a:latin typeface="Calibri"/>
                        </a:rPr>
                        <a:t>1.2.2, 1.5.1 (float 5–10)</a:t>
                      </a:r>
                    </a:p>
                  </a:txBody>
                  <a:tcPr marL="54864" marR="54864" marT="27432" marB="27432" anchor="ctr">
                    <a:solidFill>
                      <a:srgbClr val="FFFFFF"/>
                    </a:solidFill>
                  </a:tcPr>
                </a:tc>
                <a:tc>
                  <a:txBody>
                    <a:bodyPr/>
                    <a:lstStyle/>
                    <a:p>
                      <a:pPr algn="l"/>
                      <a:r>
                        <a:rPr sz="1300" b="0">
                          <a:solidFill>
                            <a:srgbClr val="1F1F1F"/>
                          </a:solidFill>
                          <a:latin typeface="Calibri"/>
                        </a:rPr>
                        <a:t>Aktivasi manual ditambahkan ke dasbor (1.3.6, 1.5.5)</a:t>
                      </a:r>
                    </a:p>
                  </a:txBody>
                  <a:tcPr marL="54864" marR="54864" marT="27432" marB="27432" anchor="ctr">
                    <a:solidFill>
                      <a:srgbClr val="FFFFFF"/>
                    </a:solidFill>
                  </a:tcPr>
                </a:tc>
              </a:tr>
              <a:tr h="621792">
                <a:tc>
                  <a:txBody>
                    <a:bodyPr/>
                    <a:lstStyle/>
                    <a:p>
                      <a:pPr algn="l"/>
                      <a:r>
                        <a:rPr sz="1300" b="1">
                          <a:solidFill>
                            <a:srgbClr val="1B2A4A"/>
                          </a:solidFill>
                          <a:latin typeface="Calibri"/>
                        </a:rPr>
                        <a:t>R-05 Listrik/internet putus</a:t>
                      </a:r>
                    </a:p>
                  </a:txBody>
                  <a:tcPr marL="54864" marR="54864" marT="27432" marB="27432" anchor="ctr">
                    <a:solidFill>
                      <a:srgbClr val="EAF2FC"/>
                    </a:solidFill>
                  </a:tcPr>
                </a:tc>
                <a:tc>
                  <a:txBody>
                    <a:bodyPr/>
                    <a:lstStyle/>
                    <a:p>
                      <a:pPr algn="l"/>
                      <a:r>
                        <a:rPr sz="1300" b="0">
                          <a:solidFill>
                            <a:srgbClr val="1F1F1F"/>
                          </a:solidFill>
                          <a:latin typeface="Calibri"/>
                        </a:rPr>
                        <a:t>1.3.4, 1.6.3, 1.7.5 (kritis)</a:t>
                      </a:r>
                    </a:p>
                  </a:txBody>
                  <a:tcPr marL="54864" marR="54864" marT="27432" marB="27432" anchor="ctr">
                    <a:solidFill>
                      <a:srgbClr val="EAF2FC"/>
                    </a:solidFill>
                  </a:tcPr>
                </a:tc>
                <a:tc>
                  <a:txBody>
                    <a:bodyPr/>
                    <a:lstStyle/>
                    <a:p>
                      <a:pPr algn="l"/>
                      <a:r>
                        <a:rPr sz="1300" b="0">
                          <a:solidFill>
                            <a:srgbClr val="1F1F1F"/>
                          </a:solidFill>
                          <a:latin typeface="Calibri"/>
                        </a:rPr>
                        <a:t>Baterai dan modem 4G masuk daftar komponen (1.4.1); simulasi padam di 1.7.5</a:t>
                      </a:r>
                    </a:p>
                  </a:txBody>
                  <a:tcPr marL="54864" marR="54864" marT="27432" marB="27432" anchor="ctr">
                    <a:solidFill>
                      <a:srgbClr val="EAF2FC"/>
                    </a:solidFill>
                  </a:tcPr>
                </a:tc>
              </a:tr>
              <a:tr h="621792">
                <a:tc>
                  <a:txBody>
                    <a:bodyPr/>
                    <a:lstStyle/>
                    <a:p>
                      <a:pPr algn="l"/>
                      <a:r>
                        <a:rPr sz="1300" b="1">
                          <a:solidFill>
                            <a:srgbClr val="1B2A4A"/>
                          </a:solidFill>
                          <a:latin typeface="Calibri"/>
                        </a:rPr>
                        <a:t>R-06 Bug lebih banyak</a:t>
                      </a:r>
                    </a:p>
                  </a:txBody>
                  <a:tcPr marL="54864" marR="54864" marT="27432" marB="27432" anchor="ctr">
                    <a:solidFill>
                      <a:srgbClr val="FFFFFF"/>
                    </a:solidFill>
                  </a:tcPr>
                </a:tc>
                <a:tc>
                  <a:txBody>
                    <a:bodyPr/>
                    <a:lstStyle/>
                    <a:p>
                      <a:pPr algn="l"/>
                      <a:r>
                        <a:rPr sz="1300" b="0">
                          <a:solidFill>
                            <a:srgbClr val="1F1F1F"/>
                          </a:solidFill>
                          <a:latin typeface="Calibri"/>
                        </a:rPr>
                        <a:t>1.7.4, 1.7.5 (kritis)</a:t>
                      </a:r>
                    </a:p>
                  </a:txBody>
                  <a:tcPr marL="54864" marR="54864" marT="27432" marB="27432" anchor="ctr">
                    <a:solidFill>
                      <a:srgbClr val="FFFFFF"/>
                    </a:solidFill>
                  </a:tcPr>
                </a:tc>
                <a:tc>
                  <a:txBody>
                    <a:bodyPr/>
                    <a:lstStyle/>
                    <a:p>
                      <a:pPr algn="l"/>
                      <a:r>
                        <a:rPr sz="1300" b="0">
                          <a:solidFill>
                            <a:srgbClr val="1F1F1F"/>
                          </a:solidFill>
                          <a:latin typeface="Calibri"/>
                        </a:rPr>
                        <a:t>Uji dini 1.7.1–1.7.2; cadangan waktu 5 hari (batas hari ke-97)</a:t>
                      </a:r>
                    </a:p>
                  </a:txBody>
                  <a:tcPr marL="54864" marR="54864" marT="27432" marB="27432" anchor="ctr">
                    <a:solidFill>
                      <a:srgbClr val="FFFFFF"/>
                    </a:solidFill>
                  </a:tcPr>
                </a:tc>
              </a:tr>
            </a:tbl>
          </a:graphicData>
        </a:graphic>
      </p:graphicFrame>
      <p:sp>
        <p:nvSpPr>
          <p:cNvPr id="7" name="Rounded Rectangle 6"/>
          <p:cNvSpPr/>
          <p:nvPr/>
        </p:nvSpPr>
        <p:spPr>
          <a:xfrm>
            <a:off x="548640" y="4572000"/>
            <a:ext cx="11064240" cy="1645920"/>
          </a:xfrm>
          <a:prstGeom prst="roundRect">
            <a:avLst>
              <a:gd name="adj" fmla="val 8000"/>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663440"/>
            <a:ext cx="7863840" cy="1508760"/>
          </a:xfrm>
          <a:prstGeom prst="rect">
            <a:avLst/>
          </a:prstGeom>
          <a:noFill/>
        </p:spPr>
        <p:txBody>
          <a:bodyPr wrap="square" anchor="t" lIns="45720" rIns="45720">
            <a:spAutoFit/>
          </a:bodyPr>
          <a:lstStyle/>
          <a:p>
            <a:pPr algn="l">
              <a:spcAft>
                <a:spcPts val="300"/>
              </a:spcAft>
            </a:pPr>
            <a:r>
              <a:rPr sz="1700" b="1" i="0">
                <a:solidFill>
                  <a:srgbClr val="1B2A4A"/>
                </a:solidFill>
                <a:latin typeface="Calibri"/>
              </a:rPr>
              <a:t>Kesimpulan</a:t>
            </a:r>
          </a:p>
          <a:p>
            <a:pPr algn="l">
              <a:spcAft>
                <a:spcPts val="300"/>
              </a:spcAft>
            </a:pPr>
            <a:r>
              <a:rPr sz="1400" b="0" i="0">
                <a:solidFill>
                  <a:srgbClr val="1F1F1F"/>
                </a:solidFill>
                <a:latin typeface="Calibri"/>
              </a:rPr>
              <a:t>• 92 hari kerja; lama proyek ditentukan rantai perangkat keras dan pengujian akhir</a:t>
            </a:r>
          </a:p>
          <a:p>
            <a:pPr algn="l">
              <a:spcAft>
                <a:spcPts val="300"/>
              </a:spcAft>
            </a:pPr>
            <a:r>
              <a:rPr sz="1400" b="0" i="0">
                <a:solidFill>
                  <a:srgbClr val="1F1F1F"/>
                </a:solidFill>
                <a:latin typeface="Calibri"/>
              </a:rPr>
              <a:t>• Dua risiko teratas (R-01, R-03) berada di rantai itu atau di fungsi utama</a:t>
            </a:r>
          </a:p>
          <a:p>
            <a:pPr algn="l">
              <a:spcAft>
                <a:spcPts val="300"/>
              </a:spcAft>
            </a:pPr>
            <a:r>
              <a:rPr sz="1400" b="0" i="0">
                <a:solidFill>
                  <a:srgbClr val="1F1F1F"/>
                </a:solidFill>
                <a:latin typeface="Calibri"/>
              </a:rPr>
              <a:t>• Setelah respons, tidak ada risiko Tinggi; cadangan 5 hari untuk bug</a:t>
            </a:r>
          </a:p>
        </p:txBody>
      </p:sp>
      <p:sp>
        <p:nvSpPr>
          <p:cNvPr id="9" name="TextBox 8"/>
          <p:cNvSpPr txBox="1"/>
          <p:nvPr/>
        </p:nvSpPr>
        <p:spPr>
          <a:xfrm>
            <a:off x="8778240" y="4663440"/>
            <a:ext cx="2743200" cy="1508760"/>
          </a:xfrm>
          <a:prstGeom prst="rect">
            <a:avLst/>
          </a:prstGeom>
          <a:noFill/>
        </p:spPr>
        <p:txBody>
          <a:bodyPr wrap="square" anchor="ctr" lIns="45720" rIns="45720">
            <a:spAutoFit/>
          </a:bodyPr>
          <a:lstStyle/>
          <a:p>
            <a:pPr algn="ctr">
              <a:spcAft>
                <a:spcPts val="600"/>
              </a:spcAft>
            </a:pPr>
            <a:r>
              <a:rPr sz="3000" b="1" i="0">
                <a:solidFill>
                  <a:srgbClr val="2A78D6"/>
                </a:solidFill>
                <a:latin typeface="Cambria"/>
              </a:rPr>
              <a:t>Terima kasih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Cadangan: aktivitas di jalur kritis (CPM)</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12</a:t>
            </a:r>
          </a:p>
        </p:txBody>
      </p:sp>
      <p:graphicFrame>
        <p:nvGraphicFramePr>
          <p:cNvPr id="5" name="Table 4"/>
          <p:cNvGraphicFramePr>
            <a:graphicFrameLocks noGrp="1"/>
          </p:cNvGraphicFramePr>
          <p:nvPr/>
        </p:nvGraphicFramePr>
        <p:xfrm>
          <a:off x="548640" y="1234440"/>
          <a:ext cx="5394960" cy="4389120"/>
        </p:xfrm>
        <a:graphic>
          <a:graphicData uri="http://schemas.openxmlformats.org/drawingml/2006/table">
            <a:tbl>
              <a:tblPr firstRow="1" bandRow="1">
                <a:tableStyleId>{5C22544A-7EE6-4342-B048-85BDC9FD1C3A}</a:tableStyleId>
              </a:tblPr>
              <a:tblGrid>
                <a:gridCol w="640080"/>
                <a:gridCol w="3337560"/>
                <a:gridCol w="640080"/>
                <a:gridCol w="777240"/>
              </a:tblGrid>
              <a:tr h="365760">
                <a:tc>
                  <a:txBody>
                    <a:bodyPr/>
                    <a:lstStyle/>
                    <a:p>
                      <a:pPr algn="l"/>
                      <a:r>
                        <a:rPr sz="1200" b="1">
                          <a:solidFill>
                            <a:srgbClr val="FFFFFF"/>
                          </a:solidFill>
                          <a:latin typeface="Calibri"/>
                        </a:rPr>
                        <a:t>Kode</a:t>
                      </a:r>
                    </a:p>
                  </a:txBody>
                  <a:tcPr marL="54864" marR="54864" marT="27432" marB="27432" anchor="ctr">
                    <a:solidFill>
                      <a:srgbClr val="1B2A4A"/>
                    </a:solidFill>
                  </a:tcPr>
                </a:tc>
                <a:tc>
                  <a:txBody>
                    <a:bodyPr/>
                    <a:lstStyle/>
                    <a:p>
                      <a:pPr algn="l"/>
                      <a:r>
                        <a:rPr sz="1200" b="1">
                          <a:solidFill>
                            <a:srgbClr val="FFFFFF"/>
                          </a:solidFill>
                          <a:latin typeface="Calibri"/>
                        </a:rPr>
                        <a:t>Aktivitas</a:t>
                      </a:r>
                    </a:p>
                  </a:txBody>
                  <a:tcPr marL="54864" marR="54864" marT="27432" marB="27432" anchor="ctr">
                    <a:solidFill>
                      <a:srgbClr val="1B2A4A"/>
                    </a:solidFill>
                  </a:tcPr>
                </a:tc>
                <a:tc>
                  <a:txBody>
                    <a:bodyPr/>
                    <a:lstStyle/>
                    <a:p>
                      <a:pPr algn="l"/>
                      <a:r>
                        <a:rPr sz="1200" b="1">
                          <a:solidFill>
                            <a:srgbClr val="FFFFFF"/>
                          </a:solidFill>
                          <a:latin typeface="Calibri"/>
                        </a:rPr>
                        <a:t>Durasi</a:t>
                      </a:r>
                    </a:p>
                  </a:txBody>
                  <a:tcPr marL="54864" marR="54864" marT="27432" marB="27432" anchor="ctr">
                    <a:solidFill>
                      <a:srgbClr val="1B2A4A"/>
                    </a:solidFill>
                  </a:tcPr>
                </a:tc>
                <a:tc>
                  <a:txBody>
                    <a:bodyPr/>
                    <a:lstStyle/>
                    <a:p>
                      <a:pPr algn="l"/>
                      <a:r>
                        <a:rPr sz="1200" b="1">
                          <a:solidFill>
                            <a:srgbClr val="FFFFFF"/>
                          </a:solidFill>
                          <a:latin typeface="Calibri"/>
                        </a:rPr>
                        <a:t>ES–EF</a:t>
                      </a:r>
                    </a:p>
                  </a:txBody>
                  <a:tcPr marL="54864" marR="54864" marT="27432" marB="27432" anchor="ctr">
                    <a:solidFill>
                      <a:srgbClr val="1B2A4A"/>
                    </a:solidFill>
                  </a:tcPr>
                </a:tc>
              </a:tr>
              <a:tr h="365760">
                <a:tc>
                  <a:txBody>
                    <a:bodyPr/>
                    <a:lstStyle/>
                    <a:p>
                      <a:pPr algn="l"/>
                      <a:r>
                        <a:rPr sz="1100" b="1">
                          <a:solidFill>
                            <a:srgbClr val="1F1F1F"/>
                          </a:solidFill>
                          <a:latin typeface="Calibri"/>
                        </a:rPr>
                        <a:t>1.1.1</a:t>
                      </a:r>
                    </a:p>
                  </a:txBody>
                  <a:tcPr marL="54864" marR="54864" marT="27432" marB="27432" anchor="ctr">
                    <a:solidFill>
                      <a:srgbClr val="FBEAEA"/>
                    </a:solidFill>
                  </a:tcPr>
                </a:tc>
                <a:tc>
                  <a:txBody>
                    <a:bodyPr/>
                    <a:lstStyle/>
                    <a:p>
                      <a:pPr algn="l"/>
                      <a:r>
                        <a:rPr sz="1100" b="0">
                          <a:solidFill>
                            <a:srgbClr val="1F1F1F"/>
                          </a:solidFill>
                          <a:latin typeface="Calibri"/>
                        </a:rPr>
                        <a:t>Project charter dan rencana proyek</a:t>
                      </a:r>
                    </a:p>
                  </a:txBody>
                  <a:tcPr marL="54864" marR="54864" marT="27432" marB="27432" anchor="ctr">
                    <a:solidFill>
                      <a:srgbClr val="FBEAEA"/>
                    </a:solidFill>
                  </a:tcPr>
                </a:tc>
                <a:tc>
                  <a:txBody>
                    <a:bodyPr/>
                    <a:lstStyle/>
                    <a:p>
                      <a:pPr algn="l"/>
                      <a:r>
                        <a:rPr sz="1100" b="0">
                          <a:solidFill>
                            <a:srgbClr val="1F1F1F"/>
                          </a:solidFill>
                          <a:latin typeface="Calibri"/>
                        </a:rPr>
                        <a:t>5</a:t>
                      </a:r>
                    </a:p>
                  </a:txBody>
                  <a:tcPr marL="54864" marR="54864" marT="27432" marB="27432" anchor="ctr">
                    <a:solidFill>
                      <a:srgbClr val="FBEAEA"/>
                    </a:solidFill>
                  </a:tcPr>
                </a:tc>
                <a:tc>
                  <a:txBody>
                    <a:bodyPr/>
                    <a:lstStyle/>
                    <a:p>
                      <a:pPr algn="l"/>
                      <a:r>
                        <a:rPr sz="1100" b="0">
                          <a:solidFill>
                            <a:srgbClr val="1F1F1F"/>
                          </a:solidFill>
                          <a:latin typeface="Calibri"/>
                        </a:rPr>
                        <a:t>0–5</a:t>
                      </a:r>
                    </a:p>
                  </a:txBody>
                  <a:tcPr marL="54864" marR="54864" marT="27432" marB="27432" anchor="ctr">
                    <a:solidFill>
                      <a:srgbClr val="FBEAEA"/>
                    </a:solidFill>
                  </a:tcPr>
                </a:tc>
              </a:tr>
              <a:tr h="365760">
                <a:tc>
                  <a:txBody>
                    <a:bodyPr/>
                    <a:lstStyle/>
                    <a:p>
                      <a:pPr algn="l"/>
                      <a:r>
                        <a:rPr sz="1100" b="1">
                          <a:solidFill>
                            <a:srgbClr val="1F1F1F"/>
                          </a:solidFill>
                          <a:latin typeface="Calibri"/>
                        </a:rPr>
                        <a:t>1.2.1</a:t>
                      </a:r>
                    </a:p>
                  </a:txBody>
                  <a:tcPr marL="54864" marR="54864" marT="27432" marB="27432" anchor="ctr">
                    <a:solidFill>
                      <a:srgbClr val="FFFFFF"/>
                    </a:solidFill>
                  </a:tcPr>
                </a:tc>
                <a:tc>
                  <a:txBody>
                    <a:bodyPr/>
                    <a:lstStyle/>
                    <a:p>
                      <a:pPr algn="l"/>
                      <a:r>
                        <a:rPr sz="1100" b="0">
                          <a:solidFill>
                            <a:srgbClr val="1F1F1F"/>
                          </a:solidFill>
                          <a:latin typeface="Calibri"/>
                        </a:rPr>
                        <a:t>Kebutuhan pemangku kepentingan</a:t>
                      </a:r>
                    </a:p>
                  </a:txBody>
                  <a:tcPr marL="54864" marR="54864" marT="27432" marB="27432" anchor="ctr">
                    <a:solidFill>
                      <a:srgbClr val="FFFFFF"/>
                    </a:solidFill>
                  </a:tcPr>
                </a:tc>
                <a:tc>
                  <a:txBody>
                    <a:bodyPr/>
                    <a:lstStyle/>
                    <a:p>
                      <a:pPr algn="l"/>
                      <a:r>
                        <a:rPr sz="1100" b="0">
                          <a:solidFill>
                            <a:srgbClr val="1F1F1F"/>
                          </a:solidFill>
                          <a:latin typeface="Calibri"/>
                        </a:rPr>
                        <a:t>5</a:t>
                      </a:r>
                    </a:p>
                  </a:txBody>
                  <a:tcPr marL="54864" marR="54864" marT="27432" marB="27432" anchor="ctr">
                    <a:solidFill>
                      <a:srgbClr val="FFFFFF"/>
                    </a:solidFill>
                  </a:tcPr>
                </a:tc>
                <a:tc>
                  <a:txBody>
                    <a:bodyPr/>
                    <a:lstStyle/>
                    <a:p>
                      <a:pPr algn="l"/>
                      <a:r>
                        <a:rPr sz="1100" b="0">
                          <a:solidFill>
                            <a:srgbClr val="1F1F1F"/>
                          </a:solidFill>
                          <a:latin typeface="Calibri"/>
                        </a:rPr>
                        <a:t>5–10</a:t>
                      </a:r>
                    </a:p>
                  </a:txBody>
                  <a:tcPr marL="54864" marR="54864" marT="27432" marB="27432" anchor="ctr">
                    <a:solidFill>
                      <a:srgbClr val="FFFFFF"/>
                    </a:solidFill>
                  </a:tcPr>
                </a:tc>
              </a:tr>
              <a:tr h="365760">
                <a:tc>
                  <a:txBody>
                    <a:bodyPr/>
                    <a:lstStyle/>
                    <a:p>
                      <a:pPr algn="l"/>
                      <a:r>
                        <a:rPr sz="1100" b="1">
                          <a:solidFill>
                            <a:srgbClr val="1F1F1F"/>
                          </a:solidFill>
                          <a:latin typeface="Calibri"/>
                        </a:rPr>
                        <a:t>1.2.4</a:t>
                      </a:r>
                    </a:p>
                  </a:txBody>
                  <a:tcPr marL="54864" marR="54864" marT="27432" marB="27432" anchor="ctr">
                    <a:solidFill>
                      <a:srgbClr val="FBEAEA"/>
                    </a:solidFill>
                  </a:tcPr>
                </a:tc>
                <a:tc>
                  <a:txBody>
                    <a:bodyPr/>
                    <a:lstStyle/>
                    <a:p>
                      <a:pPr algn="l"/>
                      <a:r>
                        <a:rPr sz="1100" b="0">
                          <a:solidFill>
                            <a:srgbClr val="1F1F1F"/>
                          </a:solidFill>
                          <a:latin typeface="Calibri"/>
                        </a:rPr>
                        <a:t>Survei lokasi pemasangan</a:t>
                      </a:r>
                    </a:p>
                  </a:txBody>
                  <a:tcPr marL="54864" marR="54864" marT="27432" marB="27432" anchor="ctr">
                    <a:solidFill>
                      <a:srgbClr val="FBEAEA"/>
                    </a:solidFill>
                  </a:tcPr>
                </a:tc>
                <a:tc>
                  <a:txBody>
                    <a:bodyPr/>
                    <a:lstStyle/>
                    <a:p>
                      <a:pPr algn="l"/>
                      <a:r>
                        <a:rPr sz="1100" b="0">
                          <a:solidFill>
                            <a:srgbClr val="1F1F1F"/>
                          </a:solidFill>
                          <a:latin typeface="Calibri"/>
                        </a:rPr>
                        <a:t>6</a:t>
                      </a:r>
                    </a:p>
                  </a:txBody>
                  <a:tcPr marL="54864" marR="54864" marT="27432" marB="27432" anchor="ctr">
                    <a:solidFill>
                      <a:srgbClr val="FBEAEA"/>
                    </a:solidFill>
                  </a:tcPr>
                </a:tc>
                <a:tc>
                  <a:txBody>
                    <a:bodyPr/>
                    <a:lstStyle/>
                    <a:p>
                      <a:pPr algn="l"/>
                      <a:r>
                        <a:rPr sz="1100" b="0">
                          <a:solidFill>
                            <a:srgbClr val="1F1F1F"/>
                          </a:solidFill>
                          <a:latin typeface="Calibri"/>
                        </a:rPr>
                        <a:t>10–16</a:t>
                      </a:r>
                    </a:p>
                  </a:txBody>
                  <a:tcPr marL="54864" marR="54864" marT="27432" marB="27432" anchor="ctr">
                    <a:solidFill>
                      <a:srgbClr val="FBEAEA"/>
                    </a:solidFill>
                  </a:tcPr>
                </a:tc>
              </a:tr>
              <a:tr h="365760">
                <a:tc>
                  <a:txBody>
                    <a:bodyPr/>
                    <a:lstStyle/>
                    <a:p>
                      <a:pPr algn="l"/>
                      <a:r>
                        <a:rPr sz="1100" b="1">
                          <a:solidFill>
                            <a:srgbClr val="1F1F1F"/>
                          </a:solidFill>
                          <a:latin typeface="Calibri"/>
                        </a:rPr>
                        <a:t>1.2.5</a:t>
                      </a:r>
                    </a:p>
                  </a:txBody>
                  <a:tcPr marL="54864" marR="54864" marT="27432" marB="27432" anchor="ctr">
                    <a:solidFill>
                      <a:srgbClr val="FFFFFF"/>
                    </a:solidFill>
                  </a:tcPr>
                </a:tc>
                <a:tc>
                  <a:txBody>
                    <a:bodyPr/>
                    <a:lstStyle/>
                    <a:p>
                      <a:pPr algn="l"/>
                      <a:r>
                        <a:rPr sz="1100" b="0">
                          <a:solidFill>
                            <a:srgbClr val="1F1F1F"/>
                          </a:solidFill>
                          <a:latin typeface="Calibri"/>
                        </a:rPr>
                        <a:t>Spesifikasi kebutuhan sistem (SRS)</a:t>
                      </a:r>
                    </a:p>
                  </a:txBody>
                  <a:tcPr marL="54864" marR="54864" marT="27432" marB="27432" anchor="ctr">
                    <a:solidFill>
                      <a:srgbClr val="FFFFFF"/>
                    </a:solidFill>
                  </a:tcPr>
                </a:tc>
                <a:tc>
                  <a:txBody>
                    <a:bodyPr/>
                    <a:lstStyle/>
                    <a:p>
                      <a:pPr algn="l"/>
                      <a:r>
                        <a:rPr sz="1100" b="0">
                          <a:solidFill>
                            <a:srgbClr val="1F1F1F"/>
                          </a:solidFill>
                          <a:latin typeface="Calibri"/>
                        </a:rPr>
                        <a:t>5</a:t>
                      </a:r>
                    </a:p>
                  </a:txBody>
                  <a:tcPr marL="54864" marR="54864" marT="27432" marB="27432" anchor="ctr">
                    <a:solidFill>
                      <a:srgbClr val="FFFFFF"/>
                    </a:solidFill>
                  </a:tcPr>
                </a:tc>
                <a:tc>
                  <a:txBody>
                    <a:bodyPr/>
                    <a:lstStyle/>
                    <a:p>
                      <a:pPr algn="l"/>
                      <a:r>
                        <a:rPr sz="1100" b="0">
                          <a:solidFill>
                            <a:srgbClr val="1F1F1F"/>
                          </a:solidFill>
                          <a:latin typeface="Calibri"/>
                        </a:rPr>
                        <a:t>16–21</a:t>
                      </a:r>
                    </a:p>
                  </a:txBody>
                  <a:tcPr marL="54864" marR="54864" marT="27432" marB="27432" anchor="ctr">
                    <a:solidFill>
                      <a:srgbClr val="FFFFFF"/>
                    </a:solidFill>
                  </a:tcPr>
                </a:tc>
              </a:tr>
              <a:tr h="365760">
                <a:tc>
                  <a:txBody>
                    <a:bodyPr/>
                    <a:lstStyle/>
                    <a:p>
                      <a:pPr algn="l"/>
                      <a:r>
                        <a:rPr sz="1100" b="1">
                          <a:solidFill>
                            <a:srgbClr val="1F1F1F"/>
                          </a:solidFill>
                          <a:latin typeface="Calibri"/>
                        </a:rPr>
                        <a:t>1.3.1</a:t>
                      </a:r>
                    </a:p>
                  </a:txBody>
                  <a:tcPr marL="54864" marR="54864" marT="27432" marB="27432" anchor="ctr">
                    <a:solidFill>
                      <a:srgbClr val="FBEAEA"/>
                    </a:solidFill>
                  </a:tcPr>
                </a:tc>
                <a:tc>
                  <a:txBody>
                    <a:bodyPr/>
                    <a:lstStyle/>
                    <a:p>
                      <a:pPr algn="l"/>
                      <a:r>
                        <a:rPr sz="1100" b="0">
                          <a:solidFill>
                            <a:srgbClr val="1F1F1F"/>
                          </a:solidFill>
                          <a:latin typeface="Calibri"/>
                        </a:rPr>
                        <a:t>Arsitektur sistem</a:t>
                      </a:r>
                    </a:p>
                  </a:txBody>
                  <a:tcPr marL="54864" marR="54864" marT="27432" marB="27432" anchor="ctr">
                    <a:solidFill>
                      <a:srgbClr val="FBEAEA"/>
                    </a:solidFill>
                  </a:tcPr>
                </a:tc>
                <a:tc>
                  <a:txBody>
                    <a:bodyPr/>
                    <a:lstStyle/>
                    <a:p>
                      <a:pPr algn="l"/>
                      <a:r>
                        <a:rPr sz="1100" b="0">
                          <a:solidFill>
                            <a:srgbClr val="1F1F1F"/>
                          </a:solidFill>
                          <a:latin typeface="Calibri"/>
                        </a:rPr>
                        <a:t>3</a:t>
                      </a:r>
                    </a:p>
                  </a:txBody>
                  <a:tcPr marL="54864" marR="54864" marT="27432" marB="27432" anchor="ctr">
                    <a:solidFill>
                      <a:srgbClr val="FBEAEA"/>
                    </a:solidFill>
                  </a:tcPr>
                </a:tc>
                <a:tc>
                  <a:txBody>
                    <a:bodyPr/>
                    <a:lstStyle/>
                    <a:p>
                      <a:pPr algn="l"/>
                      <a:r>
                        <a:rPr sz="1100" b="0">
                          <a:solidFill>
                            <a:srgbClr val="1F1F1F"/>
                          </a:solidFill>
                          <a:latin typeface="Calibri"/>
                        </a:rPr>
                        <a:t>21–24</a:t>
                      </a:r>
                    </a:p>
                  </a:txBody>
                  <a:tcPr marL="54864" marR="54864" marT="27432" marB="27432" anchor="ctr">
                    <a:solidFill>
                      <a:srgbClr val="FBEAEA"/>
                    </a:solidFill>
                  </a:tcPr>
                </a:tc>
              </a:tr>
              <a:tr h="365760">
                <a:tc>
                  <a:txBody>
                    <a:bodyPr/>
                    <a:lstStyle/>
                    <a:p>
                      <a:pPr algn="l"/>
                      <a:r>
                        <a:rPr sz="1100" b="1">
                          <a:solidFill>
                            <a:srgbClr val="1F1F1F"/>
                          </a:solidFill>
                          <a:latin typeface="Calibri"/>
                        </a:rPr>
                        <a:t>1.3.4</a:t>
                      </a:r>
                    </a:p>
                  </a:txBody>
                  <a:tcPr marL="54864" marR="54864" marT="27432" marB="27432" anchor="ctr">
                    <a:solidFill>
                      <a:srgbClr val="FFFFFF"/>
                    </a:solidFill>
                  </a:tcPr>
                </a:tc>
                <a:tc>
                  <a:txBody>
                    <a:bodyPr/>
                    <a:lstStyle/>
                    <a:p>
                      <a:pPr algn="l"/>
                      <a:r>
                        <a:rPr sz="1100" b="0">
                          <a:solidFill>
                            <a:srgbClr val="1F1F1F"/>
                          </a:solidFill>
                          <a:latin typeface="Calibri"/>
                        </a:rPr>
                        <a:t>Desain rangkaian perangkat keras</a:t>
                      </a:r>
                    </a:p>
                  </a:txBody>
                  <a:tcPr marL="54864" marR="54864" marT="27432" marB="27432" anchor="ctr">
                    <a:solidFill>
                      <a:srgbClr val="FFFFFF"/>
                    </a:solidFill>
                  </a:tcPr>
                </a:tc>
                <a:tc>
                  <a:txBody>
                    <a:bodyPr/>
                    <a:lstStyle/>
                    <a:p>
                      <a:pPr algn="l"/>
                      <a:r>
                        <a:rPr sz="1100" b="0">
                          <a:solidFill>
                            <a:srgbClr val="1F1F1F"/>
                          </a:solidFill>
                          <a:latin typeface="Calibri"/>
                        </a:rPr>
                        <a:t>5</a:t>
                      </a:r>
                    </a:p>
                  </a:txBody>
                  <a:tcPr marL="54864" marR="54864" marT="27432" marB="27432" anchor="ctr">
                    <a:solidFill>
                      <a:srgbClr val="FFFFFF"/>
                    </a:solidFill>
                  </a:tcPr>
                </a:tc>
                <a:tc>
                  <a:txBody>
                    <a:bodyPr/>
                    <a:lstStyle/>
                    <a:p>
                      <a:pPr algn="l"/>
                      <a:r>
                        <a:rPr sz="1100" b="0">
                          <a:solidFill>
                            <a:srgbClr val="1F1F1F"/>
                          </a:solidFill>
                          <a:latin typeface="Calibri"/>
                        </a:rPr>
                        <a:t>24–29</a:t>
                      </a:r>
                    </a:p>
                  </a:txBody>
                  <a:tcPr marL="54864" marR="54864" marT="27432" marB="27432" anchor="ctr">
                    <a:solidFill>
                      <a:srgbClr val="FFFFFF"/>
                    </a:solidFill>
                  </a:tcPr>
                </a:tc>
              </a:tr>
              <a:tr h="365760">
                <a:tc>
                  <a:txBody>
                    <a:bodyPr/>
                    <a:lstStyle/>
                    <a:p>
                      <a:pPr algn="l"/>
                      <a:r>
                        <a:rPr sz="1100" b="1">
                          <a:solidFill>
                            <a:srgbClr val="1F1F1F"/>
                          </a:solidFill>
                          <a:latin typeface="Calibri"/>
                        </a:rPr>
                        <a:t>1.4.1</a:t>
                      </a:r>
                    </a:p>
                  </a:txBody>
                  <a:tcPr marL="54864" marR="54864" marT="27432" marB="27432" anchor="ctr">
                    <a:solidFill>
                      <a:srgbClr val="FBEAEA"/>
                    </a:solidFill>
                  </a:tcPr>
                </a:tc>
                <a:tc>
                  <a:txBody>
                    <a:bodyPr/>
                    <a:lstStyle/>
                    <a:p>
                      <a:pPr algn="l"/>
                      <a:r>
                        <a:rPr sz="1100" b="0">
                          <a:solidFill>
                            <a:srgbClr val="1F1F1F"/>
                          </a:solidFill>
                          <a:latin typeface="Calibri"/>
                        </a:rPr>
                        <a:t>Daftar komponen (BOM)</a:t>
                      </a:r>
                    </a:p>
                  </a:txBody>
                  <a:tcPr marL="54864" marR="54864" marT="27432" marB="27432" anchor="ctr">
                    <a:solidFill>
                      <a:srgbClr val="FBEAEA"/>
                    </a:solidFill>
                  </a:tcPr>
                </a:tc>
                <a:tc>
                  <a:txBody>
                    <a:bodyPr/>
                    <a:lstStyle/>
                    <a:p>
                      <a:pPr algn="l"/>
                      <a:r>
                        <a:rPr sz="1100" b="0">
                          <a:solidFill>
                            <a:srgbClr val="1F1F1F"/>
                          </a:solidFill>
                          <a:latin typeface="Calibri"/>
                        </a:rPr>
                        <a:t>2</a:t>
                      </a:r>
                    </a:p>
                  </a:txBody>
                  <a:tcPr marL="54864" marR="54864" marT="27432" marB="27432" anchor="ctr">
                    <a:solidFill>
                      <a:srgbClr val="FBEAEA"/>
                    </a:solidFill>
                  </a:tcPr>
                </a:tc>
                <a:tc>
                  <a:txBody>
                    <a:bodyPr/>
                    <a:lstStyle/>
                    <a:p>
                      <a:pPr algn="l"/>
                      <a:r>
                        <a:rPr sz="1100" b="0">
                          <a:solidFill>
                            <a:srgbClr val="1F1F1F"/>
                          </a:solidFill>
                          <a:latin typeface="Calibri"/>
                        </a:rPr>
                        <a:t>29–31</a:t>
                      </a:r>
                    </a:p>
                  </a:txBody>
                  <a:tcPr marL="54864" marR="54864" marT="27432" marB="27432" anchor="ctr">
                    <a:solidFill>
                      <a:srgbClr val="FBEAEA"/>
                    </a:solidFill>
                  </a:tcPr>
                </a:tc>
              </a:tr>
              <a:tr h="365760">
                <a:tc>
                  <a:txBody>
                    <a:bodyPr/>
                    <a:lstStyle/>
                    <a:p>
                      <a:pPr algn="l"/>
                      <a:r>
                        <a:rPr sz="1100" b="1">
                          <a:solidFill>
                            <a:srgbClr val="1F1F1F"/>
                          </a:solidFill>
                          <a:latin typeface="Calibri"/>
                        </a:rPr>
                        <a:t>1.4.2</a:t>
                      </a:r>
                    </a:p>
                  </a:txBody>
                  <a:tcPr marL="54864" marR="54864" marT="27432" marB="27432" anchor="ctr">
                    <a:solidFill>
                      <a:srgbClr val="FFFFFF"/>
                    </a:solidFill>
                  </a:tcPr>
                </a:tc>
                <a:tc>
                  <a:txBody>
                    <a:bodyPr/>
                    <a:lstStyle/>
                    <a:p>
                      <a:pPr algn="l"/>
                      <a:r>
                        <a:rPr sz="1100" b="0">
                          <a:solidFill>
                            <a:srgbClr val="1F1F1F"/>
                          </a:solidFill>
                          <a:latin typeface="Calibri"/>
                        </a:rPr>
                        <a:t>Pemilihan pemasok dan pembelian komponen</a:t>
                      </a:r>
                    </a:p>
                  </a:txBody>
                  <a:tcPr marL="54864" marR="54864" marT="27432" marB="27432" anchor="ctr">
                    <a:solidFill>
                      <a:srgbClr val="FFFFFF"/>
                    </a:solidFill>
                  </a:tcPr>
                </a:tc>
                <a:tc>
                  <a:txBody>
                    <a:bodyPr/>
                    <a:lstStyle/>
                    <a:p>
                      <a:pPr algn="l"/>
                      <a:r>
                        <a:rPr sz="1100" b="0">
                          <a:solidFill>
                            <a:srgbClr val="1F1F1F"/>
                          </a:solidFill>
                          <a:latin typeface="Calibri"/>
                        </a:rPr>
                        <a:t>11</a:t>
                      </a:r>
                    </a:p>
                  </a:txBody>
                  <a:tcPr marL="54864" marR="54864" marT="27432" marB="27432" anchor="ctr">
                    <a:solidFill>
                      <a:srgbClr val="FFFFFF"/>
                    </a:solidFill>
                  </a:tcPr>
                </a:tc>
                <a:tc>
                  <a:txBody>
                    <a:bodyPr/>
                    <a:lstStyle/>
                    <a:p>
                      <a:pPr algn="l"/>
                      <a:r>
                        <a:rPr sz="1100" b="0">
                          <a:solidFill>
                            <a:srgbClr val="1F1F1F"/>
                          </a:solidFill>
                          <a:latin typeface="Calibri"/>
                        </a:rPr>
                        <a:t>31–42</a:t>
                      </a:r>
                    </a:p>
                  </a:txBody>
                  <a:tcPr marL="54864" marR="54864" marT="27432" marB="27432" anchor="ctr">
                    <a:solidFill>
                      <a:srgbClr val="FFFFFF"/>
                    </a:solidFill>
                  </a:tcPr>
                </a:tc>
              </a:tr>
              <a:tr h="365760">
                <a:tc>
                  <a:txBody>
                    <a:bodyPr/>
                    <a:lstStyle/>
                    <a:p>
                      <a:pPr algn="l"/>
                      <a:r>
                        <a:rPr sz="1100" b="1">
                          <a:solidFill>
                            <a:srgbClr val="1F1F1F"/>
                          </a:solidFill>
                          <a:latin typeface="Calibri"/>
                        </a:rPr>
                        <a:t>1.6.1</a:t>
                      </a:r>
                    </a:p>
                  </a:txBody>
                  <a:tcPr marL="54864" marR="54864" marT="27432" marB="27432" anchor="ctr">
                    <a:solidFill>
                      <a:srgbClr val="FBEAEA"/>
                    </a:solidFill>
                  </a:tcPr>
                </a:tc>
                <a:tc>
                  <a:txBody>
                    <a:bodyPr/>
                    <a:lstStyle/>
                    <a:p>
                      <a:pPr algn="l"/>
                      <a:r>
                        <a:rPr sz="1100" b="0">
                          <a:solidFill>
                            <a:srgbClr val="1F1F1F"/>
                          </a:solidFill>
                          <a:latin typeface="Calibri"/>
                        </a:rPr>
                        <a:t>Perakitan prototipe</a:t>
                      </a:r>
                    </a:p>
                  </a:txBody>
                  <a:tcPr marL="54864" marR="54864" marT="27432" marB="27432" anchor="ctr">
                    <a:solidFill>
                      <a:srgbClr val="FBEAEA"/>
                    </a:solidFill>
                  </a:tcPr>
                </a:tc>
                <a:tc>
                  <a:txBody>
                    <a:bodyPr/>
                    <a:lstStyle/>
                    <a:p>
                      <a:pPr algn="l"/>
                      <a:r>
                        <a:rPr sz="1100" b="0">
                          <a:solidFill>
                            <a:srgbClr val="1F1F1F"/>
                          </a:solidFill>
                          <a:latin typeface="Calibri"/>
                        </a:rPr>
                        <a:t>3</a:t>
                      </a:r>
                    </a:p>
                  </a:txBody>
                  <a:tcPr marL="54864" marR="54864" marT="27432" marB="27432" anchor="ctr">
                    <a:solidFill>
                      <a:srgbClr val="FBEAEA"/>
                    </a:solidFill>
                  </a:tcPr>
                </a:tc>
                <a:tc>
                  <a:txBody>
                    <a:bodyPr/>
                    <a:lstStyle/>
                    <a:p>
                      <a:pPr algn="l"/>
                      <a:r>
                        <a:rPr sz="1100" b="0">
                          <a:solidFill>
                            <a:srgbClr val="1F1F1F"/>
                          </a:solidFill>
                          <a:latin typeface="Calibri"/>
                        </a:rPr>
                        <a:t>42–45</a:t>
                      </a:r>
                    </a:p>
                  </a:txBody>
                  <a:tcPr marL="54864" marR="54864" marT="27432" marB="27432" anchor="ctr">
                    <a:solidFill>
                      <a:srgbClr val="FBEAEA"/>
                    </a:solidFill>
                  </a:tcPr>
                </a:tc>
              </a:tr>
              <a:tr h="365760">
                <a:tc>
                  <a:txBody>
                    <a:bodyPr/>
                    <a:lstStyle/>
                    <a:p>
                      <a:pPr algn="l"/>
                      <a:r>
                        <a:rPr sz="1100" b="1">
                          <a:solidFill>
                            <a:srgbClr val="1F1F1F"/>
                          </a:solidFill>
                          <a:latin typeface="Calibri"/>
                        </a:rPr>
                        <a:t>1.6.2</a:t>
                      </a:r>
                    </a:p>
                  </a:txBody>
                  <a:tcPr marL="54864" marR="54864" marT="27432" marB="27432" anchor="ctr">
                    <a:solidFill>
                      <a:srgbClr val="FFFFFF"/>
                    </a:solidFill>
                  </a:tcPr>
                </a:tc>
                <a:tc>
                  <a:txBody>
                    <a:bodyPr/>
                    <a:lstStyle/>
                    <a:p>
                      <a:pPr algn="l"/>
                      <a:r>
                        <a:rPr sz="1100" b="0">
                          <a:solidFill>
                            <a:srgbClr val="1F1F1F"/>
                          </a:solidFill>
                          <a:latin typeface="Calibri"/>
                        </a:rPr>
                        <a:t>Firmware C++</a:t>
                      </a:r>
                    </a:p>
                  </a:txBody>
                  <a:tcPr marL="54864" marR="54864" marT="27432" marB="27432" anchor="ctr">
                    <a:solidFill>
                      <a:srgbClr val="FFFFFF"/>
                    </a:solidFill>
                  </a:tcPr>
                </a:tc>
                <a:tc>
                  <a:txBody>
                    <a:bodyPr/>
                    <a:lstStyle/>
                    <a:p>
                      <a:pPr algn="l"/>
                      <a:r>
                        <a:rPr sz="1100" b="0">
                          <a:solidFill>
                            <a:srgbClr val="1F1F1F"/>
                          </a:solidFill>
                          <a:latin typeface="Calibri"/>
                        </a:rPr>
                        <a:t>8</a:t>
                      </a:r>
                    </a:p>
                  </a:txBody>
                  <a:tcPr marL="54864" marR="54864" marT="27432" marB="27432" anchor="ctr">
                    <a:solidFill>
                      <a:srgbClr val="FFFFFF"/>
                    </a:solidFill>
                  </a:tcPr>
                </a:tc>
                <a:tc>
                  <a:txBody>
                    <a:bodyPr/>
                    <a:lstStyle/>
                    <a:p>
                      <a:pPr algn="l"/>
                      <a:r>
                        <a:rPr sz="1100" b="0">
                          <a:solidFill>
                            <a:srgbClr val="1F1F1F"/>
                          </a:solidFill>
                          <a:latin typeface="Calibri"/>
                        </a:rPr>
                        <a:t>45–53</a:t>
                      </a:r>
                    </a:p>
                  </a:txBody>
                  <a:tcPr marL="54864" marR="54864" marT="27432" marB="27432" anchor="ctr">
                    <a:solidFill>
                      <a:srgbClr val="FFFFFF"/>
                    </a:solidFill>
                  </a:tcPr>
                </a:tc>
              </a:tr>
              <a:tr h="365760">
                <a:tc>
                  <a:txBody>
                    <a:bodyPr/>
                    <a:lstStyle/>
                    <a:p>
                      <a:pPr algn="l"/>
                      <a:r>
                        <a:rPr sz="1100" b="1">
                          <a:solidFill>
                            <a:srgbClr val="1F1F1F"/>
                          </a:solidFill>
                          <a:latin typeface="Calibri"/>
                        </a:rPr>
                        <a:t>1.6.3</a:t>
                      </a:r>
                    </a:p>
                  </a:txBody>
                  <a:tcPr marL="54864" marR="54864" marT="27432" marB="27432" anchor="ctr">
                    <a:solidFill>
                      <a:srgbClr val="FBEAEA"/>
                    </a:solidFill>
                  </a:tcPr>
                </a:tc>
                <a:tc>
                  <a:txBody>
                    <a:bodyPr/>
                    <a:lstStyle/>
                    <a:p>
                      <a:pPr algn="l"/>
                      <a:r>
                        <a:rPr sz="1100" b="0">
                          <a:solidFill>
                            <a:srgbClr val="1F1F1F"/>
                          </a:solidFill>
                          <a:latin typeface="Calibri"/>
                        </a:rPr>
                        <a:t>Fitur heartbeat dan sambung ulang otomatis</a:t>
                      </a:r>
                    </a:p>
                  </a:txBody>
                  <a:tcPr marL="54864" marR="54864" marT="27432" marB="27432" anchor="ctr">
                    <a:solidFill>
                      <a:srgbClr val="FBEAEA"/>
                    </a:solidFill>
                  </a:tcPr>
                </a:tc>
                <a:tc>
                  <a:txBody>
                    <a:bodyPr/>
                    <a:lstStyle/>
                    <a:p>
                      <a:pPr algn="l"/>
                      <a:r>
                        <a:rPr sz="1100" b="0">
                          <a:solidFill>
                            <a:srgbClr val="1F1F1F"/>
                          </a:solidFill>
                          <a:latin typeface="Calibri"/>
                        </a:rPr>
                        <a:t>3</a:t>
                      </a:r>
                    </a:p>
                  </a:txBody>
                  <a:tcPr marL="54864" marR="54864" marT="27432" marB="27432" anchor="ctr">
                    <a:solidFill>
                      <a:srgbClr val="FBEAEA"/>
                    </a:solidFill>
                  </a:tcPr>
                </a:tc>
                <a:tc>
                  <a:txBody>
                    <a:bodyPr/>
                    <a:lstStyle/>
                    <a:p>
                      <a:pPr algn="l"/>
                      <a:r>
                        <a:rPr sz="1100" b="0">
                          <a:solidFill>
                            <a:srgbClr val="1F1F1F"/>
                          </a:solidFill>
                          <a:latin typeface="Calibri"/>
                        </a:rPr>
                        <a:t>53–56</a:t>
                      </a:r>
                    </a:p>
                  </a:txBody>
                  <a:tcPr marL="54864" marR="54864" marT="27432" marB="27432" anchor="ctr">
                    <a:solidFill>
                      <a:srgbClr val="FBEAEA"/>
                    </a:solidFill>
                  </a:tcPr>
                </a:tc>
              </a:tr>
            </a:tbl>
          </a:graphicData>
        </a:graphic>
      </p:graphicFrame>
      <p:graphicFrame>
        <p:nvGraphicFramePr>
          <p:cNvPr id="6" name="Table 5"/>
          <p:cNvGraphicFramePr>
            <a:graphicFrameLocks noGrp="1"/>
          </p:cNvGraphicFramePr>
          <p:nvPr/>
        </p:nvGraphicFramePr>
        <p:xfrm>
          <a:off x="6217920" y="1234440"/>
          <a:ext cx="5394960" cy="4023360"/>
        </p:xfrm>
        <a:graphic>
          <a:graphicData uri="http://schemas.openxmlformats.org/drawingml/2006/table">
            <a:tbl>
              <a:tblPr firstRow="1" bandRow="1">
                <a:tableStyleId>{5C22544A-7EE6-4342-B048-85BDC9FD1C3A}</a:tableStyleId>
              </a:tblPr>
              <a:tblGrid>
                <a:gridCol w="640080"/>
                <a:gridCol w="3337560"/>
                <a:gridCol w="640080"/>
                <a:gridCol w="777240"/>
              </a:tblGrid>
              <a:tr h="365760">
                <a:tc>
                  <a:txBody>
                    <a:bodyPr/>
                    <a:lstStyle/>
                    <a:p>
                      <a:pPr algn="l"/>
                      <a:r>
                        <a:rPr sz="1200" b="1">
                          <a:solidFill>
                            <a:srgbClr val="FFFFFF"/>
                          </a:solidFill>
                          <a:latin typeface="Calibri"/>
                        </a:rPr>
                        <a:t>Kode</a:t>
                      </a:r>
                    </a:p>
                  </a:txBody>
                  <a:tcPr marL="54864" marR="54864" marT="27432" marB="27432" anchor="ctr">
                    <a:solidFill>
                      <a:srgbClr val="1B2A4A"/>
                    </a:solidFill>
                  </a:tcPr>
                </a:tc>
                <a:tc>
                  <a:txBody>
                    <a:bodyPr/>
                    <a:lstStyle/>
                    <a:p>
                      <a:pPr algn="l"/>
                      <a:r>
                        <a:rPr sz="1200" b="1">
                          <a:solidFill>
                            <a:srgbClr val="FFFFFF"/>
                          </a:solidFill>
                          <a:latin typeface="Calibri"/>
                        </a:rPr>
                        <a:t>Aktivitas</a:t>
                      </a:r>
                    </a:p>
                  </a:txBody>
                  <a:tcPr marL="54864" marR="54864" marT="27432" marB="27432" anchor="ctr">
                    <a:solidFill>
                      <a:srgbClr val="1B2A4A"/>
                    </a:solidFill>
                  </a:tcPr>
                </a:tc>
                <a:tc>
                  <a:txBody>
                    <a:bodyPr/>
                    <a:lstStyle/>
                    <a:p>
                      <a:pPr algn="l"/>
                      <a:r>
                        <a:rPr sz="1200" b="1">
                          <a:solidFill>
                            <a:srgbClr val="FFFFFF"/>
                          </a:solidFill>
                          <a:latin typeface="Calibri"/>
                        </a:rPr>
                        <a:t>Durasi</a:t>
                      </a:r>
                    </a:p>
                  </a:txBody>
                  <a:tcPr marL="54864" marR="54864" marT="27432" marB="27432" anchor="ctr">
                    <a:solidFill>
                      <a:srgbClr val="1B2A4A"/>
                    </a:solidFill>
                  </a:tcPr>
                </a:tc>
                <a:tc>
                  <a:txBody>
                    <a:bodyPr/>
                    <a:lstStyle/>
                    <a:p>
                      <a:pPr algn="l"/>
                      <a:r>
                        <a:rPr sz="1200" b="1">
                          <a:solidFill>
                            <a:srgbClr val="FFFFFF"/>
                          </a:solidFill>
                          <a:latin typeface="Calibri"/>
                        </a:rPr>
                        <a:t>ES–EF</a:t>
                      </a:r>
                    </a:p>
                  </a:txBody>
                  <a:tcPr marL="54864" marR="54864" marT="27432" marB="27432" anchor="ctr">
                    <a:solidFill>
                      <a:srgbClr val="1B2A4A"/>
                    </a:solidFill>
                  </a:tcPr>
                </a:tc>
              </a:tr>
              <a:tr h="365760">
                <a:tc>
                  <a:txBody>
                    <a:bodyPr/>
                    <a:lstStyle/>
                    <a:p>
                      <a:pPr algn="l"/>
                      <a:r>
                        <a:rPr sz="1100" b="1">
                          <a:solidFill>
                            <a:srgbClr val="1F1F1F"/>
                          </a:solidFill>
                          <a:latin typeface="Calibri"/>
                        </a:rPr>
                        <a:t>1.6.4</a:t>
                      </a:r>
                    </a:p>
                  </a:txBody>
                  <a:tcPr marL="54864" marR="54864" marT="27432" marB="27432" anchor="ctr">
                    <a:solidFill>
                      <a:srgbClr val="FBEAEA"/>
                    </a:solidFill>
                  </a:tcPr>
                </a:tc>
                <a:tc>
                  <a:txBody>
                    <a:bodyPr/>
                    <a:lstStyle/>
                    <a:p>
                      <a:pPr algn="l"/>
                      <a:r>
                        <a:rPr sz="1100" b="0">
                          <a:solidFill>
                            <a:srgbClr val="1F1F1F"/>
                          </a:solidFill>
                          <a:latin typeface="Calibri"/>
                        </a:rPr>
                        <a:t>Fitur diagnosa jarak jauh</a:t>
                      </a:r>
                    </a:p>
                  </a:txBody>
                  <a:tcPr marL="54864" marR="54864" marT="27432" marB="27432" anchor="ctr">
                    <a:solidFill>
                      <a:srgbClr val="FBEAEA"/>
                    </a:solidFill>
                  </a:tcPr>
                </a:tc>
                <a:tc>
                  <a:txBody>
                    <a:bodyPr/>
                    <a:lstStyle/>
                    <a:p>
                      <a:pPr algn="l"/>
                      <a:r>
                        <a:rPr sz="1100" b="0">
                          <a:solidFill>
                            <a:srgbClr val="1F1F1F"/>
                          </a:solidFill>
                          <a:latin typeface="Calibri"/>
                        </a:rPr>
                        <a:t>4</a:t>
                      </a:r>
                    </a:p>
                  </a:txBody>
                  <a:tcPr marL="54864" marR="54864" marT="27432" marB="27432" anchor="ctr">
                    <a:solidFill>
                      <a:srgbClr val="FBEAEA"/>
                    </a:solidFill>
                  </a:tcPr>
                </a:tc>
                <a:tc>
                  <a:txBody>
                    <a:bodyPr/>
                    <a:lstStyle/>
                    <a:p>
                      <a:pPr algn="l"/>
                      <a:r>
                        <a:rPr sz="1100" b="0">
                          <a:solidFill>
                            <a:srgbClr val="1F1F1F"/>
                          </a:solidFill>
                          <a:latin typeface="Calibri"/>
                        </a:rPr>
                        <a:t>56–60</a:t>
                      </a:r>
                    </a:p>
                  </a:txBody>
                  <a:tcPr marL="54864" marR="54864" marT="27432" marB="27432" anchor="ctr">
                    <a:solidFill>
                      <a:srgbClr val="FBEAEA"/>
                    </a:solidFill>
                  </a:tcPr>
                </a:tc>
              </a:tr>
              <a:tr h="365760">
                <a:tc>
                  <a:txBody>
                    <a:bodyPr/>
                    <a:lstStyle/>
                    <a:p>
                      <a:pPr algn="l"/>
                      <a:r>
                        <a:rPr sz="1100" b="1">
                          <a:solidFill>
                            <a:srgbClr val="1F1F1F"/>
                          </a:solidFill>
                          <a:latin typeface="Calibri"/>
                        </a:rPr>
                        <a:t>1.7.3</a:t>
                      </a:r>
                    </a:p>
                  </a:txBody>
                  <a:tcPr marL="54864" marR="54864" marT="27432" marB="27432" anchor="ctr">
                    <a:solidFill>
                      <a:srgbClr val="FFFFFF"/>
                    </a:solidFill>
                  </a:tcPr>
                </a:tc>
                <a:tc>
                  <a:txBody>
                    <a:bodyPr/>
                    <a:lstStyle/>
                    <a:p>
                      <a:pPr algn="l"/>
                      <a:r>
                        <a:rPr sz="1100" b="0">
                          <a:solidFill>
                            <a:srgbClr val="1F1F1F"/>
                          </a:solidFill>
                          <a:latin typeface="Calibri"/>
                        </a:rPr>
                        <a:t>Uji perangkat keras</a:t>
                      </a:r>
                    </a:p>
                  </a:txBody>
                  <a:tcPr marL="54864" marR="54864" marT="27432" marB="27432" anchor="ctr">
                    <a:solidFill>
                      <a:srgbClr val="FFFFFF"/>
                    </a:solidFill>
                  </a:tcPr>
                </a:tc>
                <a:tc>
                  <a:txBody>
                    <a:bodyPr/>
                    <a:lstStyle/>
                    <a:p>
                      <a:pPr algn="l"/>
                      <a:r>
                        <a:rPr sz="1100" b="0">
                          <a:solidFill>
                            <a:srgbClr val="1F1F1F"/>
                          </a:solidFill>
                          <a:latin typeface="Calibri"/>
                        </a:rPr>
                        <a:t>4</a:t>
                      </a:r>
                    </a:p>
                  </a:txBody>
                  <a:tcPr marL="54864" marR="54864" marT="27432" marB="27432" anchor="ctr">
                    <a:solidFill>
                      <a:srgbClr val="FFFFFF"/>
                    </a:solidFill>
                  </a:tcPr>
                </a:tc>
                <a:tc>
                  <a:txBody>
                    <a:bodyPr/>
                    <a:lstStyle/>
                    <a:p>
                      <a:pPr algn="l"/>
                      <a:r>
                        <a:rPr sz="1100" b="0">
                          <a:solidFill>
                            <a:srgbClr val="1F1F1F"/>
                          </a:solidFill>
                          <a:latin typeface="Calibri"/>
                        </a:rPr>
                        <a:t>60–64</a:t>
                      </a:r>
                    </a:p>
                  </a:txBody>
                  <a:tcPr marL="54864" marR="54864" marT="27432" marB="27432" anchor="ctr">
                    <a:solidFill>
                      <a:srgbClr val="FFFFFF"/>
                    </a:solidFill>
                  </a:tcPr>
                </a:tc>
              </a:tr>
              <a:tr h="365760">
                <a:tc>
                  <a:txBody>
                    <a:bodyPr/>
                    <a:lstStyle/>
                    <a:p>
                      <a:pPr algn="l"/>
                      <a:r>
                        <a:rPr sz="1100" b="1">
                          <a:solidFill>
                            <a:srgbClr val="1F1F1F"/>
                          </a:solidFill>
                          <a:latin typeface="Calibri"/>
                        </a:rPr>
                        <a:t>1.6.5</a:t>
                      </a:r>
                    </a:p>
                  </a:txBody>
                  <a:tcPr marL="54864" marR="54864" marT="27432" marB="27432" anchor="ctr">
                    <a:solidFill>
                      <a:srgbClr val="FBEAEA"/>
                    </a:solidFill>
                  </a:tcPr>
                </a:tc>
                <a:tc>
                  <a:txBody>
                    <a:bodyPr/>
                    <a:lstStyle/>
                    <a:p>
                      <a:pPr algn="l"/>
                      <a:r>
                        <a:rPr sz="1100" b="0">
                          <a:solidFill>
                            <a:srgbClr val="1F1F1F"/>
                          </a:solidFill>
                          <a:latin typeface="Calibri"/>
                        </a:rPr>
                        <a:t>Perakitan unit produksi</a:t>
                      </a:r>
                    </a:p>
                  </a:txBody>
                  <a:tcPr marL="54864" marR="54864" marT="27432" marB="27432" anchor="ctr">
                    <a:solidFill>
                      <a:srgbClr val="FBEAEA"/>
                    </a:solidFill>
                  </a:tcPr>
                </a:tc>
                <a:tc>
                  <a:txBody>
                    <a:bodyPr/>
                    <a:lstStyle/>
                    <a:p>
                      <a:pPr algn="l"/>
                      <a:r>
                        <a:rPr sz="1100" b="0">
                          <a:solidFill>
                            <a:srgbClr val="1F1F1F"/>
                          </a:solidFill>
                          <a:latin typeface="Calibri"/>
                        </a:rPr>
                        <a:t>6</a:t>
                      </a:r>
                    </a:p>
                  </a:txBody>
                  <a:tcPr marL="54864" marR="54864" marT="27432" marB="27432" anchor="ctr">
                    <a:solidFill>
                      <a:srgbClr val="FBEAEA"/>
                    </a:solidFill>
                  </a:tcPr>
                </a:tc>
                <a:tc>
                  <a:txBody>
                    <a:bodyPr/>
                    <a:lstStyle/>
                    <a:p>
                      <a:pPr algn="l"/>
                      <a:r>
                        <a:rPr sz="1100" b="0">
                          <a:solidFill>
                            <a:srgbClr val="1F1F1F"/>
                          </a:solidFill>
                          <a:latin typeface="Calibri"/>
                        </a:rPr>
                        <a:t>64–70</a:t>
                      </a:r>
                    </a:p>
                  </a:txBody>
                  <a:tcPr marL="54864" marR="54864" marT="27432" marB="27432" anchor="ctr">
                    <a:solidFill>
                      <a:srgbClr val="FBEAEA"/>
                    </a:solidFill>
                  </a:tcPr>
                </a:tc>
              </a:tr>
              <a:tr h="365760">
                <a:tc>
                  <a:txBody>
                    <a:bodyPr/>
                    <a:lstStyle/>
                    <a:p>
                      <a:pPr algn="l"/>
                      <a:r>
                        <a:rPr sz="1100" b="1">
                          <a:solidFill>
                            <a:srgbClr val="1F1F1F"/>
                          </a:solidFill>
                          <a:latin typeface="Calibri"/>
                        </a:rPr>
                        <a:t>1.7.4</a:t>
                      </a:r>
                    </a:p>
                  </a:txBody>
                  <a:tcPr marL="54864" marR="54864" marT="27432" marB="27432" anchor="ctr">
                    <a:solidFill>
                      <a:srgbClr val="FFFFFF"/>
                    </a:solidFill>
                  </a:tcPr>
                </a:tc>
                <a:tc>
                  <a:txBody>
                    <a:bodyPr/>
                    <a:lstStyle/>
                    <a:p>
                      <a:pPr algn="l"/>
                      <a:r>
                        <a:rPr sz="1100" b="0">
                          <a:solidFill>
                            <a:srgbClr val="1F1F1F"/>
                          </a:solidFill>
                          <a:latin typeface="Calibri"/>
                        </a:rPr>
                        <a:t>Uji integrasi ujung ke ujung</a:t>
                      </a:r>
                    </a:p>
                  </a:txBody>
                  <a:tcPr marL="54864" marR="54864" marT="27432" marB="27432" anchor="ctr">
                    <a:solidFill>
                      <a:srgbClr val="FFFFFF"/>
                    </a:solidFill>
                  </a:tcPr>
                </a:tc>
                <a:tc>
                  <a:txBody>
                    <a:bodyPr/>
                    <a:lstStyle/>
                    <a:p>
                      <a:pPr algn="l"/>
                      <a:r>
                        <a:rPr sz="1100" b="0">
                          <a:solidFill>
                            <a:srgbClr val="1F1F1F"/>
                          </a:solidFill>
                          <a:latin typeface="Calibri"/>
                        </a:rPr>
                        <a:t>7</a:t>
                      </a:r>
                    </a:p>
                  </a:txBody>
                  <a:tcPr marL="54864" marR="54864" marT="27432" marB="27432" anchor="ctr">
                    <a:solidFill>
                      <a:srgbClr val="FFFFFF"/>
                    </a:solidFill>
                  </a:tcPr>
                </a:tc>
                <a:tc>
                  <a:txBody>
                    <a:bodyPr/>
                    <a:lstStyle/>
                    <a:p>
                      <a:pPr algn="l"/>
                      <a:r>
                        <a:rPr sz="1100" b="0">
                          <a:solidFill>
                            <a:srgbClr val="1F1F1F"/>
                          </a:solidFill>
                          <a:latin typeface="Calibri"/>
                        </a:rPr>
                        <a:t>64–71</a:t>
                      </a:r>
                    </a:p>
                  </a:txBody>
                  <a:tcPr marL="54864" marR="54864" marT="27432" marB="27432" anchor="ctr">
                    <a:solidFill>
                      <a:srgbClr val="FFFFFF"/>
                    </a:solidFill>
                  </a:tcPr>
                </a:tc>
              </a:tr>
              <a:tr h="365760">
                <a:tc>
                  <a:txBody>
                    <a:bodyPr/>
                    <a:lstStyle/>
                    <a:p>
                      <a:pPr algn="l"/>
                      <a:r>
                        <a:rPr sz="1100" b="1">
                          <a:solidFill>
                            <a:srgbClr val="1F1F1F"/>
                          </a:solidFill>
                          <a:latin typeface="Calibri"/>
                        </a:rPr>
                        <a:t>1.8.1</a:t>
                      </a:r>
                    </a:p>
                  </a:txBody>
                  <a:tcPr marL="54864" marR="54864" marT="27432" marB="27432" anchor="ctr">
                    <a:solidFill>
                      <a:srgbClr val="FBEAEA"/>
                    </a:solidFill>
                  </a:tcPr>
                </a:tc>
                <a:tc>
                  <a:txBody>
                    <a:bodyPr/>
                    <a:lstStyle/>
                    <a:p>
                      <a:pPr algn="l"/>
                      <a:r>
                        <a:rPr sz="1100" b="0">
                          <a:solidFill>
                            <a:srgbClr val="1F1F1F"/>
                          </a:solidFill>
                          <a:latin typeface="Calibri"/>
                        </a:rPr>
                        <a:t>Pemasangan perangkat di lokasi</a:t>
                      </a:r>
                    </a:p>
                  </a:txBody>
                  <a:tcPr marL="54864" marR="54864" marT="27432" marB="27432" anchor="ctr">
                    <a:solidFill>
                      <a:srgbClr val="FBEAEA"/>
                    </a:solidFill>
                  </a:tcPr>
                </a:tc>
                <a:tc>
                  <a:txBody>
                    <a:bodyPr/>
                    <a:lstStyle/>
                    <a:p>
                      <a:pPr algn="l"/>
                      <a:r>
                        <a:rPr sz="1100" b="0">
                          <a:solidFill>
                            <a:srgbClr val="1F1F1F"/>
                          </a:solidFill>
                          <a:latin typeface="Calibri"/>
                        </a:rPr>
                        <a:t>5</a:t>
                      </a:r>
                    </a:p>
                  </a:txBody>
                  <a:tcPr marL="54864" marR="54864" marT="27432" marB="27432" anchor="ctr">
                    <a:solidFill>
                      <a:srgbClr val="FBEAEA"/>
                    </a:solidFill>
                  </a:tcPr>
                </a:tc>
                <a:tc>
                  <a:txBody>
                    <a:bodyPr/>
                    <a:lstStyle/>
                    <a:p>
                      <a:pPr algn="l"/>
                      <a:r>
                        <a:rPr sz="1100" b="0">
                          <a:solidFill>
                            <a:srgbClr val="1F1F1F"/>
                          </a:solidFill>
                          <a:latin typeface="Calibri"/>
                        </a:rPr>
                        <a:t>70–75</a:t>
                      </a:r>
                    </a:p>
                  </a:txBody>
                  <a:tcPr marL="54864" marR="54864" marT="27432" marB="27432" anchor="ctr">
                    <a:solidFill>
                      <a:srgbClr val="FBEAEA"/>
                    </a:solidFill>
                  </a:tcPr>
                </a:tc>
              </a:tr>
              <a:tr h="365760">
                <a:tc>
                  <a:txBody>
                    <a:bodyPr/>
                    <a:lstStyle/>
                    <a:p>
                      <a:pPr algn="l"/>
                      <a:r>
                        <a:rPr sz="1100" b="1">
                          <a:solidFill>
                            <a:srgbClr val="1F1F1F"/>
                          </a:solidFill>
                          <a:latin typeface="Calibri"/>
                        </a:rPr>
                        <a:t>1.7.5</a:t>
                      </a:r>
                    </a:p>
                  </a:txBody>
                  <a:tcPr marL="54864" marR="54864" marT="27432" marB="27432" anchor="ctr">
                    <a:solidFill>
                      <a:srgbClr val="FFFFFF"/>
                    </a:solidFill>
                  </a:tcPr>
                </a:tc>
                <a:tc>
                  <a:txBody>
                    <a:bodyPr/>
                    <a:lstStyle/>
                    <a:p>
                      <a:pPr algn="l"/>
                      <a:r>
                        <a:rPr sz="1100" b="0">
                          <a:solidFill>
                            <a:srgbClr val="1F1F1F"/>
                          </a:solidFill>
                          <a:latin typeface="Calibri"/>
                        </a:rPr>
                        <a:t>Uji kegagalan</a:t>
                      </a:r>
                    </a:p>
                  </a:txBody>
                  <a:tcPr marL="54864" marR="54864" marT="27432" marB="27432" anchor="ctr">
                    <a:solidFill>
                      <a:srgbClr val="FFFFFF"/>
                    </a:solidFill>
                  </a:tcPr>
                </a:tc>
                <a:tc>
                  <a:txBody>
                    <a:bodyPr/>
                    <a:lstStyle/>
                    <a:p>
                      <a:pPr algn="l"/>
                      <a:r>
                        <a:rPr sz="1100" b="0">
                          <a:solidFill>
                            <a:srgbClr val="1F1F1F"/>
                          </a:solidFill>
                          <a:latin typeface="Calibri"/>
                        </a:rPr>
                        <a:t>5</a:t>
                      </a:r>
                    </a:p>
                  </a:txBody>
                  <a:tcPr marL="54864" marR="54864" marT="27432" marB="27432" anchor="ctr">
                    <a:solidFill>
                      <a:srgbClr val="FFFFFF"/>
                    </a:solidFill>
                  </a:tcPr>
                </a:tc>
                <a:tc>
                  <a:txBody>
                    <a:bodyPr/>
                    <a:lstStyle/>
                    <a:p>
                      <a:pPr algn="l"/>
                      <a:r>
                        <a:rPr sz="1100" b="0">
                          <a:solidFill>
                            <a:srgbClr val="1F1F1F"/>
                          </a:solidFill>
                          <a:latin typeface="Calibri"/>
                        </a:rPr>
                        <a:t>71–76</a:t>
                      </a:r>
                    </a:p>
                  </a:txBody>
                  <a:tcPr marL="54864" marR="54864" marT="27432" marB="27432" anchor="ctr">
                    <a:solidFill>
                      <a:srgbClr val="FFFFFF"/>
                    </a:solidFill>
                  </a:tcPr>
                </a:tc>
              </a:tr>
              <a:tr h="365760">
                <a:tc>
                  <a:txBody>
                    <a:bodyPr/>
                    <a:lstStyle/>
                    <a:p>
                      <a:pPr algn="l"/>
                      <a:r>
                        <a:rPr sz="1100" b="1">
                          <a:solidFill>
                            <a:srgbClr val="1F1F1F"/>
                          </a:solidFill>
                          <a:latin typeface="Calibri"/>
                        </a:rPr>
                        <a:t>1.8.3</a:t>
                      </a:r>
                    </a:p>
                  </a:txBody>
                  <a:tcPr marL="54864" marR="54864" marT="27432" marB="27432" anchor="ctr">
                    <a:solidFill>
                      <a:srgbClr val="FBEAEA"/>
                    </a:solidFill>
                  </a:tcPr>
                </a:tc>
                <a:tc>
                  <a:txBody>
                    <a:bodyPr/>
                    <a:lstStyle/>
                    <a:p>
                      <a:pPr algn="l"/>
                      <a:r>
                        <a:rPr sz="1100" b="0">
                          <a:solidFill>
                            <a:srgbClr val="1F1F1F"/>
                          </a:solidFill>
                          <a:latin typeface="Calibri"/>
                        </a:rPr>
                        <a:t>Konfigurasi wilayah dan pendaftaran perangkat</a:t>
                      </a:r>
                    </a:p>
                  </a:txBody>
                  <a:tcPr marL="54864" marR="54864" marT="27432" marB="27432" anchor="ctr">
                    <a:solidFill>
                      <a:srgbClr val="FBEAEA"/>
                    </a:solidFill>
                  </a:tcPr>
                </a:tc>
                <a:tc>
                  <a:txBody>
                    <a:bodyPr/>
                    <a:lstStyle/>
                    <a:p>
                      <a:pPr algn="l"/>
                      <a:r>
                        <a:rPr sz="1100" b="0">
                          <a:solidFill>
                            <a:srgbClr val="1F1F1F"/>
                          </a:solidFill>
                          <a:latin typeface="Calibri"/>
                        </a:rPr>
                        <a:t>1</a:t>
                      </a:r>
                    </a:p>
                  </a:txBody>
                  <a:tcPr marL="54864" marR="54864" marT="27432" marB="27432" anchor="ctr">
                    <a:solidFill>
                      <a:srgbClr val="FBEAEA"/>
                    </a:solidFill>
                  </a:tcPr>
                </a:tc>
                <a:tc>
                  <a:txBody>
                    <a:bodyPr/>
                    <a:lstStyle/>
                    <a:p>
                      <a:pPr algn="l"/>
                      <a:r>
                        <a:rPr sz="1100" b="0">
                          <a:solidFill>
                            <a:srgbClr val="1F1F1F"/>
                          </a:solidFill>
                          <a:latin typeface="Calibri"/>
                        </a:rPr>
                        <a:t>75–76</a:t>
                      </a:r>
                    </a:p>
                  </a:txBody>
                  <a:tcPr marL="54864" marR="54864" marT="27432" marB="27432" anchor="ctr">
                    <a:solidFill>
                      <a:srgbClr val="FBEAEA"/>
                    </a:solidFill>
                  </a:tcPr>
                </a:tc>
              </a:tr>
              <a:tr h="365760">
                <a:tc>
                  <a:txBody>
                    <a:bodyPr/>
                    <a:lstStyle/>
                    <a:p>
                      <a:pPr algn="l"/>
                      <a:r>
                        <a:rPr sz="1100" b="1">
                          <a:solidFill>
                            <a:srgbClr val="1F1F1F"/>
                          </a:solidFill>
                          <a:latin typeface="Calibri"/>
                        </a:rPr>
                        <a:t>1.7.6</a:t>
                      </a:r>
                    </a:p>
                  </a:txBody>
                  <a:tcPr marL="54864" marR="54864" marT="27432" marB="27432" anchor="ctr">
                    <a:solidFill>
                      <a:srgbClr val="FFFFFF"/>
                    </a:solidFill>
                  </a:tcPr>
                </a:tc>
                <a:tc>
                  <a:txBody>
                    <a:bodyPr/>
                    <a:lstStyle/>
                    <a:p>
                      <a:pPr algn="l"/>
                      <a:r>
                        <a:rPr sz="1100" b="0">
                          <a:solidFill>
                            <a:srgbClr val="1F1F1F"/>
                          </a:solidFill>
                          <a:latin typeface="Calibri"/>
                        </a:rPr>
                        <a:t>Uji coba lapangan dan UAT</a:t>
                      </a:r>
                    </a:p>
                  </a:txBody>
                  <a:tcPr marL="54864" marR="54864" marT="27432" marB="27432" anchor="ctr">
                    <a:solidFill>
                      <a:srgbClr val="FFFFFF"/>
                    </a:solidFill>
                  </a:tcPr>
                </a:tc>
                <a:tc>
                  <a:txBody>
                    <a:bodyPr/>
                    <a:lstStyle/>
                    <a:p>
                      <a:pPr algn="l"/>
                      <a:r>
                        <a:rPr sz="1100" b="0">
                          <a:solidFill>
                            <a:srgbClr val="1F1F1F"/>
                          </a:solidFill>
                          <a:latin typeface="Calibri"/>
                        </a:rPr>
                        <a:t>10</a:t>
                      </a:r>
                    </a:p>
                  </a:txBody>
                  <a:tcPr marL="54864" marR="54864" marT="27432" marB="27432" anchor="ctr">
                    <a:solidFill>
                      <a:srgbClr val="FFFFFF"/>
                    </a:solidFill>
                  </a:tcPr>
                </a:tc>
                <a:tc>
                  <a:txBody>
                    <a:bodyPr/>
                    <a:lstStyle/>
                    <a:p>
                      <a:pPr algn="l"/>
                      <a:r>
                        <a:rPr sz="1100" b="0">
                          <a:solidFill>
                            <a:srgbClr val="1F1F1F"/>
                          </a:solidFill>
                          <a:latin typeface="Calibri"/>
                        </a:rPr>
                        <a:t>76–86</a:t>
                      </a:r>
                    </a:p>
                  </a:txBody>
                  <a:tcPr marL="54864" marR="54864" marT="27432" marB="27432" anchor="ctr">
                    <a:solidFill>
                      <a:srgbClr val="FFFFFF"/>
                    </a:solidFill>
                  </a:tcPr>
                </a:tc>
              </a:tr>
              <a:tr h="365760">
                <a:tc>
                  <a:txBody>
                    <a:bodyPr/>
                    <a:lstStyle/>
                    <a:p>
                      <a:pPr algn="l"/>
                      <a:r>
                        <a:rPr sz="1100" b="1">
                          <a:solidFill>
                            <a:srgbClr val="1F1F1F"/>
                          </a:solidFill>
                          <a:latin typeface="Calibri"/>
                        </a:rPr>
                        <a:t>1.8.6</a:t>
                      </a:r>
                    </a:p>
                  </a:txBody>
                  <a:tcPr marL="54864" marR="54864" marT="27432" marB="27432" anchor="ctr">
                    <a:solidFill>
                      <a:srgbClr val="FBEAEA"/>
                    </a:solidFill>
                  </a:tcPr>
                </a:tc>
                <a:tc>
                  <a:txBody>
                    <a:bodyPr/>
                    <a:lstStyle/>
                    <a:p>
                      <a:pPr algn="l"/>
                      <a:r>
                        <a:rPr sz="1100" b="0">
                          <a:solidFill>
                            <a:srgbClr val="1F1F1F"/>
                          </a:solidFill>
                          <a:latin typeface="Calibri"/>
                        </a:rPr>
                        <a:t>Serah terima dan dokumentasi</a:t>
                      </a:r>
                    </a:p>
                  </a:txBody>
                  <a:tcPr marL="54864" marR="54864" marT="27432" marB="27432" anchor="ctr">
                    <a:solidFill>
                      <a:srgbClr val="FBEAEA"/>
                    </a:solidFill>
                  </a:tcPr>
                </a:tc>
                <a:tc>
                  <a:txBody>
                    <a:bodyPr/>
                    <a:lstStyle/>
                    <a:p>
                      <a:pPr algn="l"/>
                      <a:r>
                        <a:rPr sz="1100" b="0">
                          <a:solidFill>
                            <a:srgbClr val="1F1F1F"/>
                          </a:solidFill>
                          <a:latin typeface="Calibri"/>
                        </a:rPr>
                        <a:t>3</a:t>
                      </a:r>
                    </a:p>
                  </a:txBody>
                  <a:tcPr marL="54864" marR="54864" marT="27432" marB="27432" anchor="ctr">
                    <a:solidFill>
                      <a:srgbClr val="FBEAEA"/>
                    </a:solidFill>
                  </a:tcPr>
                </a:tc>
                <a:tc>
                  <a:txBody>
                    <a:bodyPr/>
                    <a:lstStyle/>
                    <a:p>
                      <a:pPr algn="l"/>
                      <a:r>
                        <a:rPr sz="1100" b="0">
                          <a:solidFill>
                            <a:srgbClr val="1F1F1F"/>
                          </a:solidFill>
                          <a:latin typeface="Calibri"/>
                        </a:rPr>
                        <a:t>86–89</a:t>
                      </a:r>
                    </a:p>
                  </a:txBody>
                  <a:tcPr marL="54864" marR="54864" marT="27432" marB="27432" anchor="ctr">
                    <a:solidFill>
                      <a:srgbClr val="FBEAEA"/>
                    </a:solidFill>
                  </a:tcPr>
                </a:tc>
              </a:tr>
              <a:tr h="365760">
                <a:tc>
                  <a:txBody>
                    <a:bodyPr/>
                    <a:lstStyle/>
                    <a:p>
                      <a:pPr algn="l"/>
                      <a:r>
                        <a:rPr sz="1100" b="1">
                          <a:solidFill>
                            <a:srgbClr val="1F1F1F"/>
                          </a:solidFill>
                          <a:latin typeface="Calibri"/>
                        </a:rPr>
                        <a:t>1.1.4</a:t>
                      </a:r>
                    </a:p>
                  </a:txBody>
                  <a:tcPr marL="54864" marR="54864" marT="27432" marB="27432" anchor="ctr">
                    <a:solidFill>
                      <a:srgbClr val="FFFFFF"/>
                    </a:solidFill>
                  </a:tcPr>
                </a:tc>
                <a:tc>
                  <a:txBody>
                    <a:bodyPr/>
                    <a:lstStyle/>
                    <a:p>
                      <a:pPr algn="l"/>
                      <a:r>
                        <a:rPr sz="1100" b="0">
                          <a:solidFill>
                            <a:srgbClr val="1F1F1F"/>
                          </a:solidFill>
                          <a:latin typeface="Calibri"/>
                        </a:rPr>
                        <a:t>Penutupan proyek dan lessons learned</a:t>
                      </a:r>
                    </a:p>
                  </a:txBody>
                  <a:tcPr marL="54864" marR="54864" marT="27432" marB="27432" anchor="ctr">
                    <a:solidFill>
                      <a:srgbClr val="FFFFFF"/>
                    </a:solidFill>
                  </a:tcPr>
                </a:tc>
                <a:tc>
                  <a:txBody>
                    <a:bodyPr/>
                    <a:lstStyle/>
                    <a:p>
                      <a:pPr algn="l"/>
                      <a:r>
                        <a:rPr sz="1100" b="0">
                          <a:solidFill>
                            <a:srgbClr val="1F1F1F"/>
                          </a:solidFill>
                          <a:latin typeface="Calibri"/>
                        </a:rPr>
                        <a:t>3</a:t>
                      </a:r>
                    </a:p>
                  </a:txBody>
                  <a:tcPr marL="54864" marR="54864" marT="27432" marB="27432" anchor="ctr">
                    <a:solidFill>
                      <a:srgbClr val="FFFFFF"/>
                    </a:solidFill>
                  </a:tcPr>
                </a:tc>
                <a:tc>
                  <a:txBody>
                    <a:bodyPr/>
                    <a:lstStyle/>
                    <a:p>
                      <a:pPr algn="l"/>
                      <a:r>
                        <a:rPr sz="1100" b="0">
                          <a:solidFill>
                            <a:srgbClr val="1F1F1F"/>
                          </a:solidFill>
                          <a:latin typeface="Calibri"/>
                        </a:rPr>
                        <a:t>89–92</a:t>
                      </a:r>
                    </a:p>
                  </a:txBody>
                  <a:tcPr marL="54864" marR="54864" marT="27432" marB="27432" anchor="ctr">
                    <a:solidFill>
                      <a:srgbClr val="FFFFFF"/>
                    </a:solidFill>
                  </a:tcPr>
                </a:tc>
              </a:tr>
            </a:tbl>
          </a:graphicData>
        </a:graphic>
      </p:graphicFrame>
      <p:sp>
        <p:nvSpPr>
          <p:cNvPr id="7" name="TextBox 6"/>
          <p:cNvSpPr txBox="1"/>
          <p:nvPr/>
        </p:nvSpPr>
        <p:spPr>
          <a:xfrm>
            <a:off x="548640" y="5897880"/>
            <a:ext cx="11064240" cy="365760"/>
          </a:xfrm>
          <a:prstGeom prst="rect">
            <a:avLst/>
          </a:prstGeom>
          <a:noFill/>
        </p:spPr>
        <p:txBody>
          <a:bodyPr wrap="square" anchor="t" lIns="45720" rIns="45720">
            <a:spAutoFit/>
          </a:bodyPr>
          <a:lstStyle/>
          <a:p>
            <a:pPr algn="l">
              <a:spcAft>
                <a:spcPts val="600"/>
              </a:spcAft>
            </a:pPr>
            <a:r>
              <a:rPr sz="1200" b="0" i="0">
                <a:solidFill>
                  <a:srgbClr val="52514E"/>
                </a:solidFill>
                <a:latin typeface="Calibri"/>
              </a:rPr>
              <a:t>21 work package dengan float 0 + milestone M1, M2, M4, M5, M6. Setelah 1.7.3 jalur bercabang: A (1.6.5 → 1.8.1 → 1.8.3) dan B (1.7.4 → 1.7.5), sama-sama 12 hari.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Cadangan: daftar istilah</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13</a:t>
            </a:r>
          </a:p>
        </p:txBody>
      </p:sp>
      <p:graphicFrame>
        <p:nvGraphicFramePr>
          <p:cNvPr id="5" name="Table 4"/>
          <p:cNvGraphicFramePr>
            <a:graphicFrameLocks noGrp="1"/>
          </p:cNvGraphicFramePr>
          <p:nvPr/>
        </p:nvGraphicFramePr>
        <p:xfrm>
          <a:off x="548640" y="1280160"/>
          <a:ext cx="5440680" cy="4754880"/>
        </p:xfrm>
        <a:graphic>
          <a:graphicData uri="http://schemas.openxmlformats.org/drawingml/2006/table">
            <a:tbl>
              <a:tblPr firstRow="1" bandRow="1">
                <a:tableStyleId>{5C22544A-7EE6-4342-B048-85BDC9FD1C3A}</a:tableStyleId>
              </a:tblPr>
              <a:tblGrid>
                <a:gridCol w="1920240"/>
                <a:gridCol w="3520440"/>
              </a:tblGrid>
              <a:tr h="432261">
                <a:tc>
                  <a:txBody>
                    <a:bodyPr/>
                    <a:lstStyle/>
                    <a:p>
                      <a:pPr algn="l"/>
                      <a:r>
                        <a:rPr sz="1200" b="1">
                          <a:solidFill>
                            <a:srgbClr val="1B2A4A"/>
                          </a:solidFill>
                          <a:latin typeface="Calibri"/>
                        </a:rPr>
                        <a:t>WBS</a:t>
                      </a:r>
                    </a:p>
                  </a:txBody>
                  <a:tcPr marL="54864" marR="54864" marT="27432" marB="27432" anchor="ctr">
                    <a:solidFill>
                      <a:srgbClr val="EAF2FC"/>
                    </a:solidFill>
                  </a:tcPr>
                </a:tc>
                <a:tc>
                  <a:txBody>
                    <a:bodyPr/>
                    <a:lstStyle/>
                    <a:p>
                      <a:pPr algn="l"/>
                      <a:r>
                        <a:rPr sz="1200" b="0">
                          <a:solidFill>
                            <a:srgbClr val="1F1F1F"/>
                          </a:solidFill>
                          <a:latin typeface="Calibri"/>
                        </a:rPr>
                        <a:t>pemecahan seluruh pekerjaan proyek secara bertingkat</a:t>
                      </a:r>
                    </a:p>
                  </a:txBody>
                  <a:tcPr marL="54864" marR="54864" marT="27432" marB="27432" anchor="ctr">
                    <a:solidFill>
                      <a:srgbClr val="EAF2FC"/>
                    </a:solidFill>
                  </a:tcPr>
                </a:tc>
              </a:tr>
              <a:tr h="432261">
                <a:tc>
                  <a:txBody>
                    <a:bodyPr/>
                    <a:lstStyle/>
                    <a:p>
                      <a:pPr algn="l"/>
                      <a:r>
                        <a:rPr sz="1200" b="1">
                          <a:solidFill>
                            <a:srgbClr val="1B2A4A"/>
                          </a:solidFill>
                          <a:latin typeface="Calibri"/>
                        </a:rPr>
                        <a:t>Work package</a:t>
                      </a:r>
                    </a:p>
                  </a:txBody>
                  <a:tcPr marL="54864" marR="54864" marT="27432" marB="27432" anchor="ctr">
                    <a:solidFill>
                      <a:srgbClr val="FFFFFF"/>
                    </a:solidFill>
                  </a:tcPr>
                </a:tc>
                <a:tc>
                  <a:txBody>
                    <a:bodyPr/>
                    <a:lstStyle/>
                    <a:p>
                      <a:pPr algn="l"/>
                      <a:r>
                        <a:rPr sz="1200" b="0">
                          <a:solidFill>
                            <a:srgbClr val="1F1F1F"/>
                          </a:solidFill>
                          <a:latin typeface="Calibri"/>
                        </a:rPr>
                        <a:t>pekerjaan terkecil di WBS: bisa ditugaskan &amp; dipantau</a:t>
                      </a:r>
                    </a:p>
                  </a:txBody>
                  <a:tcPr marL="54864" marR="54864" marT="27432" marB="27432" anchor="ctr">
                    <a:solidFill>
                      <a:srgbClr val="FFFFFF"/>
                    </a:solidFill>
                  </a:tcPr>
                </a:tc>
              </a:tr>
              <a:tr h="432261">
                <a:tc>
                  <a:txBody>
                    <a:bodyPr/>
                    <a:lstStyle/>
                    <a:p>
                      <a:pPr algn="l"/>
                      <a:r>
                        <a:rPr sz="1200" b="1">
                          <a:solidFill>
                            <a:srgbClr val="1B2A4A"/>
                          </a:solidFill>
                          <a:latin typeface="Calibri"/>
                        </a:rPr>
                        <a:t>Aturan 100%</a:t>
                      </a:r>
                    </a:p>
                  </a:txBody>
                  <a:tcPr marL="54864" marR="54864" marT="27432" marB="27432" anchor="ctr">
                    <a:solidFill>
                      <a:srgbClr val="EAF2FC"/>
                    </a:solidFill>
                  </a:tcPr>
                </a:tc>
                <a:tc>
                  <a:txBody>
                    <a:bodyPr/>
                    <a:lstStyle/>
                    <a:p>
                      <a:pPr algn="l"/>
                      <a:r>
                        <a:rPr sz="1200" b="0">
                          <a:solidFill>
                            <a:srgbClr val="1F1F1F"/>
                          </a:solidFill>
                          <a:latin typeface="Calibri"/>
                        </a:rPr>
                        <a:t>semua pekerjaan proyek harus masuk WBS</a:t>
                      </a:r>
                    </a:p>
                  </a:txBody>
                  <a:tcPr marL="54864" marR="54864" marT="27432" marB="27432" anchor="ctr">
                    <a:solidFill>
                      <a:srgbClr val="EAF2FC"/>
                    </a:solidFill>
                  </a:tcPr>
                </a:tc>
              </a:tr>
              <a:tr h="432261">
                <a:tc>
                  <a:txBody>
                    <a:bodyPr/>
                    <a:lstStyle/>
                    <a:p>
                      <a:pPr algn="l"/>
                      <a:r>
                        <a:rPr sz="1200" b="1">
                          <a:solidFill>
                            <a:srgbClr val="1B2A4A"/>
                          </a:solidFill>
                          <a:latin typeface="Calibri"/>
                        </a:rPr>
                        <a:t>Milestone</a:t>
                      </a:r>
                    </a:p>
                  </a:txBody>
                  <a:tcPr marL="54864" marR="54864" marT="27432" marB="27432" anchor="ctr">
                    <a:solidFill>
                      <a:srgbClr val="FFFFFF"/>
                    </a:solidFill>
                  </a:tcPr>
                </a:tc>
                <a:tc>
                  <a:txBody>
                    <a:bodyPr/>
                    <a:lstStyle/>
                    <a:p>
                      <a:pPr algn="l"/>
                      <a:r>
                        <a:rPr sz="1200" b="0">
                          <a:solidFill>
                            <a:srgbClr val="1F1F1F"/>
                          </a:solidFill>
                          <a:latin typeface="Calibri"/>
                        </a:rPr>
                        <a:t>titik pencapaian penting, durasi nol</a:t>
                      </a:r>
                    </a:p>
                  </a:txBody>
                  <a:tcPr marL="54864" marR="54864" marT="27432" marB="27432" anchor="ctr">
                    <a:solidFill>
                      <a:srgbClr val="FFFFFF"/>
                    </a:solidFill>
                  </a:tcPr>
                </a:tc>
              </a:tr>
              <a:tr h="432261">
                <a:tc>
                  <a:txBody>
                    <a:bodyPr/>
                    <a:lstStyle/>
                    <a:p>
                      <a:pPr algn="l"/>
                      <a:r>
                        <a:rPr sz="1200" b="1">
                          <a:solidFill>
                            <a:srgbClr val="1B2A4A"/>
                          </a:solidFill>
                          <a:latin typeface="Calibri"/>
                        </a:rPr>
                        <a:t>PERT</a:t>
                      </a:r>
                    </a:p>
                  </a:txBody>
                  <a:tcPr marL="54864" marR="54864" marT="27432" marB="27432" anchor="ctr">
                    <a:solidFill>
                      <a:srgbClr val="EAF2FC"/>
                    </a:solidFill>
                  </a:tcPr>
                </a:tc>
                <a:tc>
                  <a:txBody>
                    <a:bodyPr/>
                    <a:lstStyle/>
                    <a:p>
                      <a:pPr algn="l"/>
                      <a:r>
                        <a:rPr sz="1200" b="0">
                          <a:solidFill>
                            <a:srgbClr val="1F1F1F"/>
                          </a:solidFill>
                          <a:latin typeface="Calibri"/>
                        </a:rPr>
                        <a:t>estimasi durasi (O + 4M + P) / 6</a:t>
                      </a:r>
                    </a:p>
                  </a:txBody>
                  <a:tcPr marL="54864" marR="54864" marT="27432" marB="27432" anchor="ctr">
                    <a:solidFill>
                      <a:srgbClr val="EAF2FC"/>
                    </a:solidFill>
                  </a:tcPr>
                </a:tc>
              </a:tr>
              <a:tr h="432261">
                <a:tc>
                  <a:txBody>
                    <a:bodyPr/>
                    <a:lstStyle/>
                    <a:p>
                      <a:pPr algn="l"/>
                      <a:r>
                        <a:rPr sz="1200" b="1">
                          <a:solidFill>
                            <a:srgbClr val="1B2A4A"/>
                          </a:solidFill>
                          <a:latin typeface="Calibri"/>
                        </a:rPr>
                        <a:t>Finish-to-Start</a:t>
                      </a:r>
                    </a:p>
                  </a:txBody>
                  <a:tcPr marL="54864" marR="54864" marT="27432" marB="27432" anchor="ctr">
                    <a:solidFill>
                      <a:srgbClr val="FFFFFF"/>
                    </a:solidFill>
                  </a:tcPr>
                </a:tc>
                <a:tc>
                  <a:txBody>
                    <a:bodyPr/>
                    <a:lstStyle/>
                    <a:p>
                      <a:pPr algn="l"/>
                      <a:r>
                        <a:rPr sz="1200" b="0">
                          <a:solidFill>
                            <a:srgbClr val="1F1F1F"/>
                          </a:solidFill>
                          <a:latin typeface="Calibri"/>
                        </a:rPr>
                        <a:t>aktivitas mulai setelah pendahulunya selesai</a:t>
                      </a:r>
                    </a:p>
                  </a:txBody>
                  <a:tcPr marL="54864" marR="54864" marT="27432" marB="27432" anchor="ctr">
                    <a:solidFill>
                      <a:srgbClr val="FFFFFF"/>
                    </a:solidFill>
                  </a:tcPr>
                </a:tc>
              </a:tr>
              <a:tr h="432261">
                <a:tc>
                  <a:txBody>
                    <a:bodyPr/>
                    <a:lstStyle/>
                    <a:p>
                      <a:pPr algn="l"/>
                      <a:r>
                        <a:rPr sz="1200" b="1">
                          <a:solidFill>
                            <a:srgbClr val="1B2A4A"/>
                          </a:solidFill>
                          <a:latin typeface="Calibri"/>
                        </a:rPr>
                        <a:t>CPM / jalur kritis</a:t>
                      </a:r>
                    </a:p>
                  </a:txBody>
                  <a:tcPr marL="54864" marR="54864" marT="27432" marB="27432" anchor="ctr">
                    <a:solidFill>
                      <a:srgbClr val="EAF2FC"/>
                    </a:solidFill>
                  </a:tcPr>
                </a:tc>
                <a:tc>
                  <a:txBody>
                    <a:bodyPr/>
                    <a:lstStyle/>
                    <a:p>
                      <a:pPr algn="l"/>
                      <a:r>
                        <a:rPr sz="1200" b="0">
                          <a:solidFill>
                            <a:srgbClr val="1F1F1F"/>
                          </a:solidFill>
                          <a:latin typeface="Calibri"/>
                        </a:rPr>
                        <a:t>rangkaian aktivitas terpanjang, float nol</a:t>
                      </a:r>
                    </a:p>
                  </a:txBody>
                  <a:tcPr marL="54864" marR="54864" marT="27432" marB="27432" anchor="ctr">
                    <a:solidFill>
                      <a:srgbClr val="EAF2FC"/>
                    </a:solidFill>
                  </a:tcPr>
                </a:tc>
              </a:tr>
              <a:tr h="432261">
                <a:tc>
                  <a:txBody>
                    <a:bodyPr/>
                    <a:lstStyle/>
                    <a:p>
                      <a:pPr algn="l"/>
                      <a:r>
                        <a:rPr sz="1200" b="1">
                          <a:solidFill>
                            <a:srgbClr val="1B2A4A"/>
                          </a:solidFill>
                          <a:latin typeface="Calibri"/>
                        </a:rPr>
                        <a:t>Float</a:t>
                      </a:r>
                    </a:p>
                  </a:txBody>
                  <a:tcPr marL="54864" marR="54864" marT="27432" marB="27432" anchor="ctr">
                    <a:solidFill>
                      <a:srgbClr val="FFFFFF"/>
                    </a:solidFill>
                  </a:tcPr>
                </a:tc>
                <a:tc>
                  <a:txBody>
                    <a:bodyPr/>
                    <a:lstStyle/>
                    <a:p>
                      <a:pPr algn="l"/>
                      <a:r>
                        <a:rPr sz="1200" b="0">
                          <a:solidFill>
                            <a:srgbClr val="1F1F1F"/>
                          </a:solidFill>
                          <a:latin typeface="Calibri"/>
                        </a:rPr>
                        <a:t>berapa hari boleh terlambat tanpa menunda proyek</a:t>
                      </a:r>
                    </a:p>
                  </a:txBody>
                  <a:tcPr marL="54864" marR="54864" marT="27432" marB="27432" anchor="ctr">
                    <a:solidFill>
                      <a:srgbClr val="FFFFFF"/>
                    </a:solidFill>
                  </a:tcPr>
                </a:tc>
              </a:tr>
              <a:tr h="432261">
                <a:tc>
                  <a:txBody>
                    <a:bodyPr/>
                    <a:lstStyle/>
                    <a:p>
                      <a:pPr algn="l"/>
                      <a:r>
                        <a:rPr sz="1200" b="1">
                          <a:solidFill>
                            <a:srgbClr val="1B2A4A"/>
                          </a:solidFill>
                          <a:latin typeface="Calibri"/>
                        </a:rPr>
                        <a:t>Contingency reserve</a:t>
                      </a:r>
                    </a:p>
                  </a:txBody>
                  <a:tcPr marL="54864" marR="54864" marT="27432" marB="27432" anchor="ctr">
                    <a:solidFill>
                      <a:srgbClr val="EAF2FC"/>
                    </a:solidFill>
                  </a:tcPr>
                </a:tc>
                <a:tc>
                  <a:txBody>
                    <a:bodyPr/>
                    <a:lstStyle/>
                    <a:p>
                      <a:pPr algn="l"/>
                      <a:r>
                        <a:rPr sz="1200" b="0">
                          <a:solidFill>
                            <a:srgbClr val="1F1F1F"/>
                          </a:solidFill>
                          <a:latin typeface="Calibri"/>
                        </a:rPr>
                        <a:t>cadangan waktu untuk menghadapi risiko</a:t>
                      </a:r>
                    </a:p>
                  </a:txBody>
                  <a:tcPr marL="54864" marR="54864" marT="27432" marB="27432" anchor="ctr">
                    <a:solidFill>
                      <a:srgbClr val="EAF2FC"/>
                    </a:solidFill>
                  </a:tcPr>
                </a:tc>
              </a:tr>
              <a:tr h="432261">
                <a:tc>
                  <a:txBody>
                    <a:bodyPr/>
                    <a:lstStyle/>
                    <a:p>
                      <a:pPr algn="l"/>
                      <a:r>
                        <a:rPr sz="1200" b="1">
                          <a:solidFill>
                            <a:srgbClr val="1B2A4A"/>
                          </a:solidFill>
                          <a:latin typeface="Calibri"/>
                        </a:rPr>
                        <a:t>Fast tracking</a:t>
                      </a:r>
                    </a:p>
                  </a:txBody>
                  <a:tcPr marL="54864" marR="54864" marT="27432" marB="27432" anchor="ctr">
                    <a:solidFill>
                      <a:srgbClr val="FFFFFF"/>
                    </a:solidFill>
                  </a:tcPr>
                </a:tc>
                <a:tc>
                  <a:txBody>
                    <a:bodyPr/>
                    <a:lstStyle/>
                    <a:p>
                      <a:pPr algn="l"/>
                      <a:r>
                        <a:rPr sz="1200" b="0">
                          <a:solidFill>
                            <a:srgbClr val="1F1F1F"/>
                          </a:solidFill>
                          <a:latin typeface="Calibri"/>
                        </a:rPr>
                        <a:t>mempercepat dengan mengerjakan paralel</a:t>
                      </a:r>
                    </a:p>
                  </a:txBody>
                  <a:tcPr marL="54864" marR="54864" marT="27432" marB="27432" anchor="ctr">
                    <a:solidFill>
                      <a:srgbClr val="FFFFFF"/>
                    </a:solidFill>
                  </a:tcPr>
                </a:tc>
              </a:tr>
              <a:tr h="432270">
                <a:tc>
                  <a:txBody>
                    <a:bodyPr/>
                    <a:lstStyle/>
                    <a:p>
                      <a:pPr algn="l"/>
                      <a:r>
                        <a:rPr sz="1200" b="1">
                          <a:solidFill>
                            <a:srgbClr val="1B2A4A"/>
                          </a:solidFill>
                          <a:latin typeface="Calibri"/>
                        </a:rPr>
                        <a:t>Risk Register</a:t>
                      </a:r>
                    </a:p>
                  </a:txBody>
                  <a:tcPr marL="54864" marR="54864" marT="27432" marB="27432" anchor="ctr">
                    <a:solidFill>
                      <a:srgbClr val="EAF2FC"/>
                    </a:solidFill>
                  </a:tcPr>
                </a:tc>
                <a:tc>
                  <a:txBody>
                    <a:bodyPr/>
                    <a:lstStyle/>
                    <a:p>
                      <a:pPr algn="l"/>
                      <a:r>
                        <a:rPr sz="1200" b="0">
                          <a:solidFill>
                            <a:srgbClr val="1F1F1F"/>
                          </a:solidFill>
                          <a:latin typeface="Calibri"/>
                        </a:rPr>
                        <a:t>daftar risiko, nilai, dan responsnya</a:t>
                      </a:r>
                    </a:p>
                  </a:txBody>
                  <a:tcPr marL="54864" marR="54864" marT="27432" marB="27432" anchor="ctr">
                    <a:solidFill>
                      <a:srgbClr val="EAF2FC"/>
                    </a:solidFill>
                  </a:tcPr>
                </a:tc>
              </a:tr>
            </a:tbl>
          </a:graphicData>
        </a:graphic>
      </p:graphicFrame>
      <p:graphicFrame>
        <p:nvGraphicFramePr>
          <p:cNvPr id="6" name="Table 5"/>
          <p:cNvGraphicFramePr>
            <a:graphicFrameLocks noGrp="1"/>
          </p:cNvGraphicFramePr>
          <p:nvPr/>
        </p:nvGraphicFramePr>
        <p:xfrm>
          <a:off x="6217920" y="1280160"/>
          <a:ext cx="5440680" cy="4754880"/>
        </p:xfrm>
        <a:graphic>
          <a:graphicData uri="http://schemas.openxmlformats.org/drawingml/2006/table">
            <a:tbl>
              <a:tblPr firstRow="1" bandRow="1">
                <a:tableStyleId>{5C22544A-7EE6-4342-B048-85BDC9FD1C3A}</a:tableStyleId>
              </a:tblPr>
              <a:tblGrid>
                <a:gridCol w="1920240"/>
                <a:gridCol w="3520440"/>
              </a:tblGrid>
              <a:tr h="432261">
                <a:tc>
                  <a:txBody>
                    <a:bodyPr/>
                    <a:lstStyle/>
                    <a:p>
                      <a:pPr algn="l"/>
                      <a:r>
                        <a:rPr sz="1200" b="1">
                          <a:solidFill>
                            <a:srgbClr val="1B2A4A"/>
                          </a:solidFill>
                          <a:latin typeface="Calibri"/>
                        </a:rPr>
                        <a:t>Residual</a:t>
                      </a:r>
                    </a:p>
                  </a:txBody>
                  <a:tcPr marL="54864" marR="54864" marT="27432" marB="27432" anchor="ctr">
                    <a:solidFill>
                      <a:srgbClr val="EAF2FC"/>
                    </a:solidFill>
                  </a:tcPr>
                </a:tc>
                <a:tc>
                  <a:txBody>
                    <a:bodyPr/>
                    <a:lstStyle/>
                    <a:p>
                      <a:pPr algn="l"/>
                      <a:r>
                        <a:rPr sz="1200" b="0">
                          <a:solidFill>
                            <a:srgbClr val="1F1F1F"/>
                          </a:solidFill>
                          <a:latin typeface="Calibri"/>
                        </a:rPr>
                        <a:t>nilai risiko sisa setelah respons</a:t>
                      </a:r>
                    </a:p>
                  </a:txBody>
                  <a:tcPr marL="54864" marR="54864" marT="27432" marB="27432" anchor="ctr">
                    <a:solidFill>
                      <a:srgbClr val="EAF2FC"/>
                    </a:solidFill>
                  </a:tcPr>
                </a:tc>
              </a:tr>
              <a:tr h="432261">
                <a:tc>
                  <a:txBody>
                    <a:bodyPr/>
                    <a:lstStyle/>
                    <a:p>
                      <a:pPr algn="l"/>
                      <a:r>
                        <a:rPr sz="1200" b="1">
                          <a:solidFill>
                            <a:srgbClr val="1B2A4A"/>
                          </a:solidFill>
                          <a:latin typeface="Calibri"/>
                        </a:rPr>
                        <a:t>Avoid / Mitigate</a:t>
                      </a:r>
                    </a:p>
                  </a:txBody>
                  <a:tcPr marL="54864" marR="54864" marT="27432" marB="27432" anchor="ctr">
                    <a:solidFill>
                      <a:srgbClr val="FFFFFF"/>
                    </a:solidFill>
                  </a:tcPr>
                </a:tc>
                <a:tc>
                  <a:txBody>
                    <a:bodyPr/>
                    <a:lstStyle/>
                    <a:p>
                      <a:pPr algn="l"/>
                      <a:r>
                        <a:rPr sz="1200" b="0">
                          <a:solidFill>
                            <a:srgbClr val="1F1F1F"/>
                          </a:solidFill>
                          <a:latin typeface="Calibri"/>
                        </a:rPr>
                        <a:t>hindari ancaman / kurangi kemungkinan &amp; dampak</a:t>
                      </a:r>
                    </a:p>
                  </a:txBody>
                  <a:tcPr marL="54864" marR="54864" marT="27432" marB="27432" anchor="ctr">
                    <a:solidFill>
                      <a:srgbClr val="FFFFFF"/>
                    </a:solidFill>
                  </a:tcPr>
                </a:tc>
              </a:tr>
              <a:tr h="432261">
                <a:tc>
                  <a:txBody>
                    <a:bodyPr/>
                    <a:lstStyle/>
                    <a:p>
                      <a:pPr algn="l"/>
                      <a:r>
                        <a:rPr sz="1200" b="1">
                          <a:solidFill>
                            <a:srgbClr val="1B2A4A"/>
                          </a:solidFill>
                          <a:latin typeface="Calibri"/>
                        </a:rPr>
                        <a:t>Transfer / Escalate</a:t>
                      </a:r>
                    </a:p>
                  </a:txBody>
                  <a:tcPr marL="54864" marR="54864" marT="27432" marB="27432" anchor="ctr">
                    <a:solidFill>
                      <a:srgbClr val="EAF2FC"/>
                    </a:solidFill>
                  </a:tcPr>
                </a:tc>
                <a:tc>
                  <a:txBody>
                    <a:bodyPr/>
                    <a:lstStyle/>
                    <a:p>
                      <a:pPr algn="l"/>
                      <a:r>
                        <a:rPr sz="1200" b="0">
                          <a:solidFill>
                            <a:srgbClr val="1F1F1F"/>
                          </a:solidFill>
                          <a:latin typeface="Calibri"/>
                        </a:rPr>
                        <a:t>alihkan ke pihak ketiga / serahkan ke yang berwenang</a:t>
                      </a:r>
                    </a:p>
                  </a:txBody>
                  <a:tcPr marL="54864" marR="54864" marT="27432" marB="27432" anchor="ctr">
                    <a:solidFill>
                      <a:srgbClr val="EAF2FC"/>
                    </a:solidFill>
                  </a:tcPr>
                </a:tc>
              </a:tr>
              <a:tr h="432261">
                <a:tc>
                  <a:txBody>
                    <a:bodyPr/>
                    <a:lstStyle/>
                    <a:p>
                      <a:pPr algn="l"/>
                      <a:r>
                        <a:rPr sz="1200" b="1">
                          <a:solidFill>
                            <a:srgbClr val="1B2A4A"/>
                          </a:solidFill>
                          <a:latin typeface="Calibri"/>
                        </a:rPr>
                        <a:t>Accept aktif</a:t>
                      </a:r>
                    </a:p>
                  </a:txBody>
                  <a:tcPr marL="54864" marR="54864" marT="27432" marB="27432" anchor="ctr">
                    <a:solidFill>
                      <a:srgbClr val="FFFFFF"/>
                    </a:solidFill>
                  </a:tcPr>
                </a:tc>
                <a:tc>
                  <a:txBody>
                    <a:bodyPr/>
                    <a:lstStyle/>
                    <a:p>
                      <a:pPr algn="l"/>
                      <a:r>
                        <a:rPr sz="1200" b="0">
                          <a:solidFill>
                            <a:srgbClr val="1F1F1F"/>
                          </a:solidFill>
                          <a:latin typeface="Calibri"/>
                        </a:rPr>
                        <a:t>terima, tetapi siapkan cadangan atau rencana darurat</a:t>
                      </a:r>
                    </a:p>
                  </a:txBody>
                  <a:tcPr marL="54864" marR="54864" marT="27432" marB="27432" anchor="ctr">
                    <a:solidFill>
                      <a:srgbClr val="FFFFFF"/>
                    </a:solidFill>
                  </a:tcPr>
                </a:tc>
              </a:tr>
              <a:tr h="432261">
                <a:tc>
                  <a:txBody>
                    <a:bodyPr/>
                    <a:lstStyle/>
                    <a:p>
                      <a:pPr algn="l"/>
                      <a:r>
                        <a:rPr sz="1200" b="1">
                          <a:solidFill>
                            <a:srgbClr val="1B2A4A"/>
                          </a:solidFill>
                          <a:latin typeface="Calibri"/>
                        </a:rPr>
                        <a:t>Playwright</a:t>
                      </a:r>
                    </a:p>
                  </a:txBody>
                  <a:tcPr marL="54864" marR="54864" marT="27432" marB="27432" anchor="ctr">
                    <a:solidFill>
                      <a:srgbClr val="EAF2FC"/>
                    </a:solidFill>
                  </a:tcPr>
                </a:tc>
                <a:tc>
                  <a:txBody>
                    <a:bodyPr/>
                    <a:lstStyle/>
                    <a:p>
                      <a:pPr algn="l"/>
                      <a:r>
                        <a:rPr sz="1200" b="0">
                          <a:solidFill>
                            <a:srgbClr val="1F1F1F"/>
                          </a:solidFill>
                          <a:latin typeface="Calibri"/>
                        </a:rPr>
                        <a:t>pustaka Python pengendali peramban web otomatis</a:t>
                      </a:r>
                    </a:p>
                  </a:txBody>
                  <a:tcPr marL="54864" marR="54864" marT="27432" marB="27432" anchor="ctr">
                    <a:solidFill>
                      <a:srgbClr val="EAF2FC"/>
                    </a:solidFill>
                  </a:tcPr>
                </a:tc>
              </a:tr>
              <a:tr h="432261">
                <a:tc>
                  <a:txBody>
                    <a:bodyPr/>
                    <a:lstStyle/>
                    <a:p>
                      <a:pPr algn="l"/>
                      <a:r>
                        <a:rPr sz="1200" b="1">
                          <a:solidFill>
                            <a:srgbClr val="1B2A4A"/>
                          </a:solidFill>
                          <a:latin typeface="Calibri"/>
                        </a:rPr>
                        <a:t>MQTT</a:t>
                      </a:r>
                    </a:p>
                  </a:txBody>
                  <a:tcPr marL="54864" marR="54864" marT="27432" marB="27432" anchor="ctr">
                    <a:solidFill>
                      <a:srgbClr val="FFFFFF"/>
                    </a:solidFill>
                  </a:tcPr>
                </a:tc>
                <a:tc>
                  <a:txBody>
                    <a:bodyPr/>
                    <a:lstStyle/>
                    <a:p>
                      <a:pPr algn="l"/>
                      <a:r>
                        <a:rPr sz="1200" b="0">
                          <a:solidFill>
                            <a:srgbClr val="1F1F1F"/>
                          </a:solidFill>
                          <a:latin typeface="Calibri"/>
                        </a:rPr>
                        <a:t>protokol kirim pesan ringan untuk perangkat IoT</a:t>
                      </a:r>
                    </a:p>
                  </a:txBody>
                  <a:tcPr marL="54864" marR="54864" marT="27432" marB="27432" anchor="ctr">
                    <a:solidFill>
                      <a:srgbClr val="FFFFFF"/>
                    </a:solidFill>
                  </a:tcPr>
                </a:tc>
              </a:tr>
              <a:tr h="432261">
                <a:tc>
                  <a:txBody>
                    <a:bodyPr/>
                    <a:lstStyle/>
                    <a:p>
                      <a:pPr algn="l"/>
                      <a:r>
                        <a:rPr sz="1200" b="1">
                          <a:solidFill>
                            <a:srgbClr val="1B2A4A"/>
                          </a:solidFill>
                          <a:latin typeface="Calibri"/>
                        </a:rPr>
                        <a:t>ESP32</a:t>
                      </a:r>
                    </a:p>
                  </a:txBody>
                  <a:tcPr marL="54864" marR="54864" marT="27432" marB="27432" anchor="ctr">
                    <a:solidFill>
                      <a:srgbClr val="EAF2FC"/>
                    </a:solidFill>
                  </a:tcPr>
                </a:tc>
                <a:tc>
                  <a:txBody>
                    <a:bodyPr/>
                    <a:lstStyle/>
                    <a:p>
                      <a:pPr algn="l"/>
                      <a:r>
                        <a:rPr sz="1200" b="0">
                          <a:solidFill>
                            <a:srgbClr val="1F1F1F"/>
                          </a:solidFill>
                          <a:latin typeface="Calibri"/>
                        </a:rPr>
                        <a:t>papan mikrokontroler dengan Wi-Fi, diprogram C++</a:t>
                      </a:r>
                    </a:p>
                  </a:txBody>
                  <a:tcPr marL="54864" marR="54864" marT="27432" marB="27432" anchor="ctr">
                    <a:solidFill>
                      <a:srgbClr val="EAF2FC"/>
                    </a:solidFill>
                  </a:tcPr>
                </a:tc>
              </a:tr>
              <a:tr h="432261">
                <a:tc>
                  <a:txBody>
                    <a:bodyPr/>
                    <a:lstStyle/>
                    <a:p>
                      <a:pPr algn="l"/>
                      <a:r>
                        <a:rPr sz="1200" b="1">
                          <a:solidFill>
                            <a:srgbClr val="1B2A4A"/>
                          </a:solidFill>
                          <a:latin typeface="Calibri"/>
                        </a:rPr>
                        <a:t>Heartbeat</a:t>
                      </a:r>
                    </a:p>
                  </a:txBody>
                  <a:tcPr marL="54864" marR="54864" marT="27432" marB="27432" anchor="ctr">
                    <a:solidFill>
                      <a:srgbClr val="FFFFFF"/>
                    </a:solidFill>
                  </a:tcPr>
                </a:tc>
                <a:tc>
                  <a:txBody>
                    <a:bodyPr/>
                    <a:lstStyle/>
                    <a:p>
                      <a:pPr algn="l"/>
                      <a:r>
                        <a:rPr sz="1200" b="0">
                          <a:solidFill>
                            <a:srgbClr val="1F1F1F"/>
                          </a:solidFill>
                          <a:latin typeface="Calibri"/>
                        </a:rPr>
                        <a:t>sinyal berkala bahwa perangkat masih hidup</a:t>
                      </a:r>
                    </a:p>
                  </a:txBody>
                  <a:tcPr marL="54864" marR="54864" marT="27432" marB="27432" anchor="ctr">
                    <a:solidFill>
                      <a:srgbClr val="FFFFFF"/>
                    </a:solidFill>
                  </a:tcPr>
                </a:tc>
              </a:tr>
              <a:tr h="432261">
                <a:tc>
                  <a:txBody>
                    <a:bodyPr/>
                    <a:lstStyle/>
                    <a:p>
                      <a:pPr algn="l"/>
                      <a:r>
                        <a:rPr sz="1200" b="1">
                          <a:solidFill>
                            <a:srgbClr val="1B2A4A"/>
                          </a:solidFill>
                          <a:latin typeface="Calibri"/>
                        </a:rPr>
                        <a:t>UAT</a:t>
                      </a:r>
                    </a:p>
                  </a:txBody>
                  <a:tcPr marL="54864" marR="54864" marT="27432" marB="27432" anchor="ctr">
                    <a:solidFill>
                      <a:srgbClr val="EAF2FC"/>
                    </a:solidFill>
                  </a:tcPr>
                </a:tc>
                <a:tc>
                  <a:txBody>
                    <a:bodyPr/>
                    <a:lstStyle/>
                    <a:p>
                      <a:pPr algn="l"/>
                      <a:r>
                        <a:rPr sz="1200" b="0">
                          <a:solidFill>
                            <a:srgbClr val="1F1F1F"/>
                          </a:solidFill>
                          <a:latin typeface="Calibri"/>
                        </a:rPr>
                        <a:t>uji penerimaan oleh sponsor</a:t>
                      </a:r>
                    </a:p>
                  </a:txBody>
                  <a:tcPr marL="54864" marR="54864" marT="27432" marB="27432" anchor="ctr">
                    <a:solidFill>
                      <a:srgbClr val="EAF2FC"/>
                    </a:solidFill>
                  </a:tcPr>
                </a:tc>
              </a:tr>
              <a:tr h="432261">
                <a:tc>
                  <a:txBody>
                    <a:bodyPr/>
                    <a:lstStyle/>
                    <a:p>
                      <a:pPr algn="l"/>
                      <a:r>
                        <a:rPr sz="1200" b="1">
                          <a:solidFill>
                            <a:srgbClr val="1B2A4A"/>
                          </a:solidFill>
                          <a:latin typeface="Calibri"/>
                        </a:rPr>
                        <a:t>BOM</a:t>
                      </a:r>
                    </a:p>
                  </a:txBody>
                  <a:tcPr marL="54864" marR="54864" marT="27432" marB="27432" anchor="ctr">
                    <a:solidFill>
                      <a:srgbClr val="FFFFFF"/>
                    </a:solidFill>
                  </a:tcPr>
                </a:tc>
                <a:tc>
                  <a:txBody>
                    <a:bodyPr/>
                    <a:lstStyle/>
                    <a:p>
                      <a:pPr algn="l"/>
                      <a:r>
                        <a:rPr sz="1200" b="0">
                          <a:solidFill>
                            <a:srgbClr val="1F1F1F"/>
                          </a:solidFill>
                          <a:latin typeface="Calibri"/>
                        </a:rPr>
                        <a:t>daftar komponen beserta jumlah dan spesifikasinya</a:t>
                      </a:r>
                    </a:p>
                  </a:txBody>
                  <a:tcPr marL="54864" marR="54864" marT="27432" marB="27432" anchor="ctr">
                    <a:solidFill>
                      <a:srgbClr val="FFFFFF"/>
                    </a:solidFill>
                  </a:tcPr>
                </a:tc>
              </a:tr>
              <a:tr h="432270">
                <a:tc>
                  <a:txBody>
                    <a:bodyPr/>
                    <a:lstStyle/>
                    <a:p>
                      <a:pPr algn="l"/>
                      <a:r>
                        <a:rPr sz="1200" b="1">
                          <a:solidFill>
                            <a:srgbClr val="1B2A4A"/>
                          </a:solidFill>
                          <a:latin typeface="Calibri"/>
                        </a:rPr>
                        <a:t>BPBD</a:t>
                      </a:r>
                    </a:p>
                  </a:txBody>
                  <a:tcPr marL="54864" marR="54864" marT="27432" marB="27432" anchor="ctr">
                    <a:solidFill>
                      <a:srgbClr val="EAF2FC"/>
                    </a:solidFill>
                  </a:tcPr>
                </a:tc>
                <a:tc>
                  <a:txBody>
                    <a:bodyPr/>
                    <a:lstStyle/>
                    <a:p>
                      <a:pPr algn="l"/>
                      <a:r>
                        <a:rPr sz="1200" b="0">
                          <a:solidFill>
                            <a:srgbClr val="1F1F1F"/>
                          </a:solidFill>
                          <a:latin typeface="Calibri"/>
                        </a:rPr>
                        <a:t>Badan Penanggulangan Bencana Daerah (sponsor)</a:t>
                      </a:r>
                    </a:p>
                  </a:txBody>
                  <a:tcPr marL="54864" marR="54864" marT="27432" marB="27432" anchor="ctr">
                    <a:solidFill>
                      <a:srgbClr val="EAF2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ctr" lIns="45720" rIns="45720">
            <a:spAutoFit/>
          </a:bodyPr>
          <a:lstStyle/>
          <a:p>
            <a:pPr algn="l">
              <a:spcAft>
                <a:spcPts val="600"/>
              </a:spcAft>
            </a:pPr>
            <a:r>
              <a:rPr sz="3000" b="1" i="0">
                <a:solidFill>
                  <a:srgbClr val="1B2A4A"/>
                </a:solidFill>
                <a:latin typeface="Cambria"/>
              </a:rPr>
              <a:t>Daftar Pustaka</a:t>
            </a:r>
          </a:p>
        </p:txBody>
      </p:sp>
      <p:pic>
        <p:nvPicPr>
          <p:cNvPr id="3" name="Picture 2" descr="logo_amikom.png"/>
          <p:cNvPicPr>
            <a:picLocks noChangeAspect="1"/>
          </p:cNvPicPr>
          <p:nvPr/>
        </p:nvPicPr>
        <p:blipFill>
          <a:blip r:embed="rId2"/>
          <a:stretch>
            <a:fillRect/>
          </a:stretch>
        </p:blipFill>
        <p:spPr>
          <a:xfrm>
            <a:off x="320040" y="6382512"/>
            <a:ext cx="376587" cy="365760"/>
          </a:xfrm>
          <a:prstGeom prst="rect">
            <a:avLst/>
          </a:prstGeom>
        </p:spPr>
      </p:pic>
      <p:sp>
        <p:nvSpPr>
          <p:cNvPr id="4" name="TextBox 3"/>
          <p:cNvSpPr txBox="1"/>
          <p:nvPr/>
        </p:nvSpPr>
        <p:spPr>
          <a:xfrm>
            <a:off x="11155680" y="6400800"/>
            <a:ext cx="731520" cy="320040"/>
          </a:xfrm>
          <a:prstGeom prst="rect">
            <a:avLst/>
          </a:prstGeom>
          <a:noFill/>
        </p:spPr>
        <p:txBody>
          <a:bodyPr wrap="square" anchor="t" lIns="45720" rIns="45720">
            <a:spAutoFit/>
          </a:bodyPr>
          <a:lstStyle/>
          <a:p>
            <a:pPr algn="r">
              <a:spcAft>
                <a:spcPts val="600"/>
              </a:spcAft>
            </a:pPr>
            <a:r>
              <a:rPr sz="1100" b="0" i="0">
                <a:solidFill>
                  <a:srgbClr val="898781"/>
                </a:solidFill>
                <a:latin typeface="Calibri"/>
              </a:rPr>
              <a:t>14</a:t>
            </a:r>
          </a:p>
        </p:txBody>
      </p:sp>
      <p:sp>
        <p:nvSpPr>
          <p:cNvPr id="5" name="TextBox 4"/>
          <p:cNvSpPr txBox="1"/>
          <p:nvPr/>
        </p:nvSpPr>
        <p:spPr>
          <a:xfrm>
            <a:off x="548640" y="1280160"/>
            <a:ext cx="11064240" cy="4937760"/>
          </a:xfrm>
          <a:prstGeom prst="rect">
            <a:avLst/>
          </a:prstGeom>
          <a:noFill/>
        </p:spPr>
        <p:txBody>
          <a:bodyPr wrap="square" anchor="t" lIns="45720" rIns="45720">
            <a:spAutoFit/>
          </a:bodyPr>
          <a:lstStyle/>
          <a:p>
            <a:pPr algn="l">
              <a:spcAft>
                <a:spcPts val="800"/>
              </a:spcAft>
            </a:pPr>
            <a:r>
              <a:rPr sz="1300" b="0" i="0">
                <a:solidFill>
                  <a:srgbClr val="1F1F1F"/>
                </a:solidFill>
                <a:latin typeface="Calibri"/>
              </a:rPr>
              <a:t>Badan Meteorologi, Klimatologi, dan Geofisika. (2026). Peringatan dini cuaca. Diakses 27 Oktober 2026, dari https://www.bmkg.go.id/cuaca/peringatan-dini-cuaca</a:t>
            </a:r>
          </a:p>
          <a:p>
            <a:pPr algn="l">
              <a:spcAft>
                <a:spcPts val="800"/>
              </a:spcAft>
            </a:pPr>
            <a:r>
              <a:rPr sz="1300" b="0" i="0">
                <a:solidFill>
                  <a:srgbClr val="1F1F1F"/>
                </a:solidFill>
                <a:latin typeface="Calibri"/>
              </a:rPr>
              <a:t>Luthfi, E. T. (2026). IT project management: Pertemuan 4 [Slide perkuliahan]. Program Studi S2 Informatika, Universitas Amikom Yogyakarta.</a:t>
            </a:r>
          </a:p>
          <a:p>
            <a:pPr algn="l">
              <a:spcAft>
                <a:spcPts val="800"/>
              </a:spcAft>
            </a:pPr>
            <a:r>
              <a:rPr sz="1300" b="0" i="0">
                <a:solidFill>
                  <a:srgbClr val="1F1F1F"/>
                </a:solidFill>
                <a:latin typeface="Calibri"/>
              </a:rPr>
              <a:t>Project Management Institute. (2008). A guide to the project management body of knowledge (PMBOK® Guide) (4th ed.). Project Management Institute.</a:t>
            </a:r>
          </a:p>
          <a:p>
            <a:pPr algn="l">
              <a:spcAft>
                <a:spcPts val="800"/>
              </a:spcAft>
            </a:pPr>
            <a:r>
              <a:rPr sz="1300" b="0" i="0">
                <a:solidFill>
                  <a:srgbClr val="1F1F1F"/>
                </a:solidFill>
                <a:latin typeface="Calibri"/>
              </a:rPr>
              <a:t>Project Management Institute. (2021). A guide to the project management body of knowledge (PMBOK® Guide) (7th ed.). Project Management Institute.</a:t>
            </a:r>
          </a:p>
          <a:p>
            <a:pPr algn="l">
              <a:spcAft>
                <a:spcPts val="800"/>
              </a:spcAft>
            </a:pPr>
            <a:r>
              <a:rPr sz="1300" b="0" i="0">
                <a:solidFill>
                  <a:srgbClr val="1F1F1F"/>
                </a:solidFill>
                <a:latin typeface="Calibri"/>
              </a:rPr>
              <a:t>Syafrizal, M. (2026a). Project planning (core PMBOK): Pertemuan 6 [Slide perkuliahan]. Program Studi S2 Informatika, Universitas Amikom Yogyakarta.</a:t>
            </a:r>
          </a:p>
          <a:p>
            <a:pPr algn="l">
              <a:spcAft>
                <a:spcPts val="800"/>
              </a:spcAft>
            </a:pPr>
            <a:r>
              <a:rPr sz="1300" b="0" i="0">
                <a:solidFill>
                  <a:srgbClr val="1F1F1F"/>
                </a:solidFill>
                <a:latin typeface="Calibri"/>
              </a:rPr>
              <a:t>Syafrizal, M. (2026b). IT project management: Integrasi project plan [Slide perkuliahan]. Program Studi S2 Informatika, Universitas Amikom Yogyakarta.</a:t>
            </a:r>
          </a:p>
          <a:p>
            <a:pPr algn="l">
              <a:spcAft>
                <a:spcPts val="800"/>
              </a:spcAft>
            </a:pPr>
            <a:r>
              <a:rPr sz="1300" b="0" i="0">
                <a:solidFill>
                  <a:srgbClr val="1F1F1F"/>
                </a:solidFill>
                <a:latin typeface="Calibri"/>
              </a:rPr>
              <a:t>Syafrizal, M. (2026c). Contoh usulan risk register (FIK 2026) [Berkas spreadsheet]. Program Studi S2 Informatika, Universitas Amikom Yogyakarta.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