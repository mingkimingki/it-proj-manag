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Saya akan membahas mengapa sebuah proyek sistem gaji pemerintah Kanada, bernama Phoenix, gagal. Fokusnya bagaimana tenaga dan waktu proyek, yang disebut effort, dibagi ke lima kelompok kegiatan pengelolaan proyek: memulai, merencanakan, mengerjakan, memeriksa, dan menutup.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Pertanyaannya: bagaimana tenaga dan waktu proyek dibagi, apakah seimbang, dan apakah ketidakseimbangan itu menjelaskan kegagalan. Saya memilih Phoenix karena tiga hal: ada pemeriksaan resmi dari lembaga pemeriksa negara Kanada, setara BPK; pemeriksa memakai buku standar PMBOK yang juga materi kuliah kita; dan laporannya berisi angka konkret.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masuk ke kasus, enam istilah yang akan sering muncul. Effort adalah tenaga dan waktu. Process group adalah lima kelompok kegiatan pengelolaan proyek. Pilot adalah uji coba di satu tempat dulu. Go-live adalah saat sistem mulai dipakai sungguhan. Waterfall berarti dikerjakan berurutan dan diluncurkan sekaligus, sedangkan Agile dikerjakan dalam putaran pendek yang hasilnya langsung dicoba pengguna.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Menurut PMBOK, ada lima kelompok kegiatan. Yang penting: kelimanya berjalan bersamaan sepanjang proyek, bukan bergiliran. Kegiatan memeriksa berjalan dari awal sampai akhir. Sebagai pembanding, saya pakai data Crowe dari slide kuliah: manajer proyek terbaik memakai 21 persen waktunya untuk merencanakan, manajer lain hanya 11 persen dan lebih banyak mengerjakan. Ini data survei, jadi hanya menunjukkan kecenderungan.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Phoenix adalah sistem gaji untuk sekitar 290 ribu pegawai di 101 kementerian dan lembaga Kanada, dibangun oleh perusahaan IBM. Masalah bermula dari uang: anggaran yang disetujui 155 juta dolar, padahal biayanya diperkirakan 274 juta. Sistem tetap dipakai pada 2016. Setahun kemudian, lebih dari 520 juta dolar gaji salah atau terlambat, dan separuh pegawai menerima slip gaji yang salah.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Titik biru adalah kejadian penting proyek; tanda silang merah adalah pemeriksaan yang seharusnya dilakukan tetapi dilewati. 2012: biaya ternyata jauh lebih besar, tetapi rencana tidak disusun ulang; lebih dari 100 fitur dibuang. 2015: uji coba dibatalkan. 2016: saran untuk meluncurkan bertahap dan menjalankan sistem lama bersama sistem baru diabaikan, keputusan mulai memakai sistem tidak dicatat, dan jeda antar tahap dipersingkat dari tujuh ke dua bulan.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Batang biru dan oranye adalah data pembanding dari Crowe; batang hijau berarsir adalah perkiraan saya untuk Phoenix, berdasarkan temuan pemeriksa. Phoenix memakai sekitar 8 persen untuk merencanakan, lebih kecil dari manajer biasa; 86 persen untuk mengerjakan; dan hanya sekitar 3 persen untuk memeriksa dan menguji. Ini perkiraan, bukan hasil ukur, tetapi polanya jelas.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 tiga ketidakseimbangan. Pertama, ketika biaya naik 77 persen, rencana tidak disusun ulang; yang dilakukan hanya membuang fitur. Kedua, pemeriksaan dan pengujian dikurangi justru saat paling dibutuhkan: 20 persen fitur yang gagal diuji tidak diuji ulang, dan uji coba dibatalkan. Ini terjadi karena waktu dan biaya dikunci, sehingga yang dikorbankan adalah mutu. Ketiga, tidak ada pemeriksaan sebelum lanjut ke tahap kedua.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Phoenix dikerjakan cara Waterfall: rencana lengkap dulu, dibangun, lalu diluncurkan sekaligus. Dalam cara ini pengujian menumpuk di akhir, sehingga paling mudah dikurangi saat jadwal mepet. Agile membagi pekerjaan jadi putaran pendek yang langsung diuji. Untuk Phoenix, yang paling cocok adalah gabungan atau hybrid: bagian dasar direncanakan lengkap, peluncuran bertahap per lembaga sambil menjalankan sistem lama, dan fitur yang belum jelas dikerjakan dalam putaran pendek.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Lima rekomendasi utama. Satu, buktikan dulu perkiraan manfaat dengan data nyata. Dua, kalau biaya atau jadwal melenceng jauh, rencana wajib disusun ulang dan dilaporkan. Tiga, uji coba dan menjalankan sistem lama bersama sistem baru tidak boleh dihapus. Empat, harus ada pemeriksa dari luar tim proyek yang lapor langsung ke pimpinan. Lima, keputusan mulai memakai sistem dicatat tertulis. Catatan: cara kerja Agile saja tidak menyelesaikan masalah pengawasan seperti ini.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Kesimpulannya satu kalimat: tanggal peluncuran tidak boleh lebih kuat daripada bukti kesiapan. Pola yang sama terjadi di bank TSB di Inggris tahun 2018 dan pada sistem pajak Coretax tahun 2025. Bagi proyek TI pemerintah di Indonesia, termasuk peralihan sistem pengamatan cuaca di BMKG tempat saya bekerja, pelajarannya sama. Terima kasih.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cadangan untuk menjawab pertanyaan; tidak perlu dipresentasikan.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cadangan; tidak perlu dipresentasikan.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188720"/>
            <a:ext cx="10515600" cy="457200"/>
          </a:xfrm>
          <a:prstGeom prst="rect">
            <a:avLst/>
          </a:prstGeom>
          <a:noFill/>
        </p:spPr>
        <p:txBody>
          <a:bodyPr wrap="square" anchor="t" lIns="45720" rIns="45720">
            <a:spAutoFit/>
          </a:bodyPr>
          <a:lstStyle/>
          <a:p>
            <a:pPr algn="l">
              <a:spcAft>
                <a:spcPts val="600"/>
              </a:spcAft>
            </a:pPr>
            <a:r>
              <a:rPr sz="1600" b="1" i="0">
                <a:solidFill>
                  <a:srgbClr val="2A78D6"/>
                </a:solidFill>
                <a:latin typeface="Calibri"/>
              </a:rPr>
              <a:t>TUGAS 1 — IT PROJECT MANAGEMENT</a:t>
            </a:r>
          </a:p>
        </p:txBody>
      </p:sp>
      <p:sp>
        <p:nvSpPr>
          <p:cNvPr id="3" name="TextBox 2"/>
          <p:cNvSpPr txBox="1"/>
          <p:nvPr/>
        </p:nvSpPr>
        <p:spPr>
          <a:xfrm>
            <a:off x="822960" y="1691640"/>
            <a:ext cx="10515600" cy="1371600"/>
          </a:xfrm>
          <a:prstGeom prst="rect">
            <a:avLst/>
          </a:prstGeom>
          <a:noFill/>
        </p:spPr>
        <p:txBody>
          <a:bodyPr wrap="square" anchor="t" lIns="45720" rIns="45720">
            <a:spAutoFit/>
          </a:bodyPr>
          <a:lstStyle/>
          <a:p>
            <a:pPr algn="l">
              <a:spcAft>
                <a:spcPts val="0"/>
              </a:spcAft>
            </a:pPr>
            <a:r>
              <a:rPr sz="3600" b="1" i="0">
                <a:solidFill>
                  <a:srgbClr val="1B2A4A"/>
                </a:solidFill>
                <a:latin typeface="Cambria"/>
              </a:rPr>
              <a:t>Analisis Distribusi Effort Proyek:</a:t>
            </a:r>
          </a:p>
          <a:p>
            <a:pPr algn="l">
              <a:spcAft>
                <a:spcPts val="0"/>
              </a:spcAft>
            </a:pPr>
            <a:r>
              <a:rPr sz="3600" b="1" i="0">
                <a:solidFill>
                  <a:srgbClr val="1B2A4A"/>
                </a:solidFill>
                <a:latin typeface="Cambria"/>
              </a:rPr>
              <a:t>Studi Kasus Phoenix Pay System (Kanada)</a:t>
            </a:r>
          </a:p>
        </p:txBody>
      </p:sp>
      <p:sp>
        <p:nvSpPr>
          <p:cNvPr id="4" name="TextBox 3"/>
          <p:cNvSpPr txBox="1"/>
          <p:nvPr/>
        </p:nvSpPr>
        <p:spPr>
          <a:xfrm>
            <a:off x="822960" y="3154680"/>
            <a:ext cx="10515600" cy="731520"/>
          </a:xfrm>
          <a:prstGeom prst="rect">
            <a:avLst/>
          </a:prstGeom>
          <a:noFill/>
        </p:spPr>
        <p:txBody>
          <a:bodyPr wrap="square" anchor="t" lIns="45720" rIns="45720">
            <a:spAutoFit/>
          </a:bodyPr>
          <a:lstStyle/>
          <a:p>
            <a:pPr algn="l">
              <a:spcAft>
                <a:spcPts val="600"/>
              </a:spcAft>
            </a:pPr>
            <a:r>
              <a:rPr sz="1800" b="0" i="1">
                <a:solidFill>
                  <a:srgbClr val="52514E"/>
                </a:solidFill>
                <a:latin typeface="Calibri"/>
              </a:rPr>
              <a:t>Mengapa sistem gaji untuk 290.000 pegawai pemerintah gagal, dilihat dari pembagian tenaga dan waktu (effort) proyek</a:t>
            </a:r>
          </a:p>
        </p:txBody>
      </p:sp>
      <p:sp>
        <p:nvSpPr>
          <p:cNvPr id="5" name="Oval 4"/>
          <p:cNvSpPr/>
          <p:nvPr/>
        </p:nvSpPr>
        <p:spPr>
          <a:xfrm>
            <a:off x="822960" y="434340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457200" y="4846320"/>
            <a:ext cx="1188720" cy="822960"/>
          </a:xfrm>
          <a:prstGeom prst="rect">
            <a:avLst/>
          </a:prstGeom>
          <a:noFill/>
        </p:spPr>
        <p:txBody>
          <a:bodyPr wrap="square" anchor="t" lIns="45720" rIns="45720">
            <a:spAutoFit/>
          </a:bodyPr>
          <a:lstStyle/>
          <a:p>
            <a:pPr algn="ctr">
              <a:spcAft>
                <a:spcPts val="0"/>
              </a:spcAft>
            </a:pPr>
            <a:r>
              <a:rPr sz="1200" b="0" i="0">
                <a:solidFill>
                  <a:srgbClr val="52514E"/>
                </a:solidFill>
                <a:latin typeface="Calibri"/>
              </a:rPr>
              <a:t>Initiating</a:t>
            </a:r>
          </a:p>
          <a:p>
            <a:pPr algn="ctr">
              <a:spcAft>
                <a:spcPts val="0"/>
              </a:spcAft>
            </a:pPr>
            <a:r>
              <a:rPr sz="1200" b="0" i="1">
                <a:solidFill>
                  <a:srgbClr val="2A78D6"/>
                </a:solidFill>
                <a:latin typeface="Calibri"/>
              </a:rPr>
              <a:t>memulai</a:t>
            </a:r>
          </a:p>
        </p:txBody>
      </p:sp>
      <p:sp>
        <p:nvSpPr>
          <p:cNvPr id="7" name="Oval 6"/>
          <p:cNvSpPr/>
          <p:nvPr/>
        </p:nvSpPr>
        <p:spPr>
          <a:xfrm>
            <a:off x="2423160" y="434340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8" name="TextBox 7"/>
          <p:cNvSpPr txBox="1"/>
          <p:nvPr/>
        </p:nvSpPr>
        <p:spPr>
          <a:xfrm>
            <a:off x="2057400" y="4846320"/>
            <a:ext cx="1188720" cy="822960"/>
          </a:xfrm>
          <a:prstGeom prst="rect">
            <a:avLst/>
          </a:prstGeom>
          <a:noFill/>
        </p:spPr>
        <p:txBody>
          <a:bodyPr wrap="square" anchor="t" lIns="45720" rIns="45720">
            <a:spAutoFit/>
          </a:bodyPr>
          <a:lstStyle/>
          <a:p>
            <a:pPr algn="ctr">
              <a:spcAft>
                <a:spcPts val="0"/>
              </a:spcAft>
            </a:pPr>
            <a:r>
              <a:rPr sz="1200" b="0" i="0">
                <a:solidFill>
                  <a:srgbClr val="52514E"/>
                </a:solidFill>
                <a:latin typeface="Calibri"/>
              </a:rPr>
              <a:t>Planning</a:t>
            </a:r>
          </a:p>
          <a:p>
            <a:pPr algn="ctr">
              <a:spcAft>
                <a:spcPts val="0"/>
              </a:spcAft>
            </a:pPr>
            <a:r>
              <a:rPr sz="1200" b="0" i="1">
                <a:solidFill>
                  <a:srgbClr val="2A78D6"/>
                </a:solidFill>
                <a:latin typeface="Calibri"/>
              </a:rPr>
              <a:t>merencanakan</a:t>
            </a:r>
          </a:p>
        </p:txBody>
      </p:sp>
      <p:sp>
        <p:nvSpPr>
          <p:cNvPr id="9" name="Oval 8"/>
          <p:cNvSpPr/>
          <p:nvPr/>
        </p:nvSpPr>
        <p:spPr>
          <a:xfrm>
            <a:off x="4023360" y="434340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0" name="TextBox 9"/>
          <p:cNvSpPr txBox="1"/>
          <p:nvPr/>
        </p:nvSpPr>
        <p:spPr>
          <a:xfrm>
            <a:off x="3657600" y="4846320"/>
            <a:ext cx="1188720" cy="822960"/>
          </a:xfrm>
          <a:prstGeom prst="rect">
            <a:avLst/>
          </a:prstGeom>
          <a:noFill/>
        </p:spPr>
        <p:txBody>
          <a:bodyPr wrap="square" anchor="t" lIns="45720" rIns="45720">
            <a:spAutoFit/>
          </a:bodyPr>
          <a:lstStyle/>
          <a:p>
            <a:pPr algn="ctr">
              <a:spcAft>
                <a:spcPts val="0"/>
              </a:spcAft>
            </a:pPr>
            <a:r>
              <a:rPr sz="1200" b="0" i="0">
                <a:solidFill>
                  <a:srgbClr val="52514E"/>
                </a:solidFill>
                <a:latin typeface="Calibri"/>
              </a:rPr>
              <a:t>Executing</a:t>
            </a:r>
          </a:p>
          <a:p>
            <a:pPr algn="ctr">
              <a:spcAft>
                <a:spcPts val="0"/>
              </a:spcAft>
            </a:pPr>
            <a:r>
              <a:rPr sz="1200" b="0" i="1">
                <a:solidFill>
                  <a:srgbClr val="2A78D6"/>
                </a:solidFill>
                <a:latin typeface="Calibri"/>
              </a:rPr>
              <a:t>mengerjakan</a:t>
            </a:r>
          </a:p>
        </p:txBody>
      </p:sp>
      <p:sp>
        <p:nvSpPr>
          <p:cNvPr id="11" name="Oval 10"/>
          <p:cNvSpPr/>
          <p:nvPr/>
        </p:nvSpPr>
        <p:spPr>
          <a:xfrm>
            <a:off x="5623560" y="434340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2" name="TextBox 11"/>
          <p:cNvSpPr txBox="1"/>
          <p:nvPr/>
        </p:nvSpPr>
        <p:spPr>
          <a:xfrm>
            <a:off x="5257800" y="4846320"/>
            <a:ext cx="1188720" cy="822960"/>
          </a:xfrm>
          <a:prstGeom prst="rect">
            <a:avLst/>
          </a:prstGeom>
          <a:noFill/>
        </p:spPr>
        <p:txBody>
          <a:bodyPr wrap="square" anchor="t" lIns="45720" rIns="45720">
            <a:spAutoFit/>
          </a:bodyPr>
          <a:lstStyle/>
          <a:p>
            <a:pPr algn="ctr">
              <a:spcAft>
                <a:spcPts val="0"/>
              </a:spcAft>
            </a:pPr>
            <a:r>
              <a:rPr sz="1200" b="0" i="0">
                <a:solidFill>
                  <a:srgbClr val="52514E"/>
                </a:solidFill>
                <a:latin typeface="Calibri"/>
              </a:rPr>
              <a:t>Monitoring &amp;
Controlling</a:t>
            </a:r>
          </a:p>
          <a:p>
            <a:pPr algn="ctr">
              <a:spcAft>
                <a:spcPts val="0"/>
              </a:spcAft>
            </a:pPr>
            <a:r>
              <a:rPr sz="1200" b="0" i="1">
                <a:solidFill>
                  <a:srgbClr val="2A78D6"/>
                </a:solidFill>
                <a:latin typeface="Calibri"/>
              </a:rPr>
              <a:t>memeriksa</a:t>
            </a:r>
          </a:p>
        </p:txBody>
      </p:sp>
      <p:sp>
        <p:nvSpPr>
          <p:cNvPr id="13" name="Oval 12"/>
          <p:cNvSpPr/>
          <p:nvPr/>
        </p:nvSpPr>
        <p:spPr>
          <a:xfrm>
            <a:off x="7223760" y="434340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4" name="TextBox 13"/>
          <p:cNvSpPr txBox="1"/>
          <p:nvPr/>
        </p:nvSpPr>
        <p:spPr>
          <a:xfrm>
            <a:off x="6858000" y="4846320"/>
            <a:ext cx="1188720" cy="822960"/>
          </a:xfrm>
          <a:prstGeom prst="rect">
            <a:avLst/>
          </a:prstGeom>
          <a:noFill/>
        </p:spPr>
        <p:txBody>
          <a:bodyPr wrap="square" anchor="t" lIns="45720" rIns="45720">
            <a:spAutoFit/>
          </a:bodyPr>
          <a:lstStyle/>
          <a:p>
            <a:pPr algn="ctr">
              <a:spcAft>
                <a:spcPts val="0"/>
              </a:spcAft>
            </a:pPr>
            <a:r>
              <a:rPr sz="1200" b="0" i="0">
                <a:solidFill>
                  <a:srgbClr val="52514E"/>
                </a:solidFill>
                <a:latin typeface="Calibri"/>
              </a:rPr>
              <a:t>Closing</a:t>
            </a:r>
          </a:p>
          <a:p>
            <a:pPr algn="ctr">
              <a:spcAft>
                <a:spcPts val="0"/>
              </a:spcAft>
            </a:pPr>
            <a:r>
              <a:rPr sz="1200" b="0" i="1">
                <a:solidFill>
                  <a:srgbClr val="2A78D6"/>
                </a:solidFill>
                <a:latin typeface="Calibri"/>
              </a:rPr>
              <a:t>menutup</a:t>
            </a:r>
          </a:p>
        </p:txBody>
      </p:sp>
      <p:sp>
        <p:nvSpPr>
          <p:cNvPr id="15" name="TextBox 14"/>
          <p:cNvSpPr txBox="1"/>
          <p:nvPr/>
        </p:nvSpPr>
        <p:spPr>
          <a:xfrm>
            <a:off x="9052560" y="4297680"/>
            <a:ext cx="2743200" cy="1645920"/>
          </a:xfrm>
          <a:prstGeom prst="rect">
            <a:avLst/>
          </a:prstGeom>
          <a:noFill/>
        </p:spPr>
        <p:txBody>
          <a:bodyPr wrap="square" anchor="t" lIns="45720" rIns="45720">
            <a:spAutoFit/>
          </a:bodyPr>
          <a:lstStyle/>
          <a:p>
            <a:pPr algn="l">
              <a:spcAft>
                <a:spcPts val="200"/>
              </a:spcAft>
            </a:pPr>
            <a:r>
              <a:rPr sz="1300" b="1" i="0">
                <a:solidFill>
                  <a:srgbClr val="1F1F1F"/>
                </a:solidFill>
                <a:latin typeface="Calibri"/>
              </a:rPr>
              <a:t>Nama: </a:t>
            </a:r>
            <a:r>
              <a:rPr sz="1300" b="0" i="0">
                <a:solidFill>
                  <a:srgbClr val="D03B3B"/>
                </a:solidFill>
                <a:latin typeface="Calibri"/>
              </a:rPr>
              <a:t>[isi nama]</a:t>
            </a:r>
          </a:p>
          <a:p>
            <a:pPr algn="l">
              <a:spcAft>
                <a:spcPts val="200"/>
              </a:spcAft>
            </a:pPr>
            <a:r>
              <a:rPr sz="1300" b="1" i="0">
                <a:solidFill>
                  <a:srgbClr val="1F1F1F"/>
                </a:solidFill>
                <a:latin typeface="Calibri"/>
              </a:rPr>
              <a:t>NIM: </a:t>
            </a:r>
            <a:r>
              <a:rPr sz="1300" b="0" i="0">
                <a:solidFill>
                  <a:srgbClr val="D03B3B"/>
                </a:solidFill>
                <a:latin typeface="Calibri"/>
              </a:rPr>
              <a:t>[isi NIM]</a:t>
            </a:r>
          </a:p>
          <a:p>
            <a:pPr algn="l">
              <a:spcAft>
                <a:spcPts val="200"/>
              </a:spcAft>
            </a:pPr>
            <a:r>
              <a:rPr sz="1300" b="0" i="0">
                <a:solidFill>
                  <a:srgbClr val="1F1F1F"/>
                </a:solidFill>
                <a:latin typeface="Calibri"/>
              </a:rPr>
              <a:t>S2 Informatika — Universitas Amikom Yogyakarta</a:t>
            </a:r>
          </a:p>
          <a:p>
            <a:pPr algn="l">
              <a:spcAft>
                <a:spcPts val="200"/>
              </a:spcAft>
            </a:pPr>
            <a:r>
              <a:rPr sz="1300" b="0" i="0">
                <a:solidFill>
                  <a:srgbClr val="1F1F1F"/>
                </a:solidFill>
                <a:latin typeface="Calibri"/>
              </a:rPr>
              <a:t>Dosen: Emha Taufiq Luthfi, Ph.D.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Apa yang dianalisis dan mengapa Phoenix?</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2</a:t>
            </a:r>
          </a:p>
        </p:txBody>
      </p:sp>
      <p:sp>
        <p:nvSpPr>
          <p:cNvPr id="4" name="Rounded Rectangle 3"/>
          <p:cNvSpPr/>
          <p:nvPr/>
        </p:nvSpPr>
        <p:spPr>
          <a:xfrm>
            <a:off x="548640" y="1417320"/>
            <a:ext cx="4754880" cy="36576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4206240" cy="457200"/>
          </a:xfrm>
          <a:prstGeom prst="rect">
            <a:avLst/>
          </a:prstGeom>
          <a:noFill/>
        </p:spPr>
        <p:txBody>
          <a:bodyPr wrap="square" anchor="t" lIns="45720" rIns="45720">
            <a:spAutoFit/>
          </a:bodyPr>
          <a:lstStyle/>
          <a:p>
            <a:pPr algn="l">
              <a:spcAft>
                <a:spcPts val="600"/>
              </a:spcAft>
            </a:pPr>
            <a:r>
              <a:rPr sz="1400" b="1" i="0">
                <a:solidFill>
                  <a:srgbClr val="2A78D6"/>
                </a:solidFill>
                <a:latin typeface="Calibri"/>
              </a:rPr>
              <a:t>PERTANYAAN ANALISIS</a:t>
            </a:r>
          </a:p>
        </p:txBody>
      </p:sp>
      <p:sp>
        <p:nvSpPr>
          <p:cNvPr id="6" name="TextBox 5"/>
          <p:cNvSpPr txBox="1"/>
          <p:nvPr/>
        </p:nvSpPr>
        <p:spPr>
          <a:xfrm>
            <a:off x="868680" y="2194560"/>
            <a:ext cx="4206240" cy="2743200"/>
          </a:xfrm>
          <a:prstGeom prst="rect">
            <a:avLst/>
          </a:prstGeom>
          <a:noFill/>
        </p:spPr>
        <p:txBody>
          <a:bodyPr wrap="square" anchor="t" lIns="45720" rIns="45720">
            <a:spAutoFit/>
          </a:bodyPr>
          <a:lstStyle/>
          <a:p>
            <a:pPr algn="l">
              <a:spcAft>
                <a:spcPts val="1400"/>
              </a:spcAft>
            </a:pPr>
            <a:r>
              <a:rPr sz="1800" b="0" i="0">
                <a:solidFill>
                  <a:srgbClr val="1F1F1F"/>
                </a:solidFill>
                <a:latin typeface="Calibri"/>
              </a:rPr>
              <a:t>Bagaimana tenaga dan waktu (effort) proyek dibagi ke lima kelompok kegiatan?</a:t>
            </a:r>
          </a:p>
          <a:p>
            <a:pPr algn="l">
              <a:spcAft>
                <a:spcPts val="1400"/>
              </a:spcAft>
            </a:pPr>
            <a:r>
              <a:rPr sz="1800" b="0" i="0">
                <a:solidFill>
                  <a:srgbClr val="1F1F1F"/>
                </a:solidFill>
                <a:latin typeface="Calibri"/>
              </a:rPr>
              <a:t>Apakah pembagiannya seimbang?</a:t>
            </a:r>
          </a:p>
          <a:p>
            <a:pPr algn="l">
              <a:spcAft>
                <a:spcPts val="1400"/>
              </a:spcAft>
            </a:pPr>
            <a:r>
              <a:rPr sz="1800" b="0" i="0">
                <a:solidFill>
                  <a:srgbClr val="1F1F1F"/>
                </a:solidFill>
                <a:latin typeface="Calibri"/>
              </a:rPr>
              <a:t>Apakah ketidakseimbangan itu menjelaskan kegagalan proyek?</a:t>
            </a:r>
          </a:p>
        </p:txBody>
      </p:sp>
      <p:sp>
        <p:nvSpPr>
          <p:cNvPr id="7" name="Oval 6"/>
          <p:cNvSpPr/>
          <p:nvPr/>
        </p:nvSpPr>
        <p:spPr>
          <a:xfrm>
            <a:off x="5760720" y="155448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8" name="TextBox 7"/>
          <p:cNvSpPr txBox="1"/>
          <p:nvPr/>
        </p:nvSpPr>
        <p:spPr>
          <a:xfrm>
            <a:off x="6446520" y="1463040"/>
            <a:ext cx="5212080" cy="411480"/>
          </a:xfrm>
          <a:prstGeom prst="rect">
            <a:avLst/>
          </a:prstGeom>
          <a:noFill/>
        </p:spPr>
        <p:txBody>
          <a:bodyPr wrap="square" anchor="t" lIns="45720" rIns="45720">
            <a:spAutoFit/>
          </a:bodyPr>
          <a:lstStyle/>
          <a:p>
            <a:pPr algn="l">
              <a:spcAft>
                <a:spcPts val="600"/>
              </a:spcAft>
            </a:pPr>
            <a:r>
              <a:rPr sz="2000" b="1" i="0">
                <a:solidFill>
                  <a:srgbClr val="1B2A4A"/>
                </a:solidFill>
                <a:latin typeface="Calibri"/>
              </a:rPr>
              <a:t>Diperiksa resmi</a:t>
            </a:r>
          </a:p>
        </p:txBody>
      </p:sp>
      <p:sp>
        <p:nvSpPr>
          <p:cNvPr id="9" name="TextBox 8"/>
          <p:cNvSpPr txBox="1"/>
          <p:nvPr/>
        </p:nvSpPr>
        <p:spPr>
          <a:xfrm>
            <a:off x="6446520" y="1920240"/>
            <a:ext cx="5212080" cy="914400"/>
          </a:xfrm>
          <a:prstGeom prst="rect">
            <a:avLst/>
          </a:prstGeom>
          <a:noFill/>
        </p:spPr>
        <p:txBody>
          <a:bodyPr wrap="square" anchor="t" lIns="45720" rIns="45720">
            <a:spAutoFit/>
          </a:bodyPr>
          <a:lstStyle/>
          <a:p>
            <a:pPr algn="l">
              <a:spcAft>
                <a:spcPts val="600"/>
              </a:spcAft>
            </a:pPr>
            <a:r>
              <a:rPr sz="1600" b="0" i="0">
                <a:solidFill>
                  <a:srgbClr val="52514E"/>
                </a:solidFill>
                <a:latin typeface="Calibri"/>
              </a:rPr>
              <a:t>OAG, lembaga pemeriksa keuangan negara Kanada (seperti BPK), menerbitkan laporan lengkap pada 2018.</a:t>
            </a:r>
          </a:p>
        </p:txBody>
      </p:sp>
      <p:sp>
        <p:nvSpPr>
          <p:cNvPr id="10" name="Oval 9"/>
          <p:cNvSpPr/>
          <p:nvPr/>
        </p:nvSpPr>
        <p:spPr>
          <a:xfrm>
            <a:off x="5760720" y="306324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1" name="TextBox 10"/>
          <p:cNvSpPr txBox="1"/>
          <p:nvPr/>
        </p:nvSpPr>
        <p:spPr>
          <a:xfrm>
            <a:off x="6446520" y="2971800"/>
            <a:ext cx="5212080" cy="411480"/>
          </a:xfrm>
          <a:prstGeom prst="rect">
            <a:avLst/>
          </a:prstGeom>
          <a:noFill/>
        </p:spPr>
        <p:txBody>
          <a:bodyPr wrap="square" anchor="t" lIns="45720" rIns="45720">
            <a:spAutoFit/>
          </a:bodyPr>
          <a:lstStyle/>
          <a:p>
            <a:pPr algn="l">
              <a:spcAft>
                <a:spcPts val="600"/>
              </a:spcAft>
            </a:pPr>
            <a:r>
              <a:rPr sz="2000" b="1" i="0">
                <a:solidFill>
                  <a:srgbClr val="1B2A4A"/>
                </a:solidFill>
                <a:latin typeface="Calibri"/>
              </a:rPr>
              <a:t>Kerangka sama dengan kuliah</a:t>
            </a:r>
          </a:p>
        </p:txBody>
      </p:sp>
      <p:sp>
        <p:nvSpPr>
          <p:cNvPr id="12" name="TextBox 11"/>
          <p:cNvSpPr txBox="1"/>
          <p:nvPr/>
        </p:nvSpPr>
        <p:spPr>
          <a:xfrm>
            <a:off x="6446520" y="3429000"/>
            <a:ext cx="5212080" cy="914400"/>
          </a:xfrm>
          <a:prstGeom prst="rect">
            <a:avLst/>
          </a:prstGeom>
          <a:noFill/>
        </p:spPr>
        <p:txBody>
          <a:bodyPr wrap="square" anchor="t" lIns="45720" rIns="45720">
            <a:spAutoFit/>
          </a:bodyPr>
          <a:lstStyle/>
          <a:p>
            <a:pPr algn="l">
              <a:spcAft>
                <a:spcPts val="600"/>
              </a:spcAft>
            </a:pPr>
            <a:r>
              <a:rPr sz="1600" b="0" i="0">
                <a:solidFill>
                  <a:srgbClr val="52514E"/>
                </a:solidFill>
                <a:latin typeface="Calibri"/>
              </a:rPr>
              <a:t>Pemeriksa memakai PMBOK Guide, buku standar pengelolaan proyek yang juga materi kuliah.</a:t>
            </a:r>
          </a:p>
        </p:txBody>
      </p:sp>
      <p:sp>
        <p:nvSpPr>
          <p:cNvPr id="13" name="Oval 12"/>
          <p:cNvSpPr/>
          <p:nvPr/>
        </p:nvSpPr>
        <p:spPr>
          <a:xfrm>
            <a:off x="5760720" y="45720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4" name="TextBox 13"/>
          <p:cNvSpPr txBox="1"/>
          <p:nvPr/>
        </p:nvSpPr>
        <p:spPr>
          <a:xfrm>
            <a:off x="6446520" y="4480560"/>
            <a:ext cx="5212080" cy="411480"/>
          </a:xfrm>
          <a:prstGeom prst="rect">
            <a:avLst/>
          </a:prstGeom>
          <a:noFill/>
        </p:spPr>
        <p:txBody>
          <a:bodyPr wrap="square" anchor="t" lIns="45720" rIns="45720">
            <a:spAutoFit/>
          </a:bodyPr>
          <a:lstStyle/>
          <a:p>
            <a:pPr algn="l">
              <a:spcAft>
                <a:spcPts val="600"/>
              </a:spcAft>
            </a:pPr>
            <a:r>
              <a:rPr sz="2000" b="1" i="0">
                <a:solidFill>
                  <a:srgbClr val="1B2A4A"/>
                </a:solidFill>
                <a:latin typeface="Calibri"/>
              </a:rPr>
              <a:t>Angkanya konkret</a:t>
            </a:r>
          </a:p>
        </p:txBody>
      </p:sp>
      <p:sp>
        <p:nvSpPr>
          <p:cNvPr id="15" name="TextBox 14"/>
          <p:cNvSpPr txBox="1"/>
          <p:nvPr/>
        </p:nvSpPr>
        <p:spPr>
          <a:xfrm>
            <a:off x="6446520" y="4937760"/>
            <a:ext cx="5212080" cy="914400"/>
          </a:xfrm>
          <a:prstGeom prst="rect">
            <a:avLst/>
          </a:prstGeom>
          <a:noFill/>
        </p:spPr>
        <p:txBody>
          <a:bodyPr wrap="square" anchor="t" lIns="45720" rIns="45720">
            <a:spAutoFit/>
          </a:bodyPr>
          <a:lstStyle/>
          <a:p>
            <a:pPr algn="l">
              <a:spcAft>
                <a:spcPts val="600"/>
              </a:spcAft>
            </a:pPr>
            <a:r>
              <a:rPr sz="1600" b="0" i="0">
                <a:solidFill>
                  <a:srgbClr val="52514E"/>
                </a:solidFill>
                <a:latin typeface="Calibri"/>
              </a:rPr>
              <a:t>Ada data berapa fitur dibuang, berapa pengujian gagal, dan berapa bulan jadwal dipadatkan.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Enam istilah kunci</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3</a:t>
            </a:r>
          </a:p>
        </p:txBody>
      </p:sp>
      <p:sp>
        <p:nvSpPr>
          <p:cNvPr id="4" name="Rounded Rectangle 3"/>
          <p:cNvSpPr/>
          <p:nvPr/>
        </p:nvSpPr>
        <p:spPr>
          <a:xfrm>
            <a:off x="548640" y="1371600"/>
            <a:ext cx="3566160" cy="21488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600200"/>
            <a:ext cx="3017520" cy="502920"/>
          </a:xfrm>
          <a:prstGeom prst="rect">
            <a:avLst/>
          </a:prstGeom>
          <a:noFill/>
        </p:spPr>
        <p:txBody>
          <a:bodyPr wrap="square" anchor="t" lIns="45720" rIns="45720">
            <a:spAutoFit/>
          </a:bodyPr>
          <a:lstStyle/>
          <a:p>
            <a:pPr algn="l">
              <a:spcAft>
                <a:spcPts val="600"/>
              </a:spcAft>
            </a:pPr>
            <a:r>
              <a:rPr sz="2200" b="1" i="0">
                <a:solidFill>
                  <a:srgbClr val="2A78D6"/>
                </a:solidFill>
                <a:latin typeface="Cambria"/>
              </a:rPr>
              <a:t>Effort</a:t>
            </a:r>
          </a:p>
        </p:txBody>
      </p:sp>
      <p:sp>
        <p:nvSpPr>
          <p:cNvPr id="6" name="TextBox 5"/>
          <p:cNvSpPr txBox="1"/>
          <p:nvPr/>
        </p:nvSpPr>
        <p:spPr>
          <a:xfrm>
            <a:off x="822959" y="2194560"/>
            <a:ext cx="3017520" cy="123444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Tenaga dan waktu yang dipakai untuk mengerjakan proyek</a:t>
            </a:r>
          </a:p>
        </p:txBody>
      </p:sp>
      <p:sp>
        <p:nvSpPr>
          <p:cNvPr id="7" name="Rounded Rectangle 6"/>
          <p:cNvSpPr/>
          <p:nvPr/>
        </p:nvSpPr>
        <p:spPr>
          <a:xfrm>
            <a:off x="4297679" y="1371600"/>
            <a:ext cx="3566160" cy="21488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1999" y="1600200"/>
            <a:ext cx="3017520" cy="502920"/>
          </a:xfrm>
          <a:prstGeom prst="rect">
            <a:avLst/>
          </a:prstGeom>
          <a:noFill/>
        </p:spPr>
        <p:txBody>
          <a:bodyPr wrap="square" anchor="t" lIns="45720" rIns="45720">
            <a:spAutoFit/>
          </a:bodyPr>
          <a:lstStyle/>
          <a:p>
            <a:pPr algn="l">
              <a:spcAft>
                <a:spcPts val="600"/>
              </a:spcAft>
            </a:pPr>
            <a:r>
              <a:rPr sz="2200" b="1" i="0">
                <a:solidFill>
                  <a:srgbClr val="2A78D6"/>
                </a:solidFill>
                <a:latin typeface="Cambria"/>
              </a:rPr>
              <a:t>Process group</a:t>
            </a:r>
          </a:p>
        </p:txBody>
      </p:sp>
      <p:sp>
        <p:nvSpPr>
          <p:cNvPr id="9" name="TextBox 8"/>
          <p:cNvSpPr txBox="1"/>
          <p:nvPr/>
        </p:nvSpPr>
        <p:spPr>
          <a:xfrm>
            <a:off x="4571999" y="2194560"/>
            <a:ext cx="3017520" cy="123444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Lima kelompok kegiatan mengelola proyek: memulai, merencanakan, mengerjakan, memeriksa, menutup</a:t>
            </a:r>
          </a:p>
        </p:txBody>
      </p:sp>
      <p:sp>
        <p:nvSpPr>
          <p:cNvPr id="10" name="Rounded Rectangle 9"/>
          <p:cNvSpPr/>
          <p:nvPr/>
        </p:nvSpPr>
        <p:spPr>
          <a:xfrm>
            <a:off x="8046719" y="1371600"/>
            <a:ext cx="3566160" cy="21488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00200"/>
            <a:ext cx="3017520" cy="502920"/>
          </a:xfrm>
          <a:prstGeom prst="rect">
            <a:avLst/>
          </a:prstGeom>
          <a:noFill/>
        </p:spPr>
        <p:txBody>
          <a:bodyPr wrap="square" anchor="t" lIns="45720" rIns="45720">
            <a:spAutoFit/>
          </a:bodyPr>
          <a:lstStyle/>
          <a:p>
            <a:pPr algn="l">
              <a:spcAft>
                <a:spcPts val="600"/>
              </a:spcAft>
            </a:pPr>
            <a:r>
              <a:rPr sz="2200" b="1" i="0">
                <a:solidFill>
                  <a:srgbClr val="2A78D6"/>
                </a:solidFill>
                <a:latin typeface="Cambria"/>
              </a:rPr>
              <a:t>Uji coba (pilot)</a:t>
            </a:r>
          </a:p>
        </p:txBody>
      </p:sp>
      <p:sp>
        <p:nvSpPr>
          <p:cNvPr id="12" name="TextBox 11"/>
          <p:cNvSpPr txBox="1"/>
          <p:nvPr/>
        </p:nvSpPr>
        <p:spPr>
          <a:xfrm>
            <a:off x="8321040" y="2194560"/>
            <a:ext cx="3017520" cy="123444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Mencoba sistem baru di satu tempat dulu sebelum dipakai semua</a:t>
            </a:r>
          </a:p>
        </p:txBody>
      </p:sp>
      <p:sp>
        <p:nvSpPr>
          <p:cNvPr id="13" name="Rounded Rectangle 12"/>
          <p:cNvSpPr/>
          <p:nvPr/>
        </p:nvSpPr>
        <p:spPr>
          <a:xfrm>
            <a:off x="548640" y="3749039"/>
            <a:ext cx="3566160" cy="21488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977639"/>
            <a:ext cx="3017520" cy="502920"/>
          </a:xfrm>
          <a:prstGeom prst="rect">
            <a:avLst/>
          </a:prstGeom>
          <a:noFill/>
        </p:spPr>
        <p:txBody>
          <a:bodyPr wrap="square" anchor="t" lIns="45720" rIns="45720">
            <a:spAutoFit/>
          </a:bodyPr>
          <a:lstStyle/>
          <a:p>
            <a:pPr algn="l">
              <a:spcAft>
                <a:spcPts val="600"/>
              </a:spcAft>
            </a:pPr>
            <a:r>
              <a:rPr sz="2200" b="1" i="0">
                <a:solidFill>
                  <a:srgbClr val="2A78D6"/>
                </a:solidFill>
                <a:latin typeface="Cambria"/>
              </a:rPr>
              <a:t>Go-live</a:t>
            </a:r>
          </a:p>
        </p:txBody>
      </p:sp>
      <p:sp>
        <p:nvSpPr>
          <p:cNvPr id="15" name="TextBox 14"/>
          <p:cNvSpPr txBox="1"/>
          <p:nvPr/>
        </p:nvSpPr>
        <p:spPr>
          <a:xfrm>
            <a:off x="822959" y="4572000"/>
            <a:ext cx="3017520" cy="123444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Saat sistem baru mulai dipakai sungguhan</a:t>
            </a:r>
          </a:p>
        </p:txBody>
      </p:sp>
      <p:sp>
        <p:nvSpPr>
          <p:cNvPr id="16" name="Rounded Rectangle 15"/>
          <p:cNvSpPr/>
          <p:nvPr/>
        </p:nvSpPr>
        <p:spPr>
          <a:xfrm>
            <a:off x="4297679" y="3749039"/>
            <a:ext cx="3566160" cy="21488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1999" y="3977639"/>
            <a:ext cx="3017520" cy="502920"/>
          </a:xfrm>
          <a:prstGeom prst="rect">
            <a:avLst/>
          </a:prstGeom>
          <a:noFill/>
        </p:spPr>
        <p:txBody>
          <a:bodyPr wrap="square" anchor="t" lIns="45720" rIns="45720">
            <a:spAutoFit/>
          </a:bodyPr>
          <a:lstStyle/>
          <a:p>
            <a:pPr algn="l">
              <a:spcAft>
                <a:spcPts val="600"/>
              </a:spcAft>
            </a:pPr>
            <a:r>
              <a:rPr sz="2200" b="1" i="0">
                <a:solidFill>
                  <a:srgbClr val="2A78D6"/>
                </a:solidFill>
                <a:latin typeface="Cambria"/>
              </a:rPr>
              <a:t>Waterfall</a:t>
            </a:r>
          </a:p>
        </p:txBody>
      </p:sp>
      <p:sp>
        <p:nvSpPr>
          <p:cNvPr id="18" name="TextBox 17"/>
          <p:cNvSpPr txBox="1"/>
          <p:nvPr/>
        </p:nvSpPr>
        <p:spPr>
          <a:xfrm>
            <a:off x="4571999" y="4572000"/>
            <a:ext cx="3017520" cy="123444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Dikerjakan berurutan: rencana lengkap, bangun, uji, lalu diluncurkan sekaligus</a:t>
            </a:r>
          </a:p>
        </p:txBody>
      </p:sp>
      <p:sp>
        <p:nvSpPr>
          <p:cNvPr id="19" name="Rounded Rectangle 18"/>
          <p:cNvSpPr/>
          <p:nvPr/>
        </p:nvSpPr>
        <p:spPr>
          <a:xfrm>
            <a:off x="8046719" y="3749039"/>
            <a:ext cx="3566160" cy="21488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3977639"/>
            <a:ext cx="3017520" cy="502920"/>
          </a:xfrm>
          <a:prstGeom prst="rect">
            <a:avLst/>
          </a:prstGeom>
          <a:noFill/>
        </p:spPr>
        <p:txBody>
          <a:bodyPr wrap="square" anchor="t" lIns="45720" rIns="45720">
            <a:spAutoFit/>
          </a:bodyPr>
          <a:lstStyle/>
          <a:p>
            <a:pPr algn="l">
              <a:spcAft>
                <a:spcPts val="600"/>
              </a:spcAft>
            </a:pPr>
            <a:r>
              <a:rPr sz="2200" b="1" i="0">
                <a:solidFill>
                  <a:srgbClr val="2A78D6"/>
                </a:solidFill>
                <a:latin typeface="Cambria"/>
              </a:rPr>
              <a:t>Agile</a:t>
            </a:r>
          </a:p>
        </p:txBody>
      </p:sp>
      <p:sp>
        <p:nvSpPr>
          <p:cNvPr id="21" name="TextBox 20"/>
          <p:cNvSpPr txBox="1"/>
          <p:nvPr/>
        </p:nvSpPr>
        <p:spPr>
          <a:xfrm>
            <a:off x="8321040" y="4572000"/>
            <a:ext cx="3017520" cy="123444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Dikerjakan dalam putaran pendek (1–4 minggu); tiap putaran langsung dicoba pengguna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Lima kelompok kegiatan dan angka pembanding</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4</a:t>
            </a:r>
          </a:p>
        </p:txBody>
      </p:sp>
      <p:sp>
        <p:nvSpPr>
          <p:cNvPr id="4" name="Rounded Rectangle 3"/>
          <p:cNvSpPr/>
          <p:nvPr/>
        </p:nvSpPr>
        <p:spPr>
          <a:xfrm>
            <a:off x="548640" y="1325880"/>
            <a:ext cx="2057400" cy="23317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46304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731520" y="1920240"/>
            <a:ext cx="1783080" cy="731520"/>
          </a:xfrm>
          <a:prstGeom prst="rect">
            <a:avLst/>
          </a:prstGeom>
          <a:noFill/>
        </p:spPr>
        <p:txBody>
          <a:bodyPr wrap="square" anchor="t" lIns="45720" rIns="45720">
            <a:spAutoFit/>
          </a:bodyPr>
          <a:lstStyle/>
          <a:p>
            <a:pPr algn="l">
              <a:spcAft>
                <a:spcPts val="0"/>
              </a:spcAft>
            </a:pPr>
            <a:r>
              <a:rPr sz="1500" b="1" i="0">
                <a:solidFill>
                  <a:srgbClr val="1B2A4A"/>
                </a:solidFill>
                <a:latin typeface="Calibri"/>
              </a:rPr>
              <a:t>Initiating</a:t>
            </a:r>
          </a:p>
          <a:p>
            <a:pPr algn="l">
              <a:spcAft>
                <a:spcPts val="0"/>
              </a:spcAft>
            </a:pPr>
            <a:r>
              <a:rPr sz="1400" b="0" i="1">
                <a:solidFill>
                  <a:srgbClr val="2A78D6"/>
                </a:solidFill>
                <a:latin typeface="Calibri"/>
              </a:rPr>
              <a:t>memulai</a:t>
            </a:r>
          </a:p>
        </p:txBody>
      </p:sp>
      <p:sp>
        <p:nvSpPr>
          <p:cNvPr id="7" name="TextBox 6"/>
          <p:cNvSpPr txBox="1"/>
          <p:nvPr/>
        </p:nvSpPr>
        <p:spPr>
          <a:xfrm>
            <a:off x="731520" y="2743200"/>
            <a:ext cx="1783080" cy="868680"/>
          </a:xfrm>
          <a:prstGeom prst="rect">
            <a:avLst/>
          </a:prstGeom>
          <a:noFill/>
        </p:spPr>
        <p:txBody>
          <a:bodyPr wrap="square" anchor="t" lIns="45720" rIns="45720">
            <a:spAutoFit/>
          </a:bodyPr>
          <a:lstStyle/>
          <a:p>
            <a:pPr algn="l">
              <a:spcAft>
                <a:spcPts val="0"/>
              </a:spcAft>
            </a:pPr>
            <a:r>
              <a:rPr sz="1300" b="0" i="0">
                <a:solidFill>
                  <a:srgbClr val="52514E"/>
                </a:solidFill>
                <a:latin typeface="Calibri"/>
              </a:rPr>
              <a:t>Memutuskan proyek dikerjakan dan tujuannya</a:t>
            </a:r>
          </a:p>
        </p:txBody>
      </p:sp>
      <p:sp>
        <p:nvSpPr>
          <p:cNvPr id="8" name="Rounded Rectangle 7"/>
          <p:cNvSpPr/>
          <p:nvPr/>
        </p:nvSpPr>
        <p:spPr>
          <a:xfrm>
            <a:off x="2788920" y="1325880"/>
            <a:ext cx="2057400" cy="23317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971800" y="146304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2971800" y="1920240"/>
            <a:ext cx="1783080" cy="731520"/>
          </a:xfrm>
          <a:prstGeom prst="rect">
            <a:avLst/>
          </a:prstGeom>
          <a:noFill/>
        </p:spPr>
        <p:txBody>
          <a:bodyPr wrap="square" anchor="t" lIns="45720" rIns="45720">
            <a:spAutoFit/>
          </a:bodyPr>
          <a:lstStyle/>
          <a:p>
            <a:pPr algn="l">
              <a:spcAft>
                <a:spcPts val="0"/>
              </a:spcAft>
            </a:pPr>
            <a:r>
              <a:rPr sz="1500" b="1" i="0">
                <a:solidFill>
                  <a:srgbClr val="1B2A4A"/>
                </a:solidFill>
                <a:latin typeface="Calibri"/>
              </a:rPr>
              <a:t>Planning</a:t>
            </a:r>
          </a:p>
          <a:p>
            <a:pPr algn="l">
              <a:spcAft>
                <a:spcPts val="0"/>
              </a:spcAft>
            </a:pPr>
            <a:r>
              <a:rPr sz="1400" b="0" i="1">
                <a:solidFill>
                  <a:srgbClr val="2A78D6"/>
                </a:solidFill>
                <a:latin typeface="Calibri"/>
              </a:rPr>
              <a:t>merencanakan</a:t>
            </a:r>
          </a:p>
        </p:txBody>
      </p:sp>
      <p:sp>
        <p:nvSpPr>
          <p:cNvPr id="11" name="TextBox 10"/>
          <p:cNvSpPr txBox="1"/>
          <p:nvPr/>
        </p:nvSpPr>
        <p:spPr>
          <a:xfrm>
            <a:off x="2971800" y="2743200"/>
            <a:ext cx="1783080" cy="868680"/>
          </a:xfrm>
          <a:prstGeom prst="rect">
            <a:avLst/>
          </a:prstGeom>
          <a:noFill/>
        </p:spPr>
        <p:txBody>
          <a:bodyPr wrap="square" anchor="t" lIns="45720" rIns="45720">
            <a:spAutoFit/>
          </a:bodyPr>
          <a:lstStyle/>
          <a:p>
            <a:pPr algn="l">
              <a:spcAft>
                <a:spcPts val="0"/>
              </a:spcAft>
            </a:pPr>
            <a:r>
              <a:rPr sz="1300" b="0" i="0">
                <a:solidFill>
                  <a:srgbClr val="52514E"/>
                </a:solidFill>
                <a:latin typeface="Calibri"/>
              </a:rPr>
              <a:t>Apa, kapan, berapa biaya, apa risikonya</a:t>
            </a:r>
          </a:p>
        </p:txBody>
      </p:sp>
      <p:sp>
        <p:nvSpPr>
          <p:cNvPr id="12" name="Rounded Rectangle 11"/>
          <p:cNvSpPr/>
          <p:nvPr/>
        </p:nvSpPr>
        <p:spPr>
          <a:xfrm>
            <a:off x="5029200" y="1325880"/>
            <a:ext cx="2057400" cy="23317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212080" y="146304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4" name="TextBox 13"/>
          <p:cNvSpPr txBox="1"/>
          <p:nvPr/>
        </p:nvSpPr>
        <p:spPr>
          <a:xfrm>
            <a:off x="5212080" y="1920240"/>
            <a:ext cx="1783080" cy="731520"/>
          </a:xfrm>
          <a:prstGeom prst="rect">
            <a:avLst/>
          </a:prstGeom>
          <a:noFill/>
        </p:spPr>
        <p:txBody>
          <a:bodyPr wrap="square" anchor="t" lIns="45720" rIns="45720">
            <a:spAutoFit/>
          </a:bodyPr>
          <a:lstStyle/>
          <a:p>
            <a:pPr algn="l">
              <a:spcAft>
                <a:spcPts val="0"/>
              </a:spcAft>
            </a:pPr>
            <a:r>
              <a:rPr sz="1500" b="1" i="0">
                <a:solidFill>
                  <a:srgbClr val="1B2A4A"/>
                </a:solidFill>
                <a:latin typeface="Calibri"/>
              </a:rPr>
              <a:t>Executing</a:t>
            </a:r>
          </a:p>
          <a:p>
            <a:pPr algn="l">
              <a:spcAft>
                <a:spcPts val="0"/>
              </a:spcAft>
            </a:pPr>
            <a:r>
              <a:rPr sz="1400" b="0" i="1">
                <a:solidFill>
                  <a:srgbClr val="2A78D6"/>
                </a:solidFill>
                <a:latin typeface="Calibri"/>
              </a:rPr>
              <a:t>mengerjakan</a:t>
            </a:r>
          </a:p>
        </p:txBody>
      </p:sp>
      <p:sp>
        <p:nvSpPr>
          <p:cNvPr id="15" name="TextBox 14"/>
          <p:cNvSpPr txBox="1"/>
          <p:nvPr/>
        </p:nvSpPr>
        <p:spPr>
          <a:xfrm>
            <a:off x="5212080" y="2743200"/>
            <a:ext cx="1783080" cy="868680"/>
          </a:xfrm>
          <a:prstGeom prst="rect">
            <a:avLst/>
          </a:prstGeom>
          <a:noFill/>
        </p:spPr>
        <p:txBody>
          <a:bodyPr wrap="square" anchor="t" lIns="45720" rIns="45720">
            <a:spAutoFit/>
          </a:bodyPr>
          <a:lstStyle/>
          <a:p>
            <a:pPr algn="l">
              <a:spcAft>
                <a:spcPts val="0"/>
              </a:spcAft>
            </a:pPr>
            <a:r>
              <a:rPr sz="1300" b="0" i="0">
                <a:solidFill>
                  <a:srgbClr val="52514E"/>
                </a:solidFill>
                <a:latin typeface="Calibri"/>
              </a:rPr>
              <a:t>Membangun sistem sesuai rencana</a:t>
            </a:r>
          </a:p>
        </p:txBody>
      </p:sp>
      <p:sp>
        <p:nvSpPr>
          <p:cNvPr id="16" name="Rounded Rectangle 15"/>
          <p:cNvSpPr/>
          <p:nvPr/>
        </p:nvSpPr>
        <p:spPr>
          <a:xfrm>
            <a:off x="7269480" y="1325880"/>
            <a:ext cx="2057400" cy="23317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146304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8" name="TextBox 17"/>
          <p:cNvSpPr txBox="1"/>
          <p:nvPr/>
        </p:nvSpPr>
        <p:spPr>
          <a:xfrm>
            <a:off x="7452360" y="1920240"/>
            <a:ext cx="1783080" cy="731520"/>
          </a:xfrm>
          <a:prstGeom prst="rect">
            <a:avLst/>
          </a:prstGeom>
          <a:noFill/>
        </p:spPr>
        <p:txBody>
          <a:bodyPr wrap="square" anchor="t" lIns="45720" rIns="45720">
            <a:spAutoFit/>
          </a:bodyPr>
          <a:lstStyle/>
          <a:p>
            <a:pPr algn="l">
              <a:spcAft>
                <a:spcPts val="0"/>
              </a:spcAft>
            </a:pPr>
            <a:r>
              <a:rPr sz="1500" b="1" i="0">
                <a:solidFill>
                  <a:srgbClr val="1B2A4A"/>
                </a:solidFill>
                <a:latin typeface="Calibri"/>
              </a:rPr>
              <a:t>Monitoring &amp;
Controlling</a:t>
            </a:r>
          </a:p>
          <a:p>
            <a:pPr algn="l">
              <a:spcAft>
                <a:spcPts val="0"/>
              </a:spcAft>
            </a:pPr>
            <a:r>
              <a:rPr sz="1400" b="0" i="1">
                <a:solidFill>
                  <a:srgbClr val="2A78D6"/>
                </a:solidFill>
                <a:latin typeface="Calibri"/>
              </a:rPr>
              <a:t>memeriksa</a:t>
            </a:r>
          </a:p>
        </p:txBody>
      </p:sp>
      <p:sp>
        <p:nvSpPr>
          <p:cNvPr id="19" name="TextBox 18"/>
          <p:cNvSpPr txBox="1"/>
          <p:nvPr/>
        </p:nvSpPr>
        <p:spPr>
          <a:xfrm>
            <a:off x="7452360" y="2743200"/>
            <a:ext cx="1783080" cy="868680"/>
          </a:xfrm>
          <a:prstGeom prst="rect">
            <a:avLst/>
          </a:prstGeom>
          <a:noFill/>
        </p:spPr>
        <p:txBody>
          <a:bodyPr wrap="square" anchor="t" lIns="45720" rIns="45720">
            <a:spAutoFit/>
          </a:bodyPr>
          <a:lstStyle/>
          <a:p>
            <a:pPr algn="l">
              <a:spcAft>
                <a:spcPts val="0"/>
              </a:spcAft>
            </a:pPr>
            <a:r>
              <a:rPr sz="1300" b="0" i="0">
                <a:solidFill>
                  <a:srgbClr val="52514E"/>
                </a:solidFill>
                <a:latin typeface="Calibri"/>
              </a:rPr>
              <a:t>Memeriksa, menguji, memperbaiki penyimpangan</a:t>
            </a:r>
          </a:p>
        </p:txBody>
      </p:sp>
      <p:sp>
        <p:nvSpPr>
          <p:cNvPr id="20" name="Rounded Rectangle 19"/>
          <p:cNvSpPr/>
          <p:nvPr/>
        </p:nvSpPr>
        <p:spPr>
          <a:xfrm>
            <a:off x="9509760" y="1325880"/>
            <a:ext cx="2057400" cy="23317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0" y="146304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2" name="TextBox 21"/>
          <p:cNvSpPr txBox="1"/>
          <p:nvPr/>
        </p:nvSpPr>
        <p:spPr>
          <a:xfrm>
            <a:off x="9692640" y="1920240"/>
            <a:ext cx="1783080" cy="731520"/>
          </a:xfrm>
          <a:prstGeom prst="rect">
            <a:avLst/>
          </a:prstGeom>
          <a:noFill/>
        </p:spPr>
        <p:txBody>
          <a:bodyPr wrap="square" anchor="t" lIns="45720" rIns="45720">
            <a:spAutoFit/>
          </a:bodyPr>
          <a:lstStyle/>
          <a:p>
            <a:pPr algn="l">
              <a:spcAft>
                <a:spcPts val="0"/>
              </a:spcAft>
            </a:pPr>
            <a:r>
              <a:rPr sz="1500" b="1" i="0">
                <a:solidFill>
                  <a:srgbClr val="1B2A4A"/>
                </a:solidFill>
                <a:latin typeface="Calibri"/>
              </a:rPr>
              <a:t>Closing</a:t>
            </a:r>
          </a:p>
          <a:p>
            <a:pPr algn="l">
              <a:spcAft>
                <a:spcPts val="0"/>
              </a:spcAft>
            </a:pPr>
            <a:r>
              <a:rPr sz="1400" b="0" i="1">
                <a:solidFill>
                  <a:srgbClr val="2A78D6"/>
                </a:solidFill>
                <a:latin typeface="Calibri"/>
              </a:rPr>
              <a:t>menutup</a:t>
            </a:r>
          </a:p>
        </p:txBody>
      </p:sp>
      <p:sp>
        <p:nvSpPr>
          <p:cNvPr id="23" name="TextBox 22"/>
          <p:cNvSpPr txBox="1"/>
          <p:nvPr/>
        </p:nvSpPr>
        <p:spPr>
          <a:xfrm>
            <a:off x="9692640" y="2743200"/>
            <a:ext cx="1783080" cy="868680"/>
          </a:xfrm>
          <a:prstGeom prst="rect">
            <a:avLst/>
          </a:prstGeom>
          <a:noFill/>
        </p:spPr>
        <p:txBody>
          <a:bodyPr wrap="square" anchor="t" lIns="45720" rIns="45720">
            <a:spAutoFit/>
          </a:bodyPr>
          <a:lstStyle/>
          <a:p>
            <a:pPr algn="l">
              <a:spcAft>
                <a:spcPts val="0"/>
              </a:spcAft>
            </a:pPr>
            <a:r>
              <a:rPr sz="1300" b="0" i="0">
                <a:solidFill>
                  <a:srgbClr val="52514E"/>
                </a:solidFill>
                <a:latin typeface="Calibri"/>
              </a:rPr>
              <a:t>Menyerahkan hasil, mengevaluasi</a:t>
            </a:r>
          </a:p>
        </p:txBody>
      </p:sp>
      <p:sp>
        <p:nvSpPr>
          <p:cNvPr id="24" name="TextBox 23"/>
          <p:cNvSpPr txBox="1"/>
          <p:nvPr/>
        </p:nvSpPr>
        <p:spPr>
          <a:xfrm>
            <a:off x="548640" y="3749039"/>
            <a:ext cx="11064240" cy="411480"/>
          </a:xfrm>
          <a:prstGeom prst="rect">
            <a:avLst/>
          </a:prstGeom>
          <a:noFill/>
        </p:spPr>
        <p:txBody>
          <a:bodyPr wrap="square" anchor="t" lIns="45720" rIns="45720">
            <a:spAutoFit/>
          </a:bodyPr>
          <a:lstStyle/>
          <a:p>
            <a:pPr algn="l">
              <a:spcAft>
                <a:spcPts val="600"/>
              </a:spcAft>
            </a:pPr>
            <a:r>
              <a:rPr sz="1500" b="0" i="1">
                <a:solidFill>
                  <a:srgbClr val="52514E"/>
                </a:solidFill>
                <a:latin typeface="Calibri"/>
              </a:rPr>
              <a:t>Kelimanya berjalan bersamaan sepanjang proyek, bukan bergiliran; kegiatan memeriksa berlangsung dari awal sampai akhir.</a:t>
            </a:r>
          </a:p>
        </p:txBody>
      </p:sp>
      <p:graphicFrame>
        <p:nvGraphicFramePr>
          <p:cNvPr id="25" name="Table 24"/>
          <p:cNvGraphicFramePr>
            <a:graphicFrameLocks noGrp="1"/>
          </p:cNvGraphicFramePr>
          <p:nvPr/>
        </p:nvGraphicFramePr>
        <p:xfrm>
          <a:off x="548640" y="4297680"/>
          <a:ext cx="7863840" cy="1371600"/>
        </p:xfrm>
        <a:graphic>
          <a:graphicData uri="http://schemas.openxmlformats.org/drawingml/2006/table">
            <a:tbl>
              <a:tblPr firstRow="1" bandRow="1">
                <a:tableStyleId>{5C22544A-7EE6-4342-B048-85BDC9FD1C3A}</a:tableStyleId>
              </a:tblPr>
              <a:tblGrid>
                <a:gridCol w="3017520"/>
                <a:gridCol w="969264"/>
                <a:gridCol w="969264"/>
                <a:gridCol w="969264"/>
                <a:gridCol w="969264"/>
                <a:gridCol w="969264"/>
              </a:tblGrid>
              <a:tr h="457200">
                <a:tc>
                  <a:txBody>
                    <a:bodyPr/>
                    <a:lstStyle/>
                    <a:p>
                      <a:pPr algn="l"/>
                      <a:r>
                        <a:rPr sz="1400" b="1">
                          <a:solidFill>
                            <a:srgbClr val="FFFFFF"/>
                          </a:solidFill>
                          <a:latin typeface="Calibri"/>
                        </a:rPr>
                        <a:t>Porsi waktu manajer proyek</a:t>
                      </a:r>
                    </a:p>
                  </a:txBody>
                  <a:tcPr>
                    <a:solidFill>
                      <a:srgbClr val="1B2A4A"/>
                    </a:solidFill>
                  </a:tcPr>
                </a:tc>
                <a:tc>
                  <a:txBody>
                    <a:bodyPr/>
                    <a:lstStyle/>
                    <a:p>
                      <a:pPr algn="ctr"/>
                      <a:r>
                        <a:rPr sz="1400" b="1">
                          <a:solidFill>
                            <a:srgbClr val="FFFFFF"/>
                          </a:solidFill>
                          <a:latin typeface="Calibri"/>
                        </a:rPr>
                        <a:t>Mulai</a:t>
                      </a:r>
                    </a:p>
                  </a:txBody>
                  <a:tcPr>
                    <a:solidFill>
                      <a:srgbClr val="1B2A4A"/>
                    </a:solidFill>
                  </a:tcPr>
                </a:tc>
                <a:tc>
                  <a:txBody>
                    <a:bodyPr/>
                    <a:lstStyle/>
                    <a:p>
                      <a:pPr algn="ctr"/>
                      <a:r>
                        <a:rPr sz="1400" b="1">
                          <a:solidFill>
                            <a:srgbClr val="FFFFFF"/>
                          </a:solidFill>
                          <a:latin typeface="Calibri"/>
                        </a:rPr>
                        <a:t>Rencana</a:t>
                      </a:r>
                    </a:p>
                  </a:txBody>
                  <a:tcPr>
                    <a:solidFill>
                      <a:srgbClr val="1B2A4A"/>
                    </a:solidFill>
                  </a:tcPr>
                </a:tc>
                <a:tc>
                  <a:txBody>
                    <a:bodyPr/>
                    <a:lstStyle/>
                    <a:p>
                      <a:pPr algn="ctr"/>
                      <a:r>
                        <a:rPr sz="1400" b="1">
                          <a:solidFill>
                            <a:srgbClr val="FFFFFF"/>
                          </a:solidFill>
                          <a:latin typeface="Calibri"/>
                        </a:rPr>
                        <a:t>Kerja</a:t>
                      </a:r>
                    </a:p>
                  </a:txBody>
                  <a:tcPr>
                    <a:solidFill>
                      <a:srgbClr val="1B2A4A"/>
                    </a:solidFill>
                  </a:tcPr>
                </a:tc>
                <a:tc>
                  <a:txBody>
                    <a:bodyPr/>
                    <a:lstStyle/>
                    <a:p>
                      <a:pPr algn="ctr"/>
                      <a:r>
                        <a:rPr sz="1400" b="1">
                          <a:solidFill>
                            <a:srgbClr val="FFFFFF"/>
                          </a:solidFill>
                          <a:latin typeface="Calibri"/>
                        </a:rPr>
                        <a:t>Periksa</a:t>
                      </a:r>
                    </a:p>
                  </a:txBody>
                  <a:tcPr>
                    <a:solidFill>
                      <a:srgbClr val="1B2A4A"/>
                    </a:solidFill>
                  </a:tcPr>
                </a:tc>
                <a:tc>
                  <a:txBody>
                    <a:bodyPr/>
                    <a:lstStyle/>
                    <a:p>
                      <a:pPr algn="ctr"/>
                      <a:r>
                        <a:rPr sz="1400" b="1">
                          <a:solidFill>
                            <a:srgbClr val="FFFFFF"/>
                          </a:solidFill>
                          <a:latin typeface="Calibri"/>
                        </a:rPr>
                        <a:t>Tutup</a:t>
                      </a:r>
                    </a:p>
                  </a:txBody>
                  <a:tcPr>
                    <a:solidFill>
                      <a:srgbClr val="1B2A4A"/>
                    </a:solidFill>
                  </a:tcPr>
                </a:tc>
              </a:tr>
              <a:tr h="457200">
                <a:tc>
                  <a:txBody>
                    <a:bodyPr/>
                    <a:lstStyle/>
                    <a:p>
                      <a:pPr algn="l"/>
                      <a:r>
                        <a:rPr sz="1400" b="0">
                          <a:solidFill>
                            <a:srgbClr val="1F1F1F"/>
                          </a:solidFill>
                          <a:latin typeface="Calibri"/>
                        </a:rPr>
                        <a:t>Manajer proyek terbaik (Alpha)</a:t>
                      </a:r>
                    </a:p>
                  </a:txBody>
                  <a:tcPr>
                    <a:solidFill>
                      <a:srgbClr val="EAF2FC"/>
                    </a:solidFill>
                  </a:tcPr>
                </a:tc>
                <a:tc>
                  <a:txBody>
                    <a:bodyPr/>
                    <a:lstStyle/>
                    <a:p>
                      <a:pPr algn="ctr"/>
                      <a:r>
                        <a:rPr sz="1400" b="0">
                          <a:solidFill>
                            <a:srgbClr val="1F1F1F"/>
                          </a:solidFill>
                          <a:latin typeface="Calibri"/>
                        </a:rPr>
                        <a:t>2%</a:t>
                      </a:r>
                    </a:p>
                  </a:txBody>
                  <a:tcPr>
                    <a:solidFill>
                      <a:srgbClr val="EAF2FC"/>
                    </a:solidFill>
                  </a:tcPr>
                </a:tc>
                <a:tc>
                  <a:txBody>
                    <a:bodyPr/>
                    <a:lstStyle/>
                    <a:p>
                      <a:pPr algn="ctr"/>
                      <a:r>
                        <a:rPr sz="1400" b="1">
                          <a:solidFill>
                            <a:srgbClr val="1F1F1F"/>
                          </a:solidFill>
                          <a:latin typeface="Calibri"/>
                        </a:rPr>
                        <a:t>21%</a:t>
                      </a:r>
                    </a:p>
                  </a:txBody>
                  <a:tcPr>
                    <a:solidFill>
                      <a:srgbClr val="EAF2FC"/>
                    </a:solidFill>
                  </a:tcPr>
                </a:tc>
                <a:tc>
                  <a:txBody>
                    <a:bodyPr/>
                    <a:lstStyle/>
                    <a:p>
                      <a:pPr algn="ctr"/>
                      <a:r>
                        <a:rPr sz="1400" b="0">
                          <a:solidFill>
                            <a:srgbClr val="1F1F1F"/>
                          </a:solidFill>
                          <a:latin typeface="Calibri"/>
                        </a:rPr>
                        <a:t>69%</a:t>
                      </a:r>
                    </a:p>
                  </a:txBody>
                  <a:tcPr>
                    <a:solidFill>
                      <a:srgbClr val="EAF2FC"/>
                    </a:solidFill>
                  </a:tcPr>
                </a:tc>
                <a:tc>
                  <a:txBody>
                    <a:bodyPr/>
                    <a:lstStyle/>
                    <a:p>
                      <a:pPr algn="ctr"/>
                      <a:r>
                        <a:rPr sz="1400" b="0">
                          <a:solidFill>
                            <a:srgbClr val="1F1F1F"/>
                          </a:solidFill>
                          <a:latin typeface="Calibri"/>
                        </a:rPr>
                        <a:t>5%</a:t>
                      </a:r>
                    </a:p>
                  </a:txBody>
                  <a:tcPr>
                    <a:solidFill>
                      <a:srgbClr val="EAF2FC"/>
                    </a:solidFill>
                  </a:tcPr>
                </a:tc>
                <a:tc>
                  <a:txBody>
                    <a:bodyPr/>
                    <a:lstStyle/>
                    <a:p>
                      <a:pPr algn="ctr"/>
                      <a:r>
                        <a:rPr sz="1400" b="0">
                          <a:solidFill>
                            <a:srgbClr val="1F1F1F"/>
                          </a:solidFill>
                          <a:latin typeface="Calibri"/>
                        </a:rPr>
                        <a:t>3%</a:t>
                      </a:r>
                    </a:p>
                  </a:txBody>
                  <a:tcPr>
                    <a:solidFill>
                      <a:srgbClr val="EAF2FC"/>
                    </a:solidFill>
                  </a:tcPr>
                </a:tc>
              </a:tr>
              <a:tr h="457200">
                <a:tc>
                  <a:txBody>
                    <a:bodyPr/>
                    <a:lstStyle/>
                    <a:p>
                      <a:pPr algn="l"/>
                      <a:r>
                        <a:rPr sz="1400" b="0">
                          <a:solidFill>
                            <a:srgbClr val="1F1F1F"/>
                          </a:solidFill>
                          <a:latin typeface="Calibri"/>
                        </a:rPr>
                        <a:t>Manajer proyek lain</a:t>
                      </a:r>
                    </a:p>
                  </a:txBody>
                  <a:tcPr>
                    <a:solidFill>
                      <a:srgbClr val="FFFFFF"/>
                    </a:solidFill>
                  </a:tcPr>
                </a:tc>
                <a:tc>
                  <a:txBody>
                    <a:bodyPr/>
                    <a:lstStyle/>
                    <a:p>
                      <a:pPr algn="ctr"/>
                      <a:r>
                        <a:rPr sz="1400" b="0">
                          <a:solidFill>
                            <a:srgbClr val="1F1F1F"/>
                          </a:solidFill>
                          <a:latin typeface="Calibri"/>
                        </a:rPr>
                        <a:t>1%</a:t>
                      </a:r>
                    </a:p>
                  </a:txBody>
                  <a:tcPr>
                    <a:solidFill>
                      <a:srgbClr val="FFFFFF"/>
                    </a:solidFill>
                  </a:tcPr>
                </a:tc>
                <a:tc>
                  <a:txBody>
                    <a:bodyPr/>
                    <a:lstStyle/>
                    <a:p>
                      <a:pPr algn="ctr"/>
                      <a:r>
                        <a:rPr sz="1400" b="1">
                          <a:solidFill>
                            <a:srgbClr val="1F1F1F"/>
                          </a:solidFill>
                          <a:latin typeface="Calibri"/>
                        </a:rPr>
                        <a:t>11%</a:t>
                      </a:r>
                    </a:p>
                  </a:txBody>
                  <a:tcPr>
                    <a:solidFill>
                      <a:srgbClr val="FFFFFF"/>
                    </a:solidFill>
                  </a:tcPr>
                </a:tc>
                <a:tc>
                  <a:txBody>
                    <a:bodyPr/>
                    <a:lstStyle/>
                    <a:p>
                      <a:pPr algn="ctr"/>
                      <a:r>
                        <a:rPr sz="1400" b="0">
                          <a:solidFill>
                            <a:srgbClr val="1F1F1F"/>
                          </a:solidFill>
                          <a:latin typeface="Calibri"/>
                        </a:rPr>
                        <a:t>82%</a:t>
                      </a:r>
                    </a:p>
                  </a:txBody>
                  <a:tcPr>
                    <a:solidFill>
                      <a:srgbClr val="FFFFFF"/>
                    </a:solidFill>
                  </a:tcPr>
                </a:tc>
                <a:tc>
                  <a:txBody>
                    <a:bodyPr/>
                    <a:lstStyle/>
                    <a:p>
                      <a:pPr algn="ctr"/>
                      <a:r>
                        <a:rPr sz="1400" b="0">
                          <a:solidFill>
                            <a:srgbClr val="1F1F1F"/>
                          </a:solidFill>
                          <a:latin typeface="Calibri"/>
                        </a:rPr>
                        <a:t>4%</a:t>
                      </a:r>
                    </a:p>
                  </a:txBody>
                  <a:tcPr>
                    <a:solidFill>
                      <a:srgbClr val="FFFFFF"/>
                    </a:solidFill>
                  </a:tcPr>
                </a:tc>
                <a:tc>
                  <a:txBody>
                    <a:bodyPr/>
                    <a:lstStyle/>
                    <a:p>
                      <a:pPr algn="ctr"/>
                      <a:r>
                        <a:rPr sz="1400" b="0">
                          <a:solidFill>
                            <a:srgbClr val="1F1F1F"/>
                          </a:solidFill>
                          <a:latin typeface="Calibri"/>
                        </a:rPr>
                        <a:t>2%</a:t>
                      </a:r>
                    </a:p>
                  </a:txBody>
                  <a:tcPr>
                    <a:solidFill>
                      <a:srgbClr val="FFFFFF"/>
                    </a:solidFill>
                  </a:tcPr>
                </a:tc>
              </a:tr>
            </a:tbl>
          </a:graphicData>
        </a:graphic>
      </p:graphicFrame>
      <p:sp>
        <p:nvSpPr>
          <p:cNvPr id="26" name="Rounded Rectangle 25"/>
          <p:cNvSpPr/>
          <p:nvPr/>
        </p:nvSpPr>
        <p:spPr>
          <a:xfrm>
            <a:off x="8641080" y="4297680"/>
            <a:ext cx="3017520" cy="1920240"/>
          </a:xfrm>
          <a:prstGeom prst="roundRect">
            <a:avLst>
              <a:gd name="adj" fmla="val 6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0" y="4370832"/>
            <a:ext cx="2743200" cy="1773936"/>
          </a:xfrm>
          <a:prstGeom prst="rect">
            <a:avLst/>
          </a:prstGeom>
          <a:noFill/>
        </p:spPr>
        <p:txBody>
          <a:bodyPr wrap="square" anchor="t" lIns="45720" rIns="45720">
            <a:spAutoFit/>
          </a:bodyPr>
          <a:lstStyle/>
          <a:p>
            <a:pPr algn="l">
              <a:spcAft>
                <a:spcPts val="300"/>
              </a:spcAft>
            </a:pPr>
            <a:r>
              <a:rPr sz="1300" b="1" i="0">
                <a:solidFill>
                  <a:srgbClr val="1B2A4A"/>
                </a:solidFill>
                <a:latin typeface="Calibri"/>
              </a:rPr>
              <a:t>Istilah di slide ini</a:t>
            </a:r>
          </a:p>
          <a:p>
            <a:pPr algn="l">
              <a:spcAft>
                <a:spcPts val="300"/>
              </a:spcAft>
            </a:pPr>
            <a:r>
              <a:rPr sz="1300" b="1" i="0">
                <a:solidFill>
                  <a:srgbClr val="1F1F1F"/>
                </a:solidFill>
                <a:latin typeface="Calibri"/>
              </a:rPr>
              <a:t>Alpha: </a:t>
            </a:r>
            <a:r>
              <a:rPr sz="1300" b="0" i="0">
                <a:solidFill>
                  <a:srgbClr val="1F1F1F"/>
                </a:solidFill>
                <a:latin typeface="Calibri"/>
              </a:rPr>
              <a:t>sekitar 2% manajer proyek terbaik</a:t>
            </a:r>
          </a:p>
          <a:p>
            <a:pPr algn="l">
              <a:spcAft>
                <a:spcPts val="300"/>
              </a:spcAft>
            </a:pPr>
            <a:r>
              <a:rPr sz="1300" b="1" i="0">
                <a:solidFill>
                  <a:srgbClr val="1F1F1F"/>
                </a:solidFill>
                <a:latin typeface="Calibri"/>
              </a:rPr>
              <a:t>Sumber: </a:t>
            </a:r>
            <a:r>
              <a:rPr sz="1300" b="0" i="0">
                <a:solidFill>
                  <a:srgbClr val="1F1F1F"/>
                </a:solidFill>
                <a:latin typeface="Calibri"/>
              </a:rPr>
              <a:t>survei Crowe (2006), slide kuliah; menunjukkan kecenderungan, bukan bukti sebab-akibat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Phoenix Pay dalam angka</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5</a:t>
            </a:r>
          </a:p>
        </p:txBody>
      </p:sp>
      <p:sp>
        <p:nvSpPr>
          <p:cNvPr id="4" name="Rounded Rectangle 3"/>
          <p:cNvSpPr/>
          <p:nvPr/>
        </p:nvSpPr>
        <p:spPr>
          <a:xfrm>
            <a:off x="548640" y="1371600"/>
            <a:ext cx="5440680" cy="201168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4846320" cy="914400"/>
          </a:xfrm>
          <a:prstGeom prst="rect">
            <a:avLst/>
          </a:prstGeom>
          <a:noFill/>
        </p:spPr>
        <p:txBody>
          <a:bodyPr wrap="square" anchor="t" lIns="45720" rIns="45720">
            <a:spAutoFit/>
          </a:bodyPr>
          <a:lstStyle/>
          <a:p>
            <a:pPr algn="l">
              <a:spcAft>
                <a:spcPts val="600"/>
              </a:spcAft>
            </a:pPr>
            <a:r>
              <a:rPr sz="4000" b="1" i="0">
                <a:solidFill>
                  <a:srgbClr val="2A78D6"/>
                </a:solidFill>
                <a:latin typeface="Cambria"/>
              </a:rPr>
              <a:t>290.000</a:t>
            </a:r>
          </a:p>
        </p:txBody>
      </p:sp>
      <p:sp>
        <p:nvSpPr>
          <p:cNvPr id="6" name="TextBox 5"/>
          <p:cNvSpPr txBox="1"/>
          <p:nvPr/>
        </p:nvSpPr>
        <p:spPr>
          <a:xfrm>
            <a:off x="868680" y="2560320"/>
            <a:ext cx="4846320" cy="685800"/>
          </a:xfrm>
          <a:prstGeom prst="rect">
            <a:avLst/>
          </a:prstGeom>
          <a:noFill/>
        </p:spPr>
        <p:txBody>
          <a:bodyPr wrap="square" anchor="t" lIns="45720" rIns="45720">
            <a:spAutoFit/>
          </a:bodyPr>
          <a:lstStyle/>
          <a:p>
            <a:pPr algn="l">
              <a:spcAft>
                <a:spcPts val="600"/>
              </a:spcAft>
            </a:pPr>
            <a:r>
              <a:rPr sz="1700" b="0" i="0">
                <a:solidFill>
                  <a:srgbClr val="1F1F1F"/>
                </a:solidFill>
                <a:latin typeface="Calibri"/>
              </a:rPr>
              <a:t>pegawai di 101 kementerian/lembaga digaji lewat Phoenix</a:t>
            </a:r>
          </a:p>
        </p:txBody>
      </p:sp>
      <p:sp>
        <p:nvSpPr>
          <p:cNvPr id="7" name="Rounded Rectangle 6"/>
          <p:cNvSpPr/>
          <p:nvPr/>
        </p:nvSpPr>
        <p:spPr>
          <a:xfrm>
            <a:off x="6172200" y="1371600"/>
            <a:ext cx="5440680" cy="201168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00200"/>
            <a:ext cx="4846320" cy="914400"/>
          </a:xfrm>
          <a:prstGeom prst="rect">
            <a:avLst/>
          </a:prstGeom>
          <a:noFill/>
        </p:spPr>
        <p:txBody>
          <a:bodyPr wrap="square" anchor="t" lIns="45720" rIns="45720">
            <a:spAutoFit/>
          </a:bodyPr>
          <a:lstStyle/>
          <a:p>
            <a:pPr algn="l">
              <a:spcAft>
                <a:spcPts val="600"/>
              </a:spcAft>
            </a:pPr>
            <a:r>
              <a:rPr sz="4000" b="1" i="0">
                <a:solidFill>
                  <a:srgbClr val="2A78D6"/>
                </a:solidFill>
                <a:latin typeface="Cambria"/>
              </a:rPr>
              <a:t>US$155 jt → 274 jt</a:t>
            </a:r>
          </a:p>
        </p:txBody>
      </p:sp>
      <p:sp>
        <p:nvSpPr>
          <p:cNvPr id="9" name="TextBox 8"/>
          <p:cNvSpPr txBox="1"/>
          <p:nvPr/>
        </p:nvSpPr>
        <p:spPr>
          <a:xfrm>
            <a:off x="6492240" y="2560320"/>
            <a:ext cx="4846320" cy="685800"/>
          </a:xfrm>
          <a:prstGeom prst="rect">
            <a:avLst/>
          </a:prstGeom>
          <a:noFill/>
        </p:spPr>
        <p:txBody>
          <a:bodyPr wrap="square" anchor="t" lIns="45720" rIns="45720">
            <a:spAutoFit/>
          </a:bodyPr>
          <a:lstStyle/>
          <a:p>
            <a:pPr algn="l">
              <a:spcAft>
                <a:spcPts val="600"/>
              </a:spcAft>
            </a:pPr>
            <a:r>
              <a:rPr sz="1700" b="0" i="0">
                <a:solidFill>
                  <a:srgbClr val="1F1F1F"/>
                </a:solidFill>
                <a:latin typeface="Calibri"/>
              </a:rPr>
              <a:t>uang yang disetujui vs biaya yang ternyata dibutuhkan (+77%)</a:t>
            </a:r>
          </a:p>
        </p:txBody>
      </p:sp>
      <p:sp>
        <p:nvSpPr>
          <p:cNvPr id="10" name="Rounded Rectangle 9"/>
          <p:cNvSpPr/>
          <p:nvPr/>
        </p:nvSpPr>
        <p:spPr>
          <a:xfrm>
            <a:off x="548640" y="3611880"/>
            <a:ext cx="5440680" cy="201168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840480"/>
            <a:ext cx="4846320" cy="914400"/>
          </a:xfrm>
          <a:prstGeom prst="rect">
            <a:avLst/>
          </a:prstGeom>
          <a:noFill/>
        </p:spPr>
        <p:txBody>
          <a:bodyPr wrap="square" anchor="t" lIns="45720" rIns="45720">
            <a:spAutoFit/>
          </a:bodyPr>
          <a:lstStyle/>
          <a:p>
            <a:pPr algn="l">
              <a:spcAft>
                <a:spcPts val="600"/>
              </a:spcAft>
            </a:pPr>
            <a:r>
              <a:rPr sz="4000" b="1" i="0">
                <a:solidFill>
                  <a:srgbClr val="D03B3B"/>
                </a:solidFill>
                <a:latin typeface="Cambria"/>
              </a:rPr>
              <a:t>&gt; US$520 jt</a:t>
            </a:r>
          </a:p>
        </p:txBody>
      </p:sp>
      <p:sp>
        <p:nvSpPr>
          <p:cNvPr id="12" name="TextBox 11"/>
          <p:cNvSpPr txBox="1"/>
          <p:nvPr/>
        </p:nvSpPr>
        <p:spPr>
          <a:xfrm>
            <a:off x="868680" y="4800600"/>
            <a:ext cx="4846320" cy="685800"/>
          </a:xfrm>
          <a:prstGeom prst="rect">
            <a:avLst/>
          </a:prstGeom>
          <a:noFill/>
        </p:spPr>
        <p:txBody>
          <a:bodyPr wrap="square" anchor="t" lIns="45720" rIns="45720">
            <a:spAutoFit/>
          </a:bodyPr>
          <a:lstStyle/>
          <a:p>
            <a:pPr algn="l">
              <a:spcAft>
                <a:spcPts val="600"/>
              </a:spcAft>
            </a:pPr>
            <a:r>
              <a:rPr sz="1700" b="0" i="0">
                <a:solidFill>
                  <a:srgbClr val="1F1F1F"/>
                </a:solidFill>
                <a:latin typeface="Calibri"/>
              </a:rPr>
              <a:t>gaji salah atau terlambat dibayar (Juni 2017)</a:t>
            </a:r>
          </a:p>
        </p:txBody>
      </p:sp>
      <p:sp>
        <p:nvSpPr>
          <p:cNvPr id="13" name="Rounded Rectangle 12"/>
          <p:cNvSpPr/>
          <p:nvPr/>
        </p:nvSpPr>
        <p:spPr>
          <a:xfrm>
            <a:off x="6172200" y="3611880"/>
            <a:ext cx="5440680" cy="201168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840480"/>
            <a:ext cx="4846320" cy="914400"/>
          </a:xfrm>
          <a:prstGeom prst="rect">
            <a:avLst/>
          </a:prstGeom>
          <a:noFill/>
        </p:spPr>
        <p:txBody>
          <a:bodyPr wrap="square" anchor="t" lIns="45720" rIns="45720">
            <a:spAutoFit/>
          </a:bodyPr>
          <a:lstStyle/>
          <a:p>
            <a:pPr algn="l">
              <a:spcAft>
                <a:spcPts val="600"/>
              </a:spcAft>
            </a:pPr>
            <a:r>
              <a:rPr sz="4000" b="1" i="0">
                <a:solidFill>
                  <a:srgbClr val="D03B3B"/>
                </a:solidFill>
                <a:latin typeface="Cambria"/>
              </a:rPr>
              <a:t>51%</a:t>
            </a:r>
          </a:p>
        </p:txBody>
      </p:sp>
      <p:sp>
        <p:nvSpPr>
          <p:cNvPr id="15" name="TextBox 14"/>
          <p:cNvSpPr txBox="1"/>
          <p:nvPr/>
        </p:nvSpPr>
        <p:spPr>
          <a:xfrm>
            <a:off x="6492240" y="4800600"/>
            <a:ext cx="4846320" cy="685800"/>
          </a:xfrm>
          <a:prstGeom prst="rect">
            <a:avLst/>
          </a:prstGeom>
          <a:noFill/>
        </p:spPr>
        <p:txBody>
          <a:bodyPr wrap="square" anchor="t" lIns="45720" rIns="45720">
            <a:spAutoFit/>
          </a:bodyPr>
          <a:lstStyle/>
          <a:p>
            <a:pPr algn="l">
              <a:spcAft>
                <a:spcPts val="600"/>
              </a:spcAft>
            </a:pPr>
            <a:r>
              <a:rPr sz="1700" b="0" i="0">
                <a:solidFill>
                  <a:srgbClr val="1F1F1F"/>
                </a:solidFill>
                <a:latin typeface="Calibri"/>
              </a:rPr>
              <a:t>pegawai menerima slip gaji yang salah (April 2017)</a:t>
            </a:r>
          </a:p>
        </p:txBody>
      </p:sp>
      <p:sp>
        <p:nvSpPr>
          <p:cNvPr id="16" name="TextBox 15"/>
          <p:cNvSpPr txBox="1"/>
          <p:nvPr/>
        </p:nvSpPr>
        <p:spPr>
          <a:xfrm>
            <a:off x="548640" y="5943600"/>
            <a:ext cx="11064240" cy="411480"/>
          </a:xfrm>
          <a:prstGeom prst="rect">
            <a:avLst/>
          </a:prstGeom>
          <a:noFill/>
        </p:spPr>
        <p:txBody>
          <a:bodyPr wrap="square" anchor="t" lIns="45720" rIns="45720">
            <a:spAutoFit/>
          </a:bodyPr>
          <a:lstStyle/>
          <a:p>
            <a:pPr algn="l">
              <a:spcAft>
                <a:spcPts val="600"/>
              </a:spcAft>
            </a:pPr>
            <a:r>
              <a:rPr sz="1300" b="0" i="0">
                <a:solidFill>
                  <a:srgbClr val="898781"/>
                </a:solidFill>
                <a:latin typeface="Calibri"/>
              </a:rPr>
              <a:t>Mulai dipakai: 24 Feb 2016 (34 lembaga) dan 21 Apr 2016 (67 lembaga). Pembangun: IBM. Sumber: OAG Kanada (2018).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Lini waktu: pemeriksaan yang dilewati</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6</a:t>
            </a:r>
          </a:p>
        </p:txBody>
      </p:sp>
      <p:pic>
        <p:nvPicPr>
          <p:cNvPr id="4" name="Picture 3" descr="Tugas1_DistribusiEffort_Phoenix_Diagram2_LiniWaktu.png"/>
          <p:cNvPicPr>
            <a:picLocks noChangeAspect="1"/>
          </p:cNvPicPr>
          <p:nvPr/>
        </p:nvPicPr>
        <p:blipFill>
          <a:blip r:embed="rId3"/>
          <a:stretch>
            <a:fillRect/>
          </a:stretch>
        </p:blipFill>
        <p:spPr>
          <a:xfrm>
            <a:off x="457200" y="1234440"/>
            <a:ext cx="8229600" cy="4339244"/>
          </a:xfrm>
          <a:prstGeom prst="rect">
            <a:avLst/>
          </a:prstGeom>
        </p:spPr>
      </p:pic>
      <p:sp>
        <p:nvSpPr>
          <p:cNvPr id="5" name="Rounded Rectangle 4"/>
          <p:cNvSpPr/>
          <p:nvPr/>
        </p:nvSpPr>
        <p:spPr>
          <a:xfrm>
            <a:off x="8915400" y="1325880"/>
            <a:ext cx="2743200" cy="4206240"/>
          </a:xfrm>
          <a:prstGeom prst="roundRect">
            <a:avLst>
              <a:gd name="adj" fmla="val 6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52560" y="1399032"/>
            <a:ext cx="2468880" cy="4059935"/>
          </a:xfrm>
          <a:prstGeom prst="rect">
            <a:avLst/>
          </a:prstGeom>
          <a:noFill/>
        </p:spPr>
        <p:txBody>
          <a:bodyPr wrap="square" anchor="t" lIns="45720" rIns="45720">
            <a:spAutoFit/>
          </a:bodyPr>
          <a:lstStyle/>
          <a:p>
            <a:pPr algn="l">
              <a:spcAft>
                <a:spcPts val="300"/>
              </a:spcAft>
            </a:pPr>
            <a:r>
              <a:rPr sz="1300" b="1" i="0">
                <a:solidFill>
                  <a:srgbClr val="1B2A4A"/>
                </a:solidFill>
                <a:latin typeface="Calibri"/>
              </a:rPr>
              <a:t>Istilah di slide ini</a:t>
            </a:r>
          </a:p>
          <a:p>
            <a:pPr algn="l">
              <a:spcAft>
                <a:spcPts val="300"/>
              </a:spcAft>
            </a:pPr>
            <a:r>
              <a:rPr sz="1300" b="1" i="0">
                <a:solidFill>
                  <a:srgbClr val="1F1F1F"/>
                </a:solidFill>
                <a:latin typeface="Calibri"/>
              </a:rPr>
              <a:t>Pilot: </a:t>
            </a:r>
            <a:r>
              <a:rPr sz="1300" b="0" i="0">
                <a:solidFill>
                  <a:srgbClr val="1F1F1F"/>
                </a:solidFill>
                <a:latin typeface="Calibri"/>
              </a:rPr>
              <a:t>uji coba di satu tempat dulu</a:t>
            </a:r>
          </a:p>
          <a:p>
            <a:pPr algn="l">
              <a:spcAft>
                <a:spcPts val="300"/>
              </a:spcAft>
            </a:pPr>
            <a:r>
              <a:rPr sz="1300" b="1" i="0">
                <a:solidFill>
                  <a:srgbClr val="1F1F1F"/>
                </a:solidFill>
                <a:latin typeface="Calibri"/>
              </a:rPr>
              <a:t>Parallel run: </a:t>
            </a:r>
            <a:r>
              <a:rPr sz="1300" b="0" i="0">
                <a:solidFill>
                  <a:srgbClr val="1F1F1F"/>
                </a:solidFill>
                <a:latin typeface="Calibri"/>
              </a:rPr>
              <a:t>sistem lama dan baru dijalankan bersamaan, hasilnya dibandingkan</a:t>
            </a:r>
          </a:p>
          <a:p>
            <a:pPr algn="l">
              <a:spcAft>
                <a:spcPts val="300"/>
              </a:spcAft>
            </a:pPr>
            <a:r>
              <a:rPr sz="1300" b="1" i="0">
                <a:solidFill>
                  <a:srgbClr val="1F1F1F"/>
                </a:solidFill>
                <a:latin typeface="Calibri"/>
              </a:rPr>
              <a:t>Go-live: </a:t>
            </a:r>
            <a:r>
              <a:rPr sz="1300" b="0" i="0">
                <a:solidFill>
                  <a:srgbClr val="1F1F1F"/>
                </a:solidFill>
                <a:latin typeface="Calibri"/>
              </a:rPr>
              <a:t>mulai dipakai sungguhan</a:t>
            </a:r>
          </a:p>
          <a:p>
            <a:pPr algn="l">
              <a:spcAft>
                <a:spcPts val="300"/>
              </a:spcAft>
            </a:pPr>
            <a:r>
              <a:rPr sz="1300" b="1" i="0">
                <a:solidFill>
                  <a:srgbClr val="1F1F1F"/>
                </a:solidFill>
                <a:latin typeface="Calibri"/>
              </a:rPr>
              <a:t>Phase gate: </a:t>
            </a:r>
            <a:r>
              <a:rPr sz="1300" b="0" i="0">
                <a:solidFill>
                  <a:srgbClr val="1F1F1F"/>
                </a:solidFill>
                <a:latin typeface="Calibri"/>
              </a:rPr>
              <a:t>pemeriksaan sebelum lanjut ke tahap berikutnya</a:t>
            </a:r>
          </a:p>
          <a:p>
            <a:pPr algn="l">
              <a:spcAft>
                <a:spcPts val="300"/>
              </a:spcAft>
            </a:pPr>
            <a:r>
              <a:rPr sz="1300" b="1" i="0">
                <a:solidFill>
                  <a:srgbClr val="1F1F1F"/>
                </a:solidFill>
                <a:latin typeface="Calibri"/>
              </a:rPr>
              <a:t>Gartner: </a:t>
            </a:r>
            <a:r>
              <a:rPr sz="1300" b="0" i="0">
                <a:solidFill>
                  <a:srgbClr val="1F1F1F"/>
                </a:solidFill>
                <a:latin typeface="Calibri"/>
              </a:rPr>
              <a:t>perusahaan konsultan teknologi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Pembagian effort: Phoenix vs angka pembanding</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7</a:t>
            </a:r>
          </a:p>
        </p:txBody>
      </p:sp>
      <p:pic>
        <p:nvPicPr>
          <p:cNvPr id="4" name="Picture 3" descr="Tugas1_DistribusiEffort_Phoenix_Diagram1_Effort.png"/>
          <p:cNvPicPr>
            <a:picLocks noChangeAspect="1"/>
          </p:cNvPicPr>
          <p:nvPr/>
        </p:nvPicPr>
        <p:blipFill>
          <a:blip r:embed="rId3"/>
          <a:stretch>
            <a:fillRect/>
          </a:stretch>
        </p:blipFill>
        <p:spPr>
          <a:xfrm>
            <a:off x="457200" y="1280160"/>
            <a:ext cx="7863840" cy="4403750"/>
          </a:xfrm>
          <a:prstGeom prst="rect">
            <a:avLst/>
          </a:prstGeom>
        </p:spPr>
      </p:pic>
      <p:sp>
        <p:nvSpPr>
          <p:cNvPr id="5" name="Rounded Rectangle 4"/>
          <p:cNvSpPr/>
          <p:nvPr/>
        </p:nvSpPr>
        <p:spPr>
          <a:xfrm>
            <a:off x="8549640" y="1325880"/>
            <a:ext cx="3108960" cy="32461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0" y="1463040"/>
            <a:ext cx="2743200" cy="3017520"/>
          </a:xfrm>
          <a:prstGeom prst="rect">
            <a:avLst/>
          </a:prstGeom>
          <a:noFill/>
        </p:spPr>
        <p:txBody>
          <a:bodyPr wrap="square" anchor="t" lIns="45720" rIns="45720">
            <a:spAutoFit/>
          </a:bodyPr>
          <a:lstStyle/>
          <a:p>
            <a:pPr algn="l">
              <a:spcAft>
                <a:spcPts val="300"/>
              </a:spcAft>
            </a:pPr>
            <a:r>
              <a:rPr sz="1900" b="1" i="0">
                <a:solidFill>
                  <a:srgbClr val="1B2A4A"/>
                </a:solidFill>
                <a:latin typeface="Calibri"/>
              </a:rPr>
              <a:t>Merencanakan ~8%</a:t>
            </a:r>
          </a:p>
          <a:p>
            <a:pPr algn="l">
              <a:spcAft>
                <a:spcPts val="300"/>
              </a:spcAft>
            </a:pPr>
            <a:r>
              <a:rPr sz="1400" b="0" i="0">
                <a:solidFill>
                  <a:srgbClr val="52514E"/>
                </a:solidFill>
                <a:latin typeface="Calibri"/>
              </a:rPr>
              <a:t>lebih kecil dari manajer terbaik (21%) dan manajer lain (11%)</a:t>
            </a:r>
          </a:p>
          <a:p>
            <a:pPr algn="l">
              <a:spcAft>
                <a:spcPts val="300"/>
              </a:spcAft>
            </a:pPr>
            <a:r>
              <a:rPr sz="1900" b="1" i="0">
                <a:solidFill>
                  <a:srgbClr val="1B2A4A"/>
                </a:solidFill>
                <a:latin typeface="Calibri"/>
              </a:rPr>
              <a:t>Mengerjakan ~86%</a:t>
            </a:r>
          </a:p>
          <a:p>
            <a:pPr algn="l">
              <a:spcAft>
                <a:spcPts val="300"/>
              </a:spcAft>
            </a:pPr>
            <a:r>
              <a:rPr sz="1400" b="0" i="0">
                <a:solidFill>
                  <a:srgbClr val="52514E"/>
                </a:solidFill>
                <a:latin typeface="Calibri"/>
              </a:rPr>
              <a:t>paling besar</a:t>
            </a:r>
          </a:p>
          <a:p>
            <a:pPr algn="l">
              <a:spcAft>
                <a:spcPts val="300"/>
              </a:spcAft>
            </a:pPr>
            <a:r>
              <a:rPr sz="1900" b="1" i="0">
                <a:solidFill>
                  <a:srgbClr val="D03B3B"/>
                </a:solidFill>
                <a:latin typeface="Calibri"/>
              </a:rPr>
              <a:t>Memeriksa &amp; menguji ~3%</a:t>
            </a:r>
          </a:p>
          <a:p>
            <a:pPr algn="l">
              <a:spcAft>
                <a:spcPts val="300"/>
              </a:spcAft>
            </a:pPr>
            <a:r>
              <a:rPr sz="1400" b="0" i="0">
                <a:solidFill>
                  <a:srgbClr val="52514E"/>
                </a:solidFill>
                <a:latin typeface="Calibri"/>
              </a:rPr>
              <a:t>dikurangi tepat sebelum dipakai</a:t>
            </a:r>
          </a:p>
        </p:txBody>
      </p:sp>
      <p:sp>
        <p:nvSpPr>
          <p:cNvPr id="7" name="Rounded Rectangle 6"/>
          <p:cNvSpPr/>
          <p:nvPr/>
        </p:nvSpPr>
        <p:spPr>
          <a:xfrm>
            <a:off x="8549640" y="4709160"/>
            <a:ext cx="3108960" cy="1508760"/>
          </a:xfrm>
          <a:prstGeom prst="roundRect">
            <a:avLst>
              <a:gd name="adj" fmla="val 6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4782312"/>
            <a:ext cx="2834640" cy="1362456"/>
          </a:xfrm>
          <a:prstGeom prst="rect">
            <a:avLst/>
          </a:prstGeom>
          <a:noFill/>
        </p:spPr>
        <p:txBody>
          <a:bodyPr wrap="square" anchor="t" lIns="45720" rIns="45720">
            <a:spAutoFit/>
          </a:bodyPr>
          <a:lstStyle/>
          <a:p>
            <a:pPr algn="l">
              <a:spcAft>
                <a:spcPts val="300"/>
              </a:spcAft>
            </a:pPr>
            <a:r>
              <a:rPr sz="1200" b="1" i="0">
                <a:solidFill>
                  <a:srgbClr val="1B2A4A"/>
                </a:solidFill>
                <a:latin typeface="Calibri"/>
              </a:rPr>
              <a:t>Istilah di slide ini</a:t>
            </a:r>
          </a:p>
          <a:p>
            <a:pPr algn="l">
              <a:spcAft>
                <a:spcPts val="300"/>
              </a:spcAft>
            </a:pPr>
            <a:r>
              <a:rPr sz="1200" b="1" i="0">
                <a:solidFill>
                  <a:srgbClr val="1F1F1F"/>
                </a:solidFill>
                <a:latin typeface="Calibri"/>
              </a:rPr>
              <a:t>Estimasi: </a:t>
            </a:r>
            <a:r>
              <a:rPr sz="1200" b="0" i="0">
                <a:solidFill>
                  <a:srgbClr val="1F1F1F"/>
                </a:solidFill>
                <a:latin typeface="Calibri"/>
              </a:rPr>
              <a:t>perkiraan penulis dari laporan pemeriksa, bukan hasil ukur</a:t>
            </a:r>
          </a:p>
          <a:p>
            <a:pPr algn="l">
              <a:spcAft>
                <a:spcPts val="300"/>
              </a:spcAft>
            </a:pPr>
            <a:r>
              <a:rPr sz="1200" b="1" i="0">
                <a:solidFill>
                  <a:srgbClr val="1F1F1F"/>
                </a:solidFill>
                <a:latin typeface="Calibri"/>
              </a:rPr>
              <a:t>M&amp;C: </a:t>
            </a:r>
            <a:r>
              <a:rPr sz="1200" b="0" i="0">
                <a:solidFill>
                  <a:srgbClr val="1F1F1F"/>
                </a:solidFill>
                <a:latin typeface="Calibri"/>
              </a:rPr>
              <a:t>Monitoring &amp; Controlling = memeriksa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Tiga ketidakseimbangan penyebab kegagalan</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8</a:t>
            </a:r>
          </a:p>
        </p:txBody>
      </p:sp>
      <p:sp>
        <p:nvSpPr>
          <p:cNvPr id="4" name="Rounded Rectangle 3"/>
          <p:cNvSpPr/>
          <p:nvPr/>
        </p:nvSpPr>
        <p:spPr>
          <a:xfrm>
            <a:off x="548640" y="1325880"/>
            <a:ext cx="3566160" cy="36576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150876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822959" y="2103120"/>
            <a:ext cx="3017520" cy="868680"/>
          </a:xfrm>
          <a:prstGeom prst="rect">
            <a:avLst/>
          </a:prstGeom>
          <a:noFill/>
        </p:spPr>
        <p:txBody>
          <a:bodyPr wrap="square" anchor="t" lIns="45720" rIns="45720">
            <a:spAutoFit/>
          </a:bodyPr>
          <a:lstStyle/>
          <a:p>
            <a:pPr algn="l">
              <a:spcAft>
                <a:spcPts val="600"/>
              </a:spcAft>
            </a:pPr>
            <a:r>
              <a:rPr sz="1900" b="1" i="0">
                <a:solidFill>
                  <a:srgbClr val="1B2A4A"/>
                </a:solidFill>
                <a:latin typeface="Calibri"/>
              </a:rPr>
              <a:t>Rencana tidak disusun ulang</a:t>
            </a:r>
          </a:p>
        </p:txBody>
      </p:sp>
      <p:sp>
        <p:nvSpPr>
          <p:cNvPr id="7" name="TextBox 6"/>
          <p:cNvSpPr txBox="1"/>
          <p:nvPr/>
        </p:nvSpPr>
        <p:spPr>
          <a:xfrm>
            <a:off x="822959" y="2926080"/>
            <a:ext cx="3017520" cy="777240"/>
          </a:xfrm>
          <a:prstGeom prst="rect">
            <a:avLst/>
          </a:prstGeom>
          <a:noFill/>
        </p:spPr>
        <p:txBody>
          <a:bodyPr wrap="square" anchor="t" lIns="45720" rIns="45720">
            <a:spAutoFit/>
          </a:bodyPr>
          <a:lstStyle/>
          <a:p>
            <a:pPr algn="l">
              <a:spcAft>
                <a:spcPts val="600"/>
              </a:spcAft>
            </a:pPr>
            <a:r>
              <a:rPr sz="3400" b="1" i="0">
                <a:solidFill>
                  <a:srgbClr val="2A78D6"/>
                </a:solidFill>
                <a:latin typeface="Cambria"/>
              </a:rPr>
              <a:t>+77%</a:t>
            </a:r>
          </a:p>
        </p:txBody>
      </p:sp>
      <p:sp>
        <p:nvSpPr>
          <p:cNvPr id="8" name="TextBox 7"/>
          <p:cNvSpPr txBox="1"/>
          <p:nvPr/>
        </p:nvSpPr>
        <p:spPr>
          <a:xfrm>
            <a:off x="822959" y="3749039"/>
            <a:ext cx="3017520" cy="1188720"/>
          </a:xfrm>
          <a:prstGeom prst="rect">
            <a:avLst/>
          </a:prstGeom>
          <a:noFill/>
        </p:spPr>
        <p:txBody>
          <a:bodyPr wrap="square" anchor="t" lIns="45720" rIns="45720">
            <a:spAutoFit/>
          </a:bodyPr>
          <a:lstStyle/>
          <a:p>
            <a:pPr algn="l">
              <a:spcAft>
                <a:spcPts val="600"/>
              </a:spcAft>
            </a:pPr>
            <a:r>
              <a:rPr sz="1500" b="0" i="0">
                <a:solidFill>
                  <a:srgbClr val="1F1F1F"/>
                </a:solidFill>
                <a:latin typeface="Calibri"/>
              </a:rPr>
              <a:t>biaya naik, tetapi yang dilakukan hanya membuang lebih dari 100 fitur</a:t>
            </a:r>
          </a:p>
        </p:txBody>
      </p:sp>
      <p:sp>
        <p:nvSpPr>
          <p:cNvPr id="9" name="Rounded Rectangle 8"/>
          <p:cNvSpPr/>
          <p:nvPr/>
        </p:nvSpPr>
        <p:spPr>
          <a:xfrm>
            <a:off x="4297679" y="1325880"/>
            <a:ext cx="3566160" cy="365760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71999" y="1508760"/>
            <a:ext cx="502920" cy="50292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1" name="TextBox 10"/>
          <p:cNvSpPr txBox="1"/>
          <p:nvPr/>
        </p:nvSpPr>
        <p:spPr>
          <a:xfrm>
            <a:off x="4571999" y="2103120"/>
            <a:ext cx="3017520" cy="868680"/>
          </a:xfrm>
          <a:prstGeom prst="rect">
            <a:avLst/>
          </a:prstGeom>
          <a:noFill/>
        </p:spPr>
        <p:txBody>
          <a:bodyPr wrap="square" anchor="t" lIns="45720" rIns="45720">
            <a:spAutoFit/>
          </a:bodyPr>
          <a:lstStyle/>
          <a:p>
            <a:pPr algn="l">
              <a:spcAft>
                <a:spcPts val="600"/>
              </a:spcAft>
            </a:pPr>
            <a:r>
              <a:rPr sz="1900" b="1" i="0">
                <a:solidFill>
                  <a:srgbClr val="1B2A4A"/>
                </a:solidFill>
                <a:latin typeface="Calibri"/>
              </a:rPr>
              <a:t>Pemeriksaan &amp; pengujian dikurangi</a:t>
            </a:r>
          </a:p>
        </p:txBody>
      </p:sp>
      <p:sp>
        <p:nvSpPr>
          <p:cNvPr id="12" name="TextBox 11"/>
          <p:cNvSpPr txBox="1"/>
          <p:nvPr/>
        </p:nvSpPr>
        <p:spPr>
          <a:xfrm>
            <a:off x="4571999" y="2926080"/>
            <a:ext cx="3017520" cy="777240"/>
          </a:xfrm>
          <a:prstGeom prst="rect">
            <a:avLst/>
          </a:prstGeom>
          <a:noFill/>
        </p:spPr>
        <p:txBody>
          <a:bodyPr wrap="square" anchor="t" lIns="45720" rIns="45720">
            <a:spAutoFit/>
          </a:bodyPr>
          <a:lstStyle/>
          <a:p>
            <a:pPr algn="l">
              <a:spcAft>
                <a:spcPts val="600"/>
              </a:spcAft>
            </a:pPr>
            <a:r>
              <a:rPr sz="3400" b="1" i="0">
                <a:solidFill>
                  <a:srgbClr val="D03B3B"/>
                </a:solidFill>
                <a:latin typeface="Cambria"/>
              </a:rPr>
              <a:t>20%</a:t>
            </a:r>
          </a:p>
        </p:txBody>
      </p:sp>
      <p:sp>
        <p:nvSpPr>
          <p:cNvPr id="13" name="TextBox 12"/>
          <p:cNvSpPr txBox="1"/>
          <p:nvPr/>
        </p:nvSpPr>
        <p:spPr>
          <a:xfrm>
            <a:off x="4571999" y="3749039"/>
            <a:ext cx="3017520" cy="1188720"/>
          </a:xfrm>
          <a:prstGeom prst="rect">
            <a:avLst/>
          </a:prstGeom>
          <a:noFill/>
        </p:spPr>
        <p:txBody>
          <a:bodyPr wrap="square" anchor="t" lIns="45720" rIns="45720">
            <a:spAutoFit/>
          </a:bodyPr>
          <a:lstStyle/>
          <a:p>
            <a:pPr algn="l">
              <a:spcAft>
                <a:spcPts val="600"/>
              </a:spcAft>
            </a:pPr>
            <a:r>
              <a:rPr sz="1500" b="0" i="0">
                <a:solidFill>
                  <a:srgbClr val="1F1F1F"/>
                </a:solidFill>
                <a:latin typeface="Calibri"/>
              </a:rPr>
              <a:t>fitur yang gagal diuji tidak diuji ulang; uji coba dibatalkan</a:t>
            </a:r>
          </a:p>
        </p:txBody>
      </p:sp>
      <p:sp>
        <p:nvSpPr>
          <p:cNvPr id="14" name="Rounded Rectangle 13"/>
          <p:cNvSpPr/>
          <p:nvPr/>
        </p:nvSpPr>
        <p:spPr>
          <a:xfrm>
            <a:off x="8046719" y="1325880"/>
            <a:ext cx="3566160" cy="365760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1508760"/>
            <a:ext cx="502920" cy="50292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6" name="TextBox 15"/>
          <p:cNvSpPr txBox="1"/>
          <p:nvPr/>
        </p:nvSpPr>
        <p:spPr>
          <a:xfrm>
            <a:off x="8321040" y="2103120"/>
            <a:ext cx="3017520" cy="868680"/>
          </a:xfrm>
          <a:prstGeom prst="rect">
            <a:avLst/>
          </a:prstGeom>
          <a:noFill/>
        </p:spPr>
        <p:txBody>
          <a:bodyPr wrap="square" anchor="t" lIns="45720" rIns="45720">
            <a:spAutoFit/>
          </a:bodyPr>
          <a:lstStyle/>
          <a:p>
            <a:pPr algn="l">
              <a:spcAft>
                <a:spcPts val="600"/>
              </a:spcAft>
            </a:pPr>
            <a:r>
              <a:rPr sz="1900" b="1" i="0">
                <a:solidFill>
                  <a:srgbClr val="1B2A4A"/>
                </a:solidFill>
                <a:latin typeface="Calibri"/>
              </a:rPr>
              <a:t>Tak ada pemeriksaan antartahap</a:t>
            </a:r>
          </a:p>
        </p:txBody>
      </p:sp>
      <p:sp>
        <p:nvSpPr>
          <p:cNvPr id="17" name="TextBox 16"/>
          <p:cNvSpPr txBox="1"/>
          <p:nvPr/>
        </p:nvSpPr>
        <p:spPr>
          <a:xfrm>
            <a:off x="8321040" y="2926080"/>
            <a:ext cx="3017520" cy="777240"/>
          </a:xfrm>
          <a:prstGeom prst="rect">
            <a:avLst/>
          </a:prstGeom>
          <a:noFill/>
        </p:spPr>
        <p:txBody>
          <a:bodyPr wrap="square" anchor="t" lIns="45720" rIns="45720">
            <a:spAutoFit/>
          </a:bodyPr>
          <a:lstStyle/>
          <a:p>
            <a:pPr algn="l">
              <a:spcAft>
                <a:spcPts val="600"/>
              </a:spcAft>
            </a:pPr>
            <a:r>
              <a:rPr sz="3400" b="1" i="0">
                <a:solidFill>
                  <a:srgbClr val="D03B3B"/>
                </a:solidFill>
                <a:latin typeface="Cambria"/>
              </a:rPr>
              <a:t>7 → 2 bln</a:t>
            </a:r>
          </a:p>
        </p:txBody>
      </p:sp>
      <p:sp>
        <p:nvSpPr>
          <p:cNvPr id="18" name="TextBox 17"/>
          <p:cNvSpPr txBox="1"/>
          <p:nvPr/>
        </p:nvSpPr>
        <p:spPr>
          <a:xfrm>
            <a:off x="8321040" y="3749039"/>
            <a:ext cx="3017520" cy="1188720"/>
          </a:xfrm>
          <a:prstGeom prst="rect">
            <a:avLst/>
          </a:prstGeom>
          <a:noFill/>
        </p:spPr>
        <p:txBody>
          <a:bodyPr wrap="square" anchor="t" lIns="45720" rIns="45720">
            <a:spAutoFit/>
          </a:bodyPr>
          <a:lstStyle/>
          <a:p>
            <a:pPr algn="l">
              <a:spcAft>
                <a:spcPts val="600"/>
              </a:spcAft>
            </a:pPr>
            <a:r>
              <a:rPr sz="1500" b="0" i="0">
                <a:solidFill>
                  <a:srgbClr val="1F1F1F"/>
                </a:solidFill>
                <a:latin typeface="Calibri"/>
              </a:rPr>
              <a:t>jeda tahap 1 ke tahap 2 dipersingkat; keputusan mulai pakai tidak dicatat</a:t>
            </a:r>
          </a:p>
        </p:txBody>
      </p:sp>
      <p:sp>
        <p:nvSpPr>
          <p:cNvPr id="19" name="Rounded Rectangle 18"/>
          <p:cNvSpPr/>
          <p:nvPr/>
        </p:nvSpPr>
        <p:spPr>
          <a:xfrm>
            <a:off x="548640" y="5166360"/>
            <a:ext cx="11109960" cy="1097280"/>
          </a:xfrm>
          <a:prstGeom prst="roundRect">
            <a:avLst>
              <a:gd name="adj" fmla="val 6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239512"/>
            <a:ext cx="10835640" cy="950976"/>
          </a:xfrm>
          <a:prstGeom prst="rect">
            <a:avLst/>
          </a:prstGeom>
          <a:noFill/>
        </p:spPr>
        <p:txBody>
          <a:bodyPr wrap="square" anchor="t" lIns="45720" rIns="45720">
            <a:spAutoFit/>
          </a:bodyPr>
          <a:lstStyle/>
          <a:p>
            <a:pPr algn="l">
              <a:spcAft>
                <a:spcPts val="300"/>
              </a:spcAft>
            </a:pPr>
            <a:r>
              <a:rPr sz="1300" b="1" i="0">
                <a:solidFill>
                  <a:srgbClr val="1B2A4A"/>
                </a:solidFill>
                <a:latin typeface="Calibri"/>
              </a:rPr>
              <a:t>Istilah di slide ini</a:t>
            </a:r>
          </a:p>
          <a:p>
            <a:pPr algn="l">
              <a:spcAft>
                <a:spcPts val="300"/>
              </a:spcAft>
            </a:pPr>
            <a:r>
              <a:rPr sz="1300" b="1" i="0">
                <a:solidFill>
                  <a:srgbClr val="1F1F1F"/>
                </a:solidFill>
                <a:latin typeface="Calibri"/>
              </a:rPr>
              <a:t>Fitur: </a:t>
            </a:r>
            <a:r>
              <a:rPr sz="1300" b="0" i="0">
                <a:solidFill>
                  <a:srgbClr val="1F1F1F"/>
                </a:solidFill>
                <a:latin typeface="Calibri"/>
              </a:rPr>
              <a:t>kemampuan sistem, misalnya menghitung lembur atau gaji rapel</a:t>
            </a:r>
          </a:p>
          <a:p>
            <a:pPr algn="l">
              <a:spcAft>
                <a:spcPts val="300"/>
              </a:spcAft>
            </a:pPr>
            <a:r>
              <a:rPr sz="1300" b="1" i="0">
                <a:solidFill>
                  <a:srgbClr val="1F1F1F"/>
                </a:solidFill>
                <a:latin typeface="Calibri"/>
              </a:rPr>
              <a:t>Mengapa mutu dikorbankan: </a:t>
            </a:r>
            <a:r>
              <a:rPr sz="1300" b="0" i="0">
                <a:solidFill>
                  <a:srgbClr val="1F1F1F"/>
                </a:solidFill>
                <a:latin typeface="Calibri"/>
              </a:rPr>
              <a:t>tanggal dan uang dikunci, jadi yang dikurangi adalah isi pekerjaan dan pengujian (triple constraint)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Waterfall vs Agile: cara kerja mana yang cocok?</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9</a:t>
            </a:r>
          </a:p>
        </p:txBody>
      </p:sp>
      <p:sp>
        <p:nvSpPr>
          <p:cNvPr id="4" name="Rounded Rectangle 3"/>
          <p:cNvSpPr/>
          <p:nvPr/>
        </p:nvSpPr>
        <p:spPr>
          <a:xfrm>
            <a:off x="548640" y="1325880"/>
            <a:ext cx="3566160"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B2A4A"/>
                </a:solidFill>
                <a:latin typeface="Calibri"/>
              </a:rPr>
              <a:t>Waterfall (berurutan)</a:t>
            </a:r>
          </a:p>
        </p:txBody>
      </p:sp>
      <p:sp>
        <p:nvSpPr>
          <p:cNvPr id="5" name="Rounded Rectangle 4"/>
          <p:cNvSpPr/>
          <p:nvPr/>
        </p:nvSpPr>
        <p:spPr>
          <a:xfrm>
            <a:off x="4297679" y="1325880"/>
            <a:ext cx="3566160" cy="68580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Hybrid (gabungan)</a:t>
            </a:r>
          </a:p>
        </p:txBody>
      </p:sp>
      <p:sp>
        <p:nvSpPr>
          <p:cNvPr id="6" name="Rounded Rectangle 5"/>
          <p:cNvSpPr/>
          <p:nvPr/>
        </p:nvSpPr>
        <p:spPr>
          <a:xfrm>
            <a:off x="8046719" y="1325880"/>
            <a:ext cx="3566160" cy="6858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B2A4A"/>
                </a:solidFill>
                <a:latin typeface="Calibri"/>
              </a:rPr>
              <a:t>Agile (putaran pendek)</a:t>
            </a:r>
          </a:p>
        </p:txBody>
      </p:sp>
      <p:sp>
        <p:nvSpPr>
          <p:cNvPr id="7" name="TextBox 6"/>
          <p:cNvSpPr txBox="1"/>
          <p:nvPr/>
        </p:nvSpPr>
        <p:spPr>
          <a:xfrm>
            <a:off x="4297680" y="2057400"/>
            <a:ext cx="3566160" cy="365760"/>
          </a:xfrm>
          <a:prstGeom prst="rect">
            <a:avLst/>
          </a:prstGeom>
          <a:noFill/>
        </p:spPr>
        <p:txBody>
          <a:bodyPr wrap="square" anchor="t" lIns="45720" rIns="45720">
            <a:spAutoFit/>
          </a:bodyPr>
          <a:lstStyle/>
          <a:p>
            <a:pPr algn="ctr">
              <a:spcAft>
                <a:spcPts val="600"/>
              </a:spcAft>
            </a:pPr>
            <a:r>
              <a:rPr sz="1400" b="1" i="0">
                <a:solidFill>
                  <a:srgbClr val="2A78D6"/>
                </a:solidFill>
                <a:latin typeface="Calibri"/>
              </a:rPr>
              <a:t>▲ cocok untuk Phoenix</a:t>
            </a:r>
          </a:p>
        </p:txBody>
      </p:sp>
      <p:sp>
        <p:nvSpPr>
          <p:cNvPr id="8" name="Rounded Rectangle 7"/>
          <p:cNvSpPr/>
          <p:nvPr/>
        </p:nvSpPr>
        <p:spPr>
          <a:xfrm>
            <a:off x="548640" y="2560320"/>
            <a:ext cx="3566160" cy="246888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697480"/>
            <a:ext cx="3017520" cy="457200"/>
          </a:xfrm>
          <a:prstGeom prst="rect">
            <a:avLst/>
          </a:prstGeom>
          <a:noFill/>
        </p:spPr>
        <p:txBody>
          <a:bodyPr wrap="square" anchor="t" lIns="45720" rIns="45720">
            <a:spAutoFit/>
          </a:bodyPr>
          <a:lstStyle/>
          <a:p>
            <a:pPr algn="l">
              <a:spcAft>
                <a:spcPts val="600"/>
              </a:spcAft>
            </a:pPr>
            <a:r>
              <a:rPr sz="1700" b="1" i="0">
                <a:solidFill>
                  <a:srgbClr val="1B2A4A"/>
                </a:solidFill>
                <a:latin typeface="Calibri"/>
              </a:rPr>
              <a:t>Waterfall: menumpuk</a:t>
            </a:r>
          </a:p>
        </p:txBody>
      </p:sp>
      <p:sp>
        <p:nvSpPr>
          <p:cNvPr id="10" name="TextBox 9"/>
          <p:cNvSpPr txBox="1"/>
          <p:nvPr/>
        </p:nvSpPr>
        <p:spPr>
          <a:xfrm>
            <a:off x="822959" y="3200400"/>
            <a:ext cx="3017520" cy="1783080"/>
          </a:xfrm>
          <a:prstGeom prst="rect">
            <a:avLst/>
          </a:prstGeom>
          <a:noFill/>
        </p:spPr>
        <p:txBody>
          <a:bodyPr wrap="square" anchor="t" lIns="45720" rIns="45720">
            <a:spAutoFit/>
          </a:bodyPr>
          <a:lstStyle/>
          <a:p>
            <a:pPr algn="l">
              <a:spcAft>
                <a:spcPts val="600"/>
              </a:spcAft>
            </a:pPr>
            <a:r>
              <a:rPr sz="1500" b="0" i="0">
                <a:solidFill>
                  <a:srgbClr val="1F1F1F"/>
                </a:solidFill>
                <a:latin typeface="Calibri"/>
              </a:rPr>
              <a:t>Rencana besar di awal</a:t>
            </a:r>
          </a:p>
          <a:p>
            <a:pPr algn="l">
              <a:spcAft>
                <a:spcPts val="600"/>
              </a:spcAft>
            </a:pPr>
            <a:r>
              <a:rPr sz="1500" b="0" i="0">
                <a:solidFill>
                  <a:srgbClr val="1F1F1F"/>
                </a:solidFill>
                <a:latin typeface="Calibri"/>
              </a:rPr>
              <a:t>Pengujian menumpuk di akhir</a:t>
            </a:r>
          </a:p>
          <a:p>
            <a:pPr algn="l">
              <a:spcAft>
                <a:spcPts val="600"/>
              </a:spcAft>
            </a:pPr>
            <a:r>
              <a:rPr sz="1500" b="0" i="0">
                <a:solidFill>
                  <a:srgbClr val="1F1F1F"/>
                </a:solidFill>
                <a:latin typeface="Calibri"/>
              </a:rPr>
              <a:t>→ paling mudah dikurangi saat jadwal mepet</a:t>
            </a:r>
          </a:p>
        </p:txBody>
      </p:sp>
      <p:sp>
        <p:nvSpPr>
          <p:cNvPr id="11" name="Rounded Rectangle 10"/>
          <p:cNvSpPr/>
          <p:nvPr/>
        </p:nvSpPr>
        <p:spPr>
          <a:xfrm>
            <a:off x="4297679" y="2560320"/>
            <a:ext cx="3566160" cy="246888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1999" y="2697480"/>
            <a:ext cx="3017520" cy="457200"/>
          </a:xfrm>
          <a:prstGeom prst="rect">
            <a:avLst/>
          </a:prstGeom>
          <a:noFill/>
        </p:spPr>
        <p:txBody>
          <a:bodyPr wrap="square" anchor="t" lIns="45720" rIns="45720">
            <a:spAutoFit/>
          </a:bodyPr>
          <a:lstStyle/>
          <a:p>
            <a:pPr algn="l">
              <a:spcAft>
                <a:spcPts val="600"/>
              </a:spcAft>
            </a:pPr>
            <a:r>
              <a:rPr sz="1700" b="1" i="0">
                <a:solidFill>
                  <a:srgbClr val="1B2A4A"/>
                </a:solidFill>
                <a:latin typeface="Calibri"/>
              </a:rPr>
              <a:t>Agile: menyebar</a:t>
            </a:r>
          </a:p>
        </p:txBody>
      </p:sp>
      <p:sp>
        <p:nvSpPr>
          <p:cNvPr id="13" name="TextBox 12"/>
          <p:cNvSpPr txBox="1"/>
          <p:nvPr/>
        </p:nvSpPr>
        <p:spPr>
          <a:xfrm>
            <a:off x="4571999" y="3200400"/>
            <a:ext cx="3017520" cy="1783080"/>
          </a:xfrm>
          <a:prstGeom prst="rect">
            <a:avLst/>
          </a:prstGeom>
          <a:noFill/>
        </p:spPr>
        <p:txBody>
          <a:bodyPr wrap="square" anchor="t" lIns="45720" rIns="45720">
            <a:spAutoFit/>
          </a:bodyPr>
          <a:lstStyle/>
          <a:p>
            <a:pPr algn="l">
              <a:spcAft>
                <a:spcPts val="600"/>
              </a:spcAft>
            </a:pPr>
            <a:r>
              <a:rPr sz="1500" b="0" i="0">
                <a:solidFill>
                  <a:srgbClr val="1F1F1F"/>
                </a:solidFill>
                <a:latin typeface="Calibri"/>
              </a:rPr>
              <a:t>Rencana kecil di tiap putaran</a:t>
            </a:r>
          </a:p>
          <a:p>
            <a:pPr algn="l">
              <a:spcAft>
                <a:spcPts val="600"/>
              </a:spcAft>
            </a:pPr>
            <a:r>
              <a:rPr sz="1500" b="0" i="0">
                <a:solidFill>
                  <a:srgbClr val="1F1F1F"/>
                </a:solidFill>
                <a:latin typeface="Calibri"/>
              </a:rPr>
              <a:t>Diuji &amp; dicoba pengguna tiap 1–4 minggu</a:t>
            </a:r>
          </a:p>
          <a:p>
            <a:pPr algn="l">
              <a:spcAft>
                <a:spcPts val="600"/>
              </a:spcAft>
            </a:pPr>
            <a:r>
              <a:rPr sz="1500" b="0" i="0">
                <a:solidFill>
                  <a:srgbClr val="1F1F1F"/>
                </a:solidFill>
                <a:latin typeface="Calibri"/>
              </a:rPr>
              <a:t>→ tidak ada satu titik besar untuk dikurangi</a:t>
            </a:r>
          </a:p>
        </p:txBody>
      </p:sp>
      <p:sp>
        <p:nvSpPr>
          <p:cNvPr id="14" name="Rounded Rectangle 13"/>
          <p:cNvSpPr/>
          <p:nvPr/>
        </p:nvSpPr>
        <p:spPr>
          <a:xfrm>
            <a:off x="8046720" y="2560320"/>
            <a:ext cx="3611880" cy="2468880"/>
          </a:xfrm>
          <a:prstGeom prst="roundRect">
            <a:avLst>
              <a:gd name="adj" fmla="val 8000"/>
            </a:avLst>
          </a:prstGeom>
          <a:solidFill>
            <a:srgbClr val="FFFFFF"/>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697480"/>
            <a:ext cx="3200400" cy="457200"/>
          </a:xfrm>
          <a:prstGeom prst="rect">
            <a:avLst/>
          </a:prstGeom>
          <a:noFill/>
        </p:spPr>
        <p:txBody>
          <a:bodyPr wrap="square" anchor="t" lIns="45720" rIns="45720">
            <a:spAutoFit/>
          </a:bodyPr>
          <a:lstStyle/>
          <a:p>
            <a:pPr algn="l">
              <a:spcAft>
                <a:spcPts val="600"/>
              </a:spcAft>
            </a:pPr>
            <a:r>
              <a:rPr sz="1700" b="1" i="0">
                <a:solidFill>
                  <a:srgbClr val="2A78D6"/>
                </a:solidFill>
                <a:latin typeface="Calibri"/>
              </a:rPr>
              <a:t>Hybrid untuk Phoenix</a:t>
            </a:r>
          </a:p>
        </p:txBody>
      </p:sp>
      <p:sp>
        <p:nvSpPr>
          <p:cNvPr id="16" name="TextBox 15"/>
          <p:cNvSpPr txBox="1"/>
          <p:nvPr/>
        </p:nvSpPr>
        <p:spPr>
          <a:xfrm>
            <a:off x="8275320" y="3200400"/>
            <a:ext cx="3200400" cy="1783080"/>
          </a:xfrm>
          <a:prstGeom prst="rect">
            <a:avLst/>
          </a:prstGeom>
          <a:noFill/>
        </p:spPr>
        <p:txBody>
          <a:bodyPr wrap="square" anchor="t" lIns="45720" rIns="45720">
            <a:spAutoFit/>
          </a:bodyPr>
          <a:lstStyle/>
          <a:p>
            <a:pPr algn="l">
              <a:spcAft>
                <a:spcPts val="600"/>
              </a:spcAft>
            </a:pPr>
            <a:r>
              <a:rPr sz="1500" b="0" i="0">
                <a:solidFill>
                  <a:srgbClr val="1F1F1F"/>
                </a:solidFill>
                <a:latin typeface="Calibri"/>
              </a:rPr>
              <a:t>Bagian dasar (aturan gaji, keamanan) direncanakan lengkap</a:t>
            </a:r>
          </a:p>
          <a:p>
            <a:pPr algn="l">
              <a:spcAft>
                <a:spcPts val="600"/>
              </a:spcAft>
            </a:pPr>
            <a:r>
              <a:rPr sz="1500" b="0" i="0">
                <a:solidFill>
                  <a:srgbClr val="1F1F1F"/>
                </a:solidFill>
                <a:latin typeface="Calibri"/>
              </a:rPr>
              <a:t>Diluncurkan bertahap per lembaga, sistem lama tetap jalan</a:t>
            </a:r>
          </a:p>
          <a:p>
            <a:pPr algn="l">
              <a:spcAft>
                <a:spcPts val="600"/>
              </a:spcAft>
            </a:pPr>
            <a:r>
              <a:rPr sz="1500" b="0" i="0">
                <a:solidFill>
                  <a:srgbClr val="1F1F1F"/>
                </a:solidFill>
                <a:latin typeface="Calibri"/>
              </a:rPr>
              <a:t>Fitur yang belum jelas dikerjakan dalam putaran pendek</a:t>
            </a:r>
          </a:p>
        </p:txBody>
      </p:sp>
      <p:sp>
        <p:nvSpPr>
          <p:cNvPr id="17" name="Rounded Rectangle 16"/>
          <p:cNvSpPr/>
          <p:nvPr/>
        </p:nvSpPr>
        <p:spPr>
          <a:xfrm>
            <a:off x="548640" y="5166360"/>
            <a:ext cx="11109960" cy="1097280"/>
          </a:xfrm>
          <a:prstGeom prst="roundRect">
            <a:avLst>
              <a:gd name="adj" fmla="val 6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239512"/>
            <a:ext cx="10835640" cy="950976"/>
          </a:xfrm>
          <a:prstGeom prst="rect">
            <a:avLst/>
          </a:prstGeom>
          <a:noFill/>
        </p:spPr>
        <p:txBody>
          <a:bodyPr wrap="square" anchor="t" lIns="45720" rIns="45720">
            <a:spAutoFit/>
          </a:bodyPr>
          <a:lstStyle/>
          <a:p>
            <a:pPr algn="l">
              <a:spcAft>
                <a:spcPts val="300"/>
              </a:spcAft>
            </a:pPr>
            <a:r>
              <a:rPr sz="1300" b="1" i="0">
                <a:solidFill>
                  <a:srgbClr val="1B2A4A"/>
                </a:solidFill>
                <a:latin typeface="Calibri"/>
              </a:rPr>
              <a:t>Istilah di slide ini</a:t>
            </a:r>
          </a:p>
          <a:p>
            <a:pPr algn="l">
              <a:spcAft>
                <a:spcPts val="300"/>
              </a:spcAft>
            </a:pPr>
            <a:r>
              <a:rPr sz="1300" b="1" i="0">
                <a:solidFill>
                  <a:srgbClr val="1F1F1F"/>
                </a:solidFill>
                <a:latin typeface="Calibri"/>
              </a:rPr>
              <a:t>Putaran (sprint): </a:t>
            </a:r>
            <a:r>
              <a:rPr sz="1300" b="0" i="0">
                <a:solidFill>
                  <a:srgbClr val="1F1F1F"/>
                </a:solidFill>
                <a:latin typeface="Calibri"/>
              </a:rPr>
              <a:t>satu siklus kerja pendek 1–4 minggu</a:t>
            </a:r>
          </a:p>
          <a:p>
            <a:pPr algn="l">
              <a:spcAft>
                <a:spcPts val="300"/>
              </a:spcAft>
            </a:pPr>
            <a:r>
              <a:rPr sz="1300" b="1" i="0">
                <a:solidFill>
                  <a:srgbClr val="1F1F1F"/>
                </a:solidFill>
                <a:latin typeface="Calibri"/>
              </a:rPr>
              <a:t>Alasan hybrid (PMBOK 7): </a:t>
            </a:r>
            <a:r>
              <a:rPr sz="1300" b="0" i="0">
                <a:solidFill>
                  <a:srgbClr val="1F1F1F"/>
                </a:solidFill>
                <a:latin typeface="Calibri"/>
              </a:rPr>
              <a:t>risiko tinggi &amp; aturan ketat → perlu rencana matang; kebutuhan belum pasti &amp; bisa per lembaga → bertahap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Rekomendasi untuk proyek serupa</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10</a:t>
            </a:r>
          </a:p>
        </p:txBody>
      </p:sp>
      <p:sp>
        <p:nvSpPr>
          <p:cNvPr id="4" name="Oval 3"/>
          <p:cNvSpPr/>
          <p:nvPr/>
        </p:nvSpPr>
        <p:spPr>
          <a:xfrm>
            <a:off x="548640" y="141732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5" name="TextBox 4"/>
          <p:cNvSpPr txBox="1"/>
          <p:nvPr/>
        </p:nvSpPr>
        <p:spPr>
          <a:xfrm>
            <a:off x="1234440" y="1417320"/>
            <a:ext cx="1737360" cy="45720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Memulai</a:t>
            </a:r>
          </a:p>
        </p:txBody>
      </p:sp>
      <p:sp>
        <p:nvSpPr>
          <p:cNvPr id="6" name="TextBox 5"/>
          <p:cNvSpPr txBox="1"/>
          <p:nvPr/>
        </p:nvSpPr>
        <p:spPr>
          <a:xfrm>
            <a:off x="2971800" y="1371600"/>
            <a:ext cx="4983480" cy="82296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Buktikan perkiraan manfaat dengan data nyata sebelum proyek disetujui</a:t>
            </a:r>
          </a:p>
        </p:txBody>
      </p:sp>
      <p:sp>
        <p:nvSpPr>
          <p:cNvPr id="7" name="Oval 6"/>
          <p:cNvSpPr/>
          <p:nvPr/>
        </p:nvSpPr>
        <p:spPr>
          <a:xfrm>
            <a:off x="548640" y="2313432"/>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8" name="TextBox 7"/>
          <p:cNvSpPr txBox="1"/>
          <p:nvPr/>
        </p:nvSpPr>
        <p:spPr>
          <a:xfrm>
            <a:off x="1234440" y="2313432"/>
            <a:ext cx="1737360" cy="45720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Merencanakan</a:t>
            </a:r>
          </a:p>
        </p:txBody>
      </p:sp>
      <p:sp>
        <p:nvSpPr>
          <p:cNvPr id="9" name="TextBox 8"/>
          <p:cNvSpPr txBox="1"/>
          <p:nvPr/>
        </p:nvSpPr>
        <p:spPr>
          <a:xfrm>
            <a:off x="2971800" y="2267711"/>
            <a:ext cx="4983480" cy="82296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Bila biaya/jadwal melenceng jauh: wajib rencana baru dan lapor ke pemberi dana</a:t>
            </a:r>
          </a:p>
        </p:txBody>
      </p:sp>
      <p:sp>
        <p:nvSpPr>
          <p:cNvPr id="10" name="Oval 9"/>
          <p:cNvSpPr/>
          <p:nvPr/>
        </p:nvSpPr>
        <p:spPr>
          <a:xfrm>
            <a:off x="548640" y="3209544"/>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1" name="TextBox 10"/>
          <p:cNvSpPr txBox="1"/>
          <p:nvPr/>
        </p:nvSpPr>
        <p:spPr>
          <a:xfrm>
            <a:off x="1234440" y="3209544"/>
            <a:ext cx="1737360" cy="45720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Memeriksa</a:t>
            </a:r>
          </a:p>
        </p:txBody>
      </p:sp>
      <p:sp>
        <p:nvSpPr>
          <p:cNvPr id="12" name="TextBox 11"/>
          <p:cNvSpPr txBox="1"/>
          <p:nvPr/>
        </p:nvSpPr>
        <p:spPr>
          <a:xfrm>
            <a:off x="2971800" y="3163824"/>
            <a:ext cx="4983480" cy="82296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Uji coba dan menjalankan sistem lama-baru bersamaan tidak boleh dihapus</a:t>
            </a:r>
          </a:p>
        </p:txBody>
      </p:sp>
      <p:sp>
        <p:nvSpPr>
          <p:cNvPr id="13" name="Oval 12"/>
          <p:cNvSpPr/>
          <p:nvPr/>
        </p:nvSpPr>
        <p:spPr>
          <a:xfrm>
            <a:off x="548640" y="4105655"/>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4" name="TextBox 13"/>
          <p:cNvSpPr txBox="1"/>
          <p:nvPr/>
        </p:nvSpPr>
        <p:spPr>
          <a:xfrm>
            <a:off x="1234440" y="4105655"/>
            <a:ext cx="1737360" cy="45720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Memeriksa</a:t>
            </a:r>
          </a:p>
        </p:txBody>
      </p:sp>
      <p:sp>
        <p:nvSpPr>
          <p:cNvPr id="15" name="TextBox 14"/>
          <p:cNvSpPr txBox="1"/>
          <p:nvPr/>
        </p:nvSpPr>
        <p:spPr>
          <a:xfrm>
            <a:off x="2971800" y="4059935"/>
            <a:ext cx="4983480" cy="82296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Ada pemeriksa dari luar tim proyek (audit internal) yang lapor langsung ke pimpinan</a:t>
            </a:r>
          </a:p>
        </p:txBody>
      </p:sp>
      <p:sp>
        <p:nvSpPr>
          <p:cNvPr id="16" name="Oval 15"/>
          <p:cNvSpPr/>
          <p:nvPr/>
        </p:nvSpPr>
        <p:spPr>
          <a:xfrm>
            <a:off x="548640" y="500176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17" name="TextBox 16"/>
          <p:cNvSpPr txBox="1"/>
          <p:nvPr/>
        </p:nvSpPr>
        <p:spPr>
          <a:xfrm>
            <a:off x="1234440" y="5001768"/>
            <a:ext cx="1737360" cy="45720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Menutup</a:t>
            </a:r>
          </a:p>
        </p:txBody>
      </p:sp>
      <p:sp>
        <p:nvSpPr>
          <p:cNvPr id="18" name="TextBox 17"/>
          <p:cNvSpPr txBox="1"/>
          <p:nvPr/>
        </p:nvSpPr>
        <p:spPr>
          <a:xfrm>
            <a:off x="2971800" y="4956048"/>
            <a:ext cx="4983480" cy="822960"/>
          </a:xfrm>
          <a:prstGeom prst="rect">
            <a:avLst/>
          </a:prstGeom>
          <a:noFill/>
        </p:spPr>
        <p:txBody>
          <a:bodyPr wrap="square" anchor="t" lIns="45720" rIns="45720">
            <a:spAutoFit/>
          </a:bodyPr>
          <a:lstStyle/>
          <a:p>
            <a:pPr algn="l">
              <a:spcAft>
                <a:spcPts val="600"/>
              </a:spcAft>
            </a:pPr>
            <a:r>
              <a:rPr sz="1600" b="0" i="0">
                <a:solidFill>
                  <a:srgbClr val="1F1F1F"/>
                </a:solidFill>
                <a:latin typeface="Calibri"/>
              </a:rPr>
              <a:t>Keputusan mulai memakai sistem dicatat tertulis: syarat jelas, siapa yang memutuskan</a:t>
            </a:r>
          </a:p>
        </p:txBody>
      </p:sp>
      <p:sp>
        <p:nvSpPr>
          <p:cNvPr id="19" name="Rounded Rectangle 18"/>
          <p:cNvSpPr/>
          <p:nvPr/>
        </p:nvSpPr>
        <p:spPr>
          <a:xfrm>
            <a:off x="8229600" y="1371600"/>
            <a:ext cx="3429000" cy="416052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1600200"/>
            <a:ext cx="2926080" cy="548640"/>
          </a:xfrm>
          <a:prstGeom prst="rect">
            <a:avLst/>
          </a:prstGeom>
          <a:noFill/>
        </p:spPr>
        <p:txBody>
          <a:bodyPr wrap="square" anchor="t" lIns="45720" rIns="45720">
            <a:spAutoFit/>
          </a:bodyPr>
          <a:lstStyle/>
          <a:p>
            <a:pPr algn="l">
              <a:spcAft>
                <a:spcPts val="600"/>
              </a:spcAft>
            </a:pPr>
            <a:r>
              <a:rPr sz="1800" b="1" i="0">
                <a:solidFill>
                  <a:srgbClr val="D03B3B"/>
                </a:solidFill>
                <a:latin typeface="Calibri"/>
              </a:rPr>
              <a:t>Catatan penting</a:t>
            </a:r>
          </a:p>
        </p:txBody>
      </p:sp>
      <p:sp>
        <p:nvSpPr>
          <p:cNvPr id="21" name="TextBox 20"/>
          <p:cNvSpPr txBox="1"/>
          <p:nvPr/>
        </p:nvSpPr>
        <p:spPr>
          <a:xfrm>
            <a:off x="8503920" y="2194560"/>
            <a:ext cx="2926080" cy="3200400"/>
          </a:xfrm>
          <a:prstGeom prst="rect">
            <a:avLst/>
          </a:prstGeom>
          <a:noFill/>
        </p:spPr>
        <p:txBody>
          <a:bodyPr wrap="square" anchor="t" lIns="45720" rIns="45720">
            <a:spAutoFit/>
          </a:bodyPr>
          <a:lstStyle/>
          <a:p>
            <a:pPr algn="l">
              <a:spcAft>
                <a:spcPts val="800"/>
              </a:spcAft>
            </a:pPr>
            <a:r>
              <a:rPr sz="1500" b="0" i="0">
                <a:solidFill>
                  <a:srgbClr val="1F1F1F"/>
                </a:solidFill>
                <a:latin typeface="Calibri"/>
              </a:rPr>
              <a:t>Cara kerja Agile saja tidak menyelesaikan semua masalah Phoenix.</a:t>
            </a:r>
          </a:p>
          <a:p>
            <a:pPr algn="l">
              <a:spcAft>
                <a:spcPts val="800"/>
              </a:spcAft>
            </a:pPr>
            <a:r>
              <a:rPr sz="1500" b="0" i="0">
                <a:solidFill>
                  <a:srgbClr val="1F1F1F"/>
                </a:solidFill>
                <a:latin typeface="Calibri"/>
              </a:rPr>
              <a:t>Masalah pengawasan (siapa mengawasi, siapa berhak memutuskan) tetap bisa terjadi dengan cara kerja apa pun.</a:t>
            </a:r>
          </a:p>
          <a:p>
            <a:pPr algn="l">
              <a:spcAft>
                <a:spcPts val="800"/>
              </a:spcAft>
            </a:pPr>
            <a:r>
              <a:rPr sz="1500" b="0" i="0">
                <a:solidFill>
                  <a:srgbClr val="1F1F1F"/>
                </a:solidFill>
                <a:latin typeface="Calibri"/>
              </a:rPr>
              <a:t>Yang dibutuhkan: pemeriksa yang tidak memihak.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11</a:t>
            </a:r>
          </a:p>
        </p:txBody>
      </p:sp>
      <p:sp>
        <p:nvSpPr>
          <p:cNvPr id="3" name="TextBox 2"/>
          <p:cNvSpPr txBox="1"/>
          <p:nvPr/>
        </p:nvSpPr>
        <p:spPr>
          <a:xfrm>
            <a:off x="822960" y="914400"/>
            <a:ext cx="10515600" cy="457200"/>
          </a:xfrm>
          <a:prstGeom prst="rect">
            <a:avLst/>
          </a:prstGeom>
          <a:noFill/>
        </p:spPr>
        <p:txBody>
          <a:bodyPr wrap="square" anchor="t" lIns="45720" rIns="45720">
            <a:spAutoFit/>
          </a:bodyPr>
          <a:lstStyle/>
          <a:p>
            <a:pPr algn="l">
              <a:spcAft>
                <a:spcPts val="600"/>
              </a:spcAft>
            </a:pPr>
            <a:r>
              <a:rPr sz="1600" b="1" i="0">
                <a:solidFill>
                  <a:srgbClr val="2A78D6"/>
                </a:solidFill>
                <a:latin typeface="Calibri"/>
              </a:rPr>
              <a:t>PELAJARAN UTAMA</a:t>
            </a:r>
          </a:p>
        </p:txBody>
      </p:sp>
      <p:sp>
        <p:nvSpPr>
          <p:cNvPr id="4" name="TextBox 3"/>
          <p:cNvSpPr txBox="1"/>
          <p:nvPr/>
        </p:nvSpPr>
        <p:spPr>
          <a:xfrm>
            <a:off x="822960" y="1417320"/>
            <a:ext cx="10515600" cy="1828800"/>
          </a:xfrm>
          <a:prstGeom prst="rect">
            <a:avLst/>
          </a:prstGeom>
          <a:noFill/>
        </p:spPr>
        <p:txBody>
          <a:bodyPr wrap="square" anchor="t" lIns="45720" rIns="45720">
            <a:spAutoFit/>
          </a:bodyPr>
          <a:lstStyle/>
          <a:p>
            <a:pPr algn="l">
              <a:spcAft>
                <a:spcPts val="600"/>
              </a:spcAft>
            </a:pPr>
            <a:r>
              <a:rPr sz="4000" b="1" i="0">
                <a:solidFill>
                  <a:srgbClr val="1B2A4A"/>
                </a:solidFill>
                <a:latin typeface="Cambria"/>
              </a:rPr>
              <a:t>Tanggal peluncuran tidak boleh lebih kuat daripada bukti kesiapan</a:t>
            </a:r>
          </a:p>
        </p:txBody>
      </p:sp>
      <p:sp>
        <p:nvSpPr>
          <p:cNvPr id="5" name="Rounded Rectangle 4"/>
          <p:cNvSpPr/>
          <p:nvPr/>
        </p:nvSpPr>
        <p:spPr>
          <a:xfrm>
            <a:off x="822960" y="3520440"/>
            <a:ext cx="3383280" cy="21488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703320"/>
            <a:ext cx="2926080" cy="640080"/>
          </a:xfrm>
          <a:prstGeom prst="rect">
            <a:avLst/>
          </a:prstGeom>
          <a:noFill/>
        </p:spPr>
        <p:txBody>
          <a:bodyPr wrap="square" anchor="t" lIns="45720" rIns="45720">
            <a:spAutoFit/>
          </a:bodyPr>
          <a:lstStyle/>
          <a:p>
            <a:pPr algn="l">
              <a:spcAft>
                <a:spcPts val="600"/>
              </a:spcAft>
            </a:pPr>
            <a:r>
              <a:rPr sz="1600" b="1" i="0">
                <a:solidFill>
                  <a:srgbClr val="1B2A4A"/>
                </a:solidFill>
                <a:latin typeface="Calibri"/>
              </a:rPr>
              <a:t>Phoenix Pay, Kanada (2016)</a:t>
            </a:r>
          </a:p>
        </p:txBody>
      </p:sp>
      <p:sp>
        <p:nvSpPr>
          <p:cNvPr id="7" name="TextBox 6"/>
          <p:cNvSpPr txBox="1"/>
          <p:nvPr/>
        </p:nvSpPr>
        <p:spPr>
          <a:xfrm>
            <a:off x="1051560" y="4343400"/>
            <a:ext cx="2926080" cy="1280160"/>
          </a:xfrm>
          <a:prstGeom prst="rect">
            <a:avLst/>
          </a:prstGeom>
          <a:noFill/>
        </p:spPr>
        <p:txBody>
          <a:bodyPr wrap="square" anchor="t" lIns="45720" rIns="45720">
            <a:spAutoFit/>
          </a:bodyPr>
          <a:lstStyle/>
          <a:p>
            <a:pPr algn="l">
              <a:spcAft>
                <a:spcPts val="600"/>
              </a:spcAft>
            </a:pPr>
            <a:r>
              <a:rPr sz="1400" b="0" i="0">
                <a:solidFill>
                  <a:srgbClr val="1F1F1F"/>
                </a:solidFill>
                <a:latin typeface="Calibri"/>
              </a:rPr>
              <a:t>Uji coba dibatalkan, pengujian dikurangi, keputusan mulai pakai tidak dicatat</a:t>
            </a:r>
          </a:p>
        </p:txBody>
      </p:sp>
      <p:sp>
        <p:nvSpPr>
          <p:cNvPr id="8" name="Rounded Rectangle 7"/>
          <p:cNvSpPr/>
          <p:nvPr/>
        </p:nvSpPr>
        <p:spPr>
          <a:xfrm>
            <a:off x="4434840" y="3520440"/>
            <a:ext cx="3383280" cy="21488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3703320"/>
            <a:ext cx="2926080" cy="640080"/>
          </a:xfrm>
          <a:prstGeom prst="rect">
            <a:avLst/>
          </a:prstGeom>
          <a:noFill/>
        </p:spPr>
        <p:txBody>
          <a:bodyPr wrap="square" anchor="t" lIns="45720" rIns="45720">
            <a:spAutoFit/>
          </a:bodyPr>
          <a:lstStyle/>
          <a:p>
            <a:pPr algn="l">
              <a:spcAft>
                <a:spcPts val="600"/>
              </a:spcAft>
            </a:pPr>
            <a:r>
              <a:rPr sz="1600" b="1" i="0">
                <a:solidFill>
                  <a:srgbClr val="1B2A4A"/>
                </a:solidFill>
                <a:latin typeface="Calibri"/>
              </a:rPr>
              <a:t>Bank TSB, Inggris (2018)</a:t>
            </a:r>
          </a:p>
        </p:txBody>
      </p:sp>
      <p:sp>
        <p:nvSpPr>
          <p:cNvPr id="10" name="TextBox 9"/>
          <p:cNvSpPr txBox="1"/>
          <p:nvPr/>
        </p:nvSpPr>
        <p:spPr>
          <a:xfrm>
            <a:off x="4663440" y="4343400"/>
            <a:ext cx="2926080" cy="1280160"/>
          </a:xfrm>
          <a:prstGeom prst="rect">
            <a:avLst/>
          </a:prstGeom>
          <a:noFill/>
        </p:spPr>
        <p:txBody>
          <a:bodyPr wrap="square" anchor="t" lIns="45720" rIns="45720">
            <a:spAutoFit/>
          </a:bodyPr>
          <a:lstStyle/>
          <a:p>
            <a:pPr algn="l">
              <a:spcAft>
                <a:spcPts val="600"/>
              </a:spcAft>
            </a:pPr>
            <a:r>
              <a:rPr sz="1400" b="0" i="0">
                <a:solidFill>
                  <a:srgbClr val="1F1F1F"/>
                </a:solidFill>
                <a:latin typeface="Calibri"/>
              </a:rPr>
              <a:t>Tanggal ditetapkan dulu, pekerjaan dipaksa muat; pengujian dipadatkan (pengawas keuangan Inggris/FCA, 2022)</a:t>
            </a:r>
          </a:p>
        </p:txBody>
      </p:sp>
      <p:sp>
        <p:nvSpPr>
          <p:cNvPr id="11" name="Rounded Rectangle 10"/>
          <p:cNvSpPr/>
          <p:nvPr/>
        </p:nvSpPr>
        <p:spPr>
          <a:xfrm>
            <a:off x="8046720" y="3520440"/>
            <a:ext cx="3383280" cy="21488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3703320"/>
            <a:ext cx="2926080" cy="640080"/>
          </a:xfrm>
          <a:prstGeom prst="rect">
            <a:avLst/>
          </a:prstGeom>
          <a:noFill/>
        </p:spPr>
        <p:txBody>
          <a:bodyPr wrap="square" anchor="t" lIns="45720" rIns="45720">
            <a:spAutoFit/>
          </a:bodyPr>
          <a:lstStyle/>
          <a:p>
            <a:pPr algn="l">
              <a:spcAft>
                <a:spcPts val="600"/>
              </a:spcAft>
            </a:pPr>
            <a:r>
              <a:rPr sz="1600" b="1" i="0">
                <a:solidFill>
                  <a:srgbClr val="1B2A4A"/>
                </a:solidFill>
                <a:latin typeface="Calibri"/>
              </a:rPr>
              <a:t>Coretax DJP, Indonesia (2025)</a:t>
            </a:r>
          </a:p>
        </p:txBody>
      </p:sp>
      <p:sp>
        <p:nvSpPr>
          <p:cNvPr id="13" name="TextBox 12"/>
          <p:cNvSpPr txBox="1"/>
          <p:nvPr/>
        </p:nvSpPr>
        <p:spPr>
          <a:xfrm>
            <a:off x="8275320" y="4343400"/>
            <a:ext cx="2926080" cy="1280160"/>
          </a:xfrm>
          <a:prstGeom prst="rect">
            <a:avLst/>
          </a:prstGeom>
          <a:noFill/>
        </p:spPr>
        <p:txBody>
          <a:bodyPr wrap="square" anchor="t" lIns="45720" rIns="45720">
            <a:spAutoFit/>
          </a:bodyPr>
          <a:lstStyle/>
          <a:p>
            <a:pPr algn="l">
              <a:spcAft>
                <a:spcPts val="600"/>
              </a:spcAft>
            </a:pPr>
            <a:r>
              <a:rPr sz="1400" b="0" i="0">
                <a:solidFill>
                  <a:srgbClr val="1F1F1F"/>
                </a:solidFill>
                <a:latin typeface="Calibri"/>
              </a:rPr>
              <a:t>Sistem pajak baru: gangguan login dan faktur saat banyak pengguna serentak (slide kuliah)</a:t>
            </a:r>
          </a:p>
        </p:txBody>
      </p:sp>
      <p:sp>
        <p:nvSpPr>
          <p:cNvPr id="14" name="TextBox 13"/>
          <p:cNvSpPr txBox="1"/>
          <p:nvPr/>
        </p:nvSpPr>
        <p:spPr>
          <a:xfrm>
            <a:off x="822960" y="5897880"/>
            <a:ext cx="10332720" cy="457200"/>
          </a:xfrm>
          <a:prstGeom prst="rect">
            <a:avLst/>
          </a:prstGeom>
          <a:noFill/>
        </p:spPr>
        <p:txBody>
          <a:bodyPr wrap="square" anchor="t" lIns="45720" rIns="45720">
            <a:spAutoFit/>
          </a:bodyPr>
          <a:lstStyle/>
          <a:p>
            <a:pPr algn="l">
              <a:spcAft>
                <a:spcPts val="600"/>
              </a:spcAft>
            </a:pPr>
            <a:r>
              <a:rPr sz="1500" b="0" i="1">
                <a:solidFill>
                  <a:srgbClr val="52514E"/>
                </a:solidFill>
                <a:latin typeface="Calibri"/>
              </a:rPr>
              <a:t>Relevan untuk proyek TI pemerintah di Indonesia, termasuk peralihan sistem pengamatan cuaca di BMKG.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Daftar istilah (cadangan)</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12</a:t>
            </a:r>
          </a:p>
        </p:txBody>
      </p:sp>
      <p:graphicFrame>
        <p:nvGraphicFramePr>
          <p:cNvPr id="4" name="Table 3"/>
          <p:cNvGraphicFramePr>
            <a:graphicFrameLocks noGrp="1"/>
          </p:cNvGraphicFramePr>
          <p:nvPr/>
        </p:nvGraphicFramePr>
        <p:xfrm>
          <a:off x="548640" y="1280160"/>
          <a:ext cx="5440680" cy="4754880"/>
        </p:xfrm>
        <a:graphic>
          <a:graphicData uri="http://schemas.openxmlformats.org/drawingml/2006/table">
            <a:tbl>
              <a:tblPr firstRow="1" bandRow="1">
                <a:tableStyleId>{5C22544A-7EE6-4342-B048-85BDC9FD1C3A}</a:tableStyleId>
              </a:tblPr>
              <a:tblGrid>
                <a:gridCol w="2011680"/>
                <a:gridCol w="3429000"/>
              </a:tblGrid>
              <a:tr h="528320">
                <a:tc>
                  <a:txBody>
                    <a:bodyPr/>
                    <a:lstStyle/>
                    <a:p>
                      <a:r>
                        <a:rPr sz="1300" b="1">
                          <a:solidFill>
                            <a:srgbClr val="1B2A4A"/>
                          </a:solidFill>
                          <a:latin typeface="Calibri"/>
                        </a:rPr>
                        <a:t>Effort</a:t>
                      </a:r>
                    </a:p>
                  </a:txBody>
                  <a:tcPr>
                    <a:solidFill>
                      <a:srgbClr val="EAF2FC"/>
                    </a:solidFill>
                  </a:tcPr>
                </a:tc>
                <a:tc>
                  <a:txBody>
                    <a:bodyPr/>
                    <a:lstStyle/>
                    <a:p>
                      <a:r>
                        <a:rPr sz="1300" b="0">
                          <a:solidFill>
                            <a:srgbClr val="1F1F1F"/>
                          </a:solidFill>
                          <a:latin typeface="Calibri"/>
                        </a:rPr>
                        <a:t>tenaga dan waktu proyek</a:t>
                      </a:r>
                    </a:p>
                  </a:txBody>
                  <a:tcPr>
                    <a:solidFill>
                      <a:srgbClr val="EAF2FC"/>
                    </a:solidFill>
                  </a:tcPr>
                </a:tc>
              </a:tr>
              <a:tr h="528320">
                <a:tc>
                  <a:txBody>
                    <a:bodyPr/>
                    <a:lstStyle/>
                    <a:p>
                      <a:r>
                        <a:rPr sz="1300" b="1">
                          <a:solidFill>
                            <a:srgbClr val="1B2A4A"/>
                          </a:solidFill>
                          <a:latin typeface="Calibri"/>
                        </a:rPr>
                        <a:t>Process group</a:t>
                      </a:r>
                    </a:p>
                  </a:txBody>
                  <a:tcPr>
                    <a:solidFill>
                      <a:srgbClr val="FFFFFF"/>
                    </a:solidFill>
                  </a:tcPr>
                </a:tc>
                <a:tc>
                  <a:txBody>
                    <a:bodyPr/>
                    <a:lstStyle/>
                    <a:p>
                      <a:r>
                        <a:rPr sz="1300" b="0">
                          <a:solidFill>
                            <a:srgbClr val="1F1F1F"/>
                          </a:solidFill>
                          <a:latin typeface="Calibri"/>
                        </a:rPr>
                        <a:t>5 kelompok kegiatan mengelola proyek</a:t>
                      </a:r>
                    </a:p>
                  </a:txBody>
                  <a:tcPr>
                    <a:solidFill>
                      <a:srgbClr val="FFFFFF"/>
                    </a:solidFill>
                  </a:tcPr>
                </a:tc>
              </a:tr>
              <a:tr h="528320">
                <a:tc>
                  <a:txBody>
                    <a:bodyPr/>
                    <a:lstStyle/>
                    <a:p>
                      <a:r>
                        <a:rPr sz="1300" b="1">
                          <a:solidFill>
                            <a:srgbClr val="1B2A4A"/>
                          </a:solidFill>
                          <a:latin typeface="Calibri"/>
                        </a:rPr>
                        <a:t>Initiating</a:t>
                      </a:r>
                    </a:p>
                  </a:txBody>
                  <a:tcPr>
                    <a:solidFill>
                      <a:srgbClr val="EAF2FC"/>
                    </a:solidFill>
                  </a:tcPr>
                </a:tc>
                <a:tc>
                  <a:txBody>
                    <a:bodyPr/>
                    <a:lstStyle/>
                    <a:p>
                      <a:r>
                        <a:rPr sz="1300" b="0">
                          <a:solidFill>
                            <a:srgbClr val="1F1F1F"/>
                          </a:solidFill>
                          <a:latin typeface="Calibri"/>
                        </a:rPr>
                        <a:t>memulai: memutuskan proyek dan tujuannya</a:t>
                      </a:r>
                    </a:p>
                  </a:txBody>
                  <a:tcPr>
                    <a:solidFill>
                      <a:srgbClr val="EAF2FC"/>
                    </a:solidFill>
                  </a:tcPr>
                </a:tc>
              </a:tr>
              <a:tr h="528320">
                <a:tc>
                  <a:txBody>
                    <a:bodyPr/>
                    <a:lstStyle/>
                    <a:p>
                      <a:r>
                        <a:rPr sz="1300" b="1">
                          <a:solidFill>
                            <a:srgbClr val="1B2A4A"/>
                          </a:solidFill>
                          <a:latin typeface="Calibri"/>
                        </a:rPr>
                        <a:t>Planning</a:t>
                      </a:r>
                    </a:p>
                  </a:txBody>
                  <a:tcPr>
                    <a:solidFill>
                      <a:srgbClr val="FFFFFF"/>
                    </a:solidFill>
                  </a:tcPr>
                </a:tc>
                <a:tc>
                  <a:txBody>
                    <a:bodyPr/>
                    <a:lstStyle/>
                    <a:p>
                      <a:r>
                        <a:rPr sz="1300" b="0">
                          <a:solidFill>
                            <a:srgbClr val="1F1F1F"/>
                          </a:solidFill>
                          <a:latin typeface="Calibri"/>
                        </a:rPr>
                        <a:t>merencanakan: apa, kapan, biaya, risiko</a:t>
                      </a:r>
                    </a:p>
                  </a:txBody>
                  <a:tcPr>
                    <a:solidFill>
                      <a:srgbClr val="FFFFFF"/>
                    </a:solidFill>
                  </a:tcPr>
                </a:tc>
              </a:tr>
              <a:tr h="528320">
                <a:tc>
                  <a:txBody>
                    <a:bodyPr/>
                    <a:lstStyle/>
                    <a:p>
                      <a:r>
                        <a:rPr sz="1300" b="1">
                          <a:solidFill>
                            <a:srgbClr val="1B2A4A"/>
                          </a:solidFill>
                          <a:latin typeface="Calibri"/>
                        </a:rPr>
                        <a:t>Executing</a:t>
                      </a:r>
                    </a:p>
                  </a:txBody>
                  <a:tcPr>
                    <a:solidFill>
                      <a:srgbClr val="EAF2FC"/>
                    </a:solidFill>
                  </a:tcPr>
                </a:tc>
                <a:tc>
                  <a:txBody>
                    <a:bodyPr/>
                    <a:lstStyle/>
                    <a:p>
                      <a:r>
                        <a:rPr sz="1300" b="0">
                          <a:solidFill>
                            <a:srgbClr val="1F1F1F"/>
                          </a:solidFill>
                          <a:latin typeface="Calibri"/>
                        </a:rPr>
                        <a:t>mengerjakan: membangun sistem</a:t>
                      </a:r>
                    </a:p>
                  </a:txBody>
                  <a:tcPr>
                    <a:solidFill>
                      <a:srgbClr val="EAF2FC"/>
                    </a:solidFill>
                  </a:tcPr>
                </a:tc>
              </a:tr>
              <a:tr h="528320">
                <a:tc>
                  <a:txBody>
                    <a:bodyPr/>
                    <a:lstStyle/>
                    <a:p>
                      <a:r>
                        <a:rPr sz="1300" b="1">
                          <a:solidFill>
                            <a:srgbClr val="1B2A4A"/>
                          </a:solidFill>
                          <a:latin typeface="Calibri"/>
                        </a:rPr>
                        <a:t>Monitoring &amp; Controlling</a:t>
                      </a:r>
                    </a:p>
                  </a:txBody>
                  <a:tcPr>
                    <a:solidFill>
                      <a:srgbClr val="FFFFFF"/>
                    </a:solidFill>
                  </a:tcPr>
                </a:tc>
                <a:tc>
                  <a:txBody>
                    <a:bodyPr/>
                    <a:lstStyle/>
                    <a:p>
                      <a:r>
                        <a:rPr sz="1300" b="0">
                          <a:solidFill>
                            <a:srgbClr val="1F1F1F"/>
                          </a:solidFill>
                          <a:latin typeface="Calibri"/>
                        </a:rPr>
                        <a:t>memeriksa, menguji, memperbaiki</a:t>
                      </a:r>
                    </a:p>
                  </a:txBody>
                  <a:tcPr>
                    <a:solidFill>
                      <a:srgbClr val="FFFFFF"/>
                    </a:solidFill>
                  </a:tcPr>
                </a:tc>
              </a:tr>
              <a:tr h="528320">
                <a:tc>
                  <a:txBody>
                    <a:bodyPr/>
                    <a:lstStyle/>
                    <a:p>
                      <a:r>
                        <a:rPr sz="1300" b="1">
                          <a:solidFill>
                            <a:srgbClr val="1B2A4A"/>
                          </a:solidFill>
                          <a:latin typeface="Calibri"/>
                        </a:rPr>
                        <a:t>Closing</a:t>
                      </a:r>
                    </a:p>
                  </a:txBody>
                  <a:tcPr>
                    <a:solidFill>
                      <a:srgbClr val="EAF2FC"/>
                    </a:solidFill>
                  </a:tcPr>
                </a:tc>
                <a:tc>
                  <a:txBody>
                    <a:bodyPr/>
                    <a:lstStyle/>
                    <a:p>
                      <a:r>
                        <a:rPr sz="1300" b="0">
                          <a:solidFill>
                            <a:srgbClr val="1F1F1F"/>
                          </a:solidFill>
                          <a:latin typeface="Calibri"/>
                        </a:rPr>
                        <a:t>menutup: serah terima, evaluasi</a:t>
                      </a:r>
                    </a:p>
                  </a:txBody>
                  <a:tcPr>
                    <a:solidFill>
                      <a:srgbClr val="EAF2FC"/>
                    </a:solidFill>
                  </a:tcPr>
                </a:tc>
              </a:tr>
              <a:tr h="528320">
                <a:tc>
                  <a:txBody>
                    <a:bodyPr/>
                    <a:lstStyle/>
                    <a:p>
                      <a:r>
                        <a:rPr sz="1300" b="1">
                          <a:solidFill>
                            <a:srgbClr val="1B2A4A"/>
                          </a:solidFill>
                          <a:latin typeface="Calibri"/>
                        </a:rPr>
                        <a:t>PMBOK Guide</a:t>
                      </a:r>
                    </a:p>
                  </a:txBody>
                  <a:tcPr>
                    <a:solidFill>
                      <a:srgbClr val="FFFFFF"/>
                    </a:solidFill>
                  </a:tcPr>
                </a:tc>
                <a:tc>
                  <a:txBody>
                    <a:bodyPr/>
                    <a:lstStyle/>
                    <a:p>
                      <a:r>
                        <a:rPr sz="1300" b="0">
                          <a:solidFill>
                            <a:srgbClr val="1F1F1F"/>
                          </a:solidFill>
                          <a:latin typeface="Calibri"/>
                        </a:rPr>
                        <a:t>buku standar pengelolaan proyek</a:t>
                      </a:r>
                    </a:p>
                  </a:txBody>
                  <a:tcPr>
                    <a:solidFill>
                      <a:srgbClr val="FFFFFF"/>
                    </a:solidFill>
                  </a:tcPr>
                </a:tc>
              </a:tr>
              <a:tr h="528320">
                <a:tc>
                  <a:txBody>
                    <a:bodyPr/>
                    <a:lstStyle/>
                    <a:p>
                      <a:r>
                        <a:rPr sz="1300" b="1">
                          <a:solidFill>
                            <a:srgbClr val="1B2A4A"/>
                          </a:solidFill>
                          <a:latin typeface="Calibri"/>
                        </a:rPr>
                        <a:t>OAG</a:t>
                      </a:r>
                    </a:p>
                  </a:txBody>
                  <a:tcPr>
                    <a:solidFill>
                      <a:srgbClr val="EAF2FC"/>
                    </a:solidFill>
                  </a:tcPr>
                </a:tc>
                <a:tc>
                  <a:txBody>
                    <a:bodyPr/>
                    <a:lstStyle/>
                    <a:p>
                      <a:r>
                        <a:rPr sz="1300" b="0">
                          <a:solidFill>
                            <a:srgbClr val="1F1F1F"/>
                          </a:solidFill>
                          <a:latin typeface="Calibri"/>
                        </a:rPr>
                        <a:t>lembaga pemeriksa negara Kanada (seperti BPK)</a:t>
                      </a:r>
                    </a:p>
                  </a:txBody>
                  <a:tcPr>
                    <a:solidFill>
                      <a:srgbClr val="EAF2FC"/>
                    </a:solidFill>
                  </a:tcPr>
                </a:tc>
              </a:tr>
            </a:tbl>
          </a:graphicData>
        </a:graphic>
      </p:graphicFrame>
      <p:graphicFrame>
        <p:nvGraphicFramePr>
          <p:cNvPr id="5" name="Table 4"/>
          <p:cNvGraphicFramePr>
            <a:graphicFrameLocks noGrp="1"/>
          </p:cNvGraphicFramePr>
          <p:nvPr/>
        </p:nvGraphicFramePr>
        <p:xfrm>
          <a:off x="6217920" y="1280160"/>
          <a:ext cx="5440680" cy="4754880"/>
        </p:xfrm>
        <a:graphic>
          <a:graphicData uri="http://schemas.openxmlformats.org/drawingml/2006/table">
            <a:tbl>
              <a:tblPr firstRow="1" bandRow="1">
                <a:tableStyleId>{5C22544A-7EE6-4342-B048-85BDC9FD1C3A}</a:tableStyleId>
              </a:tblPr>
              <a:tblGrid>
                <a:gridCol w="2011680"/>
                <a:gridCol w="3429000"/>
              </a:tblGrid>
              <a:tr h="528320">
                <a:tc>
                  <a:txBody>
                    <a:bodyPr/>
                    <a:lstStyle/>
                    <a:p>
                      <a:r>
                        <a:rPr sz="1300" b="1">
                          <a:solidFill>
                            <a:srgbClr val="1B2A4A"/>
                          </a:solidFill>
                          <a:latin typeface="Calibri"/>
                        </a:rPr>
                        <a:t>Uji coba (pilot)</a:t>
                      </a:r>
                    </a:p>
                  </a:txBody>
                  <a:tcPr>
                    <a:solidFill>
                      <a:srgbClr val="EAF2FC"/>
                    </a:solidFill>
                  </a:tcPr>
                </a:tc>
                <a:tc>
                  <a:txBody>
                    <a:bodyPr/>
                    <a:lstStyle/>
                    <a:p>
                      <a:r>
                        <a:rPr sz="1300" b="0">
                          <a:solidFill>
                            <a:srgbClr val="1F1F1F"/>
                          </a:solidFill>
                          <a:latin typeface="Calibri"/>
                        </a:rPr>
                        <a:t>dicoba di satu tempat dulu</a:t>
                      </a:r>
                    </a:p>
                  </a:txBody>
                  <a:tcPr>
                    <a:solidFill>
                      <a:srgbClr val="EAF2FC"/>
                    </a:solidFill>
                  </a:tcPr>
                </a:tc>
              </a:tr>
              <a:tr h="528320">
                <a:tc>
                  <a:txBody>
                    <a:bodyPr/>
                    <a:lstStyle/>
                    <a:p>
                      <a:r>
                        <a:rPr sz="1300" b="1">
                          <a:solidFill>
                            <a:srgbClr val="1B2A4A"/>
                          </a:solidFill>
                          <a:latin typeface="Calibri"/>
                        </a:rPr>
                        <a:t>Parallel run</a:t>
                      </a:r>
                    </a:p>
                  </a:txBody>
                  <a:tcPr>
                    <a:solidFill>
                      <a:srgbClr val="FFFFFF"/>
                    </a:solidFill>
                  </a:tcPr>
                </a:tc>
                <a:tc>
                  <a:txBody>
                    <a:bodyPr/>
                    <a:lstStyle/>
                    <a:p>
                      <a:r>
                        <a:rPr sz="1300" b="0">
                          <a:solidFill>
                            <a:srgbClr val="1F1F1F"/>
                          </a:solidFill>
                          <a:latin typeface="Calibri"/>
                        </a:rPr>
                        <a:t>sistem lama dan baru jalan bersamaan</a:t>
                      </a:r>
                    </a:p>
                  </a:txBody>
                  <a:tcPr>
                    <a:solidFill>
                      <a:srgbClr val="FFFFFF"/>
                    </a:solidFill>
                  </a:tcPr>
                </a:tc>
              </a:tr>
              <a:tr h="528320">
                <a:tc>
                  <a:txBody>
                    <a:bodyPr/>
                    <a:lstStyle/>
                    <a:p>
                      <a:r>
                        <a:rPr sz="1300" b="1">
                          <a:solidFill>
                            <a:srgbClr val="1B2A4A"/>
                          </a:solidFill>
                          <a:latin typeface="Calibri"/>
                        </a:rPr>
                        <a:t>Go-live</a:t>
                      </a:r>
                    </a:p>
                  </a:txBody>
                  <a:tcPr>
                    <a:solidFill>
                      <a:srgbClr val="EAF2FC"/>
                    </a:solidFill>
                  </a:tcPr>
                </a:tc>
                <a:tc>
                  <a:txBody>
                    <a:bodyPr/>
                    <a:lstStyle/>
                    <a:p>
                      <a:r>
                        <a:rPr sz="1300" b="0">
                          <a:solidFill>
                            <a:srgbClr val="1F1F1F"/>
                          </a:solidFill>
                          <a:latin typeface="Calibri"/>
                        </a:rPr>
                        <a:t>mulai dipakai sungguhan</a:t>
                      </a:r>
                    </a:p>
                  </a:txBody>
                  <a:tcPr>
                    <a:solidFill>
                      <a:srgbClr val="EAF2FC"/>
                    </a:solidFill>
                  </a:tcPr>
                </a:tc>
              </a:tr>
              <a:tr h="528320">
                <a:tc>
                  <a:txBody>
                    <a:bodyPr/>
                    <a:lstStyle/>
                    <a:p>
                      <a:r>
                        <a:rPr sz="1300" b="1">
                          <a:solidFill>
                            <a:srgbClr val="1B2A4A"/>
                          </a:solidFill>
                          <a:latin typeface="Calibri"/>
                        </a:rPr>
                        <a:t>Phase gate</a:t>
                      </a:r>
                    </a:p>
                  </a:txBody>
                  <a:tcPr>
                    <a:solidFill>
                      <a:srgbClr val="FFFFFF"/>
                    </a:solidFill>
                  </a:tcPr>
                </a:tc>
                <a:tc>
                  <a:txBody>
                    <a:bodyPr/>
                    <a:lstStyle/>
                    <a:p>
                      <a:r>
                        <a:rPr sz="1300" b="0">
                          <a:solidFill>
                            <a:srgbClr val="1F1F1F"/>
                          </a:solidFill>
                          <a:latin typeface="Calibri"/>
                        </a:rPr>
                        <a:t>pemeriksaan sebelum tahap berikutnya</a:t>
                      </a:r>
                    </a:p>
                  </a:txBody>
                  <a:tcPr>
                    <a:solidFill>
                      <a:srgbClr val="FFFFFF"/>
                    </a:solidFill>
                  </a:tcPr>
                </a:tc>
              </a:tr>
              <a:tr h="528320">
                <a:tc>
                  <a:txBody>
                    <a:bodyPr/>
                    <a:lstStyle/>
                    <a:p>
                      <a:r>
                        <a:rPr sz="1300" b="1">
                          <a:solidFill>
                            <a:srgbClr val="1B2A4A"/>
                          </a:solidFill>
                          <a:latin typeface="Calibri"/>
                        </a:rPr>
                        <a:t>Waterfall</a:t>
                      </a:r>
                    </a:p>
                  </a:txBody>
                  <a:tcPr>
                    <a:solidFill>
                      <a:srgbClr val="EAF2FC"/>
                    </a:solidFill>
                  </a:tcPr>
                </a:tc>
                <a:tc>
                  <a:txBody>
                    <a:bodyPr/>
                    <a:lstStyle/>
                    <a:p>
                      <a:r>
                        <a:rPr sz="1300" b="0">
                          <a:solidFill>
                            <a:srgbClr val="1F1F1F"/>
                          </a:solidFill>
                          <a:latin typeface="Calibri"/>
                        </a:rPr>
                        <a:t>berurutan, diluncurkan sekaligus</a:t>
                      </a:r>
                    </a:p>
                  </a:txBody>
                  <a:tcPr>
                    <a:solidFill>
                      <a:srgbClr val="EAF2FC"/>
                    </a:solidFill>
                  </a:tcPr>
                </a:tc>
              </a:tr>
              <a:tr h="528320">
                <a:tc>
                  <a:txBody>
                    <a:bodyPr/>
                    <a:lstStyle/>
                    <a:p>
                      <a:r>
                        <a:rPr sz="1300" b="1">
                          <a:solidFill>
                            <a:srgbClr val="1B2A4A"/>
                          </a:solidFill>
                          <a:latin typeface="Calibri"/>
                        </a:rPr>
                        <a:t>Agile</a:t>
                      </a:r>
                    </a:p>
                  </a:txBody>
                  <a:tcPr>
                    <a:solidFill>
                      <a:srgbClr val="FFFFFF"/>
                    </a:solidFill>
                  </a:tcPr>
                </a:tc>
                <a:tc>
                  <a:txBody>
                    <a:bodyPr/>
                    <a:lstStyle/>
                    <a:p>
                      <a:r>
                        <a:rPr sz="1300" b="0">
                          <a:solidFill>
                            <a:srgbClr val="1F1F1F"/>
                          </a:solidFill>
                          <a:latin typeface="Calibri"/>
                        </a:rPr>
                        <a:t>putaran pendek, langsung dicoba pengguna</a:t>
                      </a:r>
                    </a:p>
                  </a:txBody>
                  <a:tcPr>
                    <a:solidFill>
                      <a:srgbClr val="FFFFFF"/>
                    </a:solidFill>
                  </a:tcPr>
                </a:tc>
              </a:tr>
              <a:tr h="528320">
                <a:tc>
                  <a:txBody>
                    <a:bodyPr/>
                    <a:lstStyle/>
                    <a:p>
                      <a:r>
                        <a:rPr sz="1300" b="1">
                          <a:solidFill>
                            <a:srgbClr val="1B2A4A"/>
                          </a:solidFill>
                          <a:latin typeface="Calibri"/>
                        </a:rPr>
                        <a:t>Hybrid</a:t>
                      </a:r>
                    </a:p>
                  </a:txBody>
                  <a:tcPr>
                    <a:solidFill>
                      <a:srgbClr val="EAF2FC"/>
                    </a:solidFill>
                  </a:tcPr>
                </a:tc>
                <a:tc>
                  <a:txBody>
                    <a:bodyPr/>
                    <a:lstStyle/>
                    <a:p>
                      <a:r>
                        <a:rPr sz="1300" b="0">
                          <a:solidFill>
                            <a:srgbClr val="1F1F1F"/>
                          </a:solidFill>
                          <a:latin typeface="Calibri"/>
                        </a:rPr>
                        <a:t>gabungan Waterfall dan Agile</a:t>
                      </a:r>
                    </a:p>
                  </a:txBody>
                  <a:tcPr>
                    <a:solidFill>
                      <a:srgbClr val="EAF2FC"/>
                    </a:solidFill>
                  </a:tcPr>
                </a:tc>
              </a:tr>
              <a:tr h="528320">
                <a:tc>
                  <a:txBody>
                    <a:bodyPr/>
                    <a:lstStyle/>
                    <a:p>
                      <a:r>
                        <a:rPr sz="1300" b="1">
                          <a:solidFill>
                            <a:srgbClr val="1B2A4A"/>
                          </a:solidFill>
                          <a:latin typeface="Calibri"/>
                        </a:rPr>
                        <a:t>Triple constraint</a:t>
                      </a:r>
                    </a:p>
                  </a:txBody>
                  <a:tcPr>
                    <a:solidFill>
                      <a:srgbClr val="FFFFFF"/>
                    </a:solidFill>
                  </a:tcPr>
                </a:tc>
                <a:tc>
                  <a:txBody>
                    <a:bodyPr/>
                    <a:lstStyle/>
                    <a:p>
                      <a:r>
                        <a:rPr sz="1300" b="0">
                          <a:solidFill>
                            <a:srgbClr val="1F1F1F"/>
                          </a:solidFill>
                          <a:latin typeface="Calibri"/>
                        </a:rPr>
                        <a:t>3 batasan: isi pekerjaan, waktu, biaya</a:t>
                      </a:r>
                    </a:p>
                  </a:txBody>
                  <a:tcPr>
                    <a:solidFill>
                      <a:srgbClr val="FFFFFF"/>
                    </a:solidFill>
                  </a:tcPr>
                </a:tc>
              </a:tr>
              <a:tr h="528320">
                <a:tc>
                  <a:txBody>
                    <a:bodyPr/>
                    <a:lstStyle/>
                    <a:p>
                      <a:r>
                        <a:rPr sz="1300" b="1">
                          <a:solidFill>
                            <a:srgbClr val="1B2A4A"/>
                          </a:solidFill>
                          <a:latin typeface="Calibri"/>
                        </a:rPr>
                        <a:t>Audit internal</a:t>
                      </a:r>
                    </a:p>
                  </a:txBody>
                  <a:tcPr>
                    <a:solidFill>
                      <a:srgbClr val="EAF2FC"/>
                    </a:solidFill>
                  </a:tcPr>
                </a:tc>
                <a:tc>
                  <a:txBody>
                    <a:bodyPr/>
                    <a:lstStyle/>
                    <a:p>
                      <a:r>
                        <a:rPr sz="1300" b="0">
                          <a:solidFill>
                            <a:srgbClr val="1F1F1F"/>
                          </a:solidFill>
                          <a:latin typeface="Calibri"/>
                        </a:rPr>
                        <a:t>pemeriksa di dalam instansi, lapor ke pimpinan</a:t>
                      </a:r>
                    </a:p>
                  </a:txBody>
                  <a:tcPr>
                    <a:solidFill>
                      <a:srgbClr val="EAF2FC"/>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200" b="1" i="0">
                <a:solidFill>
                  <a:srgbClr val="1B2A4A"/>
                </a:solidFill>
                <a:latin typeface="Cambria"/>
              </a:rPr>
              <a:t>Daftar Pustaka</a:t>
            </a:r>
          </a:p>
        </p:txBody>
      </p:sp>
      <p:sp>
        <p:nvSpPr>
          <p:cNvPr id="3" name="TextBox 2"/>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13</a:t>
            </a:r>
          </a:p>
        </p:txBody>
      </p:sp>
      <p:sp>
        <p:nvSpPr>
          <p:cNvPr id="4" name="TextBox 3"/>
          <p:cNvSpPr txBox="1"/>
          <p:nvPr/>
        </p:nvSpPr>
        <p:spPr>
          <a:xfrm>
            <a:off x="548640" y="1280160"/>
            <a:ext cx="11064240" cy="5029200"/>
          </a:xfrm>
          <a:prstGeom prst="rect">
            <a:avLst/>
          </a:prstGeom>
          <a:noFill/>
        </p:spPr>
        <p:txBody>
          <a:bodyPr wrap="square" anchor="t" lIns="45720" rIns="45720">
            <a:spAutoFit/>
          </a:bodyPr>
          <a:lstStyle/>
          <a:p>
            <a:pPr algn="l">
              <a:spcAft>
                <a:spcPts val="1000"/>
              </a:spcAft>
            </a:pPr>
            <a:r>
              <a:rPr sz="1400" b="0" i="0">
                <a:solidFill>
                  <a:srgbClr val="1F1F1F"/>
                </a:solidFill>
                <a:latin typeface="Calibri"/>
              </a:rPr>
              <a:t>Crowe, A. (2006). Alpha project managers: What the top 2% know that everyone else does not. Velociteach.</a:t>
            </a:r>
          </a:p>
          <a:p>
            <a:pPr algn="l">
              <a:spcAft>
                <a:spcPts val="1000"/>
              </a:spcAft>
            </a:pPr>
            <a:r>
              <a:rPr sz="1400" b="0" i="0">
                <a:solidFill>
                  <a:srgbClr val="1F1F1F"/>
                </a:solidFill>
                <a:latin typeface="Calibri"/>
              </a:rPr>
              <a:t>Financial Conduct Authority. (2022). Final notice: TSB Bank plc. https://www.fca.org.uk/publication/final-notices/tsb-bank-plc-2022.pdf</a:t>
            </a:r>
          </a:p>
          <a:p>
            <a:pPr algn="l">
              <a:spcAft>
                <a:spcPts val="1000"/>
              </a:spcAft>
            </a:pPr>
            <a:r>
              <a:rPr sz="1400" b="0" i="0">
                <a:solidFill>
                  <a:srgbClr val="1F1F1F"/>
                </a:solidFill>
                <a:latin typeface="Calibri"/>
              </a:rPr>
              <a:t>Luthfi, E. T. (2026). IT project management: Pertemuan 4 [Slide perkuliahan]. Program Studi S2 Informatika, Universitas Amikom Yogyakarta.</a:t>
            </a:r>
          </a:p>
          <a:p>
            <a:pPr algn="l">
              <a:spcAft>
                <a:spcPts val="1000"/>
              </a:spcAft>
            </a:pPr>
            <a:r>
              <a:rPr sz="1400" b="0" i="0">
                <a:solidFill>
                  <a:srgbClr val="1F1F1F"/>
                </a:solidFill>
                <a:latin typeface="Calibri"/>
              </a:rPr>
              <a:t>Office of the Auditor General of Canada. (2018). Report 1—Building and implementing the Phoenix pay system. 2018 Spring Reports of the Auditor General of Canada.</a:t>
            </a:r>
          </a:p>
          <a:p>
            <a:pPr algn="l">
              <a:spcAft>
                <a:spcPts val="1000"/>
              </a:spcAft>
            </a:pPr>
            <a:r>
              <a:rPr sz="1400" b="0" i="0">
                <a:solidFill>
                  <a:srgbClr val="1F1F1F"/>
                </a:solidFill>
                <a:latin typeface="Calibri"/>
              </a:rPr>
              <a:t>Project Management Institute. (2008). A guide to the project management body of knowledge (PMBOK® Guide) (4th ed.). Project Management Institute.</a:t>
            </a:r>
          </a:p>
          <a:p>
            <a:pPr algn="l">
              <a:spcAft>
                <a:spcPts val="1000"/>
              </a:spcAft>
            </a:pPr>
            <a:r>
              <a:rPr sz="1400" b="0" i="0">
                <a:solidFill>
                  <a:srgbClr val="1F1F1F"/>
                </a:solidFill>
                <a:latin typeface="Calibri"/>
              </a:rPr>
              <a:t>Project Management Institute. (2021). A guide to the project management body of knowledge (PMBOK® Guide) (7th ed.). Project Management Institute.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