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Selamat pagi/siang. Saya membahas mengapa proyek sistem gaji pemerintah Kanada, Phoenix, gagal. Fokusnya: bagaimana tenaga dan waktu proyek, atau effort, dibagi ke lima kelompok kegiatan pengelolaan proyek.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Phoenix adalah sistem gaji untuk 290 ribu pegawai di 101 lembaga Kanada, dibangun IBM. Uang yang disetujui 155 juta dolar Kanada, padahal biayanya ternyata 274 juta. Sistem tetap dipakai 2016; setahun kemudian lebih dari 520 juta dolar gaji salah atau terlambat. Saya memilih kasus ini karena diperiksa resmi oleh lembaga pemeriksa negara Kanada, setara BPK, yang memakai buku PMBOK seperti materi kuliah kita.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Titik biru adalah kejadian proyek; tanda silang merah adalah pemeriksaan yang dilewati. 2012: biaya membengkak tetapi rencana tidak disusun ulang, lebih dari 100 fitur dibuang. 2015: uji coba dibatalkan. Panel kanan memperbesar awal 2016: saran untuk meluncurkan bertahap diabaikan, sistem dilaporkan siap tanpa keputusan tertulis, dan jeda antartahap hanya dua bulan dari rencana tujuh.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Pengelolaan proyek punya lima kelompok kegiatan: memulai, merencanakan, mengerjakan, memeriksa, dan menutup, yang berjalan bersamaan. Batang biru dan oranye adalah survei Crowe dari slide kuliah: manajer terbaik merencanakan 21 persen. Batang hijau berarsir adalah perkiraan saya untuk Phoenix: merencanakan 8 persen, mengerjakan 86 persen, memeriksa hanya 3 persen. Angkanya perkiraan, tetapi polanya jelas.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Pertama, saat biaya naik 77 persen, rencana tidak disusun ulang; yang dilakukan membuang fitur. Kedua, pemeriksaan dan pengujian dikurangi justru saat paling dibutuhkan: fitur yang gagal diuji tidak diuji ulang. Tanggal dan uang dikunci, jadi mutu yang dikorbankan. Ketiga, tidak ada pemeriksaan sebelum lanjut ke tahap kedua.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Phoenix memakai Waterfall: rencana lengkap, dibangun, lalu diluncurkan sekaligus, sehingga pengujian menumpuk di akhir dan mudah dikurangi. Agile bekerja dalam putaran pendek yang langsung diuji. Untuk Phoenix yang cocok adalah gabungan, atau hybrid: bagian dasar direncanakan lengkap, peluncuran bertahap sambil sistem lama tetap jalan.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Empat rekomendasi: buktikan perkiraan manfaat dengan data; bila biaya melenceng jauh, wajib rencana baru dan lapor; uji coba dan menjalankan sistem lama bersama yang baru tidak boleh dihapus; dan ada pemeriksa dari luar tim yang lapor ke pimpinan, termasuk keputusan tertulis sebelum sistem dipakai. Pelajarannya: tanggal peluncuran tidak boleh lebih kuat daripada bukti kesiapan. Pola serupa terjadi di bank TSB dan Coretax, dan relevan untuk BMKG. Terima kasih.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cadangan untuk menjawab pertanyaan; tidak dipresentasikan.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cadangan; tidak dipresentasikan.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_amikom.png"/>
          <p:cNvPicPr>
            <a:picLocks noChangeAspect="1"/>
          </p:cNvPicPr>
          <p:nvPr/>
        </p:nvPicPr>
        <p:blipFill>
          <a:blip r:embed="rId2"/>
          <a:stretch>
            <a:fillRect/>
          </a:stretch>
        </p:blipFill>
        <p:spPr>
          <a:xfrm>
            <a:off x="10561320" y="411480"/>
            <a:ext cx="1035614" cy="1005840"/>
          </a:xfrm>
          <a:prstGeom prst="rect">
            <a:avLst/>
          </a:prstGeom>
        </p:spPr>
      </p:pic>
      <p:sp>
        <p:nvSpPr>
          <p:cNvPr id="3" name="TextBox 2"/>
          <p:cNvSpPr txBox="1"/>
          <p:nvPr/>
        </p:nvSpPr>
        <p:spPr>
          <a:xfrm>
            <a:off x="822960" y="1188720"/>
            <a:ext cx="9509760" cy="457200"/>
          </a:xfrm>
          <a:prstGeom prst="rect">
            <a:avLst/>
          </a:prstGeom>
          <a:noFill/>
        </p:spPr>
        <p:txBody>
          <a:bodyPr wrap="square" anchor="t" lIns="45720" rIns="45720">
            <a:spAutoFit/>
          </a:bodyPr>
          <a:lstStyle/>
          <a:p>
            <a:pPr algn="l">
              <a:spcAft>
                <a:spcPts val="600"/>
              </a:spcAft>
            </a:pPr>
            <a:r>
              <a:rPr sz="1600" b="1" i="0">
                <a:solidFill>
                  <a:srgbClr val="2A78D6"/>
                </a:solidFill>
                <a:latin typeface="Calibri"/>
              </a:rPr>
              <a:t>TUGAS 1 — IT PROJECT MANAGEMENT</a:t>
            </a:r>
          </a:p>
        </p:txBody>
      </p:sp>
      <p:sp>
        <p:nvSpPr>
          <p:cNvPr id="4" name="TextBox 3"/>
          <p:cNvSpPr txBox="1"/>
          <p:nvPr/>
        </p:nvSpPr>
        <p:spPr>
          <a:xfrm>
            <a:off x="822960" y="1691640"/>
            <a:ext cx="9509760" cy="1371600"/>
          </a:xfrm>
          <a:prstGeom prst="rect">
            <a:avLst/>
          </a:prstGeom>
          <a:noFill/>
        </p:spPr>
        <p:txBody>
          <a:bodyPr wrap="square" anchor="t" lIns="45720" rIns="45720">
            <a:spAutoFit/>
          </a:bodyPr>
          <a:lstStyle/>
          <a:p>
            <a:pPr algn="l">
              <a:spcAft>
                <a:spcPts val="0"/>
              </a:spcAft>
            </a:pPr>
            <a:r>
              <a:rPr sz="3200" b="1" i="0">
                <a:solidFill>
                  <a:srgbClr val="1B2A4A"/>
                </a:solidFill>
                <a:latin typeface="Cambria"/>
              </a:rPr>
              <a:t>Analisis Distribusi Effort Proyek:</a:t>
            </a:r>
          </a:p>
          <a:p>
            <a:pPr algn="l">
              <a:spcAft>
                <a:spcPts val="0"/>
              </a:spcAft>
            </a:pPr>
            <a:r>
              <a:rPr sz="3200" b="1" i="0">
                <a:solidFill>
                  <a:srgbClr val="1B2A4A"/>
                </a:solidFill>
                <a:latin typeface="Cambria"/>
              </a:rPr>
              <a:t>Studi Kasus Phoenix Pay System (Kanada)</a:t>
            </a:r>
          </a:p>
        </p:txBody>
      </p:sp>
      <p:sp>
        <p:nvSpPr>
          <p:cNvPr id="5" name="TextBox 4"/>
          <p:cNvSpPr txBox="1"/>
          <p:nvPr/>
        </p:nvSpPr>
        <p:spPr>
          <a:xfrm>
            <a:off x="822960" y="3154680"/>
            <a:ext cx="10515600" cy="731520"/>
          </a:xfrm>
          <a:prstGeom prst="rect">
            <a:avLst/>
          </a:prstGeom>
          <a:noFill/>
        </p:spPr>
        <p:txBody>
          <a:bodyPr wrap="square" anchor="t" lIns="45720" rIns="45720">
            <a:spAutoFit/>
          </a:bodyPr>
          <a:lstStyle/>
          <a:p>
            <a:pPr algn="l">
              <a:spcAft>
                <a:spcPts val="600"/>
              </a:spcAft>
            </a:pPr>
            <a:r>
              <a:rPr sz="1800" b="0" i="1">
                <a:solidFill>
                  <a:srgbClr val="52514E"/>
                </a:solidFill>
                <a:latin typeface="Calibri"/>
              </a:rPr>
              <a:t>Mengapa sistem gaji untuk 290.000 pegawai pemerintah gagal, dilihat dari pembagian tenaga dan waktu (effort) proyek</a:t>
            </a:r>
          </a:p>
        </p:txBody>
      </p:sp>
      <p:sp>
        <p:nvSpPr>
          <p:cNvPr id="6" name="Oval 5"/>
          <p:cNvSpPr/>
          <p:nvPr/>
        </p:nvSpPr>
        <p:spPr>
          <a:xfrm>
            <a:off x="822960" y="4343400"/>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7" name="TextBox 6"/>
          <p:cNvSpPr txBox="1"/>
          <p:nvPr/>
        </p:nvSpPr>
        <p:spPr>
          <a:xfrm>
            <a:off x="457200" y="4846320"/>
            <a:ext cx="1188720" cy="822960"/>
          </a:xfrm>
          <a:prstGeom prst="rect">
            <a:avLst/>
          </a:prstGeom>
          <a:noFill/>
        </p:spPr>
        <p:txBody>
          <a:bodyPr wrap="square" anchor="t" lIns="45720" rIns="45720">
            <a:spAutoFit/>
          </a:bodyPr>
          <a:lstStyle/>
          <a:p>
            <a:pPr algn="ctr">
              <a:spcAft>
                <a:spcPts val="0"/>
              </a:spcAft>
            </a:pPr>
            <a:r>
              <a:rPr sz="1200" b="0" i="0">
                <a:solidFill>
                  <a:srgbClr val="52514E"/>
                </a:solidFill>
                <a:latin typeface="Calibri"/>
              </a:rPr>
              <a:t>Initiating</a:t>
            </a:r>
          </a:p>
          <a:p>
            <a:pPr algn="ctr">
              <a:spcAft>
                <a:spcPts val="0"/>
              </a:spcAft>
            </a:pPr>
            <a:r>
              <a:rPr sz="1200" b="0" i="1">
                <a:solidFill>
                  <a:srgbClr val="2A78D6"/>
                </a:solidFill>
                <a:latin typeface="Calibri"/>
              </a:rPr>
              <a:t>memulai</a:t>
            </a:r>
          </a:p>
        </p:txBody>
      </p:sp>
      <p:sp>
        <p:nvSpPr>
          <p:cNvPr id="8" name="Oval 7"/>
          <p:cNvSpPr/>
          <p:nvPr/>
        </p:nvSpPr>
        <p:spPr>
          <a:xfrm>
            <a:off x="2423160" y="4343400"/>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2057400" y="4846320"/>
            <a:ext cx="1188720" cy="822960"/>
          </a:xfrm>
          <a:prstGeom prst="rect">
            <a:avLst/>
          </a:prstGeom>
          <a:noFill/>
        </p:spPr>
        <p:txBody>
          <a:bodyPr wrap="square" anchor="t" lIns="45720" rIns="45720">
            <a:spAutoFit/>
          </a:bodyPr>
          <a:lstStyle/>
          <a:p>
            <a:pPr algn="ctr">
              <a:spcAft>
                <a:spcPts val="0"/>
              </a:spcAft>
            </a:pPr>
            <a:r>
              <a:rPr sz="1200" b="0" i="0">
                <a:solidFill>
                  <a:srgbClr val="52514E"/>
                </a:solidFill>
                <a:latin typeface="Calibri"/>
              </a:rPr>
              <a:t>Planning</a:t>
            </a:r>
          </a:p>
          <a:p>
            <a:pPr algn="ctr">
              <a:spcAft>
                <a:spcPts val="0"/>
              </a:spcAft>
            </a:pPr>
            <a:r>
              <a:rPr sz="1200" b="0" i="1">
                <a:solidFill>
                  <a:srgbClr val="2A78D6"/>
                </a:solidFill>
                <a:latin typeface="Calibri"/>
              </a:rPr>
              <a:t>merencanakan</a:t>
            </a:r>
          </a:p>
        </p:txBody>
      </p:sp>
      <p:sp>
        <p:nvSpPr>
          <p:cNvPr id="10" name="Oval 9"/>
          <p:cNvSpPr/>
          <p:nvPr/>
        </p:nvSpPr>
        <p:spPr>
          <a:xfrm>
            <a:off x="4023360" y="4343400"/>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1" name="TextBox 10"/>
          <p:cNvSpPr txBox="1"/>
          <p:nvPr/>
        </p:nvSpPr>
        <p:spPr>
          <a:xfrm>
            <a:off x="3657600" y="4846320"/>
            <a:ext cx="1188720" cy="822960"/>
          </a:xfrm>
          <a:prstGeom prst="rect">
            <a:avLst/>
          </a:prstGeom>
          <a:noFill/>
        </p:spPr>
        <p:txBody>
          <a:bodyPr wrap="square" anchor="t" lIns="45720" rIns="45720">
            <a:spAutoFit/>
          </a:bodyPr>
          <a:lstStyle/>
          <a:p>
            <a:pPr algn="ctr">
              <a:spcAft>
                <a:spcPts val="0"/>
              </a:spcAft>
            </a:pPr>
            <a:r>
              <a:rPr sz="1200" b="0" i="0">
                <a:solidFill>
                  <a:srgbClr val="52514E"/>
                </a:solidFill>
                <a:latin typeface="Calibri"/>
              </a:rPr>
              <a:t>Executing</a:t>
            </a:r>
          </a:p>
          <a:p>
            <a:pPr algn="ctr">
              <a:spcAft>
                <a:spcPts val="0"/>
              </a:spcAft>
            </a:pPr>
            <a:r>
              <a:rPr sz="1200" b="0" i="1">
                <a:solidFill>
                  <a:srgbClr val="2A78D6"/>
                </a:solidFill>
                <a:latin typeface="Calibri"/>
              </a:rPr>
              <a:t>mengerjakan</a:t>
            </a:r>
          </a:p>
        </p:txBody>
      </p:sp>
      <p:sp>
        <p:nvSpPr>
          <p:cNvPr id="12" name="Oval 11"/>
          <p:cNvSpPr/>
          <p:nvPr/>
        </p:nvSpPr>
        <p:spPr>
          <a:xfrm>
            <a:off x="5623560" y="4343400"/>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3" name="TextBox 12"/>
          <p:cNvSpPr txBox="1"/>
          <p:nvPr/>
        </p:nvSpPr>
        <p:spPr>
          <a:xfrm>
            <a:off x="5257800" y="4846320"/>
            <a:ext cx="1188720" cy="822960"/>
          </a:xfrm>
          <a:prstGeom prst="rect">
            <a:avLst/>
          </a:prstGeom>
          <a:noFill/>
        </p:spPr>
        <p:txBody>
          <a:bodyPr wrap="square" anchor="t" lIns="45720" rIns="45720">
            <a:spAutoFit/>
          </a:bodyPr>
          <a:lstStyle/>
          <a:p>
            <a:pPr algn="ctr">
              <a:spcAft>
                <a:spcPts val="0"/>
              </a:spcAft>
            </a:pPr>
            <a:r>
              <a:rPr sz="1200" b="0" i="0">
                <a:solidFill>
                  <a:srgbClr val="52514E"/>
                </a:solidFill>
                <a:latin typeface="Calibri"/>
              </a:rPr>
              <a:t>Monitoring &amp;
Controlling</a:t>
            </a:r>
          </a:p>
          <a:p>
            <a:pPr algn="ctr">
              <a:spcAft>
                <a:spcPts val="0"/>
              </a:spcAft>
            </a:pPr>
            <a:r>
              <a:rPr sz="1200" b="0" i="1">
                <a:solidFill>
                  <a:srgbClr val="2A78D6"/>
                </a:solidFill>
                <a:latin typeface="Calibri"/>
              </a:rPr>
              <a:t>memeriksa</a:t>
            </a:r>
          </a:p>
        </p:txBody>
      </p:sp>
      <p:sp>
        <p:nvSpPr>
          <p:cNvPr id="14" name="Oval 13"/>
          <p:cNvSpPr/>
          <p:nvPr/>
        </p:nvSpPr>
        <p:spPr>
          <a:xfrm>
            <a:off x="7223760" y="4343400"/>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5</a:t>
            </a:r>
          </a:p>
        </p:txBody>
      </p:sp>
      <p:sp>
        <p:nvSpPr>
          <p:cNvPr id="15" name="TextBox 14"/>
          <p:cNvSpPr txBox="1"/>
          <p:nvPr/>
        </p:nvSpPr>
        <p:spPr>
          <a:xfrm>
            <a:off x="6858000" y="4846320"/>
            <a:ext cx="1188720" cy="822960"/>
          </a:xfrm>
          <a:prstGeom prst="rect">
            <a:avLst/>
          </a:prstGeom>
          <a:noFill/>
        </p:spPr>
        <p:txBody>
          <a:bodyPr wrap="square" anchor="t" lIns="45720" rIns="45720">
            <a:spAutoFit/>
          </a:bodyPr>
          <a:lstStyle/>
          <a:p>
            <a:pPr algn="ctr">
              <a:spcAft>
                <a:spcPts val="0"/>
              </a:spcAft>
            </a:pPr>
            <a:r>
              <a:rPr sz="1200" b="0" i="0">
                <a:solidFill>
                  <a:srgbClr val="52514E"/>
                </a:solidFill>
                <a:latin typeface="Calibri"/>
              </a:rPr>
              <a:t>Closing</a:t>
            </a:r>
          </a:p>
          <a:p>
            <a:pPr algn="ctr">
              <a:spcAft>
                <a:spcPts val="0"/>
              </a:spcAft>
            </a:pPr>
            <a:r>
              <a:rPr sz="1200" b="0" i="1">
                <a:solidFill>
                  <a:srgbClr val="2A78D6"/>
                </a:solidFill>
                <a:latin typeface="Calibri"/>
              </a:rPr>
              <a:t>menutup</a:t>
            </a:r>
          </a:p>
        </p:txBody>
      </p:sp>
      <p:sp>
        <p:nvSpPr>
          <p:cNvPr id="16" name="TextBox 15"/>
          <p:cNvSpPr txBox="1"/>
          <p:nvPr/>
        </p:nvSpPr>
        <p:spPr>
          <a:xfrm>
            <a:off x="9052560" y="4297680"/>
            <a:ext cx="2743200" cy="1645920"/>
          </a:xfrm>
          <a:prstGeom prst="rect">
            <a:avLst/>
          </a:prstGeom>
          <a:noFill/>
        </p:spPr>
        <p:txBody>
          <a:bodyPr wrap="square" anchor="t" lIns="45720" rIns="45720">
            <a:spAutoFit/>
          </a:bodyPr>
          <a:lstStyle/>
          <a:p>
            <a:pPr algn="l">
              <a:spcAft>
                <a:spcPts val="200"/>
              </a:spcAft>
            </a:pPr>
            <a:r>
              <a:rPr sz="1300" b="1" i="0">
                <a:solidFill>
                  <a:srgbClr val="1F1F1F"/>
                </a:solidFill>
                <a:latin typeface="Calibri"/>
              </a:rPr>
              <a:t>Nama: </a:t>
            </a:r>
            <a:r>
              <a:rPr sz="1300" b="0" i="0">
                <a:solidFill>
                  <a:srgbClr val="1F1F1F"/>
                </a:solidFill>
                <a:latin typeface="Calibri"/>
              </a:rPr>
              <a:t>EKA PUTRA KURNIA</a:t>
            </a:r>
          </a:p>
          <a:p>
            <a:pPr algn="l">
              <a:spcAft>
                <a:spcPts val="200"/>
              </a:spcAft>
            </a:pPr>
            <a:r>
              <a:rPr sz="1300" b="1" i="0">
                <a:solidFill>
                  <a:srgbClr val="1F1F1F"/>
                </a:solidFill>
                <a:latin typeface="Calibri"/>
              </a:rPr>
              <a:t>NIM: </a:t>
            </a:r>
            <a:r>
              <a:rPr sz="1300" b="0" i="0">
                <a:solidFill>
                  <a:srgbClr val="1F1F1F"/>
                </a:solidFill>
                <a:latin typeface="Calibri"/>
              </a:rPr>
              <a:t>25.55.2927</a:t>
            </a:r>
          </a:p>
          <a:p>
            <a:pPr algn="l">
              <a:spcAft>
                <a:spcPts val="200"/>
              </a:spcAft>
            </a:pPr>
            <a:r>
              <a:rPr sz="1300" b="0" i="0">
                <a:solidFill>
                  <a:srgbClr val="1F1F1F"/>
                </a:solidFill>
                <a:latin typeface="Calibri"/>
              </a:rPr>
              <a:t>S2 Informatika — Universitas Amikom Yogyakarta</a:t>
            </a:r>
          </a:p>
          <a:p>
            <a:pPr algn="l">
              <a:spcAft>
                <a:spcPts val="200"/>
              </a:spcAft>
            </a:pPr>
            <a:r>
              <a:rPr sz="1300" b="0" i="0">
                <a:solidFill>
                  <a:srgbClr val="1F1F1F"/>
                </a:solidFill>
                <a:latin typeface="Calibri"/>
              </a:rPr>
              <a:t>Dosen: Emha Taufiq Luthfi, Ph.D.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600"/>
              </a:spcAft>
            </a:pPr>
            <a:r>
              <a:rPr sz="3200" b="1" i="0">
                <a:solidFill>
                  <a:srgbClr val="1B2A4A"/>
                </a:solidFill>
                <a:latin typeface="Cambria"/>
              </a:rPr>
              <a:t>Phoenix Pay: kasusnya dan mengapa dipilih</a:t>
            </a:r>
          </a:p>
        </p:txBody>
      </p:sp>
      <p:pic>
        <p:nvPicPr>
          <p:cNvPr id="3" name="Picture 2" descr="logo_amikom.png"/>
          <p:cNvPicPr>
            <a:picLocks noChangeAspect="1"/>
          </p:cNvPicPr>
          <p:nvPr/>
        </p:nvPicPr>
        <p:blipFill>
          <a:blip r:embed="rId2"/>
          <a:stretch>
            <a:fillRect/>
          </a:stretch>
        </p:blipFill>
        <p:spPr>
          <a:xfrm>
            <a:off x="320040" y="6382512"/>
            <a:ext cx="376587" cy="365760"/>
          </a:xfrm>
          <a:prstGeom prst="rect">
            <a:avLst/>
          </a:prstGeom>
        </p:spPr>
      </p:pic>
      <p:sp>
        <p:nvSpPr>
          <p:cNvPr id="4" name="TextBox 3"/>
          <p:cNvSpPr txBox="1"/>
          <p:nvPr/>
        </p:nvSpPr>
        <p:spPr>
          <a:xfrm>
            <a:off x="11155680" y="6400800"/>
            <a:ext cx="731520" cy="320040"/>
          </a:xfrm>
          <a:prstGeom prst="rect">
            <a:avLst/>
          </a:prstGeom>
          <a:noFill/>
        </p:spPr>
        <p:txBody>
          <a:bodyPr wrap="square" anchor="t" lIns="45720" rIns="45720">
            <a:spAutoFit/>
          </a:bodyPr>
          <a:lstStyle/>
          <a:p>
            <a:pPr algn="r">
              <a:spcAft>
                <a:spcPts val="600"/>
              </a:spcAft>
            </a:pPr>
            <a:r>
              <a:rPr sz="1100" b="0" i="0">
                <a:solidFill>
                  <a:srgbClr val="898781"/>
                </a:solidFill>
                <a:latin typeface="Calibri"/>
              </a:rPr>
              <a:t>2</a:t>
            </a:r>
          </a:p>
        </p:txBody>
      </p:sp>
      <p:sp>
        <p:nvSpPr>
          <p:cNvPr id="5" name="Rounded Rectangle 4"/>
          <p:cNvSpPr/>
          <p:nvPr/>
        </p:nvSpPr>
        <p:spPr>
          <a:xfrm>
            <a:off x="548640" y="1325880"/>
            <a:ext cx="3429000" cy="210312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554480"/>
            <a:ext cx="3017520" cy="822960"/>
          </a:xfrm>
          <a:prstGeom prst="rect">
            <a:avLst/>
          </a:prstGeom>
          <a:noFill/>
        </p:spPr>
        <p:txBody>
          <a:bodyPr wrap="square" anchor="t" lIns="45720" rIns="45720">
            <a:spAutoFit/>
          </a:bodyPr>
          <a:lstStyle/>
          <a:p>
            <a:pPr algn="l">
              <a:spcAft>
                <a:spcPts val="600"/>
              </a:spcAft>
            </a:pPr>
            <a:r>
              <a:rPr sz="3000" b="1" i="0">
                <a:solidFill>
                  <a:srgbClr val="2A78D6"/>
                </a:solidFill>
                <a:latin typeface="Cambria"/>
              </a:rPr>
              <a:t>290.000</a:t>
            </a:r>
          </a:p>
        </p:txBody>
      </p:sp>
      <p:sp>
        <p:nvSpPr>
          <p:cNvPr id="7" name="TextBox 6"/>
          <p:cNvSpPr txBox="1"/>
          <p:nvPr/>
        </p:nvSpPr>
        <p:spPr>
          <a:xfrm>
            <a:off x="777240" y="2377439"/>
            <a:ext cx="3017520" cy="914400"/>
          </a:xfrm>
          <a:prstGeom prst="rect">
            <a:avLst/>
          </a:prstGeom>
          <a:noFill/>
        </p:spPr>
        <p:txBody>
          <a:bodyPr wrap="square" anchor="t" lIns="45720" rIns="45720">
            <a:spAutoFit/>
          </a:bodyPr>
          <a:lstStyle/>
          <a:p>
            <a:pPr algn="l">
              <a:spcAft>
                <a:spcPts val="600"/>
              </a:spcAft>
            </a:pPr>
            <a:r>
              <a:rPr sz="1600" b="0" i="0">
                <a:solidFill>
                  <a:srgbClr val="1F1F1F"/>
                </a:solidFill>
                <a:latin typeface="Calibri"/>
              </a:rPr>
              <a:t>pegawai di 101 lembaga digaji lewat Phoenix</a:t>
            </a:r>
          </a:p>
        </p:txBody>
      </p:sp>
      <p:sp>
        <p:nvSpPr>
          <p:cNvPr id="8" name="Rounded Rectangle 7"/>
          <p:cNvSpPr/>
          <p:nvPr/>
        </p:nvSpPr>
        <p:spPr>
          <a:xfrm>
            <a:off x="4160520" y="1325880"/>
            <a:ext cx="3429000" cy="210312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554480"/>
            <a:ext cx="3017520" cy="822960"/>
          </a:xfrm>
          <a:prstGeom prst="rect">
            <a:avLst/>
          </a:prstGeom>
          <a:noFill/>
        </p:spPr>
        <p:txBody>
          <a:bodyPr wrap="square" anchor="t" lIns="45720" rIns="45720">
            <a:spAutoFit/>
          </a:bodyPr>
          <a:lstStyle/>
          <a:p>
            <a:pPr algn="l">
              <a:spcAft>
                <a:spcPts val="600"/>
              </a:spcAft>
            </a:pPr>
            <a:r>
              <a:rPr sz="3000" b="1" i="0">
                <a:solidFill>
                  <a:srgbClr val="2A78D6"/>
                </a:solidFill>
                <a:latin typeface="Cambria"/>
              </a:rPr>
              <a:t>C$155 → 274 jt</a:t>
            </a:r>
          </a:p>
        </p:txBody>
      </p:sp>
      <p:sp>
        <p:nvSpPr>
          <p:cNvPr id="10" name="TextBox 9"/>
          <p:cNvSpPr txBox="1"/>
          <p:nvPr/>
        </p:nvSpPr>
        <p:spPr>
          <a:xfrm>
            <a:off x="4389120" y="2377439"/>
            <a:ext cx="3017520" cy="914400"/>
          </a:xfrm>
          <a:prstGeom prst="rect">
            <a:avLst/>
          </a:prstGeom>
          <a:noFill/>
        </p:spPr>
        <p:txBody>
          <a:bodyPr wrap="square" anchor="t" lIns="45720" rIns="45720">
            <a:spAutoFit/>
          </a:bodyPr>
          <a:lstStyle/>
          <a:p>
            <a:pPr algn="l">
              <a:spcAft>
                <a:spcPts val="600"/>
              </a:spcAft>
            </a:pPr>
            <a:r>
              <a:rPr sz="1600" b="0" i="0">
                <a:solidFill>
                  <a:srgbClr val="1F1F1F"/>
                </a:solidFill>
                <a:latin typeface="Calibri"/>
              </a:rPr>
              <a:t>uang disetujui vs biaya yang ternyata dibutuhkan</a:t>
            </a:r>
          </a:p>
        </p:txBody>
      </p:sp>
      <p:sp>
        <p:nvSpPr>
          <p:cNvPr id="11" name="Rounded Rectangle 10"/>
          <p:cNvSpPr/>
          <p:nvPr/>
        </p:nvSpPr>
        <p:spPr>
          <a:xfrm>
            <a:off x="548640" y="3611880"/>
            <a:ext cx="3429000" cy="2103120"/>
          </a:xfrm>
          <a:prstGeom prst="roundRect">
            <a:avLst>
              <a:gd name="adj" fmla="val 8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840480"/>
            <a:ext cx="3017520" cy="822960"/>
          </a:xfrm>
          <a:prstGeom prst="rect">
            <a:avLst/>
          </a:prstGeom>
          <a:noFill/>
        </p:spPr>
        <p:txBody>
          <a:bodyPr wrap="square" anchor="t" lIns="45720" rIns="45720">
            <a:spAutoFit/>
          </a:bodyPr>
          <a:lstStyle/>
          <a:p>
            <a:pPr algn="l">
              <a:spcAft>
                <a:spcPts val="600"/>
              </a:spcAft>
            </a:pPr>
            <a:r>
              <a:rPr sz="3000" b="1" i="0">
                <a:solidFill>
                  <a:srgbClr val="D03B3B"/>
                </a:solidFill>
                <a:latin typeface="Cambria"/>
              </a:rPr>
              <a:t>&gt; C$520 jt</a:t>
            </a:r>
          </a:p>
        </p:txBody>
      </p:sp>
      <p:sp>
        <p:nvSpPr>
          <p:cNvPr id="13" name="TextBox 12"/>
          <p:cNvSpPr txBox="1"/>
          <p:nvPr/>
        </p:nvSpPr>
        <p:spPr>
          <a:xfrm>
            <a:off x="777240" y="4663440"/>
            <a:ext cx="3017520" cy="914400"/>
          </a:xfrm>
          <a:prstGeom prst="rect">
            <a:avLst/>
          </a:prstGeom>
          <a:noFill/>
        </p:spPr>
        <p:txBody>
          <a:bodyPr wrap="square" anchor="t" lIns="45720" rIns="45720">
            <a:spAutoFit/>
          </a:bodyPr>
          <a:lstStyle/>
          <a:p>
            <a:pPr algn="l">
              <a:spcAft>
                <a:spcPts val="600"/>
              </a:spcAft>
            </a:pPr>
            <a:r>
              <a:rPr sz="1600" b="0" i="0">
                <a:solidFill>
                  <a:srgbClr val="1F1F1F"/>
                </a:solidFill>
                <a:latin typeface="Calibri"/>
              </a:rPr>
              <a:t>gaji salah atau terlambat (Juni 2017)</a:t>
            </a:r>
          </a:p>
        </p:txBody>
      </p:sp>
      <p:sp>
        <p:nvSpPr>
          <p:cNvPr id="14" name="Rounded Rectangle 13"/>
          <p:cNvSpPr/>
          <p:nvPr/>
        </p:nvSpPr>
        <p:spPr>
          <a:xfrm>
            <a:off x="4160520" y="3611880"/>
            <a:ext cx="3429000" cy="2103120"/>
          </a:xfrm>
          <a:prstGeom prst="roundRect">
            <a:avLst>
              <a:gd name="adj" fmla="val 8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0" y="3840480"/>
            <a:ext cx="3017520" cy="822960"/>
          </a:xfrm>
          <a:prstGeom prst="rect">
            <a:avLst/>
          </a:prstGeom>
          <a:noFill/>
        </p:spPr>
        <p:txBody>
          <a:bodyPr wrap="square" anchor="t" lIns="45720" rIns="45720">
            <a:spAutoFit/>
          </a:bodyPr>
          <a:lstStyle/>
          <a:p>
            <a:pPr algn="l">
              <a:spcAft>
                <a:spcPts val="600"/>
              </a:spcAft>
            </a:pPr>
            <a:r>
              <a:rPr sz="3000" b="1" i="0">
                <a:solidFill>
                  <a:srgbClr val="D03B3B"/>
                </a:solidFill>
                <a:latin typeface="Cambria"/>
              </a:rPr>
              <a:t>51%</a:t>
            </a:r>
          </a:p>
        </p:txBody>
      </p:sp>
      <p:sp>
        <p:nvSpPr>
          <p:cNvPr id="16" name="TextBox 15"/>
          <p:cNvSpPr txBox="1"/>
          <p:nvPr/>
        </p:nvSpPr>
        <p:spPr>
          <a:xfrm>
            <a:off x="4389120" y="4663440"/>
            <a:ext cx="3017520" cy="914400"/>
          </a:xfrm>
          <a:prstGeom prst="rect">
            <a:avLst/>
          </a:prstGeom>
          <a:noFill/>
        </p:spPr>
        <p:txBody>
          <a:bodyPr wrap="square" anchor="t" lIns="45720" rIns="45720">
            <a:spAutoFit/>
          </a:bodyPr>
          <a:lstStyle/>
          <a:p>
            <a:pPr algn="l">
              <a:spcAft>
                <a:spcPts val="600"/>
              </a:spcAft>
            </a:pPr>
            <a:r>
              <a:rPr sz="1600" b="0" i="0">
                <a:solidFill>
                  <a:srgbClr val="1F1F1F"/>
                </a:solidFill>
                <a:latin typeface="Calibri"/>
              </a:rPr>
              <a:t>pegawai menerima slip gaji salah (April 2017)</a:t>
            </a:r>
          </a:p>
        </p:txBody>
      </p:sp>
      <p:sp>
        <p:nvSpPr>
          <p:cNvPr id="17" name="Rounded Rectangle 16"/>
          <p:cNvSpPr/>
          <p:nvPr/>
        </p:nvSpPr>
        <p:spPr>
          <a:xfrm>
            <a:off x="7909560" y="1325880"/>
            <a:ext cx="3749039" cy="4389120"/>
          </a:xfrm>
          <a:prstGeom prst="roundRect">
            <a:avLst>
              <a:gd name="adj" fmla="val 8000"/>
            </a:avLst>
          </a:prstGeom>
          <a:solidFill>
            <a:srgbClr val="FFFFFF"/>
          </a:solidFill>
          <a:ln w="1587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38160" y="1508760"/>
            <a:ext cx="3291840" cy="457200"/>
          </a:xfrm>
          <a:prstGeom prst="rect">
            <a:avLst/>
          </a:prstGeom>
          <a:noFill/>
        </p:spPr>
        <p:txBody>
          <a:bodyPr wrap="square" anchor="t" lIns="45720" rIns="45720">
            <a:spAutoFit/>
          </a:bodyPr>
          <a:lstStyle/>
          <a:p>
            <a:pPr algn="l">
              <a:spcAft>
                <a:spcPts val="600"/>
              </a:spcAft>
            </a:pPr>
            <a:r>
              <a:rPr sz="1900" b="1" i="0">
                <a:solidFill>
                  <a:srgbClr val="2A78D6"/>
                </a:solidFill>
                <a:latin typeface="Calibri"/>
              </a:rPr>
              <a:t>Mengapa kasus ini?</a:t>
            </a:r>
          </a:p>
        </p:txBody>
      </p:sp>
      <p:sp>
        <p:nvSpPr>
          <p:cNvPr id="19" name="TextBox 18"/>
          <p:cNvSpPr txBox="1"/>
          <p:nvPr/>
        </p:nvSpPr>
        <p:spPr>
          <a:xfrm>
            <a:off x="8138160" y="2057400"/>
            <a:ext cx="3291840" cy="3566160"/>
          </a:xfrm>
          <a:prstGeom prst="rect">
            <a:avLst/>
          </a:prstGeom>
          <a:noFill/>
        </p:spPr>
        <p:txBody>
          <a:bodyPr wrap="square" anchor="t" lIns="45720" rIns="45720">
            <a:spAutoFit/>
          </a:bodyPr>
          <a:lstStyle/>
          <a:p>
            <a:pPr algn="l">
              <a:spcAft>
                <a:spcPts val="1200"/>
              </a:spcAft>
            </a:pPr>
            <a:r>
              <a:rPr sz="1600" b="1" i="0">
                <a:solidFill>
                  <a:srgbClr val="1F1F1F"/>
                </a:solidFill>
                <a:latin typeface="Calibri"/>
              </a:rPr>
              <a:t>Diperiksa resmi </a:t>
            </a:r>
            <a:r>
              <a:rPr sz="1600" b="0" i="0">
                <a:solidFill>
                  <a:srgbClr val="1F1F1F"/>
                </a:solidFill>
                <a:latin typeface="Calibri"/>
              </a:rPr>
              <a:t>oleh OAG, lembaga pemeriksa negara Kanada (seperti BPK), 2018.</a:t>
            </a:r>
          </a:p>
          <a:p>
            <a:pPr algn="l">
              <a:spcAft>
                <a:spcPts val="1200"/>
              </a:spcAft>
            </a:pPr>
            <a:r>
              <a:rPr sz="1600" b="1" i="0">
                <a:solidFill>
                  <a:srgbClr val="1F1F1F"/>
                </a:solidFill>
                <a:latin typeface="Calibri"/>
              </a:rPr>
              <a:t>Kerangka sama dengan kuliah: </a:t>
            </a:r>
            <a:r>
              <a:rPr sz="1600" b="0" i="0">
                <a:solidFill>
                  <a:srgbClr val="1F1F1F"/>
                </a:solidFill>
                <a:latin typeface="Calibri"/>
              </a:rPr>
              <a:t>pemeriksa memakai PMBOK Guide.</a:t>
            </a:r>
          </a:p>
          <a:p>
            <a:pPr algn="l">
              <a:spcAft>
                <a:spcPts val="1200"/>
              </a:spcAft>
            </a:pPr>
            <a:r>
              <a:rPr sz="1600" b="1" i="0">
                <a:solidFill>
                  <a:srgbClr val="1F1F1F"/>
                </a:solidFill>
                <a:latin typeface="Calibri"/>
              </a:rPr>
              <a:t>Angkanya konkret: </a:t>
            </a:r>
            <a:r>
              <a:rPr sz="1600" b="0" i="0">
                <a:solidFill>
                  <a:srgbClr val="1F1F1F"/>
                </a:solidFill>
                <a:latin typeface="Calibri"/>
              </a:rPr>
              <a:t>fitur dibuang, pengujian gagal, jadwal dipadatkan.</a:t>
            </a:r>
          </a:p>
        </p:txBody>
      </p:sp>
      <p:sp>
        <p:nvSpPr>
          <p:cNvPr id="20" name="TextBox 19"/>
          <p:cNvSpPr txBox="1"/>
          <p:nvPr/>
        </p:nvSpPr>
        <p:spPr>
          <a:xfrm>
            <a:off x="548640" y="5852160"/>
            <a:ext cx="7315200" cy="411480"/>
          </a:xfrm>
          <a:prstGeom prst="rect">
            <a:avLst/>
          </a:prstGeom>
          <a:noFill/>
        </p:spPr>
        <p:txBody>
          <a:bodyPr wrap="square" anchor="t" lIns="45720" rIns="45720">
            <a:spAutoFit/>
          </a:bodyPr>
          <a:lstStyle/>
          <a:p>
            <a:pPr algn="l">
              <a:spcAft>
                <a:spcPts val="600"/>
              </a:spcAft>
            </a:pPr>
            <a:r>
              <a:rPr sz="1300" b="0" i="0">
                <a:solidFill>
                  <a:srgbClr val="898781"/>
                </a:solidFill>
                <a:latin typeface="Calibri"/>
              </a:rPr>
              <a:t>C$ = dolar Kanada. Pembangun sistem: IBM. Sumber: OAG Kanada (2018).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600"/>
              </a:spcAft>
            </a:pPr>
            <a:r>
              <a:rPr sz="3200" b="1" i="0">
                <a:solidFill>
                  <a:srgbClr val="1B2A4A"/>
                </a:solidFill>
                <a:latin typeface="Cambria"/>
              </a:rPr>
              <a:t>Lini waktu: pemeriksaan yang dilewati</a:t>
            </a:r>
          </a:p>
        </p:txBody>
      </p:sp>
      <p:pic>
        <p:nvPicPr>
          <p:cNvPr id="3" name="Picture 2" descr="logo_amikom.png"/>
          <p:cNvPicPr>
            <a:picLocks noChangeAspect="1"/>
          </p:cNvPicPr>
          <p:nvPr/>
        </p:nvPicPr>
        <p:blipFill>
          <a:blip r:embed="rId2"/>
          <a:stretch>
            <a:fillRect/>
          </a:stretch>
        </p:blipFill>
        <p:spPr>
          <a:xfrm>
            <a:off x="320040" y="6382512"/>
            <a:ext cx="376587" cy="365760"/>
          </a:xfrm>
          <a:prstGeom prst="rect">
            <a:avLst/>
          </a:prstGeom>
        </p:spPr>
      </p:pic>
      <p:sp>
        <p:nvSpPr>
          <p:cNvPr id="4" name="TextBox 3"/>
          <p:cNvSpPr txBox="1"/>
          <p:nvPr/>
        </p:nvSpPr>
        <p:spPr>
          <a:xfrm>
            <a:off x="11155680" y="6400800"/>
            <a:ext cx="731520" cy="320040"/>
          </a:xfrm>
          <a:prstGeom prst="rect">
            <a:avLst/>
          </a:prstGeom>
          <a:noFill/>
        </p:spPr>
        <p:txBody>
          <a:bodyPr wrap="square" anchor="t" lIns="45720" rIns="45720">
            <a:spAutoFit/>
          </a:bodyPr>
          <a:lstStyle/>
          <a:p>
            <a:pPr algn="r">
              <a:spcAft>
                <a:spcPts val="600"/>
              </a:spcAft>
            </a:pPr>
            <a:r>
              <a:rPr sz="1100" b="0" i="0">
                <a:solidFill>
                  <a:srgbClr val="898781"/>
                </a:solidFill>
                <a:latin typeface="Calibri"/>
              </a:rPr>
              <a:t>3</a:t>
            </a:r>
          </a:p>
        </p:txBody>
      </p:sp>
      <p:pic>
        <p:nvPicPr>
          <p:cNvPr id="5" name="Picture 4" descr="Tugas1_DistribusiEffort_Phoenix_Diagram2_LiniWaktu_slide.png"/>
          <p:cNvPicPr>
            <a:picLocks noChangeAspect="1"/>
          </p:cNvPicPr>
          <p:nvPr/>
        </p:nvPicPr>
        <p:blipFill>
          <a:blip r:embed="rId4"/>
          <a:stretch>
            <a:fillRect/>
          </a:stretch>
        </p:blipFill>
        <p:spPr>
          <a:xfrm>
            <a:off x="886968" y="1188720"/>
            <a:ext cx="10424160" cy="513189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600"/>
              </a:spcAft>
            </a:pPr>
            <a:r>
              <a:rPr sz="3200" b="1" i="0">
                <a:solidFill>
                  <a:srgbClr val="1B2A4A"/>
                </a:solidFill>
                <a:latin typeface="Cambria"/>
              </a:rPr>
              <a:t>Pembagian effort: Phoenix vs angka pembanding</a:t>
            </a:r>
          </a:p>
        </p:txBody>
      </p:sp>
      <p:pic>
        <p:nvPicPr>
          <p:cNvPr id="3" name="Picture 2" descr="logo_amikom.png"/>
          <p:cNvPicPr>
            <a:picLocks noChangeAspect="1"/>
          </p:cNvPicPr>
          <p:nvPr/>
        </p:nvPicPr>
        <p:blipFill>
          <a:blip r:embed="rId2"/>
          <a:stretch>
            <a:fillRect/>
          </a:stretch>
        </p:blipFill>
        <p:spPr>
          <a:xfrm>
            <a:off x="320040" y="6382512"/>
            <a:ext cx="376587" cy="365760"/>
          </a:xfrm>
          <a:prstGeom prst="rect">
            <a:avLst/>
          </a:prstGeom>
        </p:spPr>
      </p:pic>
      <p:sp>
        <p:nvSpPr>
          <p:cNvPr id="4" name="TextBox 3"/>
          <p:cNvSpPr txBox="1"/>
          <p:nvPr/>
        </p:nvSpPr>
        <p:spPr>
          <a:xfrm>
            <a:off x="11155680" y="6400800"/>
            <a:ext cx="731520" cy="320040"/>
          </a:xfrm>
          <a:prstGeom prst="rect">
            <a:avLst/>
          </a:prstGeom>
          <a:noFill/>
        </p:spPr>
        <p:txBody>
          <a:bodyPr wrap="square" anchor="t" lIns="45720" rIns="45720">
            <a:spAutoFit/>
          </a:bodyPr>
          <a:lstStyle/>
          <a:p>
            <a:pPr algn="r">
              <a:spcAft>
                <a:spcPts val="600"/>
              </a:spcAft>
            </a:pPr>
            <a:r>
              <a:rPr sz="1100" b="0" i="0">
                <a:solidFill>
                  <a:srgbClr val="898781"/>
                </a:solidFill>
                <a:latin typeface="Calibri"/>
              </a:rPr>
              <a:t>4</a:t>
            </a:r>
          </a:p>
        </p:txBody>
      </p:sp>
      <p:pic>
        <p:nvPicPr>
          <p:cNvPr id="5" name="Picture 4" descr="Tugas1_DistribusiEffort_Phoenix_Diagram1_Effort_slide.png"/>
          <p:cNvPicPr>
            <a:picLocks noChangeAspect="1"/>
          </p:cNvPicPr>
          <p:nvPr/>
        </p:nvPicPr>
        <p:blipFill>
          <a:blip r:embed="rId4"/>
          <a:stretch>
            <a:fillRect/>
          </a:stretch>
        </p:blipFill>
        <p:spPr>
          <a:xfrm>
            <a:off x="411480" y="1234440"/>
            <a:ext cx="7680960" cy="4329268"/>
          </a:xfrm>
          <a:prstGeom prst="rect">
            <a:avLst/>
          </a:prstGeom>
        </p:spPr>
      </p:pic>
      <p:sp>
        <p:nvSpPr>
          <p:cNvPr id="6" name="Rounded Rectangle 5"/>
          <p:cNvSpPr/>
          <p:nvPr/>
        </p:nvSpPr>
        <p:spPr>
          <a:xfrm>
            <a:off x="8321040" y="1325880"/>
            <a:ext cx="3337560" cy="25146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0" y="1444752"/>
            <a:ext cx="3017520" cy="2377440"/>
          </a:xfrm>
          <a:prstGeom prst="rect">
            <a:avLst/>
          </a:prstGeom>
          <a:noFill/>
        </p:spPr>
        <p:txBody>
          <a:bodyPr wrap="square" anchor="t" lIns="45720" rIns="45720">
            <a:spAutoFit/>
          </a:bodyPr>
          <a:lstStyle/>
          <a:p>
            <a:pPr algn="l">
              <a:spcAft>
                <a:spcPts val="600"/>
              </a:spcAft>
            </a:pPr>
            <a:r>
              <a:rPr sz="1600" b="1" i="0">
                <a:solidFill>
                  <a:srgbClr val="1B2A4A"/>
                </a:solidFill>
                <a:latin typeface="Calibri"/>
              </a:rPr>
              <a:t>Lima kelompok kegiatan</a:t>
            </a:r>
          </a:p>
          <a:p>
            <a:pPr algn="l">
              <a:spcAft>
                <a:spcPts val="600"/>
              </a:spcAft>
            </a:pPr>
            <a:r>
              <a:rPr sz="1500" b="0" i="0">
                <a:solidFill>
                  <a:srgbClr val="1F1F1F"/>
                </a:solidFill>
                <a:latin typeface="Calibri"/>
              </a:rPr>
              <a:t>Memulai · merencanakan · mengerjakan · memeriksa · menutup</a:t>
            </a:r>
          </a:p>
          <a:p>
            <a:pPr algn="l">
              <a:spcAft>
                <a:spcPts val="600"/>
              </a:spcAft>
            </a:pPr>
            <a:r>
              <a:rPr sz="1500" b="0" i="1">
                <a:solidFill>
                  <a:srgbClr val="52514E"/>
                </a:solidFill>
                <a:latin typeface="Calibri"/>
              </a:rPr>
              <a:t>Berjalan bersamaan sepanjang proyek, bukan bergiliran.</a:t>
            </a:r>
          </a:p>
        </p:txBody>
      </p:sp>
      <p:sp>
        <p:nvSpPr>
          <p:cNvPr id="8" name="Rounded Rectangle 7"/>
          <p:cNvSpPr/>
          <p:nvPr/>
        </p:nvSpPr>
        <p:spPr>
          <a:xfrm>
            <a:off x="8321040" y="3977639"/>
            <a:ext cx="3337560" cy="2148840"/>
          </a:xfrm>
          <a:prstGeom prst="roundRect">
            <a:avLst>
              <a:gd name="adj" fmla="val 8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0" y="4096512"/>
            <a:ext cx="3017520" cy="2011680"/>
          </a:xfrm>
          <a:prstGeom prst="rect">
            <a:avLst/>
          </a:prstGeom>
          <a:noFill/>
        </p:spPr>
        <p:txBody>
          <a:bodyPr wrap="square" anchor="t" lIns="45720" rIns="45720">
            <a:spAutoFit/>
          </a:bodyPr>
          <a:lstStyle/>
          <a:p>
            <a:pPr algn="l">
              <a:spcAft>
                <a:spcPts val="300"/>
              </a:spcAft>
            </a:pPr>
            <a:r>
              <a:rPr sz="1600" b="1" i="0">
                <a:solidFill>
                  <a:srgbClr val="D03B3B"/>
                </a:solidFill>
                <a:latin typeface="Calibri"/>
              </a:rPr>
              <a:t>Phoenix (perkiraan)</a:t>
            </a:r>
          </a:p>
          <a:p>
            <a:pPr algn="l">
              <a:spcAft>
                <a:spcPts val="300"/>
              </a:spcAft>
            </a:pPr>
            <a:r>
              <a:rPr sz="1600" b="0" i="0">
                <a:solidFill>
                  <a:srgbClr val="1F1F1F"/>
                </a:solidFill>
                <a:latin typeface="Calibri"/>
              </a:rPr>
              <a:t>Merencanakan </a:t>
            </a:r>
            <a:r>
              <a:rPr sz="1600" b="1" i="0">
                <a:solidFill>
                  <a:srgbClr val="1F1F1F"/>
                </a:solidFill>
                <a:latin typeface="Calibri"/>
              </a:rPr>
              <a:t>~8%</a:t>
            </a:r>
          </a:p>
          <a:p>
            <a:pPr algn="l">
              <a:spcAft>
                <a:spcPts val="300"/>
              </a:spcAft>
            </a:pPr>
            <a:r>
              <a:rPr sz="1600" b="0" i="0">
                <a:solidFill>
                  <a:srgbClr val="1F1F1F"/>
                </a:solidFill>
                <a:latin typeface="Calibri"/>
              </a:rPr>
              <a:t>Mengerjakan </a:t>
            </a:r>
            <a:r>
              <a:rPr sz="1600" b="1" i="0">
                <a:solidFill>
                  <a:srgbClr val="1F1F1F"/>
                </a:solidFill>
                <a:latin typeface="Calibri"/>
              </a:rPr>
              <a:t>~86%</a:t>
            </a:r>
          </a:p>
          <a:p>
            <a:pPr algn="l">
              <a:spcAft>
                <a:spcPts val="300"/>
              </a:spcAft>
            </a:pPr>
            <a:r>
              <a:rPr sz="1600" b="0" i="0">
                <a:solidFill>
                  <a:srgbClr val="1F1F1F"/>
                </a:solidFill>
                <a:latin typeface="Calibri"/>
              </a:rPr>
              <a:t>Memeriksa &amp; menguji </a:t>
            </a:r>
            <a:r>
              <a:rPr sz="1600" b="1" i="0">
                <a:solidFill>
                  <a:srgbClr val="D03B3B"/>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600"/>
              </a:spcAft>
            </a:pPr>
            <a:r>
              <a:rPr sz="3200" b="1" i="0">
                <a:solidFill>
                  <a:srgbClr val="1B2A4A"/>
                </a:solidFill>
                <a:latin typeface="Cambria"/>
              </a:rPr>
              <a:t>Tiga ketidakseimbangan penyebab kegagalan</a:t>
            </a:r>
          </a:p>
        </p:txBody>
      </p:sp>
      <p:pic>
        <p:nvPicPr>
          <p:cNvPr id="3" name="Picture 2" descr="logo_amikom.png"/>
          <p:cNvPicPr>
            <a:picLocks noChangeAspect="1"/>
          </p:cNvPicPr>
          <p:nvPr/>
        </p:nvPicPr>
        <p:blipFill>
          <a:blip r:embed="rId2"/>
          <a:stretch>
            <a:fillRect/>
          </a:stretch>
        </p:blipFill>
        <p:spPr>
          <a:xfrm>
            <a:off x="320040" y="6382512"/>
            <a:ext cx="376587" cy="365760"/>
          </a:xfrm>
          <a:prstGeom prst="rect">
            <a:avLst/>
          </a:prstGeom>
        </p:spPr>
      </p:pic>
      <p:sp>
        <p:nvSpPr>
          <p:cNvPr id="4" name="TextBox 3"/>
          <p:cNvSpPr txBox="1"/>
          <p:nvPr/>
        </p:nvSpPr>
        <p:spPr>
          <a:xfrm>
            <a:off x="11155680" y="6400800"/>
            <a:ext cx="731520" cy="320040"/>
          </a:xfrm>
          <a:prstGeom prst="rect">
            <a:avLst/>
          </a:prstGeom>
          <a:noFill/>
        </p:spPr>
        <p:txBody>
          <a:bodyPr wrap="square" anchor="t" lIns="45720" rIns="45720">
            <a:spAutoFit/>
          </a:bodyPr>
          <a:lstStyle/>
          <a:p>
            <a:pPr algn="r">
              <a:spcAft>
                <a:spcPts val="600"/>
              </a:spcAft>
            </a:pPr>
            <a:r>
              <a:rPr sz="1100" b="0" i="0">
                <a:solidFill>
                  <a:srgbClr val="898781"/>
                </a:solidFill>
                <a:latin typeface="Calibri"/>
              </a:rPr>
              <a:t>5</a:t>
            </a:r>
          </a:p>
        </p:txBody>
      </p:sp>
      <p:sp>
        <p:nvSpPr>
          <p:cNvPr id="5" name="Rounded Rectangle 4"/>
          <p:cNvSpPr/>
          <p:nvPr/>
        </p:nvSpPr>
        <p:spPr>
          <a:xfrm>
            <a:off x="548640" y="1325880"/>
            <a:ext cx="3566160" cy="36576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22959" y="1508760"/>
            <a:ext cx="502920" cy="5029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7" name="TextBox 6"/>
          <p:cNvSpPr txBox="1"/>
          <p:nvPr/>
        </p:nvSpPr>
        <p:spPr>
          <a:xfrm>
            <a:off x="822959" y="2103120"/>
            <a:ext cx="3017520" cy="868680"/>
          </a:xfrm>
          <a:prstGeom prst="rect">
            <a:avLst/>
          </a:prstGeom>
          <a:noFill/>
        </p:spPr>
        <p:txBody>
          <a:bodyPr wrap="square" anchor="t" lIns="45720" rIns="45720">
            <a:spAutoFit/>
          </a:bodyPr>
          <a:lstStyle/>
          <a:p>
            <a:pPr algn="l">
              <a:spcAft>
                <a:spcPts val="600"/>
              </a:spcAft>
            </a:pPr>
            <a:r>
              <a:rPr sz="1900" b="1" i="0">
                <a:solidFill>
                  <a:srgbClr val="1B2A4A"/>
                </a:solidFill>
                <a:latin typeface="Calibri"/>
              </a:rPr>
              <a:t>Rencana tidak disusun ulang</a:t>
            </a:r>
          </a:p>
        </p:txBody>
      </p:sp>
      <p:sp>
        <p:nvSpPr>
          <p:cNvPr id="8" name="TextBox 7"/>
          <p:cNvSpPr txBox="1"/>
          <p:nvPr/>
        </p:nvSpPr>
        <p:spPr>
          <a:xfrm>
            <a:off x="822959" y="2926080"/>
            <a:ext cx="3017520" cy="777240"/>
          </a:xfrm>
          <a:prstGeom prst="rect">
            <a:avLst/>
          </a:prstGeom>
          <a:noFill/>
        </p:spPr>
        <p:txBody>
          <a:bodyPr wrap="square" anchor="t" lIns="45720" rIns="45720">
            <a:spAutoFit/>
          </a:bodyPr>
          <a:lstStyle/>
          <a:p>
            <a:pPr algn="l">
              <a:spcAft>
                <a:spcPts val="600"/>
              </a:spcAft>
            </a:pPr>
            <a:r>
              <a:rPr sz="3400" b="1" i="0">
                <a:solidFill>
                  <a:srgbClr val="2A78D6"/>
                </a:solidFill>
                <a:latin typeface="Cambria"/>
              </a:rPr>
              <a:t>+77%</a:t>
            </a:r>
          </a:p>
        </p:txBody>
      </p:sp>
      <p:sp>
        <p:nvSpPr>
          <p:cNvPr id="9" name="TextBox 8"/>
          <p:cNvSpPr txBox="1"/>
          <p:nvPr/>
        </p:nvSpPr>
        <p:spPr>
          <a:xfrm>
            <a:off x="822959" y="3749039"/>
            <a:ext cx="3017520" cy="1188720"/>
          </a:xfrm>
          <a:prstGeom prst="rect">
            <a:avLst/>
          </a:prstGeom>
          <a:noFill/>
        </p:spPr>
        <p:txBody>
          <a:bodyPr wrap="square" anchor="t" lIns="45720" rIns="45720">
            <a:spAutoFit/>
          </a:bodyPr>
          <a:lstStyle/>
          <a:p>
            <a:pPr algn="l">
              <a:spcAft>
                <a:spcPts val="600"/>
              </a:spcAft>
            </a:pPr>
            <a:r>
              <a:rPr sz="1500" b="0" i="0">
                <a:solidFill>
                  <a:srgbClr val="1F1F1F"/>
                </a:solidFill>
                <a:latin typeface="Calibri"/>
              </a:rPr>
              <a:t>biaya naik, tetapi yang dilakukan hanya membuang lebih dari 100 fitur</a:t>
            </a:r>
          </a:p>
        </p:txBody>
      </p:sp>
      <p:sp>
        <p:nvSpPr>
          <p:cNvPr id="10" name="Rounded Rectangle 9"/>
          <p:cNvSpPr/>
          <p:nvPr/>
        </p:nvSpPr>
        <p:spPr>
          <a:xfrm>
            <a:off x="4297679" y="1325880"/>
            <a:ext cx="3566160" cy="3657600"/>
          </a:xfrm>
          <a:prstGeom prst="roundRect">
            <a:avLst>
              <a:gd name="adj" fmla="val 8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71999" y="1508760"/>
            <a:ext cx="502920" cy="502920"/>
          </a:xfrm>
          <a:prstGeom prst="ellipse">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12" name="TextBox 11"/>
          <p:cNvSpPr txBox="1"/>
          <p:nvPr/>
        </p:nvSpPr>
        <p:spPr>
          <a:xfrm>
            <a:off x="4571999" y="2103120"/>
            <a:ext cx="3017520" cy="868680"/>
          </a:xfrm>
          <a:prstGeom prst="rect">
            <a:avLst/>
          </a:prstGeom>
          <a:noFill/>
        </p:spPr>
        <p:txBody>
          <a:bodyPr wrap="square" anchor="t" lIns="45720" rIns="45720">
            <a:spAutoFit/>
          </a:bodyPr>
          <a:lstStyle/>
          <a:p>
            <a:pPr algn="l">
              <a:spcAft>
                <a:spcPts val="600"/>
              </a:spcAft>
            </a:pPr>
            <a:r>
              <a:rPr sz="1900" b="1" i="0">
                <a:solidFill>
                  <a:srgbClr val="1B2A4A"/>
                </a:solidFill>
                <a:latin typeface="Calibri"/>
              </a:rPr>
              <a:t>Pemeriksaan &amp; pengujian dikurangi</a:t>
            </a:r>
          </a:p>
        </p:txBody>
      </p:sp>
      <p:sp>
        <p:nvSpPr>
          <p:cNvPr id="13" name="TextBox 12"/>
          <p:cNvSpPr txBox="1"/>
          <p:nvPr/>
        </p:nvSpPr>
        <p:spPr>
          <a:xfrm>
            <a:off x="4571999" y="2926080"/>
            <a:ext cx="3017520" cy="777240"/>
          </a:xfrm>
          <a:prstGeom prst="rect">
            <a:avLst/>
          </a:prstGeom>
          <a:noFill/>
        </p:spPr>
        <p:txBody>
          <a:bodyPr wrap="square" anchor="t" lIns="45720" rIns="45720">
            <a:spAutoFit/>
          </a:bodyPr>
          <a:lstStyle/>
          <a:p>
            <a:pPr algn="l">
              <a:spcAft>
                <a:spcPts val="600"/>
              </a:spcAft>
            </a:pPr>
            <a:r>
              <a:rPr sz="3400" b="1" i="0">
                <a:solidFill>
                  <a:srgbClr val="D03B3B"/>
                </a:solidFill>
                <a:latin typeface="Cambria"/>
              </a:rPr>
              <a:t>20%</a:t>
            </a:r>
          </a:p>
        </p:txBody>
      </p:sp>
      <p:sp>
        <p:nvSpPr>
          <p:cNvPr id="14" name="TextBox 13"/>
          <p:cNvSpPr txBox="1"/>
          <p:nvPr/>
        </p:nvSpPr>
        <p:spPr>
          <a:xfrm>
            <a:off x="4571999" y="3749039"/>
            <a:ext cx="3017520" cy="1188720"/>
          </a:xfrm>
          <a:prstGeom prst="rect">
            <a:avLst/>
          </a:prstGeom>
          <a:noFill/>
        </p:spPr>
        <p:txBody>
          <a:bodyPr wrap="square" anchor="t" lIns="45720" rIns="45720">
            <a:spAutoFit/>
          </a:bodyPr>
          <a:lstStyle/>
          <a:p>
            <a:pPr algn="l">
              <a:spcAft>
                <a:spcPts val="600"/>
              </a:spcAft>
            </a:pPr>
            <a:r>
              <a:rPr sz="1500" b="0" i="0">
                <a:solidFill>
                  <a:srgbClr val="1F1F1F"/>
                </a:solidFill>
                <a:latin typeface="Calibri"/>
              </a:rPr>
              <a:t>fitur yang gagal diuji tidak diuji ulang; uji coba dibatalkan</a:t>
            </a:r>
          </a:p>
        </p:txBody>
      </p:sp>
      <p:sp>
        <p:nvSpPr>
          <p:cNvPr id="15" name="Rounded Rectangle 14"/>
          <p:cNvSpPr/>
          <p:nvPr/>
        </p:nvSpPr>
        <p:spPr>
          <a:xfrm>
            <a:off x="8046719" y="1325880"/>
            <a:ext cx="3566160" cy="3657600"/>
          </a:xfrm>
          <a:prstGeom prst="roundRect">
            <a:avLst>
              <a:gd name="adj" fmla="val 8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21040" y="1508760"/>
            <a:ext cx="502920" cy="502920"/>
          </a:xfrm>
          <a:prstGeom prst="ellipse">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7" name="TextBox 16"/>
          <p:cNvSpPr txBox="1"/>
          <p:nvPr/>
        </p:nvSpPr>
        <p:spPr>
          <a:xfrm>
            <a:off x="8321040" y="2103120"/>
            <a:ext cx="3017520" cy="868680"/>
          </a:xfrm>
          <a:prstGeom prst="rect">
            <a:avLst/>
          </a:prstGeom>
          <a:noFill/>
        </p:spPr>
        <p:txBody>
          <a:bodyPr wrap="square" anchor="t" lIns="45720" rIns="45720">
            <a:spAutoFit/>
          </a:bodyPr>
          <a:lstStyle/>
          <a:p>
            <a:pPr algn="l">
              <a:spcAft>
                <a:spcPts val="600"/>
              </a:spcAft>
            </a:pPr>
            <a:r>
              <a:rPr sz="1900" b="1" i="0">
                <a:solidFill>
                  <a:srgbClr val="1B2A4A"/>
                </a:solidFill>
                <a:latin typeface="Calibri"/>
              </a:rPr>
              <a:t>Tak ada pemeriksaan antartahap</a:t>
            </a:r>
          </a:p>
        </p:txBody>
      </p:sp>
      <p:sp>
        <p:nvSpPr>
          <p:cNvPr id="18" name="TextBox 17"/>
          <p:cNvSpPr txBox="1"/>
          <p:nvPr/>
        </p:nvSpPr>
        <p:spPr>
          <a:xfrm>
            <a:off x="8321040" y="2926080"/>
            <a:ext cx="3017520" cy="777240"/>
          </a:xfrm>
          <a:prstGeom prst="rect">
            <a:avLst/>
          </a:prstGeom>
          <a:noFill/>
        </p:spPr>
        <p:txBody>
          <a:bodyPr wrap="square" anchor="t" lIns="45720" rIns="45720">
            <a:spAutoFit/>
          </a:bodyPr>
          <a:lstStyle/>
          <a:p>
            <a:pPr algn="l">
              <a:spcAft>
                <a:spcPts val="600"/>
              </a:spcAft>
            </a:pPr>
            <a:r>
              <a:rPr sz="3400" b="1" i="0">
                <a:solidFill>
                  <a:srgbClr val="D03B3B"/>
                </a:solidFill>
                <a:latin typeface="Cambria"/>
              </a:rPr>
              <a:t>7 → 2 bln</a:t>
            </a:r>
          </a:p>
        </p:txBody>
      </p:sp>
      <p:sp>
        <p:nvSpPr>
          <p:cNvPr id="19" name="TextBox 18"/>
          <p:cNvSpPr txBox="1"/>
          <p:nvPr/>
        </p:nvSpPr>
        <p:spPr>
          <a:xfrm>
            <a:off x="8321040" y="3749039"/>
            <a:ext cx="3017520" cy="1188720"/>
          </a:xfrm>
          <a:prstGeom prst="rect">
            <a:avLst/>
          </a:prstGeom>
          <a:noFill/>
        </p:spPr>
        <p:txBody>
          <a:bodyPr wrap="square" anchor="t" lIns="45720" rIns="45720">
            <a:spAutoFit/>
          </a:bodyPr>
          <a:lstStyle/>
          <a:p>
            <a:pPr algn="l">
              <a:spcAft>
                <a:spcPts val="600"/>
              </a:spcAft>
            </a:pPr>
            <a:r>
              <a:rPr sz="1500" b="0" i="0">
                <a:solidFill>
                  <a:srgbClr val="1F1F1F"/>
                </a:solidFill>
                <a:latin typeface="Calibri"/>
              </a:rPr>
              <a:t>jeda tahap 1 ke tahap 2 dipersingkat; keputusan mulai pakai tidak dicatat</a:t>
            </a:r>
          </a:p>
        </p:txBody>
      </p:sp>
      <p:sp>
        <p:nvSpPr>
          <p:cNvPr id="20" name="Rounded Rectangle 19"/>
          <p:cNvSpPr/>
          <p:nvPr/>
        </p:nvSpPr>
        <p:spPr>
          <a:xfrm>
            <a:off x="548640" y="5138928"/>
            <a:ext cx="11109960" cy="1097280"/>
          </a:xfrm>
          <a:prstGeom prst="roundRect">
            <a:avLst>
              <a:gd name="adj" fmla="val 6000"/>
            </a:avLst>
          </a:prstGeom>
          <a:solidFill>
            <a:srgbClr val="F3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5212080"/>
            <a:ext cx="10835640" cy="950976"/>
          </a:xfrm>
          <a:prstGeom prst="rect">
            <a:avLst/>
          </a:prstGeom>
          <a:noFill/>
        </p:spPr>
        <p:txBody>
          <a:bodyPr wrap="square" anchor="t" lIns="45720" rIns="45720">
            <a:spAutoFit/>
          </a:bodyPr>
          <a:lstStyle/>
          <a:p>
            <a:pPr algn="l">
              <a:spcAft>
                <a:spcPts val="300"/>
              </a:spcAft>
            </a:pPr>
            <a:r>
              <a:rPr sz="1300" b="1" i="0">
                <a:solidFill>
                  <a:srgbClr val="1B2A4A"/>
                </a:solidFill>
                <a:latin typeface="Calibri"/>
              </a:rPr>
              <a:t>Istilah di slide ini</a:t>
            </a:r>
          </a:p>
          <a:p>
            <a:pPr algn="l">
              <a:spcAft>
                <a:spcPts val="300"/>
              </a:spcAft>
            </a:pPr>
            <a:r>
              <a:rPr sz="1300" b="1" i="0">
                <a:solidFill>
                  <a:srgbClr val="1F1F1F"/>
                </a:solidFill>
                <a:latin typeface="Calibri"/>
              </a:rPr>
              <a:t>Fitur: </a:t>
            </a:r>
            <a:r>
              <a:rPr sz="1300" b="0" i="0">
                <a:solidFill>
                  <a:srgbClr val="1F1F1F"/>
                </a:solidFill>
                <a:latin typeface="Calibri"/>
              </a:rPr>
              <a:t>kemampuan sistem, misalnya menghitung lembur atau gaji rapel</a:t>
            </a:r>
          </a:p>
          <a:p>
            <a:pPr algn="l">
              <a:spcAft>
                <a:spcPts val="300"/>
              </a:spcAft>
            </a:pPr>
            <a:r>
              <a:rPr sz="1300" b="1" i="0">
                <a:solidFill>
                  <a:srgbClr val="1F1F1F"/>
                </a:solidFill>
                <a:latin typeface="Calibri"/>
              </a:rPr>
              <a:t>Mengapa mutu dikorbankan: </a:t>
            </a:r>
            <a:r>
              <a:rPr sz="1300" b="0" i="0">
                <a:solidFill>
                  <a:srgbClr val="1F1F1F"/>
                </a:solidFill>
                <a:latin typeface="Calibri"/>
              </a:rPr>
              <a:t>tanggal dan uang dikunci, jadi yang dikurangi adalah isi pekerjaan dan pengujian (triple constraint)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600"/>
              </a:spcAft>
            </a:pPr>
            <a:r>
              <a:rPr sz="3200" b="1" i="0">
                <a:solidFill>
                  <a:srgbClr val="1B2A4A"/>
                </a:solidFill>
                <a:latin typeface="Cambria"/>
              </a:rPr>
              <a:t>Waterfall vs Agile: cara kerja mana yang cocok?</a:t>
            </a:r>
          </a:p>
        </p:txBody>
      </p:sp>
      <p:pic>
        <p:nvPicPr>
          <p:cNvPr id="3" name="Picture 2" descr="logo_amikom.png"/>
          <p:cNvPicPr>
            <a:picLocks noChangeAspect="1"/>
          </p:cNvPicPr>
          <p:nvPr/>
        </p:nvPicPr>
        <p:blipFill>
          <a:blip r:embed="rId2"/>
          <a:stretch>
            <a:fillRect/>
          </a:stretch>
        </p:blipFill>
        <p:spPr>
          <a:xfrm>
            <a:off x="320040" y="6382512"/>
            <a:ext cx="376587" cy="365760"/>
          </a:xfrm>
          <a:prstGeom prst="rect">
            <a:avLst/>
          </a:prstGeom>
        </p:spPr>
      </p:pic>
      <p:sp>
        <p:nvSpPr>
          <p:cNvPr id="4" name="TextBox 3"/>
          <p:cNvSpPr txBox="1"/>
          <p:nvPr/>
        </p:nvSpPr>
        <p:spPr>
          <a:xfrm>
            <a:off x="11155680" y="6400800"/>
            <a:ext cx="731520" cy="320040"/>
          </a:xfrm>
          <a:prstGeom prst="rect">
            <a:avLst/>
          </a:prstGeom>
          <a:noFill/>
        </p:spPr>
        <p:txBody>
          <a:bodyPr wrap="square" anchor="t" lIns="45720" rIns="45720">
            <a:spAutoFit/>
          </a:bodyPr>
          <a:lstStyle/>
          <a:p>
            <a:pPr algn="r">
              <a:spcAft>
                <a:spcPts val="600"/>
              </a:spcAft>
            </a:pPr>
            <a:r>
              <a:rPr sz="1100" b="0" i="0">
                <a:solidFill>
                  <a:srgbClr val="898781"/>
                </a:solidFill>
                <a:latin typeface="Calibri"/>
              </a:rPr>
              <a:t>6</a:t>
            </a:r>
          </a:p>
        </p:txBody>
      </p:sp>
      <p:sp>
        <p:nvSpPr>
          <p:cNvPr id="5" name="Rounded Rectangle 4"/>
          <p:cNvSpPr/>
          <p:nvPr/>
        </p:nvSpPr>
        <p:spPr>
          <a:xfrm>
            <a:off x="548640" y="1325880"/>
            <a:ext cx="3566160"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1B2A4A"/>
                </a:solidFill>
                <a:latin typeface="Calibri"/>
              </a:rPr>
              <a:t>Waterfall (berurutan)</a:t>
            </a:r>
          </a:p>
        </p:txBody>
      </p:sp>
      <p:sp>
        <p:nvSpPr>
          <p:cNvPr id="6" name="Rounded Rectangle 5"/>
          <p:cNvSpPr/>
          <p:nvPr/>
        </p:nvSpPr>
        <p:spPr>
          <a:xfrm>
            <a:off x="4297679" y="1325880"/>
            <a:ext cx="3566160" cy="685800"/>
          </a:xfrm>
          <a:prstGeom prst="roundRect">
            <a:avLst>
              <a:gd name="adj" fmla="val 8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Hybrid (gabungan)</a:t>
            </a:r>
          </a:p>
        </p:txBody>
      </p:sp>
      <p:sp>
        <p:nvSpPr>
          <p:cNvPr id="7" name="Rounded Rectangle 6"/>
          <p:cNvSpPr/>
          <p:nvPr/>
        </p:nvSpPr>
        <p:spPr>
          <a:xfrm>
            <a:off x="8046719" y="1325880"/>
            <a:ext cx="3566160"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1B2A4A"/>
                </a:solidFill>
                <a:latin typeface="Calibri"/>
              </a:rPr>
              <a:t>Agile (putaran pendek)</a:t>
            </a:r>
          </a:p>
        </p:txBody>
      </p:sp>
      <p:sp>
        <p:nvSpPr>
          <p:cNvPr id="8" name="TextBox 7"/>
          <p:cNvSpPr txBox="1"/>
          <p:nvPr/>
        </p:nvSpPr>
        <p:spPr>
          <a:xfrm>
            <a:off x="4297680" y="2057400"/>
            <a:ext cx="3566160" cy="365760"/>
          </a:xfrm>
          <a:prstGeom prst="rect">
            <a:avLst/>
          </a:prstGeom>
          <a:noFill/>
        </p:spPr>
        <p:txBody>
          <a:bodyPr wrap="square" anchor="t" lIns="45720" rIns="45720">
            <a:spAutoFit/>
          </a:bodyPr>
          <a:lstStyle/>
          <a:p>
            <a:pPr algn="ctr">
              <a:spcAft>
                <a:spcPts val="600"/>
              </a:spcAft>
            </a:pPr>
            <a:r>
              <a:rPr sz="1400" b="1" i="0">
                <a:solidFill>
                  <a:srgbClr val="2A78D6"/>
                </a:solidFill>
                <a:latin typeface="Calibri"/>
              </a:rPr>
              <a:t>▲ cocok untuk Phoenix</a:t>
            </a:r>
          </a:p>
        </p:txBody>
      </p:sp>
      <p:sp>
        <p:nvSpPr>
          <p:cNvPr id="9" name="Rounded Rectangle 8"/>
          <p:cNvSpPr/>
          <p:nvPr/>
        </p:nvSpPr>
        <p:spPr>
          <a:xfrm>
            <a:off x="548640" y="2560320"/>
            <a:ext cx="3566160" cy="246888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697480"/>
            <a:ext cx="3017520" cy="457200"/>
          </a:xfrm>
          <a:prstGeom prst="rect">
            <a:avLst/>
          </a:prstGeom>
          <a:noFill/>
        </p:spPr>
        <p:txBody>
          <a:bodyPr wrap="square" anchor="t" lIns="45720" rIns="45720">
            <a:spAutoFit/>
          </a:bodyPr>
          <a:lstStyle/>
          <a:p>
            <a:pPr algn="l">
              <a:spcAft>
                <a:spcPts val="600"/>
              </a:spcAft>
            </a:pPr>
            <a:r>
              <a:rPr sz="1700" b="1" i="0">
                <a:solidFill>
                  <a:srgbClr val="1B2A4A"/>
                </a:solidFill>
                <a:latin typeface="Calibri"/>
              </a:rPr>
              <a:t>Waterfall: menumpuk</a:t>
            </a:r>
          </a:p>
        </p:txBody>
      </p:sp>
      <p:sp>
        <p:nvSpPr>
          <p:cNvPr id="11" name="TextBox 10"/>
          <p:cNvSpPr txBox="1"/>
          <p:nvPr/>
        </p:nvSpPr>
        <p:spPr>
          <a:xfrm>
            <a:off x="822959" y="3200400"/>
            <a:ext cx="3017520" cy="1783080"/>
          </a:xfrm>
          <a:prstGeom prst="rect">
            <a:avLst/>
          </a:prstGeom>
          <a:noFill/>
        </p:spPr>
        <p:txBody>
          <a:bodyPr wrap="square" anchor="t" lIns="45720" rIns="45720">
            <a:spAutoFit/>
          </a:bodyPr>
          <a:lstStyle/>
          <a:p>
            <a:pPr algn="l">
              <a:spcAft>
                <a:spcPts val="600"/>
              </a:spcAft>
            </a:pPr>
            <a:r>
              <a:rPr sz="1500" b="0" i="0">
                <a:solidFill>
                  <a:srgbClr val="1F1F1F"/>
                </a:solidFill>
                <a:latin typeface="Calibri"/>
              </a:rPr>
              <a:t>Rencana besar di awal</a:t>
            </a:r>
          </a:p>
          <a:p>
            <a:pPr algn="l">
              <a:spcAft>
                <a:spcPts val="600"/>
              </a:spcAft>
            </a:pPr>
            <a:r>
              <a:rPr sz="1500" b="0" i="0">
                <a:solidFill>
                  <a:srgbClr val="1F1F1F"/>
                </a:solidFill>
                <a:latin typeface="Calibri"/>
              </a:rPr>
              <a:t>Pengujian menumpuk di akhir</a:t>
            </a:r>
          </a:p>
          <a:p>
            <a:pPr algn="l">
              <a:spcAft>
                <a:spcPts val="600"/>
              </a:spcAft>
            </a:pPr>
            <a:r>
              <a:rPr sz="1500" b="0" i="0">
                <a:solidFill>
                  <a:srgbClr val="1F1F1F"/>
                </a:solidFill>
                <a:latin typeface="Calibri"/>
              </a:rPr>
              <a:t>→ paling mudah dikurangi saat jadwal mepet</a:t>
            </a:r>
          </a:p>
        </p:txBody>
      </p:sp>
      <p:sp>
        <p:nvSpPr>
          <p:cNvPr id="12" name="Rounded Rectangle 11"/>
          <p:cNvSpPr/>
          <p:nvPr/>
        </p:nvSpPr>
        <p:spPr>
          <a:xfrm>
            <a:off x="4297679" y="2560320"/>
            <a:ext cx="3566160" cy="246888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1999" y="2697480"/>
            <a:ext cx="3017520" cy="457200"/>
          </a:xfrm>
          <a:prstGeom prst="rect">
            <a:avLst/>
          </a:prstGeom>
          <a:noFill/>
        </p:spPr>
        <p:txBody>
          <a:bodyPr wrap="square" anchor="t" lIns="45720" rIns="45720">
            <a:spAutoFit/>
          </a:bodyPr>
          <a:lstStyle/>
          <a:p>
            <a:pPr algn="l">
              <a:spcAft>
                <a:spcPts val="600"/>
              </a:spcAft>
            </a:pPr>
            <a:r>
              <a:rPr sz="1700" b="1" i="0">
                <a:solidFill>
                  <a:srgbClr val="1B2A4A"/>
                </a:solidFill>
                <a:latin typeface="Calibri"/>
              </a:rPr>
              <a:t>Agile: menyebar</a:t>
            </a:r>
          </a:p>
        </p:txBody>
      </p:sp>
      <p:sp>
        <p:nvSpPr>
          <p:cNvPr id="14" name="TextBox 13"/>
          <p:cNvSpPr txBox="1"/>
          <p:nvPr/>
        </p:nvSpPr>
        <p:spPr>
          <a:xfrm>
            <a:off x="4571999" y="3200400"/>
            <a:ext cx="3017520" cy="1783080"/>
          </a:xfrm>
          <a:prstGeom prst="rect">
            <a:avLst/>
          </a:prstGeom>
          <a:noFill/>
        </p:spPr>
        <p:txBody>
          <a:bodyPr wrap="square" anchor="t" lIns="45720" rIns="45720">
            <a:spAutoFit/>
          </a:bodyPr>
          <a:lstStyle/>
          <a:p>
            <a:pPr algn="l">
              <a:spcAft>
                <a:spcPts val="600"/>
              </a:spcAft>
            </a:pPr>
            <a:r>
              <a:rPr sz="1500" b="0" i="0">
                <a:solidFill>
                  <a:srgbClr val="1F1F1F"/>
                </a:solidFill>
                <a:latin typeface="Calibri"/>
              </a:rPr>
              <a:t>Rencana kecil di tiap putaran</a:t>
            </a:r>
          </a:p>
          <a:p>
            <a:pPr algn="l">
              <a:spcAft>
                <a:spcPts val="600"/>
              </a:spcAft>
            </a:pPr>
            <a:r>
              <a:rPr sz="1500" b="0" i="0">
                <a:solidFill>
                  <a:srgbClr val="1F1F1F"/>
                </a:solidFill>
                <a:latin typeface="Calibri"/>
              </a:rPr>
              <a:t>Diuji &amp; dicoba pengguna tiap 1–4 minggu</a:t>
            </a:r>
          </a:p>
          <a:p>
            <a:pPr algn="l">
              <a:spcAft>
                <a:spcPts val="600"/>
              </a:spcAft>
            </a:pPr>
            <a:r>
              <a:rPr sz="1500" b="0" i="0">
                <a:solidFill>
                  <a:srgbClr val="1F1F1F"/>
                </a:solidFill>
                <a:latin typeface="Calibri"/>
              </a:rPr>
              <a:t>→ tidak ada satu titik besar untuk dikurangi</a:t>
            </a:r>
          </a:p>
        </p:txBody>
      </p:sp>
      <p:sp>
        <p:nvSpPr>
          <p:cNvPr id="15" name="Rounded Rectangle 14"/>
          <p:cNvSpPr/>
          <p:nvPr/>
        </p:nvSpPr>
        <p:spPr>
          <a:xfrm>
            <a:off x="8046720" y="2560320"/>
            <a:ext cx="3611880" cy="2468880"/>
          </a:xfrm>
          <a:prstGeom prst="roundRect">
            <a:avLst>
              <a:gd name="adj" fmla="val 8000"/>
            </a:avLst>
          </a:prstGeom>
          <a:solidFill>
            <a:srgbClr val="FFFFFF"/>
          </a:solidFill>
          <a:ln w="1587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2697480"/>
            <a:ext cx="3200400" cy="457200"/>
          </a:xfrm>
          <a:prstGeom prst="rect">
            <a:avLst/>
          </a:prstGeom>
          <a:noFill/>
        </p:spPr>
        <p:txBody>
          <a:bodyPr wrap="square" anchor="t" lIns="45720" rIns="45720">
            <a:spAutoFit/>
          </a:bodyPr>
          <a:lstStyle/>
          <a:p>
            <a:pPr algn="l">
              <a:spcAft>
                <a:spcPts val="600"/>
              </a:spcAft>
            </a:pPr>
            <a:r>
              <a:rPr sz="1700" b="1" i="0">
                <a:solidFill>
                  <a:srgbClr val="2A78D6"/>
                </a:solidFill>
                <a:latin typeface="Calibri"/>
              </a:rPr>
              <a:t>Hybrid untuk Phoenix</a:t>
            </a:r>
          </a:p>
        </p:txBody>
      </p:sp>
      <p:sp>
        <p:nvSpPr>
          <p:cNvPr id="17" name="TextBox 16"/>
          <p:cNvSpPr txBox="1"/>
          <p:nvPr/>
        </p:nvSpPr>
        <p:spPr>
          <a:xfrm>
            <a:off x="8275320" y="3200400"/>
            <a:ext cx="3200400" cy="1783080"/>
          </a:xfrm>
          <a:prstGeom prst="rect">
            <a:avLst/>
          </a:prstGeom>
          <a:noFill/>
        </p:spPr>
        <p:txBody>
          <a:bodyPr wrap="square" anchor="t" lIns="45720" rIns="45720">
            <a:spAutoFit/>
          </a:bodyPr>
          <a:lstStyle/>
          <a:p>
            <a:pPr algn="l">
              <a:spcAft>
                <a:spcPts val="600"/>
              </a:spcAft>
            </a:pPr>
            <a:r>
              <a:rPr sz="1500" b="0" i="0">
                <a:solidFill>
                  <a:srgbClr val="1F1F1F"/>
                </a:solidFill>
                <a:latin typeface="Calibri"/>
              </a:rPr>
              <a:t>Bagian dasar (aturan gaji, keamanan) direncanakan lengkap</a:t>
            </a:r>
          </a:p>
          <a:p>
            <a:pPr algn="l">
              <a:spcAft>
                <a:spcPts val="600"/>
              </a:spcAft>
            </a:pPr>
            <a:r>
              <a:rPr sz="1500" b="0" i="0">
                <a:solidFill>
                  <a:srgbClr val="1F1F1F"/>
                </a:solidFill>
                <a:latin typeface="Calibri"/>
              </a:rPr>
              <a:t>Diluncurkan bertahap per lembaga, sistem lama tetap jalan</a:t>
            </a:r>
          </a:p>
          <a:p>
            <a:pPr algn="l">
              <a:spcAft>
                <a:spcPts val="600"/>
              </a:spcAft>
            </a:pPr>
            <a:r>
              <a:rPr sz="1500" b="0" i="0">
                <a:solidFill>
                  <a:srgbClr val="1F1F1F"/>
                </a:solidFill>
                <a:latin typeface="Calibri"/>
              </a:rPr>
              <a:t>Fitur yang belum jelas dikerjakan dalam putaran pendek</a:t>
            </a:r>
          </a:p>
        </p:txBody>
      </p:sp>
      <p:sp>
        <p:nvSpPr>
          <p:cNvPr id="18" name="Rounded Rectangle 17"/>
          <p:cNvSpPr/>
          <p:nvPr/>
        </p:nvSpPr>
        <p:spPr>
          <a:xfrm>
            <a:off x="548640" y="5166360"/>
            <a:ext cx="11109960" cy="1097280"/>
          </a:xfrm>
          <a:prstGeom prst="roundRect">
            <a:avLst>
              <a:gd name="adj" fmla="val 6000"/>
            </a:avLst>
          </a:prstGeom>
          <a:solidFill>
            <a:srgbClr val="F3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5239512"/>
            <a:ext cx="10835640" cy="950976"/>
          </a:xfrm>
          <a:prstGeom prst="rect">
            <a:avLst/>
          </a:prstGeom>
          <a:noFill/>
        </p:spPr>
        <p:txBody>
          <a:bodyPr wrap="square" anchor="t" lIns="45720" rIns="45720">
            <a:spAutoFit/>
          </a:bodyPr>
          <a:lstStyle/>
          <a:p>
            <a:pPr algn="l">
              <a:spcAft>
                <a:spcPts val="300"/>
              </a:spcAft>
            </a:pPr>
            <a:r>
              <a:rPr sz="1300" b="1" i="0">
                <a:solidFill>
                  <a:srgbClr val="1B2A4A"/>
                </a:solidFill>
                <a:latin typeface="Calibri"/>
              </a:rPr>
              <a:t>Istilah di slide ini</a:t>
            </a:r>
          </a:p>
          <a:p>
            <a:pPr algn="l">
              <a:spcAft>
                <a:spcPts val="300"/>
              </a:spcAft>
            </a:pPr>
            <a:r>
              <a:rPr sz="1300" b="1" i="0">
                <a:solidFill>
                  <a:srgbClr val="1F1F1F"/>
                </a:solidFill>
                <a:latin typeface="Calibri"/>
              </a:rPr>
              <a:t>Putaran (sprint): </a:t>
            </a:r>
            <a:r>
              <a:rPr sz="1300" b="0" i="0">
                <a:solidFill>
                  <a:srgbClr val="1F1F1F"/>
                </a:solidFill>
                <a:latin typeface="Calibri"/>
              </a:rPr>
              <a:t>satu siklus kerja pendek 1–4 minggu</a:t>
            </a:r>
          </a:p>
          <a:p>
            <a:pPr algn="l">
              <a:spcAft>
                <a:spcPts val="300"/>
              </a:spcAft>
            </a:pPr>
            <a:r>
              <a:rPr sz="1300" b="1" i="0">
                <a:solidFill>
                  <a:srgbClr val="1F1F1F"/>
                </a:solidFill>
                <a:latin typeface="Calibri"/>
              </a:rPr>
              <a:t>Alasan hybrid (PMBOK 7): </a:t>
            </a:r>
            <a:r>
              <a:rPr sz="1300" b="0" i="0">
                <a:solidFill>
                  <a:srgbClr val="1F1F1F"/>
                </a:solidFill>
                <a:latin typeface="Calibri"/>
              </a:rPr>
              <a:t>risiko tinggi &amp; aturan ketat → perlu rencana matang; kebutuhan belum pasti &amp; bisa per lembaga → bertahap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600"/>
              </a:spcAft>
            </a:pPr>
            <a:r>
              <a:rPr sz="3200" b="1" i="0">
                <a:solidFill>
                  <a:srgbClr val="1B2A4A"/>
                </a:solidFill>
                <a:latin typeface="Cambria"/>
              </a:rPr>
              <a:t>Rekomendasi dan pelajaran utama</a:t>
            </a:r>
          </a:p>
        </p:txBody>
      </p:sp>
      <p:pic>
        <p:nvPicPr>
          <p:cNvPr id="3" name="Picture 2" descr="logo_amikom.png"/>
          <p:cNvPicPr>
            <a:picLocks noChangeAspect="1"/>
          </p:cNvPicPr>
          <p:nvPr/>
        </p:nvPicPr>
        <p:blipFill>
          <a:blip r:embed="rId2"/>
          <a:stretch>
            <a:fillRect/>
          </a:stretch>
        </p:blipFill>
        <p:spPr>
          <a:xfrm>
            <a:off x="320040" y="6382512"/>
            <a:ext cx="376587" cy="365760"/>
          </a:xfrm>
          <a:prstGeom prst="rect">
            <a:avLst/>
          </a:prstGeom>
        </p:spPr>
      </p:pic>
      <p:sp>
        <p:nvSpPr>
          <p:cNvPr id="4" name="TextBox 3"/>
          <p:cNvSpPr txBox="1"/>
          <p:nvPr/>
        </p:nvSpPr>
        <p:spPr>
          <a:xfrm>
            <a:off x="11155680" y="6400800"/>
            <a:ext cx="731520" cy="320040"/>
          </a:xfrm>
          <a:prstGeom prst="rect">
            <a:avLst/>
          </a:prstGeom>
          <a:noFill/>
        </p:spPr>
        <p:txBody>
          <a:bodyPr wrap="square" anchor="t" lIns="45720" rIns="45720">
            <a:spAutoFit/>
          </a:bodyPr>
          <a:lstStyle/>
          <a:p>
            <a:pPr algn="r">
              <a:spcAft>
                <a:spcPts val="600"/>
              </a:spcAft>
            </a:pPr>
            <a:r>
              <a:rPr sz="1100" b="0" i="0">
                <a:solidFill>
                  <a:srgbClr val="898781"/>
                </a:solidFill>
                <a:latin typeface="Calibri"/>
              </a:rPr>
              <a:t>7</a:t>
            </a:r>
          </a:p>
        </p:txBody>
      </p:sp>
      <p:sp>
        <p:nvSpPr>
          <p:cNvPr id="5" name="Oval 4"/>
          <p:cNvSpPr/>
          <p:nvPr/>
        </p:nvSpPr>
        <p:spPr>
          <a:xfrm>
            <a:off x="548640" y="1417320"/>
            <a:ext cx="502920" cy="5029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6" name="TextBox 5"/>
          <p:cNvSpPr txBox="1"/>
          <p:nvPr/>
        </p:nvSpPr>
        <p:spPr>
          <a:xfrm>
            <a:off x="1234440" y="1344168"/>
            <a:ext cx="5669280" cy="411480"/>
          </a:xfrm>
          <a:prstGeom prst="rect">
            <a:avLst/>
          </a:prstGeom>
          <a:noFill/>
        </p:spPr>
        <p:txBody>
          <a:bodyPr wrap="square" anchor="t" lIns="45720" rIns="45720">
            <a:spAutoFit/>
          </a:bodyPr>
          <a:lstStyle/>
          <a:p>
            <a:pPr algn="l">
              <a:spcAft>
                <a:spcPts val="600"/>
              </a:spcAft>
            </a:pPr>
            <a:r>
              <a:rPr sz="1500" b="1" i="0">
                <a:solidFill>
                  <a:srgbClr val="2A78D6"/>
                </a:solidFill>
                <a:latin typeface="Calibri"/>
              </a:rPr>
              <a:t>Memulai</a:t>
            </a:r>
          </a:p>
        </p:txBody>
      </p:sp>
      <p:sp>
        <p:nvSpPr>
          <p:cNvPr id="7" name="TextBox 6"/>
          <p:cNvSpPr txBox="1"/>
          <p:nvPr/>
        </p:nvSpPr>
        <p:spPr>
          <a:xfrm>
            <a:off x="1234440" y="1709928"/>
            <a:ext cx="5669280" cy="685800"/>
          </a:xfrm>
          <a:prstGeom prst="rect">
            <a:avLst/>
          </a:prstGeom>
          <a:noFill/>
        </p:spPr>
        <p:txBody>
          <a:bodyPr wrap="square" anchor="t" lIns="45720" rIns="45720">
            <a:spAutoFit/>
          </a:bodyPr>
          <a:lstStyle/>
          <a:p>
            <a:pPr algn="l">
              <a:spcAft>
                <a:spcPts val="600"/>
              </a:spcAft>
            </a:pPr>
            <a:r>
              <a:rPr sz="1600" b="0" i="0">
                <a:solidFill>
                  <a:srgbClr val="1F1F1F"/>
                </a:solidFill>
                <a:latin typeface="Calibri"/>
              </a:rPr>
              <a:t>Buktikan perkiraan manfaat dengan data nyata</a:t>
            </a:r>
          </a:p>
        </p:txBody>
      </p:sp>
      <p:sp>
        <p:nvSpPr>
          <p:cNvPr id="8" name="Oval 7"/>
          <p:cNvSpPr/>
          <p:nvPr/>
        </p:nvSpPr>
        <p:spPr>
          <a:xfrm>
            <a:off x="548640" y="2496312"/>
            <a:ext cx="502920" cy="5029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9" name="TextBox 8"/>
          <p:cNvSpPr txBox="1"/>
          <p:nvPr/>
        </p:nvSpPr>
        <p:spPr>
          <a:xfrm>
            <a:off x="1234440" y="2423160"/>
            <a:ext cx="5669280" cy="411480"/>
          </a:xfrm>
          <a:prstGeom prst="rect">
            <a:avLst/>
          </a:prstGeom>
          <a:noFill/>
        </p:spPr>
        <p:txBody>
          <a:bodyPr wrap="square" anchor="t" lIns="45720" rIns="45720">
            <a:spAutoFit/>
          </a:bodyPr>
          <a:lstStyle/>
          <a:p>
            <a:pPr algn="l">
              <a:spcAft>
                <a:spcPts val="600"/>
              </a:spcAft>
            </a:pPr>
            <a:r>
              <a:rPr sz="1500" b="1" i="0">
                <a:solidFill>
                  <a:srgbClr val="2A78D6"/>
                </a:solidFill>
                <a:latin typeface="Calibri"/>
              </a:rPr>
              <a:t>Merencanakan</a:t>
            </a:r>
          </a:p>
        </p:txBody>
      </p:sp>
      <p:sp>
        <p:nvSpPr>
          <p:cNvPr id="10" name="TextBox 9"/>
          <p:cNvSpPr txBox="1"/>
          <p:nvPr/>
        </p:nvSpPr>
        <p:spPr>
          <a:xfrm>
            <a:off x="1234440" y="2788920"/>
            <a:ext cx="5669280" cy="685800"/>
          </a:xfrm>
          <a:prstGeom prst="rect">
            <a:avLst/>
          </a:prstGeom>
          <a:noFill/>
        </p:spPr>
        <p:txBody>
          <a:bodyPr wrap="square" anchor="t" lIns="45720" rIns="45720">
            <a:spAutoFit/>
          </a:bodyPr>
          <a:lstStyle/>
          <a:p>
            <a:pPr algn="l">
              <a:spcAft>
                <a:spcPts val="600"/>
              </a:spcAft>
            </a:pPr>
            <a:r>
              <a:rPr sz="1600" b="0" i="0">
                <a:solidFill>
                  <a:srgbClr val="1F1F1F"/>
                </a:solidFill>
                <a:latin typeface="Calibri"/>
              </a:rPr>
              <a:t>Biaya/jadwal melenceng jauh → wajib rencana baru &amp; lapor</a:t>
            </a:r>
          </a:p>
        </p:txBody>
      </p:sp>
      <p:sp>
        <p:nvSpPr>
          <p:cNvPr id="11" name="Oval 10"/>
          <p:cNvSpPr/>
          <p:nvPr/>
        </p:nvSpPr>
        <p:spPr>
          <a:xfrm>
            <a:off x="548640" y="3575303"/>
            <a:ext cx="502920" cy="5029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2" name="TextBox 11"/>
          <p:cNvSpPr txBox="1"/>
          <p:nvPr/>
        </p:nvSpPr>
        <p:spPr>
          <a:xfrm>
            <a:off x="1234440" y="3502151"/>
            <a:ext cx="5669280" cy="411480"/>
          </a:xfrm>
          <a:prstGeom prst="rect">
            <a:avLst/>
          </a:prstGeom>
          <a:noFill/>
        </p:spPr>
        <p:txBody>
          <a:bodyPr wrap="square" anchor="t" lIns="45720" rIns="45720">
            <a:spAutoFit/>
          </a:bodyPr>
          <a:lstStyle/>
          <a:p>
            <a:pPr algn="l">
              <a:spcAft>
                <a:spcPts val="600"/>
              </a:spcAft>
            </a:pPr>
            <a:r>
              <a:rPr sz="1500" b="1" i="0">
                <a:solidFill>
                  <a:srgbClr val="2A78D6"/>
                </a:solidFill>
                <a:latin typeface="Calibri"/>
              </a:rPr>
              <a:t>Memeriksa</a:t>
            </a:r>
          </a:p>
        </p:txBody>
      </p:sp>
      <p:sp>
        <p:nvSpPr>
          <p:cNvPr id="13" name="TextBox 12"/>
          <p:cNvSpPr txBox="1"/>
          <p:nvPr/>
        </p:nvSpPr>
        <p:spPr>
          <a:xfrm>
            <a:off x="1234440" y="3867911"/>
            <a:ext cx="5669280" cy="685800"/>
          </a:xfrm>
          <a:prstGeom prst="rect">
            <a:avLst/>
          </a:prstGeom>
          <a:noFill/>
        </p:spPr>
        <p:txBody>
          <a:bodyPr wrap="square" anchor="t" lIns="45720" rIns="45720">
            <a:spAutoFit/>
          </a:bodyPr>
          <a:lstStyle/>
          <a:p>
            <a:pPr algn="l">
              <a:spcAft>
                <a:spcPts val="600"/>
              </a:spcAft>
            </a:pPr>
            <a:r>
              <a:rPr sz="1600" b="0" i="0">
                <a:solidFill>
                  <a:srgbClr val="1F1F1F"/>
                </a:solidFill>
                <a:latin typeface="Calibri"/>
              </a:rPr>
              <a:t>Uji coba dan sistem lama-baru berjalan bersamaan tidak boleh dihapus</a:t>
            </a:r>
          </a:p>
        </p:txBody>
      </p:sp>
      <p:sp>
        <p:nvSpPr>
          <p:cNvPr id="14" name="Oval 13"/>
          <p:cNvSpPr/>
          <p:nvPr/>
        </p:nvSpPr>
        <p:spPr>
          <a:xfrm>
            <a:off x="548640" y="4654296"/>
            <a:ext cx="502920" cy="5029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4</a:t>
            </a:r>
          </a:p>
        </p:txBody>
      </p:sp>
      <p:sp>
        <p:nvSpPr>
          <p:cNvPr id="15" name="TextBox 14"/>
          <p:cNvSpPr txBox="1"/>
          <p:nvPr/>
        </p:nvSpPr>
        <p:spPr>
          <a:xfrm>
            <a:off x="1234440" y="4581144"/>
            <a:ext cx="5669280" cy="411480"/>
          </a:xfrm>
          <a:prstGeom prst="rect">
            <a:avLst/>
          </a:prstGeom>
          <a:noFill/>
        </p:spPr>
        <p:txBody>
          <a:bodyPr wrap="square" anchor="t" lIns="45720" rIns="45720">
            <a:spAutoFit/>
          </a:bodyPr>
          <a:lstStyle/>
          <a:p>
            <a:pPr algn="l">
              <a:spcAft>
                <a:spcPts val="600"/>
              </a:spcAft>
            </a:pPr>
            <a:r>
              <a:rPr sz="1500" b="1" i="0">
                <a:solidFill>
                  <a:srgbClr val="2A78D6"/>
                </a:solidFill>
                <a:latin typeface="Calibri"/>
              </a:rPr>
              <a:t>Memeriksa &amp; menutup</a:t>
            </a:r>
          </a:p>
        </p:txBody>
      </p:sp>
      <p:sp>
        <p:nvSpPr>
          <p:cNvPr id="16" name="TextBox 15"/>
          <p:cNvSpPr txBox="1"/>
          <p:nvPr/>
        </p:nvSpPr>
        <p:spPr>
          <a:xfrm>
            <a:off x="1234440" y="4946904"/>
            <a:ext cx="5669280" cy="685800"/>
          </a:xfrm>
          <a:prstGeom prst="rect">
            <a:avLst/>
          </a:prstGeom>
          <a:noFill/>
        </p:spPr>
        <p:txBody>
          <a:bodyPr wrap="square" anchor="t" lIns="45720" rIns="45720">
            <a:spAutoFit/>
          </a:bodyPr>
          <a:lstStyle/>
          <a:p>
            <a:pPr algn="l">
              <a:spcAft>
                <a:spcPts val="600"/>
              </a:spcAft>
            </a:pPr>
            <a:r>
              <a:rPr sz="1600" b="0" i="0">
                <a:solidFill>
                  <a:srgbClr val="1F1F1F"/>
                </a:solidFill>
                <a:latin typeface="Calibri"/>
              </a:rPr>
              <a:t>Pemeriksa dari luar tim lapor ke pimpinan; keputusan mulai pakai dicatat tertulis</a:t>
            </a:r>
          </a:p>
        </p:txBody>
      </p:sp>
      <p:sp>
        <p:nvSpPr>
          <p:cNvPr id="17" name="Rounded Rectangle 16"/>
          <p:cNvSpPr/>
          <p:nvPr/>
        </p:nvSpPr>
        <p:spPr>
          <a:xfrm>
            <a:off x="7223760" y="1325880"/>
            <a:ext cx="4434840" cy="43434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1463040"/>
            <a:ext cx="3977639" cy="411480"/>
          </a:xfrm>
          <a:prstGeom prst="rect">
            <a:avLst/>
          </a:prstGeom>
          <a:noFill/>
        </p:spPr>
        <p:txBody>
          <a:bodyPr wrap="square" anchor="t" lIns="45720" rIns="45720">
            <a:spAutoFit/>
          </a:bodyPr>
          <a:lstStyle/>
          <a:p>
            <a:pPr algn="l">
              <a:spcAft>
                <a:spcPts val="600"/>
              </a:spcAft>
            </a:pPr>
            <a:r>
              <a:rPr sz="1400" b="1" i="0">
                <a:solidFill>
                  <a:srgbClr val="2A78D6"/>
                </a:solidFill>
                <a:latin typeface="Calibri"/>
              </a:rPr>
              <a:t>PELAJARAN UTAMA</a:t>
            </a:r>
          </a:p>
        </p:txBody>
      </p:sp>
      <p:sp>
        <p:nvSpPr>
          <p:cNvPr id="19" name="TextBox 18"/>
          <p:cNvSpPr txBox="1"/>
          <p:nvPr/>
        </p:nvSpPr>
        <p:spPr>
          <a:xfrm>
            <a:off x="7452360" y="1874519"/>
            <a:ext cx="3977639" cy="1828800"/>
          </a:xfrm>
          <a:prstGeom prst="rect">
            <a:avLst/>
          </a:prstGeom>
          <a:noFill/>
        </p:spPr>
        <p:txBody>
          <a:bodyPr wrap="square" anchor="t" lIns="45720" rIns="45720">
            <a:spAutoFit/>
          </a:bodyPr>
          <a:lstStyle/>
          <a:p>
            <a:pPr algn="l">
              <a:spcAft>
                <a:spcPts val="600"/>
              </a:spcAft>
            </a:pPr>
            <a:r>
              <a:rPr sz="2400" b="1" i="0">
                <a:solidFill>
                  <a:srgbClr val="1B2A4A"/>
                </a:solidFill>
                <a:latin typeface="Cambria"/>
              </a:rPr>
              <a:t>Tanggal peluncuran tidak boleh lebih kuat daripada bukti kesiapan</a:t>
            </a:r>
          </a:p>
        </p:txBody>
      </p:sp>
      <p:sp>
        <p:nvSpPr>
          <p:cNvPr id="20" name="TextBox 19"/>
          <p:cNvSpPr txBox="1"/>
          <p:nvPr/>
        </p:nvSpPr>
        <p:spPr>
          <a:xfrm>
            <a:off x="7452360" y="3703320"/>
            <a:ext cx="3977639" cy="1920240"/>
          </a:xfrm>
          <a:prstGeom prst="rect">
            <a:avLst/>
          </a:prstGeom>
          <a:noFill/>
        </p:spPr>
        <p:txBody>
          <a:bodyPr wrap="square" anchor="t" lIns="45720" rIns="45720">
            <a:spAutoFit/>
          </a:bodyPr>
          <a:lstStyle/>
          <a:p>
            <a:pPr algn="l">
              <a:spcAft>
                <a:spcPts val="500"/>
              </a:spcAft>
            </a:pPr>
            <a:r>
              <a:rPr sz="1400" b="1" i="0">
                <a:solidFill>
                  <a:srgbClr val="1F1F1F"/>
                </a:solidFill>
                <a:latin typeface="Calibri"/>
              </a:rPr>
              <a:t>Pola serupa: </a:t>
            </a:r>
            <a:r>
              <a:rPr sz="1400" b="0" i="0">
                <a:solidFill>
                  <a:srgbClr val="1F1F1F"/>
                </a:solidFill>
                <a:latin typeface="Calibri"/>
              </a:rPr>
              <a:t>bank TSB, Inggris (2018) dan Coretax DJP (2025).</a:t>
            </a:r>
          </a:p>
          <a:p>
            <a:pPr algn="l">
              <a:spcAft>
                <a:spcPts val="500"/>
              </a:spcAft>
            </a:pPr>
            <a:r>
              <a:rPr sz="1400" b="1" i="0">
                <a:solidFill>
                  <a:srgbClr val="1F1F1F"/>
                </a:solidFill>
                <a:latin typeface="Calibri"/>
              </a:rPr>
              <a:t>Catatan: </a:t>
            </a:r>
            <a:r>
              <a:rPr sz="1400" b="0" i="0">
                <a:solidFill>
                  <a:srgbClr val="1F1F1F"/>
                </a:solidFill>
                <a:latin typeface="Calibri"/>
              </a:rPr>
              <a:t>cara kerja Agile saja tidak cukup; tetap perlu pemeriksa yang tidak memihak.</a:t>
            </a:r>
          </a:p>
          <a:p>
            <a:pPr algn="l">
              <a:spcAft>
                <a:spcPts val="500"/>
              </a:spcAft>
            </a:pPr>
            <a:r>
              <a:rPr sz="1400" b="1" i="0">
                <a:solidFill>
                  <a:srgbClr val="1F1F1F"/>
                </a:solidFill>
                <a:latin typeface="Calibri"/>
              </a:rPr>
              <a:t>Relevan untuk BMKG </a:t>
            </a:r>
            <a:r>
              <a:rPr sz="1400" b="0" i="0">
                <a:solidFill>
                  <a:srgbClr val="1F1F1F"/>
                </a:solidFill>
                <a:latin typeface="Calibri"/>
              </a:rPr>
              <a:t>dan proyek TI pemerintah lain.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600"/>
              </a:spcAft>
            </a:pPr>
            <a:r>
              <a:rPr sz="3200" b="1" i="0">
                <a:solidFill>
                  <a:srgbClr val="1B2A4A"/>
                </a:solidFill>
                <a:latin typeface="Cambria"/>
              </a:rPr>
              <a:t>Daftar istilah (cadangan)</a:t>
            </a:r>
          </a:p>
        </p:txBody>
      </p:sp>
      <p:pic>
        <p:nvPicPr>
          <p:cNvPr id="3" name="Picture 2" descr="logo_amikom.png"/>
          <p:cNvPicPr>
            <a:picLocks noChangeAspect="1"/>
          </p:cNvPicPr>
          <p:nvPr/>
        </p:nvPicPr>
        <p:blipFill>
          <a:blip r:embed="rId2"/>
          <a:stretch>
            <a:fillRect/>
          </a:stretch>
        </p:blipFill>
        <p:spPr>
          <a:xfrm>
            <a:off x="320040" y="6382512"/>
            <a:ext cx="376587" cy="365760"/>
          </a:xfrm>
          <a:prstGeom prst="rect">
            <a:avLst/>
          </a:prstGeom>
        </p:spPr>
      </p:pic>
      <p:sp>
        <p:nvSpPr>
          <p:cNvPr id="4" name="TextBox 3"/>
          <p:cNvSpPr txBox="1"/>
          <p:nvPr/>
        </p:nvSpPr>
        <p:spPr>
          <a:xfrm>
            <a:off x="11155680" y="6400800"/>
            <a:ext cx="731520" cy="320040"/>
          </a:xfrm>
          <a:prstGeom prst="rect">
            <a:avLst/>
          </a:prstGeom>
          <a:noFill/>
        </p:spPr>
        <p:txBody>
          <a:bodyPr wrap="square" anchor="t" lIns="45720" rIns="45720">
            <a:spAutoFit/>
          </a:bodyPr>
          <a:lstStyle/>
          <a:p>
            <a:pPr algn="r">
              <a:spcAft>
                <a:spcPts val="600"/>
              </a:spcAft>
            </a:pPr>
            <a:r>
              <a:rPr sz="1100" b="0" i="0">
                <a:solidFill>
                  <a:srgbClr val="898781"/>
                </a:solidFill>
                <a:latin typeface="Calibri"/>
              </a:rPr>
              <a:t>8</a:t>
            </a:r>
          </a:p>
        </p:txBody>
      </p:sp>
      <p:graphicFrame>
        <p:nvGraphicFramePr>
          <p:cNvPr id="5" name="Table 4"/>
          <p:cNvGraphicFramePr>
            <a:graphicFrameLocks noGrp="1"/>
          </p:cNvGraphicFramePr>
          <p:nvPr/>
        </p:nvGraphicFramePr>
        <p:xfrm>
          <a:off x="548640" y="1280160"/>
          <a:ext cx="5440680" cy="4754880"/>
        </p:xfrm>
        <a:graphic>
          <a:graphicData uri="http://schemas.openxmlformats.org/drawingml/2006/table">
            <a:tbl>
              <a:tblPr firstRow="1" bandRow="1">
                <a:tableStyleId>{5C22544A-7EE6-4342-B048-85BDC9FD1C3A}</a:tableStyleId>
              </a:tblPr>
              <a:tblGrid>
                <a:gridCol w="2011680"/>
                <a:gridCol w="3429000"/>
              </a:tblGrid>
              <a:tr h="528320">
                <a:tc>
                  <a:txBody>
                    <a:bodyPr/>
                    <a:lstStyle/>
                    <a:p>
                      <a:r>
                        <a:rPr sz="1300" b="1">
                          <a:solidFill>
                            <a:srgbClr val="1B2A4A"/>
                          </a:solidFill>
                          <a:latin typeface="Calibri"/>
                        </a:rPr>
                        <a:t>Effort</a:t>
                      </a:r>
                    </a:p>
                  </a:txBody>
                  <a:tcPr>
                    <a:solidFill>
                      <a:srgbClr val="EAF2FC"/>
                    </a:solidFill>
                  </a:tcPr>
                </a:tc>
                <a:tc>
                  <a:txBody>
                    <a:bodyPr/>
                    <a:lstStyle/>
                    <a:p>
                      <a:r>
                        <a:rPr sz="1300" b="0">
                          <a:solidFill>
                            <a:srgbClr val="1F1F1F"/>
                          </a:solidFill>
                          <a:latin typeface="Calibri"/>
                        </a:rPr>
                        <a:t>tenaga dan waktu proyek</a:t>
                      </a:r>
                    </a:p>
                  </a:txBody>
                  <a:tcPr>
                    <a:solidFill>
                      <a:srgbClr val="EAF2FC"/>
                    </a:solidFill>
                  </a:tcPr>
                </a:tc>
              </a:tr>
              <a:tr h="528320">
                <a:tc>
                  <a:txBody>
                    <a:bodyPr/>
                    <a:lstStyle/>
                    <a:p>
                      <a:r>
                        <a:rPr sz="1300" b="1">
                          <a:solidFill>
                            <a:srgbClr val="1B2A4A"/>
                          </a:solidFill>
                          <a:latin typeface="Calibri"/>
                        </a:rPr>
                        <a:t>Process group</a:t>
                      </a:r>
                    </a:p>
                  </a:txBody>
                  <a:tcPr>
                    <a:solidFill>
                      <a:srgbClr val="FFFFFF"/>
                    </a:solidFill>
                  </a:tcPr>
                </a:tc>
                <a:tc>
                  <a:txBody>
                    <a:bodyPr/>
                    <a:lstStyle/>
                    <a:p>
                      <a:r>
                        <a:rPr sz="1300" b="0">
                          <a:solidFill>
                            <a:srgbClr val="1F1F1F"/>
                          </a:solidFill>
                          <a:latin typeface="Calibri"/>
                        </a:rPr>
                        <a:t>5 kelompok kegiatan mengelola proyek</a:t>
                      </a:r>
                    </a:p>
                  </a:txBody>
                  <a:tcPr>
                    <a:solidFill>
                      <a:srgbClr val="FFFFFF"/>
                    </a:solidFill>
                  </a:tcPr>
                </a:tc>
              </a:tr>
              <a:tr h="528320">
                <a:tc>
                  <a:txBody>
                    <a:bodyPr/>
                    <a:lstStyle/>
                    <a:p>
                      <a:r>
                        <a:rPr sz="1300" b="1">
                          <a:solidFill>
                            <a:srgbClr val="1B2A4A"/>
                          </a:solidFill>
                          <a:latin typeface="Calibri"/>
                        </a:rPr>
                        <a:t>Initiating</a:t>
                      </a:r>
                    </a:p>
                  </a:txBody>
                  <a:tcPr>
                    <a:solidFill>
                      <a:srgbClr val="EAF2FC"/>
                    </a:solidFill>
                  </a:tcPr>
                </a:tc>
                <a:tc>
                  <a:txBody>
                    <a:bodyPr/>
                    <a:lstStyle/>
                    <a:p>
                      <a:r>
                        <a:rPr sz="1300" b="0">
                          <a:solidFill>
                            <a:srgbClr val="1F1F1F"/>
                          </a:solidFill>
                          <a:latin typeface="Calibri"/>
                        </a:rPr>
                        <a:t>memulai: memutuskan proyek dan tujuannya</a:t>
                      </a:r>
                    </a:p>
                  </a:txBody>
                  <a:tcPr>
                    <a:solidFill>
                      <a:srgbClr val="EAF2FC"/>
                    </a:solidFill>
                  </a:tcPr>
                </a:tc>
              </a:tr>
              <a:tr h="528320">
                <a:tc>
                  <a:txBody>
                    <a:bodyPr/>
                    <a:lstStyle/>
                    <a:p>
                      <a:r>
                        <a:rPr sz="1300" b="1">
                          <a:solidFill>
                            <a:srgbClr val="1B2A4A"/>
                          </a:solidFill>
                          <a:latin typeface="Calibri"/>
                        </a:rPr>
                        <a:t>Planning</a:t>
                      </a:r>
                    </a:p>
                  </a:txBody>
                  <a:tcPr>
                    <a:solidFill>
                      <a:srgbClr val="FFFFFF"/>
                    </a:solidFill>
                  </a:tcPr>
                </a:tc>
                <a:tc>
                  <a:txBody>
                    <a:bodyPr/>
                    <a:lstStyle/>
                    <a:p>
                      <a:r>
                        <a:rPr sz="1300" b="0">
                          <a:solidFill>
                            <a:srgbClr val="1F1F1F"/>
                          </a:solidFill>
                          <a:latin typeface="Calibri"/>
                        </a:rPr>
                        <a:t>merencanakan: apa, kapan, biaya, risiko</a:t>
                      </a:r>
                    </a:p>
                  </a:txBody>
                  <a:tcPr>
                    <a:solidFill>
                      <a:srgbClr val="FFFFFF"/>
                    </a:solidFill>
                  </a:tcPr>
                </a:tc>
              </a:tr>
              <a:tr h="528320">
                <a:tc>
                  <a:txBody>
                    <a:bodyPr/>
                    <a:lstStyle/>
                    <a:p>
                      <a:r>
                        <a:rPr sz="1300" b="1">
                          <a:solidFill>
                            <a:srgbClr val="1B2A4A"/>
                          </a:solidFill>
                          <a:latin typeface="Calibri"/>
                        </a:rPr>
                        <a:t>Executing</a:t>
                      </a:r>
                    </a:p>
                  </a:txBody>
                  <a:tcPr>
                    <a:solidFill>
                      <a:srgbClr val="EAF2FC"/>
                    </a:solidFill>
                  </a:tcPr>
                </a:tc>
                <a:tc>
                  <a:txBody>
                    <a:bodyPr/>
                    <a:lstStyle/>
                    <a:p>
                      <a:r>
                        <a:rPr sz="1300" b="0">
                          <a:solidFill>
                            <a:srgbClr val="1F1F1F"/>
                          </a:solidFill>
                          <a:latin typeface="Calibri"/>
                        </a:rPr>
                        <a:t>mengerjakan: membangun sistem</a:t>
                      </a:r>
                    </a:p>
                  </a:txBody>
                  <a:tcPr>
                    <a:solidFill>
                      <a:srgbClr val="EAF2FC"/>
                    </a:solidFill>
                  </a:tcPr>
                </a:tc>
              </a:tr>
              <a:tr h="528320">
                <a:tc>
                  <a:txBody>
                    <a:bodyPr/>
                    <a:lstStyle/>
                    <a:p>
                      <a:r>
                        <a:rPr sz="1300" b="1">
                          <a:solidFill>
                            <a:srgbClr val="1B2A4A"/>
                          </a:solidFill>
                          <a:latin typeface="Calibri"/>
                        </a:rPr>
                        <a:t>Monitoring &amp; Controlling</a:t>
                      </a:r>
                    </a:p>
                  </a:txBody>
                  <a:tcPr>
                    <a:solidFill>
                      <a:srgbClr val="FFFFFF"/>
                    </a:solidFill>
                  </a:tcPr>
                </a:tc>
                <a:tc>
                  <a:txBody>
                    <a:bodyPr/>
                    <a:lstStyle/>
                    <a:p>
                      <a:r>
                        <a:rPr sz="1300" b="0">
                          <a:solidFill>
                            <a:srgbClr val="1F1F1F"/>
                          </a:solidFill>
                          <a:latin typeface="Calibri"/>
                        </a:rPr>
                        <a:t>memeriksa, menguji, memperbaiki</a:t>
                      </a:r>
                    </a:p>
                  </a:txBody>
                  <a:tcPr>
                    <a:solidFill>
                      <a:srgbClr val="FFFFFF"/>
                    </a:solidFill>
                  </a:tcPr>
                </a:tc>
              </a:tr>
              <a:tr h="528320">
                <a:tc>
                  <a:txBody>
                    <a:bodyPr/>
                    <a:lstStyle/>
                    <a:p>
                      <a:r>
                        <a:rPr sz="1300" b="1">
                          <a:solidFill>
                            <a:srgbClr val="1B2A4A"/>
                          </a:solidFill>
                          <a:latin typeface="Calibri"/>
                        </a:rPr>
                        <a:t>Closing</a:t>
                      </a:r>
                    </a:p>
                  </a:txBody>
                  <a:tcPr>
                    <a:solidFill>
                      <a:srgbClr val="EAF2FC"/>
                    </a:solidFill>
                  </a:tcPr>
                </a:tc>
                <a:tc>
                  <a:txBody>
                    <a:bodyPr/>
                    <a:lstStyle/>
                    <a:p>
                      <a:r>
                        <a:rPr sz="1300" b="0">
                          <a:solidFill>
                            <a:srgbClr val="1F1F1F"/>
                          </a:solidFill>
                          <a:latin typeface="Calibri"/>
                        </a:rPr>
                        <a:t>menutup: serah terima, evaluasi</a:t>
                      </a:r>
                    </a:p>
                  </a:txBody>
                  <a:tcPr>
                    <a:solidFill>
                      <a:srgbClr val="EAF2FC"/>
                    </a:solidFill>
                  </a:tcPr>
                </a:tc>
              </a:tr>
              <a:tr h="528320">
                <a:tc>
                  <a:txBody>
                    <a:bodyPr/>
                    <a:lstStyle/>
                    <a:p>
                      <a:r>
                        <a:rPr sz="1300" b="1">
                          <a:solidFill>
                            <a:srgbClr val="1B2A4A"/>
                          </a:solidFill>
                          <a:latin typeface="Calibri"/>
                        </a:rPr>
                        <a:t>PMBOK Guide</a:t>
                      </a:r>
                    </a:p>
                  </a:txBody>
                  <a:tcPr>
                    <a:solidFill>
                      <a:srgbClr val="FFFFFF"/>
                    </a:solidFill>
                  </a:tcPr>
                </a:tc>
                <a:tc>
                  <a:txBody>
                    <a:bodyPr/>
                    <a:lstStyle/>
                    <a:p>
                      <a:r>
                        <a:rPr sz="1300" b="0">
                          <a:solidFill>
                            <a:srgbClr val="1F1F1F"/>
                          </a:solidFill>
                          <a:latin typeface="Calibri"/>
                        </a:rPr>
                        <a:t>buku standar pengelolaan proyek (PMI)</a:t>
                      </a:r>
                    </a:p>
                  </a:txBody>
                  <a:tcPr>
                    <a:solidFill>
                      <a:srgbClr val="FFFFFF"/>
                    </a:solidFill>
                  </a:tcPr>
                </a:tc>
              </a:tr>
              <a:tr h="528320">
                <a:tc>
                  <a:txBody>
                    <a:bodyPr/>
                    <a:lstStyle/>
                    <a:p>
                      <a:r>
                        <a:rPr sz="1300" b="1">
                          <a:solidFill>
                            <a:srgbClr val="1B2A4A"/>
                          </a:solidFill>
                          <a:latin typeface="Calibri"/>
                        </a:rPr>
                        <a:t>OAG</a:t>
                      </a:r>
                    </a:p>
                  </a:txBody>
                  <a:tcPr>
                    <a:solidFill>
                      <a:srgbClr val="EAF2FC"/>
                    </a:solidFill>
                  </a:tcPr>
                </a:tc>
                <a:tc>
                  <a:txBody>
                    <a:bodyPr/>
                    <a:lstStyle/>
                    <a:p>
                      <a:r>
                        <a:rPr sz="1300" b="0">
                          <a:solidFill>
                            <a:srgbClr val="1F1F1F"/>
                          </a:solidFill>
                          <a:latin typeface="Calibri"/>
                        </a:rPr>
                        <a:t>lembaga pemeriksa negara Kanada (seperti BPK)</a:t>
                      </a:r>
                    </a:p>
                  </a:txBody>
                  <a:tcPr>
                    <a:solidFill>
                      <a:srgbClr val="EAF2FC"/>
                    </a:solidFill>
                  </a:tcPr>
                </a:tc>
              </a:tr>
            </a:tbl>
          </a:graphicData>
        </a:graphic>
      </p:graphicFrame>
      <p:graphicFrame>
        <p:nvGraphicFramePr>
          <p:cNvPr id="6" name="Table 5"/>
          <p:cNvGraphicFramePr>
            <a:graphicFrameLocks noGrp="1"/>
          </p:cNvGraphicFramePr>
          <p:nvPr/>
        </p:nvGraphicFramePr>
        <p:xfrm>
          <a:off x="6217920" y="1280160"/>
          <a:ext cx="5440680" cy="4754880"/>
        </p:xfrm>
        <a:graphic>
          <a:graphicData uri="http://schemas.openxmlformats.org/drawingml/2006/table">
            <a:tbl>
              <a:tblPr firstRow="1" bandRow="1">
                <a:tableStyleId>{5C22544A-7EE6-4342-B048-85BDC9FD1C3A}</a:tableStyleId>
              </a:tblPr>
              <a:tblGrid>
                <a:gridCol w="2011680"/>
                <a:gridCol w="3429000"/>
              </a:tblGrid>
              <a:tr h="528320">
                <a:tc>
                  <a:txBody>
                    <a:bodyPr/>
                    <a:lstStyle/>
                    <a:p>
                      <a:r>
                        <a:rPr sz="1300" b="1">
                          <a:solidFill>
                            <a:srgbClr val="1B2A4A"/>
                          </a:solidFill>
                          <a:latin typeface="Calibri"/>
                        </a:rPr>
                        <a:t>Uji coba (pilot)</a:t>
                      </a:r>
                    </a:p>
                  </a:txBody>
                  <a:tcPr>
                    <a:solidFill>
                      <a:srgbClr val="EAF2FC"/>
                    </a:solidFill>
                  </a:tcPr>
                </a:tc>
                <a:tc>
                  <a:txBody>
                    <a:bodyPr/>
                    <a:lstStyle/>
                    <a:p>
                      <a:r>
                        <a:rPr sz="1300" b="0">
                          <a:solidFill>
                            <a:srgbClr val="1F1F1F"/>
                          </a:solidFill>
                          <a:latin typeface="Calibri"/>
                        </a:rPr>
                        <a:t>dicoba di satu tempat dulu</a:t>
                      </a:r>
                    </a:p>
                  </a:txBody>
                  <a:tcPr>
                    <a:solidFill>
                      <a:srgbClr val="EAF2FC"/>
                    </a:solidFill>
                  </a:tcPr>
                </a:tc>
              </a:tr>
              <a:tr h="528320">
                <a:tc>
                  <a:txBody>
                    <a:bodyPr/>
                    <a:lstStyle/>
                    <a:p>
                      <a:r>
                        <a:rPr sz="1300" b="1">
                          <a:solidFill>
                            <a:srgbClr val="1B2A4A"/>
                          </a:solidFill>
                          <a:latin typeface="Calibri"/>
                        </a:rPr>
                        <a:t>Parallel run</a:t>
                      </a:r>
                    </a:p>
                  </a:txBody>
                  <a:tcPr>
                    <a:solidFill>
                      <a:srgbClr val="FFFFFF"/>
                    </a:solidFill>
                  </a:tcPr>
                </a:tc>
                <a:tc>
                  <a:txBody>
                    <a:bodyPr/>
                    <a:lstStyle/>
                    <a:p>
                      <a:r>
                        <a:rPr sz="1300" b="0">
                          <a:solidFill>
                            <a:srgbClr val="1F1F1F"/>
                          </a:solidFill>
                          <a:latin typeface="Calibri"/>
                        </a:rPr>
                        <a:t>sistem lama dan baru jalan bersamaan</a:t>
                      </a:r>
                    </a:p>
                  </a:txBody>
                  <a:tcPr>
                    <a:solidFill>
                      <a:srgbClr val="FFFFFF"/>
                    </a:solidFill>
                  </a:tcPr>
                </a:tc>
              </a:tr>
              <a:tr h="528320">
                <a:tc>
                  <a:txBody>
                    <a:bodyPr/>
                    <a:lstStyle/>
                    <a:p>
                      <a:r>
                        <a:rPr sz="1300" b="1">
                          <a:solidFill>
                            <a:srgbClr val="1B2A4A"/>
                          </a:solidFill>
                          <a:latin typeface="Calibri"/>
                        </a:rPr>
                        <a:t>Go-live</a:t>
                      </a:r>
                    </a:p>
                  </a:txBody>
                  <a:tcPr>
                    <a:solidFill>
                      <a:srgbClr val="EAF2FC"/>
                    </a:solidFill>
                  </a:tcPr>
                </a:tc>
                <a:tc>
                  <a:txBody>
                    <a:bodyPr/>
                    <a:lstStyle/>
                    <a:p>
                      <a:r>
                        <a:rPr sz="1300" b="0">
                          <a:solidFill>
                            <a:srgbClr val="1F1F1F"/>
                          </a:solidFill>
                          <a:latin typeface="Calibri"/>
                        </a:rPr>
                        <a:t>mulai dipakai sungguhan</a:t>
                      </a:r>
                    </a:p>
                  </a:txBody>
                  <a:tcPr>
                    <a:solidFill>
                      <a:srgbClr val="EAF2FC"/>
                    </a:solidFill>
                  </a:tcPr>
                </a:tc>
              </a:tr>
              <a:tr h="528320">
                <a:tc>
                  <a:txBody>
                    <a:bodyPr/>
                    <a:lstStyle/>
                    <a:p>
                      <a:r>
                        <a:rPr sz="1300" b="1">
                          <a:solidFill>
                            <a:srgbClr val="1B2A4A"/>
                          </a:solidFill>
                          <a:latin typeface="Calibri"/>
                        </a:rPr>
                        <a:t>Phase gate</a:t>
                      </a:r>
                    </a:p>
                  </a:txBody>
                  <a:tcPr>
                    <a:solidFill>
                      <a:srgbClr val="FFFFFF"/>
                    </a:solidFill>
                  </a:tcPr>
                </a:tc>
                <a:tc>
                  <a:txBody>
                    <a:bodyPr/>
                    <a:lstStyle/>
                    <a:p>
                      <a:r>
                        <a:rPr sz="1300" b="0">
                          <a:solidFill>
                            <a:srgbClr val="1F1F1F"/>
                          </a:solidFill>
                          <a:latin typeface="Calibri"/>
                        </a:rPr>
                        <a:t>pemeriksaan sebelum tahap berikutnya</a:t>
                      </a:r>
                    </a:p>
                  </a:txBody>
                  <a:tcPr>
                    <a:solidFill>
                      <a:srgbClr val="FFFFFF"/>
                    </a:solidFill>
                  </a:tcPr>
                </a:tc>
              </a:tr>
              <a:tr h="528320">
                <a:tc>
                  <a:txBody>
                    <a:bodyPr/>
                    <a:lstStyle/>
                    <a:p>
                      <a:r>
                        <a:rPr sz="1300" b="1">
                          <a:solidFill>
                            <a:srgbClr val="1B2A4A"/>
                          </a:solidFill>
                          <a:latin typeface="Calibri"/>
                        </a:rPr>
                        <a:t>Waterfall</a:t>
                      </a:r>
                    </a:p>
                  </a:txBody>
                  <a:tcPr>
                    <a:solidFill>
                      <a:srgbClr val="EAF2FC"/>
                    </a:solidFill>
                  </a:tcPr>
                </a:tc>
                <a:tc>
                  <a:txBody>
                    <a:bodyPr/>
                    <a:lstStyle/>
                    <a:p>
                      <a:r>
                        <a:rPr sz="1300" b="0">
                          <a:solidFill>
                            <a:srgbClr val="1F1F1F"/>
                          </a:solidFill>
                          <a:latin typeface="Calibri"/>
                        </a:rPr>
                        <a:t>berurutan, diluncurkan sekaligus</a:t>
                      </a:r>
                    </a:p>
                  </a:txBody>
                  <a:tcPr>
                    <a:solidFill>
                      <a:srgbClr val="EAF2FC"/>
                    </a:solidFill>
                  </a:tcPr>
                </a:tc>
              </a:tr>
              <a:tr h="528320">
                <a:tc>
                  <a:txBody>
                    <a:bodyPr/>
                    <a:lstStyle/>
                    <a:p>
                      <a:r>
                        <a:rPr sz="1300" b="1">
                          <a:solidFill>
                            <a:srgbClr val="1B2A4A"/>
                          </a:solidFill>
                          <a:latin typeface="Calibri"/>
                        </a:rPr>
                        <a:t>Agile</a:t>
                      </a:r>
                    </a:p>
                  </a:txBody>
                  <a:tcPr>
                    <a:solidFill>
                      <a:srgbClr val="FFFFFF"/>
                    </a:solidFill>
                  </a:tcPr>
                </a:tc>
                <a:tc>
                  <a:txBody>
                    <a:bodyPr/>
                    <a:lstStyle/>
                    <a:p>
                      <a:r>
                        <a:rPr sz="1300" b="0">
                          <a:solidFill>
                            <a:srgbClr val="1F1F1F"/>
                          </a:solidFill>
                          <a:latin typeface="Calibri"/>
                        </a:rPr>
                        <a:t>putaran pendek, langsung dicoba pengguna</a:t>
                      </a:r>
                    </a:p>
                  </a:txBody>
                  <a:tcPr>
                    <a:solidFill>
                      <a:srgbClr val="FFFFFF"/>
                    </a:solidFill>
                  </a:tcPr>
                </a:tc>
              </a:tr>
              <a:tr h="528320">
                <a:tc>
                  <a:txBody>
                    <a:bodyPr/>
                    <a:lstStyle/>
                    <a:p>
                      <a:r>
                        <a:rPr sz="1300" b="1">
                          <a:solidFill>
                            <a:srgbClr val="1B2A4A"/>
                          </a:solidFill>
                          <a:latin typeface="Calibri"/>
                        </a:rPr>
                        <a:t>Hybrid</a:t>
                      </a:r>
                    </a:p>
                  </a:txBody>
                  <a:tcPr>
                    <a:solidFill>
                      <a:srgbClr val="EAF2FC"/>
                    </a:solidFill>
                  </a:tcPr>
                </a:tc>
                <a:tc>
                  <a:txBody>
                    <a:bodyPr/>
                    <a:lstStyle/>
                    <a:p>
                      <a:r>
                        <a:rPr sz="1300" b="0">
                          <a:solidFill>
                            <a:srgbClr val="1F1F1F"/>
                          </a:solidFill>
                          <a:latin typeface="Calibri"/>
                        </a:rPr>
                        <a:t>gabungan Waterfall dan Agile</a:t>
                      </a:r>
                    </a:p>
                  </a:txBody>
                  <a:tcPr>
                    <a:solidFill>
                      <a:srgbClr val="EAF2FC"/>
                    </a:solidFill>
                  </a:tcPr>
                </a:tc>
              </a:tr>
              <a:tr h="528320">
                <a:tc>
                  <a:txBody>
                    <a:bodyPr/>
                    <a:lstStyle/>
                    <a:p>
                      <a:r>
                        <a:rPr sz="1300" b="1">
                          <a:solidFill>
                            <a:srgbClr val="1B2A4A"/>
                          </a:solidFill>
                          <a:latin typeface="Calibri"/>
                        </a:rPr>
                        <a:t>Triple constraint</a:t>
                      </a:r>
                    </a:p>
                  </a:txBody>
                  <a:tcPr>
                    <a:solidFill>
                      <a:srgbClr val="FFFFFF"/>
                    </a:solidFill>
                  </a:tcPr>
                </a:tc>
                <a:tc>
                  <a:txBody>
                    <a:bodyPr/>
                    <a:lstStyle/>
                    <a:p>
                      <a:r>
                        <a:rPr sz="1300" b="0">
                          <a:solidFill>
                            <a:srgbClr val="1F1F1F"/>
                          </a:solidFill>
                          <a:latin typeface="Calibri"/>
                        </a:rPr>
                        <a:t>3 batasan: isi pekerjaan, waktu, biaya</a:t>
                      </a:r>
                    </a:p>
                  </a:txBody>
                  <a:tcPr>
                    <a:solidFill>
                      <a:srgbClr val="FFFFFF"/>
                    </a:solidFill>
                  </a:tcPr>
                </a:tc>
              </a:tr>
              <a:tr h="528320">
                <a:tc>
                  <a:txBody>
                    <a:bodyPr/>
                    <a:lstStyle/>
                    <a:p>
                      <a:r>
                        <a:rPr sz="1300" b="1">
                          <a:solidFill>
                            <a:srgbClr val="1B2A4A"/>
                          </a:solidFill>
                          <a:latin typeface="Calibri"/>
                        </a:rPr>
                        <a:t>C$</a:t>
                      </a:r>
                    </a:p>
                  </a:txBody>
                  <a:tcPr>
                    <a:solidFill>
                      <a:srgbClr val="EAF2FC"/>
                    </a:solidFill>
                  </a:tcPr>
                </a:tc>
                <a:tc>
                  <a:txBody>
                    <a:bodyPr/>
                    <a:lstStyle/>
                    <a:p>
                      <a:r>
                        <a:rPr sz="1300" b="0">
                          <a:solidFill>
                            <a:srgbClr val="1F1F1F"/>
                          </a:solidFill>
                          <a:latin typeface="Calibri"/>
                        </a:rPr>
                        <a:t>dolar Kanada</a:t>
                      </a:r>
                    </a:p>
                  </a:txBody>
                  <a:tcPr>
                    <a:solidFill>
                      <a:srgbClr val="EAF2FC"/>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600"/>
              </a:spcAft>
            </a:pPr>
            <a:r>
              <a:rPr sz="3200" b="1" i="0">
                <a:solidFill>
                  <a:srgbClr val="1B2A4A"/>
                </a:solidFill>
                <a:latin typeface="Cambria"/>
              </a:rPr>
              <a:t>Daftar Pustaka</a:t>
            </a:r>
          </a:p>
        </p:txBody>
      </p:sp>
      <p:pic>
        <p:nvPicPr>
          <p:cNvPr id="3" name="Picture 2" descr="logo_amikom.png"/>
          <p:cNvPicPr>
            <a:picLocks noChangeAspect="1"/>
          </p:cNvPicPr>
          <p:nvPr/>
        </p:nvPicPr>
        <p:blipFill>
          <a:blip r:embed="rId2"/>
          <a:stretch>
            <a:fillRect/>
          </a:stretch>
        </p:blipFill>
        <p:spPr>
          <a:xfrm>
            <a:off x="320040" y="6382512"/>
            <a:ext cx="376587" cy="365760"/>
          </a:xfrm>
          <a:prstGeom prst="rect">
            <a:avLst/>
          </a:prstGeom>
        </p:spPr>
      </p:pic>
      <p:sp>
        <p:nvSpPr>
          <p:cNvPr id="4" name="TextBox 3"/>
          <p:cNvSpPr txBox="1"/>
          <p:nvPr/>
        </p:nvSpPr>
        <p:spPr>
          <a:xfrm>
            <a:off x="11155680" y="6400800"/>
            <a:ext cx="731520" cy="320040"/>
          </a:xfrm>
          <a:prstGeom prst="rect">
            <a:avLst/>
          </a:prstGeom>
          <a:noFill/>
        </p:spPr>
        <p:txBody>
          <a:bodyPr wrap="square" anchor="t" lIns="45720" rIns="45720">
            <a:spAutoFit/>
          </a:bodyPr>
          <a:lstStyle/>
          <a:p>
            <a:pPr algn="r">
              <a:spcAft>
                <a:spcPts val="600"/>
              </a:spcAft>
            </a:pPr>
            <a:r>
              <a:rPr sz="1100" b="0" i="0">
                <a:solidFill>
                  <a:srgbClr val="898781"/>
                </a:solidFill>
                <a:latin typeface="Calibri"/>
              </a:rPr>
              <a:t>9</a:t>
            </a:r>
          </a:p>
        </p:txBody>
      </p:sp>
      <p:sp>
        <p:nvSpPr>
          <p:cNvPr id="5" name="TextBox 4"/>
          <p:cNvSpPr txBox="1"/>
          <p:nvPr/>
        </p:nvSpPr>
        <p:spPr>
          <a:xfrm>
            <a:off x="548640" y="1280160"/>
            <a:ext cx="11064240" cy="4846320"/>
          </a:xfrm>
          <a:prstGeom prst="rect">
            <a:avLst/>
          </a:prstGeom>
          <a:noFill/>
        </p:spPr>
        <p:txBody>
          <a:bodyPr wrap="square" anchor="t" lIns="45720" rIns="45720">
            <a:spAutoFit/>
          </a:bodyPr>
          <a:lstStyle/>
          <a:p>
            <a:pPr algn="l">
              <a:spcAft>
                <a:spcPts val="1000"/>
              </a:spcAft>
            </a:pPr>
            <a:r>
              <a:rPr sz="1400" b="0" i="0">
                <a:solidFill>
                  <a:srgbClr val="1F1F1F"/>
                </a:solidFill>
                <a:latin typeface="Calibri"/>
              </a:rPr>
              <a:t>Crowe, A. (2006). Alpha project managers: What the top 2% know that everyone else does not. Velociteach.</a:t>
            </a:r>
          </a:p>
          <a:p>
            <a:pPr algn="l">
              <a:spcAft>
                <a:spcPts val="1000"/>
              </a:spcAft>
            </a:pPr>
            <a:r>
              <a:rPr sz="1400" b="0" i="0">
                <a:solidFill>
                  <a:srgbClr val="1F1F1F"/>
                </a:solidFill>
                <a:latin typeface="Calibri"/>
              </a:rPr>
              <a:t>Financial Conduct Authority. (2022). Final notice: TSB Bank plc. https://www.fca.org.uk/publication/final-notices/tsb-bank-plc-2022.pdf</a:t>
            </a:r>
          </a:p>
          <a:p>
            <a:pPr algn="l">
              <a:spcAft>
                <a:spcPts val="1000"/>
              </a:spcAft>
            </a:pPr>
            <a:r>
              <a:rPr sz="1400" b="0" i="0">
                <a:solidFill>
                  <a:srgbClr val="1F1F1F"/>
                </a:solidFill>
                <a:latin typeface="Calibri"/>
              </a:rPr>
              <a:t>Luthfi, E. T. (2026). IT project management: Pertemuan 4 [Slide perkuliahan]. Program Studi S2 Informatika, Universitas Amikom Yogyakarta.</a:t>
            </a:r>
          </a:p>
          <a:p>
            <a:pPr algn="l">
              <a:spcAft>
                <a:spcPts val="1000"/>
              </a:spcAft>
            </a:pPr>
            <a:r>
              <a:rPr sz="1400" b="0" i="0">
                <a:solidFill>
                  <a:srgbClr val="1F1F1F"/>
                </a:solidFill>
                <a:latin typeface="Calibri"/>
              </a:rPr>
              <a:t>Office of the Auditor General of Canada. (2018). Report 1—Building and implementing the Phoenix pay system. 2018 Spring Reports of the Auditor General of Canada.</a:t>
            </a:r>
          </a:p>
          <a:p>
            <a:pPr algn="l">
              <a:spcAft>
                <a:spcPts val="1000"/>
              </a:spcAft>
            </a:pPr>
            <a:r>
              <a:rPr sz="1400" b="0" i="0">
                <a:solidFill>
                  <a:srgbClr val="1F1F1F"/>
                </a:solidFill>
                <a:latin typeface="Calibri"/>
              </a:rPr>
              <a:t>Project Management Institute. (2008). A guide to the project management body of knowledge (PMBOK® Guide) (4th ed.). Project Management Institute.</a:t>
            </a:r>
          </a:p>
          <a:p>
            <a:pPr algn="l">
              <a:spcAft>
                <a:spcPts val="1000"/>
              </a:spcAft>
            </a:pPr>
            <a:r>
              <a:rPr sz="1400" b="0" i="0">
                <a:solidFill>
                  <a:srgbClr val="1F1F1F"/>
                </a:solidFill>
                <a:latin typeface="Calibri"/>
              </a:rPr>
              <a:t>Project Management Institute. (2021). A guide to the project management body of knowledge (PMBOK® Guide) (7th ed.). Project Management Institute.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